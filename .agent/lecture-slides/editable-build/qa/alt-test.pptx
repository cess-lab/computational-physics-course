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374a5c2da84867" /><Relationship Type="http://schemas.openxmlformats.org/officeDocument/2006/relationships/extended-properties" Target="/docProps/app.xml" Id="R89b21f00f60e486f" /><Relationship Type="http://schemas.openxmlformats.org/officeDocument/2006/relationships/officeDocument" Target="/ppt/presentation.xml" Id="R37b2146da52449c1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a370dca7dfc449a1"/>
    <p:sldMasterId xmlns:r="http://schemas.openxmlformats.org/officeDocument/2006/relationships" id="2147483650" r:id="R08bc6a65830d4c0b"/>
  </p:sldMasterIdLst>
  <p:notesMasterIdLst>
    <p:notesMasterId xmlns:r="http://schemas.openxmlformats.org/officeDocument/2006/relationships" r:id="R58412c8fa6ac4bd6"/>
  </p:notesMasterIdLst>
  <p:sldIdLst>
    <p:sldId xmlns:r="http://schemas.openxmlformats.org/officeDocument/2006/relationships" id="256" r:id="R40f5b7ab2cb74da7"/>
    <p:sldId xmlns:r="http://schemas.openxmlformats.org/officeDocument/2006/relationships" id="257" r:id="R3481f3bfe7f74bf6"/>
    <p:sldId xmlns:r="http://schemas.openxmlformats.org/officeDocument/2006/relationships" id="258" r:id="Red2736630a2f4cef"/>
    <p:sldId xmlns:r="http://schemas.openxmlformats.org/officeDocument/2006/relationships" id="259" r:id="R962f022e35b94591"/>
    <p:sldId xmlns:r="http://schemas.openxmlformats.org/officeDocument/2006/relationships" id="260" r:id="Re78fad26746e44cb"/>
    <p:sldId xmlns:r="http://schemas.openxmlformats.org/officeDocument/2006/relationships" id="261" r:id="R3cac216739c34d03"/>
    <p:sldId xmlns:r="http://schemas.openxmlformats.org/officeDocument/2006/relationships" id="262" r:id="R45bda9d09f4440c4"/>
    <p:sldId xmlns:r="http://schemas.openxmlformats.org/officeDocument/2006/relationships" id="263" r:id="Rf20a363df2fa42cf"/>
    <p:sldId xmlns:r="http://schemas.openxmlformats.org/officeDocument/2006/relationships" id="264" r:id="R4d4ad8e1ddfa4530"/>
    <p:sldId xmlns:r="http://schemas.openxmlformats.org/officeDocument/2006/relationships" id="265" r:id="Rcb92826f4f704b10"/>
    <p:sldId xmlns:r="http://schemas.openxmlformats.org/officeDocument/2006/relationships" id="266" r:id="Rb2b50f1907234efa"/>
    <p:sldId xmlns:r="http://schemas.openxmlformats.org/officeDocument/2006/relationships" id="267" r:id="R19b5045310154855"/>
    <p:sldId xmlns:r="http://schemas.openxmlformats.org/officeDocument/2006/relationships" id="268" r:id="Rdec9ab227e074d6b"/>
    <p:sldId xmlns:r="http://schemas.openxmlformats.org/officeDocument/2006/relationships" id="269" r:id="Rf5b52c339e484ea3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e7292fed9a4803" /><Relationship Type="http://schemas.openxmlformats.org/officeDocument/2006/relationships/slideMaster" Target="/ppt/slideMasters/slideMaster1.xml" Id="Ra370dca7dfc449a1" /><Relationship Type="http://schemas.openxmlformats.org/officeDocument/2006/relationships/slideMaster" Target="/ppt/slideMasters/slideMaster2.xml" Id="R08bc6a65830d4c0b" /><Relationship Type="http://schemas.openxmlformats.org/officeDocument/2006/relationships/notesMaster" Target="/ppt/notesMasters/notesMaster1.xml" Id="R58412c8fa6ac4bd6" /><Relationship Type="http://schemas.openxmlformats.org/officeDocument/2006/relationships/presProps" Target="/ppt/presProps.xml" Id="Rbf655b421691495f" /><Relationship Type="http://schemas.openxmlformats.org/officeDocument/2006/relationships/tableStyles" Target="/ppt/tableStyles.xml" Id="R1ba05ec01e514c5d" /><Relationship Type="http://schemas.openxmlformats.org/officeDocument/2006/relationships/slide" Target="/ppt/slides/slide1.xml" Id="R40f5b7ab2cb74da7" /><Relationship Type="http://schemas.openxmlformats.org/officeDocument/2006/relationships/slide" Target="/ppt/slides/slide2.xml" Id="R3481f3bfe7f74bf6" /><Relationship Type="http://schemas.openxmlformats.org/officeDocument/2006/relationships/slide" Target="/ppt/slides/slide3.xml" Id="Red2736630a2f4cef" /><Relationship Type="http://schemas.openxmlformats.org/officeDocument/2006/relationships/slide" Target="/ppt/slides/slide4.xml" Id="R962f022e35b94591" /><Relationship Type="http://schemas.openxmlformats.org/officeDocument/2006/relationships/slide" Target="/ppt/slides/slide5.xml" Id="Re78fad26746e44cb" /><Relationship Type="http://schemas.openxmlformats.org/officeDocument/2006/relationships/slide" Target="/ppt/slides/slide6.xml" Id="R3cac216739c34d03" /><Relationship Type="http://schemas.openxmlformats.org/officeDocument/2006/relationships/slide" Target="/ppt/slides/slide7.xml" Id="R45bda9d09f4440c4" /><Relationship Type="http://schemas.openxmlformats.org/officeDocument/2006/relationships/slide" Target="/ppt/slides/slide8.xml" Id="Rf20a363df2fa42cf" /><Relationship Type="http://schemas.openxmlformats.org/officeDocument/2006/relationships/slide" Target="/ppt/slides/slide9.xml" Id="R4d4ad8e1ddfa4530" /><Relationship Type="http://schemas.openxmlformats.org/officeDocument/2006/relationships/slide" Target="/ppt/slides/slide10.xml" Id="Rcb92826f4f704b10" /><Relationship Type="http://schemas.openxmlformats.org/officeDocument/2006/relationships/slide" Target="/ppt/slides/slide11.xml" Id="Rb2b50f1907234efa" /><Relationship Type="http://schemas.openxmlformats.org/officeDocument/2006/relationships/slide" Target="/ppt/slides/slide12.xml" Id="R19b5045310154855" /><Relationship Type="http://schemas.openxmlformats.org/officeDocument/2006/relationships/slide" Target="/ppt/slides/slide13.xml" Id="Rdec9ab227e074d6b" /><Relationship Type="http://schemas.openxmlformats.org/officeDocument/2006/relationships/slide" Target="/ppt/slides/slide14.xml" Id="Rf5b52c339e484e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aa4714b6afd041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f51c2ad8e5448b" /><Relationship Type="http://schemas.openxmlformats.org/officeDocument/2006/relationships/notesMaster" Target="/ppt/notesMasters/notesMaster1.xml" Id="R95c544305e7f47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0dccf9f52b49c5" /><Relationship Type="http://schemas.openxmlformats.org/officeDocument/2006/relationships/notesMaster" Target="/ppt/notesMasters/notesMaster1.xml" Id="R4a2719642c7146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c4e8a9a9a24cd0" /><Relationship Type="http://schemas.openxmlformats.org/officeDocument/2006/relationships/notesMaster" Target="/ppt/notesMasters/notesMaster1.xml" Id="R58223391313e44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497bf5b67f47d8" /><Relationship Type="http://schemas.openxmlformats.org/officeDocument/2006/relationships/notesMaster" Target="/ppt/notesMasters/notesMaster1.xml" Id="Rf5f7f6d9ef8047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91106bae6f4516" /><Relationship Type="http://schemas.openxmlformats.org/officeDocument/2006/relationships/notesMaster" Target="/ppt/notesMasters/notesMaster1.xml" Id="Rc87248a0c10341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7eb1c7bc084846" /><Relationship Type="http://schemas.openxmlformats.org/officeDocument/2006/relationships/notesMaster" Target="/ppt/notesMasters/notesMaster1.xml" Id="R17aa1b0f288646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3bb5a18d024aa3" /><Relationship Type="http://schemas.openxmlformats.org/officeDocument/2006/relationships/notesMaster" Target="/ppt/notesMasters/notesMaster1.xml" Id="Rd59ba2028f2043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e8bf996f994255" /><Relationship Type="http://schemas.openxmlformats.org/officeDocument/2006/relationships/notesMaster" Target="/ppt/notesMasters/notesMaster1.xml" Id="R3cebf967a04d45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b0a3f4a3664976" /><Relationship Type="http://schemas.openxmlformats.org/officeDocument/2006/relationships/notesMaster" Target="/ppt/notesMasters/notesMaster1.xml" Id="R09b97be52cdf4d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8ab03871ad4751" /><Relationship Type="http://schemas.openxmlformats.org/officeDocument/2006/relationships/notesMaster" Target="/ppt/notesMasters/notesMaster1.xml" Id="Ra9b3f7bfe2fe4c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fd831d47b243d8" /><Relationship Type="http://schemas.openxmlformats.org/officeDocument/2006/relationships/notesMaster" Target="/ppt/notesMasters/notesMaster1.xml" Id="R0e44cdb1fb444a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8d4c20d64e4fae" /><Relationship Type="http://schemas.openxmlformats.org/officeDocument/2006/relationships/notesMaster" Target="/ppt/notesMasters/notesMaster1.xml" Id="R8910251576fe45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a9c06d8fa841b3" /><Relationship Type="http://schemas.openxmlformats.org/officeDocument/2006/relationships/notesMaster" Target="/ppt/notesMasters/notesMaster1.xml" Id="R39edb60712a74c4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cbcb20b5b844d55" /><Relationship Type="http://schemas.openxmlformats.org/officeDocument/2006/relationships/notesMaster" Target="/ppt/notesMasters/notesMaster1.xml" Id="Rf76f05e2a3444e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asking students to name the physical quantity that is unknown before they name a numerical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Emphasise that the residual is not a new physical law. It is the model prediction compared with the target, expressed in metres.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  <a:p xmlns:a="http://schemas.openxmlformats.org/drawingml/2006/main">
            <a:r>
              <a:t>- Visual/equation asset: Week05/.agent/lecture-slides/codex-ppt/assets/strict/equations/model_residual.png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sign as a directional cue on the low-angle branch: a negative residual is too short and a positive residual is too long.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  <a:p xmlns:a="http://schemas.openxmlformats.org/drawingml/2006/main">
            <a:r>
              <a:t>- Visual/equation asset: Week05/.agent/lecture-slides/codex-ppt/assets/strict/equations/signs.png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graph quantitatively. The low-angle bracket is the chosen Core route; the higher crossing is not developed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  <a:p xmlns:a="http://schemas.openxmlformats.org/drawingml/2006/main">
            <a:r>
              <a:t>- Visual/equation asset: Week05/.agent/lecture-slides/codex-ppt/assets/strict/week05_projectile_residual.png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after the midpoint. Students should explain why the midpoint value alone is not enough; the endpoint sign change is the invariant.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the four rows aloud. The important habit is to recompute the midpoint, evaluate it, and update exactly one endpoint.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  <a:p xmlns:a="http://schemas.openxmlformats.org/drawingml/2006/main">
            <a:r>
              <a:t>- Visual/equation asset: Week05/.agent/lecture-slides/codex-ppt/assets/strict/tables/bisection_first_four.png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each line in the scaffold and ask which physical decision it represents. The code is short because the algorithm is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  <a:p xmlns:a="http://schemas.openxmlformats.org/drawingml/2006/main">
            <a:r>
              <a:t>- Visual/equation asset: Week05/.agent/lecture-slides/codex-ppt/assets/strict/code/bisection_scaffold.png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stopping rule is one residual test. Then substitute the angle back into the original model so the result has physical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  <a:p xmlns:a="http://schemas.openxmlformats.org/drawingml/2006/main">
            <a:r>
              <a:t>- Visual/equation asset: Week05/.agent/lecture-slides/codex-ppt/assets/strict/equations/validation.png; Week05/.agent/lecture-slides/codex-ppt/assets/strict/tables/bisection_validation.png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Newton as a tangent prediction. Keep the degree-to-radian factor visible; the slope is measured in metres per degree.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  <a:p xmlns:a="http://schemas.openxmlformats.org/drawingml/2006/main">
            <a:r>
              <a:t>- Visual/equation asset: Week05/.agent/lecture-slides/codex-ppt/assets/strict/equations/newton_update_slope.png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the table row by row. At the fourth evaluation the residual is already well below the one-millimetre tolerance.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  <a:p xmlns:a="http://schemas.openxmlformats.org/drawingml/2006/main">
            <a:r>
              <a:t>- Visual/equation asset: Week05/.agent/lecture-slides/codex-ppt/assets/strict/tables/newton_trace.png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Working exposure. Fewer evaluations do not make Newton automatically more correct; both methods still need residual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  <a:p xmlns:a="http://schemas.openxmlformats.org/drawingml/2006/main">
            <a:r>
              <a:t>- Visual/equation asset: Week05/.agent/lecture-slides/codex-ppt/assets/strict/tables/method_comparison.png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failure state with [30,40]. Both endpoint residuals are positive, so the bracket has lost the sign change and must be repaired.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transfer explicit: change the physical model, keep the residual habit. Students should be able to identify the unknown and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  <a:p xmlns:a="http://schemas.openxmlformats.org/drawingml/2006/main">
            <a:r>
              <a:t>- Visual/equation asset: Week05/.agent/lecture-slides/codex-ppt/assets/strict/equations/transfer_residuals.png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four prompts as retrieval. Do not provide the answer key; ask students to explain the chain in their own words before practical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899408a04242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6d64962f14d4d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4f61cc8429b49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f6303b7da3444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79365e7ed84c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CE487BE1-EAC4-4233-A86B-D5E45C702F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729161A9-542D-4A02-986E-0C91338B5D67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8FC82273-B142-42E3-90EF-B90A4084822F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Open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course tag treatment">
            <a:extLst xmlns:a="http://schemas.openxmlformats.org/drawingml/2006/main">
              <a:ext uri="{FF2B5EF4-FFF2-40B4-BE49-F238E27FC236}">
                <a16:creationId xmlns:a16="http://schemas.microsoft.com/office/drawing/2014/main" id="{C970D001-18B3-4C08-BD81-2EA64264FDD6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095375" y="1200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1950" b="1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CB07F723-4669-4504-939A-2225C5CEC8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23336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6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615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A5588E87-C009-4001-95A8-3DDBD40003D9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4524375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5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Content T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96009640-822E-4F51-BA56-74FF8D3D5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D1F7E078-62FE-425C-BBF3-02A3B42D0119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970A2395-3444-46A6-8C53-774C06DEEB21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Content T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BB77BCC3-B6C9-4F2C-B44F-402F50F38B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465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5CCE7C86-DC5E-41F3-AC1A-B25CCD182ABF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3F59F9FC-79B9-4DCB-8585-53A715049F73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Content T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F1CABB71-339A-41E7-AD02-24FB68EF95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42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C93D684E-5C72-4851-9ABA-2BECEF4DECD1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952625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0F7B378E-BF41-4D32-A704-25DBEEF51E0F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fd8e11b7f94e8c" /><Relationship Type="http://schemas.openxmlformats.org/officeDocument/2006/relationships/slideLayout" Target="/ppt/slideLayouts/slideLayout1.xml" Id="R28f953942add4b7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6654ac464e54649" /><Relationship Type="http://schemas.openxmlformats.org/officeDocument/2006/relationships/slideLayout" Target="/ppt/slideLayouts/slideLayout2.xml" Id="R15b48f5425e244b5" /><Relationship Type="http://schemas.openxmlformats.org/officeDocument/2006/relationships/slideLayout" Target="/ppt/slideLayouts/slideLayout3.xml" Id="Rc88edebb6bf44475" /><Relationship Type="http://schemas.openxmlformats.org/officeDocument/2006/relationships/slideLayout" Target="/ppt/slideLayouts/slideLayout4.xml" Id="Ra794c2010e2b4ff6" /><Relationship Type="http://schemas.openxmlformats.org/officeDocument/2006/relationships/slideLayout" Target="/ppt/slideLayouts/slideLayout5.xml" Id="R2e44edd5fc7e41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787735D3-2169-4C50-B0B0-5827C20AB2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E8BAA908-C6D7-4FBA-9B4B-C2C7641ED4F0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0AE49B81-E30E-47BD-A92E-A9E988E4B74A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f953942add4b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PHY4605 Borderless White Mast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3ED83AF2-928F-4EF9-BF93-E2C342E68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B88668E9-4AA3-4EB7-A069-35C3066A1299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EE87D9E0-C4C5-4799-86EA-09A7E319F9EE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15b48f5425e244b5"/>
    <p:sldLayoutId xmlns:r="http://schemas.openxmlformats.org/officeDocument/2006/relationships" id="2147483652" r:id="Rc88edebb6bf44475"/>
    <p:sldLayoutId xmlns:r="http://schemas.openxmlformats.org/officeDocument/2006/relationships" id="2147483653" r:id="Ra794c2010e2b4ff6"/>
    <p:sldLayoutId xmlns:r="http://schemas.openxmlformats.org/officeDocument/2006/relationships" id="2147483654" r:id="R2e44edd5fc7e4147"/>
  </p:sldLayoutIdLst>
</p:sldMaster>
</file>

<file path=ppt/slideMasters/theme/theme2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431a17df204cff" /><Relationship Type="http://schemas.openxmlformats.org/officeDocument/2006/relationships/notesSlide" Target="/ppt/notesSlides/notesSlide1.xml" Id="R67cfffd50db942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b95818bdc744018" /><Relationship Type="http://schemas.openxmlformats.org/officeDocument/2006/relationships/image" Target="/ppt/media/image.png" Id="R5b285f2617b04b94" /><Relationship Type="http://schemas.openxmlformats.org/officeDocument/2006/relationships/notesSlide" Target="/ppt/notesSlides/notesSlide2.xml" Id="R115061a5981f4b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ddddb599b3a4881" /><Relationship Type="http://schemas.openxmlformats.org/officeDocument/2006/relationships/notesSlide" Target="/ppt/notesSlides/notesSlide3.xml" Id="Ra263dd5ce78c46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441d521ad3647bd" /><Relationship Type="http://schemas.openxmlformats.org/officeDocument/2006/relationships/image" Target="/ppt/media/image2.png" Id="Re3397321e80d4c54" /><Relationship Type="http://schemas.openxmlformats.org/officeDocument/2006/relationships/notesSlide" Target="/ppt/notesSlides/notesSlide4.xml" Id="R6765863b91764a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79fe96d15984f6d" /><Relationship Type="http://schemas.openxmlformats.org/officeDocument/2006/relationships/notesSlide" Target="/ppt/notesSlides/notesSlide5.xml" Id="R034f58bde4b648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5cb1e57c1e44e13" /><Relationship Type="http://schemas.openxmlformats.org/officeDocument/2006/relationships/notesSlide" Target="/ppt/notesSlides/notesSlide6.xml" Id="Re87e68b7bd7a43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9dd4094ca4941f2" /><Relationship Type="http://schemas.openxmlformats.org/officeDocument/2006/relationships/notesSlide" Target="/ppt/notesSlides/notesSlide7.xml" Id="Rf8dab4046a9a43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0b7e67b5cdf499f" /><Relationship Type="http://schemas.openxmlformats.org/officeDocument/2006/relationships/image" Target="/ppt/media/image3.png" Id="Rdbb71ec7da0c4009" /><Relationship Type="http://schemas.openxmlformats.org/officeDocument/2006/relationships/notesSlide" Target="/ppt/notesSlides/notesSlide8.xml" Id="R40afb4e2cbd945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809edd0c0404778" /><Relationship Type="http://schemas.openxmlformats.org/officeDocument/2006/relationships/image" Target="/ppt/media/image4.png" Id="R8067140040e44891" /><Relationship Type="http://schemas.openxmlformats.org/officeDocument/2006/relationships/notesSlide" Target="/ppt/notesSlides/notesSlide9.xml" Id="R3489422afe7b44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dc6e23bd5454c29" /><Relationship Type="http://schemas.openxmlformats.org/officeDocument/2006/relationships/notesSlide" Target="/ppt/notesSlides/notesSlide10.xml" Id="Rbc28d7b4954c4f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a0c54fe66e14807" /><Relationship Type="http://schemas.openxmlformats.org/officeDocument/2006/relationships/notesSlide" Target="/ppt/notesSlides/notesSlide11.xml" Id="Re62c6119052143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27a5aa94b714fe9" /><Relationship Type="http://schemas.openxmlformats.org/officeDocument/2006/relationships/notesSlide" Target="/ppt/notesSlides/notesSlide12.xml" Id="Rc3a3740b11df491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1036a8aae02405d" /><Relationship Type="http://schemas.openxmlformats.org/officeDocument/2006/relationships/image" Target="/ppt/media/image5.png" Id="R79e166cda1f14f8d" /><Relationship Type="http://schemas.openxmlformats.org/officeDocument/2006/relationships/notesSlide" Target="/ppt/notesSlides/notesSlide13.xml" Id="Ra08e47ab330747e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1ee74ef43bc438b" /><Relationship Type="http://schemas.openxmlformats.org/officeDocument/2006/relationships/notesSlide" Target="/ppt/notesSlides/notesSlide14.xml" Id="Radab6308ed434575" /></Relationships>
</file>

<file path=ppt/slides/slide1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1-course-tag">
            <a:extLst xmlns:a="http://schemas.openxmlformats.org/drawingml/2006/main">
              <a:ext uri="{FF2B5EF4-FFF2-40B4-BE49-F238E27FC236}">
                <a16:creationId xmlns:a16="http://schemas.microsoft.com/office/drawing/2014/main" id="{2393D43D-BD65-4885-920E-8D00F3D0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2001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PHY4605 Computational Methods in Physics</a:t>
            </a:r>
          </a:p>
        </p:txBody>
      </p:sp>
      <p:sp>
        <p:nvSpPr>
          <p:cNvPr id="2" name="slide-1-opening-title">
            <a:extLst xmlns:a="http://schemas.openxmlformats.org/drawingml/2006/main">
              <a:ext uri="{FF2B5EF4-FFF2-40B4-BE49-F238E27FC236}">
                <a16:creationId xmlns:a16="http://schemas.microsoft.com/office/drawing/2014/main" id="{9ABDC116-63FC-4AD3-8882-0B6F66AB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5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From a Physical Target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5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5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to a Checkable Root</a:t>
            </a:r>
          </a:p>
        </p:txBody>
      </p:sp>
      <p:sp>
        <p:nvSpPr>
          <p:cNvPr id="3" name="slide-1-opening-subtitle">
            <a:extLst xmlns:a="http://schemas.openxmlformats.org/drawingml/2006/main">
              <a:ext uri="{FF2B5EF4-FFF2-40B4-BE49-F238E27FC236}">
                <a16:creationId xmlns:a16="http://schemas.microsoft.com/office/drawing/2014/main" id="{41F990EC-26B1-4BD3-A7D6-69823B90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24375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5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Week 5 | Root finding</a:t>
            </a:r>
          </a:p>
        </p:txBody>
      </p:sp>
      <p:sp>
        <p:nvSpPr>
          <p:cNvPr id="4" name="slide-1-question">
            <a:extLst xmlns:a="http://schemas.openxmlformats.org/drawingml/2006/main">
              <a:ext uri="{FF2B5EF4-FFF2-40B4-BE49-F238E27FC236}">
                <a16:creationId xmlns:a16="http://schemas.microsoft.com/office/drawing/2014/main" id="{22BC9099-C997-42C6-BCB7-C7968D79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1912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40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Which launch angle makes the range equal to 35 m?</a:t>
            </a:r>
          </a:p>
        </p:txBody>
      </p:sp>
      <p:sp>
        <p:nvSpPr>
          <p:cNvPr id="5" name="slide-1-given">
            <a:extLst xmlns:a="http://schemas.openxmlformats.org/drawingml/2006/main">
              <a:ext uri="{FF2B5EF4-FFF2-40B4-BE49-F238E27FC236}">
                <a16:creationId xmlns:a16="http://schemas.microsoft.com/office/drawing/2014/main" id="{763A10E6-6816-4FB1-ACD5-7401CA08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858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v0 = 20 m/s</a:t>
            </a:r>
          </a:p>
        </p:txBody>
      </p:sp>
      <p:sp>
        <p:nvSpPr>
          <p:cNvPr id="6" name="slide-1-target">
            <a:extLst xmlns:a="http://schemas.openxmlformats.org/drawingml/2006/main">
              <a:ext uri="{FF2B5EF4-FFF2-40B4-BE49-F238E27FC236}">
                <a16:creationId xmlns:a16="http://schemas.microsoft.com/office/drawing/2014/main" id="{55F59863-0EC2-4B14-8145-1463770E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8580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target range = 35 m</a:t>
            </a:r>
          </a:p>
        </p:txBody>
      </p:sp>
      <p:sp>
        <p:nvSpPr>
          <p:cNvPr id="7" name="slide-1-ground">
            <a:extLst xmlns:a="http://schemas.openxmlformats.org/drawingml/2006/main">
              <a:ext uri="{FF2B5EF4-FFF2-40B4-BE49-F238E27FC236}">
                <a16:creationId xmlns:a16="http://schemas.microsoft.com/office/drawing/2014/main" id="{CE6A81D1-9E9D-4B95-964C-6B97B141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000875"/>
            <a:ext cx="4429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F4B57"/>
            </a:solidFill>
            <a:prstDash val="solid"/>
          </a:ln>
        </p:spPr>
      </p:sp>
      <p:sp>
        <p:nvSpPr>
          <p:cNvPr id="8" name="slide-1-arc-1">
            <a:extLst xmlns:a="http://schemas.openxmlformats.org/drawingml/2006/main">
              <a:ext uri="{FF2B5EF4-FFF2-40B4-BE49-F238E27FC236}">
                <a16:creationId xmlns:a16="http://schemas.microsoft.com/office/drawing/2014/main" id="{B689C922-7D80-46BE-BFDD-BC82F5B8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040438"/>
            <a:ext cx="317500" cy="9604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9" name="slide-1-arc-2">
            <a:extLst xmlns:a="http://schemas.openxmlformats.org/drawingml/2006/main">
              <a:ext uri="{FF2B5EF4-FFF2-40B4-BE49-F238E27FC236}">
                <a16:creationId xmlns:a16="http://schemas.microsoft.com/office/drawing/2014/main" id="{5B614F33-50A8-48E6-B885-50E22CE2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4750" y="5254625"/>
            <a:ext cx="317500" cy="785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0" name="slide-1-arc-3">
            <a:extLst xmlns:a="http://schemas.openxmlformats.org/drawingml/2006/main">
              <a:ext uri="{FF2B5EF4-FFF2-40B4-BE49-F238E27FC236}">
                <a16:creationId xmlns:a16="http://schemas.microsoft.com/office/drawing/2014/main" id="{55F517A8-0A72-4E51-BF53-D159E445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2250" y="4643438"/>
            <a:ext cx="317500" cy="6111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1" name="slide-1-arc-4">
            <a:extLst xmlns:a="http://schemas.openxmlformats.org/drawingml/2006/main">
              <a:ext uri="{FF2B5EF4-FFF2-40B4-BE49-F238E27FC236}">
                <a16:creationId xmlns:a16="http://schemas.microsoft.com/office/drawing/2014/main" id="{4213D365-BAA8-43B8-BFB6-117B1D4B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206875"/>
            <a:ext cx="317500" cy="4365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2" name="slide-1-arc-5">
            <a:extLst xmlns:a="http://schemas.openxmlformats.org/drawingml/2006/main">
              <a:ext uri="{FF2B5EF4-FFF2-40B4-BE49-F238E27FC236}">
                <a16:creationId xmlns:a16="http://schemas.microsoft.com/office/drawing/2014/main" id="{4CEC6498-0D44-4A82-B844-E5DA598D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7250" y="3944938"/>
            <a:ext cx="317500" cy="2619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3" name="slide-1-arc-6">
            <a:extLst xmlns:a="http://schemas.openxmlformats.org/drawingml/2006/main">
              <a:ext uri="{FF2B5EF4-FFF2-40B4-BE49-F238E27FC236}">
                <a16:creationId xmlns:a16="http://schemas.microsoft.com/office/drawing/2014/main" id="{337290BE-75F9-4722-AE60-B5DFBFCA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4750" y="3857625"/>
            <a:ext cx="317500" cy="87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4" name="slide-1-arc-7">
            <a:extLst xmlns:a="http://schemas.openxmlformats.org/drawingml/2006/main">
              <a:ext uri="{FF2B5EF4-FFF2-40B4-BE49-F238E27FC236}">
                <a16:creationId xmlns:a16="http://schemas.microsoft.com/office/drawing/2014/main" id="{D8C64C51-86C6-48BA-B8EE-3DA52A40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857625"/>
            <a:ext cx="317500" cy="87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5" name="slide-1-arc-8">
            <a:extLst xmlns:a="http://schemas.openxmlformats.org/drawingml/2006/main">
              <a:ext uri="{FF2B5EF4-FFF2-40B4-BE49-F238E27FC236}">
                <a16:creationId xmlns:a16="http://schemas.microsoft.com/office/drawing/2014/main" id="{CE79912D-E6E4-49E5-A386-E7181857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9750" y="3944938"/>
            <a:ext cx="317500" cy="2619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6" name="slide-1-arc-9">
            <a:extLst xmlns:a="http://schemas.openxmlformats.org/drawingml/2006/main">
              <a:ext uri="{FF2B5EF4-FFF2-40B4-BE49-F238E27FC236}">
                <a16:creationId xmlns:a16="http://schemas.microsoft.com/office/drawing/2014/main" id="{6DABB62F-C3EA-4E5D-B380-57EDFD62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7250" y="4206875"/>
            <a:ext cx="317500" cy="4365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7" name="slide-1-arc-10">
            <a:extLst xmlns:a="http://schemas.openxmlformats.org/drawingml/2006/main">
              <a:ext uri="{FF2B5EF4-FFF2-40B4-BE49-F238E27FC236}">
                <a16:creationId xmlns:a16="http://schemas.microsoft.com/office/drawing/2014/main" id="{75D7C98D-D43D-4009-96CF-5341EF8C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4643438"/>
            <a:ext cx="317500" cy="6111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8" name="slide-1-arc-11">
            <a:extLst xmlns:a="http://schemas.openxmlformats.org/drawingml/2006/main">
              <a:ext uri="{FF2B5EF4-FFF2-40B4-BE49-F238E27FC236}">
                <a16:creationId xmlns:a16="http://schemas.microsoft.com/office/drawing/2014/main" id="{96C783E2-1A5B-4735-A1D0-F103EEFE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0" y="5254625"/>
            <a:ext cx="317500" cy="7858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9" name="slide-1-arc-12">
            <a:extLst xmlns:a="http://schemas.openxmlformats.org/drawingml/2006/main">
              <a:ext uri="{FF2B5EF4-FFF2-40B4-BE49-F238E27FC236}">
                <a16:creationId xmlns:a16="http://schemas.microsoft.com/office/drawing/2014/main" id="{5CE325DE-F2F3-43B7-A251-474CB250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9750" y="6040438"/>
            <a:ext cx="317500" cy="9604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20" name="slide-1-launch-ball">
            <a:extLst xmlns:a="http://schemas.openxmlformats.org/drawingml/2006/main">
              <a:ext uri="{FF2B5EF4-FFF2-40B4-BE49-F238E27FC236}">
                <a16:creationId xmlns:a16="http://schemas.microsoft.com/office/drawing/2014/main" id="{B6120DCA-8B00-4B1F-85AB-69107AF8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68675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21" name="slide-1-target-ring">
            <a:extLst xmlns:a="http://schemas.openxmlformats.org/drawingml/2006/main">
              <a:ext uri="{FF2B5EF4-FFF2-40B4-BE49-F238E27FC236}">
                <a16:creationId xmlns:a16="http://schemas.microsoft.com/office/drawing/2014/main" id="{5E197224-DFA1-4DB8-83E1-4D168C9C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6800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C98A16"/>
            </a:solidFill>
            <a:prstDash val="solid"/>
          </a:ln>
        </p:spPr>
      </p:sp>
      <p:sp>
        <p:nvSpPr>
          <p:cNvPr id="22" name="slide-1-target-stem">
            <a:extLst xmlns:a="http://schemas.openxmlformats.org/drawingml/2006/main">
              <a:ext uri="{FF2B5EF4-FFF2-40B4-BE49-F238E27FC236}">
                <a16:creationId xmlns:a16="http://schemas.microsoft.com/office/drawing/2014/main" id="{822F9E77-8AF0-425C-BD59-8317FEC6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905500"/>
            <a:ext cx="9525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8A16"/>
            </a:solidFill>
            <a:prstDash val="dash"/>
          </a:ln>
        </p:spPr>
      </p:sp>
      <p:sp>
        <p:nvSpPr>
          <p:cNvPr id="23" name="slide-1-target-label">
            <a:extLst xmlns:a="http://schemas.openxmlformats.org/drawingml/2006/main">
              <a:ext uri="{FF2B5EF4-FFF2-40B4-BE49-F238E27FC236}">
                <a16:creationId xmlns:a16="http://schemas.microsoft.com/office/drawing/2014/main" id="{FC5D59CA-B23D-49A5-B164-AACCDFDE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54768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35 m target</a:t>
            </a:r>
          </a:p>
        </p:txBody>
      </p:sp>
      <p:sp>
        <p:nvSpPr>
          <p:cNvPr id="24" name="slide-1-launch-arrow">
            <a:extLst xmlns:a="http://schemas.openxmlformats.org/drawingml/2006/main">
              <a:ext uri="{FF2B5EF4-FFF2-40B4-BE49-F238E27FC236}">
                <a16:creationId xmlns:a16="http://schemas.microsoft.com/office/drawing/2014/main" id="{5EB816C9-94F7-43BA-9EFD-548C21AB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6191250"/>
            <a:ext cx="57150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25" name="slide-1-speed-label">
            <a:extLst xmlns:a="http://schemas.openxmlformats.org/drawingml/2006/main">
              <a:ext uri="{FF2B5EF4-FFF2-40B4-BE49-F238E27FC236}">
                <a16:creationId xmlns:a16="http://schemas.microsoft.com/office/drawing/2014/main" id="{11E37C90-3873-4594-A653-4D42BE4F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3342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80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v0 = 20 m/s</a:t>
            </a:r>
          </a:p>
        </p:txBody>
      </p:sp>
      <p:sp>
        <p:nvSpPr>
          <p:cNvPr id="26" name="slide-1-angle-label">
            <a:extLst xmlns:a="http://schemas.openxmlformats.org/drawingml/2006/main">
              <a:ext uri="{FF2B5EF4-FFF2-40B4-BE49-F238E27FC236}">
                <a16:creationId xmlns:a16="http://schemas.microsoft.com/office/drawing/2014/main" id="{A31389A1-B1ED-4936-82B2-EC009E88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5722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80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theta</a:t>
            </a:r>
          </a:p>
        </p:txBody>
      </p:sp>
      <p:sp>
        <p:nvSpPr>
          <p:cNvPr id="27" name="slide-1-angle-marker">
            <a:extLst xmlns:a="http://schemas.openxmlformats.org/drawingml/2006/main">
              <a:ext uri="{FF2B5EF4-FFF2-40B4-BE49-F238E27FC236}">
                <a16:creationId xmlns:a16="http://schemas.microsoft.com/office/drawing/2014/main" id="{9CFEE6BF-59CE-408A-8A9B-732F0362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715125"/>
            <a:ext cx="28575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8A16"/>
            </a:solidFill>
            <a:prstDash val="solid"/>
          </a:ln>
        </p:spPr>
      </p:sp>
      <p:sp>
        <p:nvSpPr>
          <p:cNvPr id="28" name="slide-1-chain">
            <a:extLst xmlns:a="http://schemas.openxmlformats.org/drawingml/2006/main">
              <a:ext uri="{FF2B5EF4-FFF2-40B4-BE49-F238E27FC236}">
                <a16:creationId xmlns:a16="http://schemas.microsoft.com/office/drawing/2014/main" id="{A226AFFD-FD17-43AF-979C-6FCA243B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1915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physical target  →  residual  →  root</a:t>
            </a:r>
          </a:p>
        </p:txBody>
      </p:sp>
    </p:spTree>
    <p:extLst>
      <p:ext uri="{BB962C8B-B14F-4D97-AF65-F5344CB8AC3E}">
        <p14:creationId xmlns:p14="http://schemas.microsoft.com/office/powerpoint/2010/main" val="1594995037"/>
      </p:ext>
    </p:extLst>
  </p:cSld>
</p:sld>
</file>

<file path=ppt/slides/slide2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6924C0FF-2BAD-4E0F-BF97-CCC33EDD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target becomes a residual</a:t>
            </a:r>
          </a:p>
        </p:txBody>
      </p:sp>
      <p:sp>
        <p:nvSpPr>
          <p:cNvPr id="2" name="slide-2-title-rule">
            <a:extLst xmlns:a="http://schemas.openxmlformats.org/drawingml/2006/main">
              <a:ext uri="{FF2B5EF4-FFF2-40B4-BE49-F238E27FC236}">
                <a16:creationId xmlns:a16="http://schemas.microsoft.com/office/drawing/2014/main" id="{6F197187-D182-422C-AFCF-D115BFE6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09700"/>
            <a:ext cx="1504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3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61E54B45-AC43-49FF-BE3E-DA473D1C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Model range minus target range becomes a quantity a solver can drive to zero</a:t>
            </a:r>
          </a:p>
        </p:txBody>
      </p:sp>
      <p:sp>
        <p:nvSpPr>
          <p:cNvPr id="4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4566B414-676C-4F3B-94A1-D0405D85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5" name="slide-2-physical model-stage">
            <a:extLst xmlns:a="http://schemas.openxmlformats.org/drawingml/2006/main">
              <a:ext uri="{FF2B5EF4-FFF2-40B4-BE49-F238E27FC236}">
                <a16:creationId xmlns:a16="http://schemas.microsoft.com/office/drawing/2014/main" id="{C38A7B36-33FD-431E-A77E-ADD91973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57500"/>
            <a:ext cx="4762500" cy="23812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slide-2-physical model-label">
            <a:extLst xmlns:a="http://schemas.openxmlformats.org/drawingml/2006/main">
              <a:ext uri="{FF2B5EF4-FFF2-40B4-BE49-F238E27FC236}">
                <a16:creationId xmlns:a16="http://schemas.microsoft.com/office/drawing/2014/main" id="{835AA27F-E041-44C7-A159-32AA0A67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14325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PHYSICAL MODEL</a:t>
            </a:r>
          </a:p>
        </p:txBody>
      </p:sp>
      <p:sp>
        <p:nvSpPr>
          <p:cNvPr id="7" name="slide-2-physical model-value">
            <a:extLst xmlns:a="http://schemas.openxmlformats.org/drawingml/2006/main">
              <a:ext uri="{FF2B5EF4-FFF2-40B4-BE49-F238E27FC236}">
                <a16:creationId xmlns:a16="http://schemas.microsoft.com/office/drawing/2014/main" id="{47E388EB-9C7B-4A3D-AC3A-C9805FC2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52850"/>
            <a:ext cx="4152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R(theta)</a:t>
            </a:r>
          </a:p>
          <a:p xmlns:a="http://schemas.openxmlformats.org/drawingml/2006/main">
            <a:pPr algn="ctr">
              <a:defRPr sz="25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from the projectile</a:t>
            </a:r>
          </a:p>
        </p:txBody>
      </p:sp>
      <p:sp>
        <p:nvSpPr>
          <p:cNvPr id="8" name="slide-2-target condition-stage">
            <a:extLst xmlns:a="http://schemas.openxmlformats.org/drawingml/2006/main">
              <a:ext uri="{FF2B5EF4-FFF2-40B4-BE49-F238E27FC236}">
                <a16:creationId xmlns:a16="http://schemas.microsoft.com/office/drawing/2014/main" id="{B43AFD5E-0CFC-4C66-A830-5AA793AC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4762500" cy="23812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9" name="slide-2-target condition-label">
            <a:extLst xmlns:a="http://schemas.openxmlformats.org/drawingml/2006/main">
              <a:ext uri="{FF2B5EF4-FFF2-40B4-BE49-F238E27FC236}">
                <a16:creationId xmlns:a16="http://schemas.microsoft.com/office/drawing/2014/main" id="{3DCB8F95-ED31-473A-943F-F27F3BA0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TARGET CONDITION</a:t>
            </a:r>
          </a:p>
        </p:txBody>
      </p:sp>
      <p:sp>
        <p:nvSpPr>
          <p:cNvPr id="10" name="slide-2-target condition-value">
            <a:extLst xmlns:a="http://schemas.openxmlformats.org/drawingml/2006/main">
              <a:ext uri="{FF2B5EF4-FFF2-40B4-BE49-F238E27FC236}">
                <a16:creationId xmlns:a16="http://schemas.microsoft.com/office/drawing/2014/main" id="{F792F417-4BFB-424C-9C17-53457875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52850"/>
            <a:ext cx="4152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R(theta) = 35 m</a:t>
            </a:r>
          </a:p>
        </p:txBody>
      </p:sp>
      <p:sp>
        <p:nvSpPr>
          <p:cNvPr id="11" name="slide-2-residual zero-stage">
            <a:extLst xmlns:a="http://schemas.openxmlformats.org/drawingml/2006/main">
              <a:ext uri="{FF2B5EF4-FFF2-40B4-BE49-F238E27FC236}">
                <a16:creationId xmlns:a16="http://schemas.microsoft.com/office/drawing/2014/main" id="{9BA3D62A-0B36-44CC-8BDF-769BD635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2857500"/>
            <a:ext cx="4762500" cy="23812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12" name="slide-2-residual zero-label">
            <a:extLst xmlns:a="http://schemas.openxmlformats.org/drawingml/2006/main">
              <a:ext uri="{FF2B5EF4-FFF2-40B4-BE49-F238E27FC236}">
                <a16:creationId xmlns:a16="http://schemas.microsoft.com/office/drawing/2014/main" id="{24B79D51-C381-4A0D-A08B-FDB24791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314325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RESIDUAL ZERO</a:t>
            </a:r>
          </a:p>
        </p:txBody>
      </p:sp>
      <p:sp>
        <p:nvSpPr>
          <p:cNvPr id="13" name="slide-2-residual zero-value">
            <a:extLst xmlns:a="http://schemas.openxmlformats.org/drawingml/2006/main">
              <a:ext uri="{FF2B5EF4-FFF2-40B4-BE49-F238E27FC236}">
                <a16:creationId xmlns:a16="http://schemas.microsoft.com/office/drawing/2014/main" id="{F309F5DF-6C14-4512-84B8-B1E7F88C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3752850"/>
            <a:ext cx="4152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55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f(theta) = 0</a:t>
            </a:r>
          </a:p>
        </p:txBody>
      </p:sp>
      <p:sp>
        <p:nvSpPr>
          <p:cNvPr id="14" name="slide-2-arrow-1">
            <a:extLst xmlns:a="http://schemas.openxmlformats.org/drawingml/2006/main">
              <a:ext uri="{FF2B5EF4-FFF2-40B4-BE49-F238E27FC236}">
                <a16:creationId xmlns:a16="http://schemas.microsoft.com/office/drawing/2014/main" id="{BADAA9A0-9042-486D-BAB3-F6BFA64E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62375"/>
            <a:ext cx="514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lide-2-arrow-2">
            <a:extLst xmlns:a="http://schemas.openxmlformats.org/drawingml/2006/main">
              <a:ext uri="{FF2B5EF4-FFF2-40B4-BE49-F238E27FC236}">
                <a16:creationId xmlns:a16="http://schemas.microsoft.com/office/drawing/2014/main" id="{9EBBF18F-32EA-4800-9FD3-6643AC0A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762375"/>
            <a:ext cx="514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 descr="LaTeX-rendered projectile range model, target condition, and residual defini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85f2617b04b94"/>
          <a:stretch xmlns:a="http://schemas.openxmlformats.org/drawingml/2006/main"/>
        </p:blipFill>
        <p:spPr>
          <a:xfrm xmlns:a="http://schemas.openxmlformats.org/drawingml/2006/main">
            <a:off x="4869504" y="5572125"/>
            <a:ext cx="8548993" cy="1952625"/>
          </a:xfrm>
          <a:prstGeom xmlns:a="http://schemas.openxmlformats.org/drawingml/2006/main" prst="rect">
            <a:avLst/>
          </a:prstGeom>
        </p:spPr>
      </p:pic>
      <p:sp>
        <p:nvSpPr>
          <p:cNvPr id="17" name="slide-2-units-strip">
            <a:extLst xmlns:a="http://schemas.openxmlformats.org/drawingml/2006/main">
              <a:ext uri="{FF2B5EF4-FFF2-40B4-BE49-F238E27FC236}">
                <a16:creationId xmlns:a16="http://schemas.microsoft.com/office/drawing/2014/main" id="{8B27BA3A-4FA9-4290-85CD-38C25DFA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858125"/>
            <a:ext cx="11811000" cy="685800"/>
          </a:xfrm>
          <a:prstGeom xmlns:a="http://schemas.openxmlformats.org/drawingml/2006/main" prst="roundRect">
            <a:avLst>
              <a:gd name="adj" fmla="val 30556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18" name="slide-2-units">
            <a:extLst xmlns:a="http://schemas.openxmlformats.org/drawingml/2006/main">
              <a:ext uri="{FF2B5EF4-FFF2-40B4-BE49-F238E27FC236}">
                <a16:creationId xmlns:a16="http://schemas.microsoft.com/office/drawing/2014/main" id="{22C76DF3-655F-4711-9AD4-F3C01722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0391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root variable: theta (degree)    |    residual: metres</a:t>
            </a:r>
          </a:p>
        </p:txBody>
      </p:sp>
    </p:spTree>
    <p:extLst>
      <p:ext uri="{BB962C8B-B14F-4D97-AF65-F5344CB8AC3E}">
        <p14:creationId xmlns:p14="http://schemas.microsoft.com/office/powerpoint/2010/main" val="29980604"/>
      </p:ext>
    </p:extLst>
  </p:cSld>
</p:sld>
</file>

<file path=ppt/slides/slide3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48C58F1C-55F2-4804-86E6-06F135EF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residual sign tells you which way to move</a:t>
            </a:r>
          </a:p>
        </p:txBody>
      </p:sp>
      <p:sp>
        <p:nvSpPr>
          <p:cNvPr id="2" name="slide-3-title-rule">
            <a:extLst xmlns:a="http://schemas.openxmlformats.org/drawingml/2006/main">
              <a:ext uri="{FF2B5EF4-FFF2-40B4-BE49-F238E27FC236}">
                <a16:creationId xmlns:a16="http://schemas.microsoft.com/office/drawing/2014/main" id="{93349BEF-7ECC-41C3-8436-A05C6383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09700"/>
            <a:ext cx="1504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3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ACD6D167-56E6-49BD-BD4A-E2B39FD5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sign is a physical error: below target or above target</a:t>
            </a:r>
          </a:p>
        </p:txBody>
      </p:sp>
      <p:sp>
        <p:nvSpPr>
          <p:cNvPr id="4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DB1D7AC7-5502-4917-9111-CF27FF01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5" name="slide-3-sign-map">
            <a:extLst xmlns:a="http://schemas.openxmlformats.org/drawingml/2006/main">
              <a:ext uri="{FF2B5EF4-FFF2-40B4-BE49-F238E27FC236}">
                <a16:creationId xmlns:a16="http://schemas.microsoft.com/office/drawing/2014/main" id="{99433CFD-14DE-4FFA-AD6B-4780A210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7239000" cy="5429250"/>
          </a:xfrm>
          <a:prstGeom xmlns:a="http://schemas.openxmlformats.org/drawingml/2006/main" prst="roundRect">
            <a:avLst>
              <a:gd name="adj" fmla="val 3860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slide-3-sign-heading">
            <a:extLst xmlns:a="http://schemas.openxmlformats.org/drawingml/2006/main">
              <a:ext uri="{FF2B5EF4-FFF2-40B4-BE49-F238E27FC236}">
                <a16:creationId xmlns:a16="http://schemas.microsoft.com/office/drawing/2014/main" id="{079FAB14-FFDC-419F-93CD-1826F6CE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4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Read the sign as a range error</a:t>
            </a:r>
          </a:p>
        </p:txBody>
      </p:sp>
      <p:sp>
        <p:nvSpPr>
          <p:cNvPr id="7" name="slide-3-sign-line">
            <a:extLst xmlns:a="http://schemas.openxmlformats.org/drawingml/2006/main">
              <a:ext uri="{FF2B5EF4-FFF2-40B4-BE49-F238E27FC236}">
                <a16:creationId xmlns:a16="http://schemas.microsoft.com/office/drawing/2014/main" id="{39E7E9DD-A68C-4B35-9DE3-24019A01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48250"/>
            <a:ext cx="5524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B2B4C"/>
            </a:solidFill>
            <a:prstDash val="solid"/>
          </a:ln>
        </p:spPr>
      </p:sp>
      <p:sp>
        <p:nvSpPr>
          <p:cNvPr id="8" name="slide-3-negative-half">
            <a:extLst xmlns:a="http://schemas.openxmlformats.org/drawingml/2006/main">
              <a:ext uri="{FF2B5EF4-FFF2-40B4-BE49-F238E27FC236}">
                <a16:creationId xmlns:a16="http://schemas.microsoft.com/office/drawing/2014/main" id="{C2DE3235-C912-41A4-8261-9EBB5E15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48250"/>
            <a:ext cx="247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2F6DB2"/>
            </a:solidFill>
            <a:prstDash val="solid"/>
          </a:ln>
        </p:spPr>
      </p:sp>
      <p:sp>
        <p:nvSpPr>
          <p:cNvPr id="9" name="slide-3-positive-half">
            <a:extLst xmlns:a="http://schemas.openxmlformats.org/drawingml/2006/main">
              <a:ext uri="{FF2B5EF4-FFF2-40B4-BE49-F238E27FC236}">
                <a16:creationId xmlns:a16="http://schemas.microsoft.com/office/drawing/2014/main" id="{C9844752-D349-4F33-A6CB-15E46D89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482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C98A16"/>
            </a:solidFill>
            <a:prstDash val="solid"/>
          </a:ln>
        </p:spPr>
      </p:sp>
      <p:sp>
        <p:nvSpPr>
          <p:cNvPr id="10" name="slide-3-zero-marker">
            <a:extLst xmlns:a="http://schemas.openxmlformats.org/drawingml/2006/main">
              <a:ext uri="{FF2B5EF4-FFF2-40B4-BE49-F238E27FC236}">
                <a16:creationId xmlns:a16="http://schemas.microsoft.com/office/drawing/2014/main" id="{6803104F-BDB0-4BCC-8C18-E8756C25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958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B2B4C"/>
            </a:solidFill>
            <a:prstDash val="solid"/>
          </a:ln>
        </p:spPr>
      </p:sp>
      <p:sp>
        <p:nvSpPr>
          <p:cNvPr id="11" name="slide-3-negative-sign">
            <a:extLst xmlns:a="http://schemas.openxmlformats.org/drawingml/2006/main">
              <a:ext uri="{FF2B5EF4-FFF2-40B4-BE49-F238E27FC236}">
                <a16:creationId xmlns:a16="http://schemas.microsoft.com/office/drawing/2014/main" id="{F798B528-D37A-49BF-AF14-EAF16B8D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338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f(theta) &lt; 0</a:t>
            </a:r>
          </a:p>
        </p:txBody>
      </p:sp>
      <p:sp>
        <p:nvSpPr>
          <p:cNvPr id="12" name="slide-3-negative-body">
            <a:extLst xmlns:a="http://schemas.openxmlformats.org/drawingml/2006/main">
              <a:ext uri="{FF2B5EF4-FFF2-40B4-BE49-F238E27FC236}">
                <a16:creationId xmlns:a16="http://schemas.microsoft.com/office/drawing/2014/main" id="{B1970CE7-43D2-412A-B6C0-D3A1EE24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4768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range below</a:t>
            </a:r>
          </a:p>
          <a:p xmlns:a="http://schemas.openxmlformats.org/drawingml/2006/main">
            <a:pPr algn="ctr">
              <a:defRPr sz="187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target</a:t>
            </a:r>
          </a:p>
        </p:txBody>
      </p:sp>
      <p:sp>
        <p:nvSpPr>
          <p:cNvPr id="13" name="slide-3-zero-sign">
            <a:extLst xmlns:a="http://schemas.openxmlformats.org/drawingml/2006/main">
              <a:ext uri="{FF2B5EF4-FFF2-40B4-BE49-F238E27FC236}">
                <a16:creationId xmlns:a16="http://schemas.microsoft.com/office/drawing/2014/main" id="{A66213DA-5C38-427A-977C-25D9B5FD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3387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f(theta) = 0</a:t>
            </a:r>
          </a:p>
        </p:txBody>
      </p:sp>
      <p:sp>
        <p:nvSpPr>
          <p:cNvPr id="14" name="slide-3-zero-body">
            <a:extLst xmlns:a="http://schemas.openxmlformats.org/drawingml/2006/main">
              <a:ext uri="{FF2B5EF4-FFF2-40B4-BE49-F238E27FC236}">
                <a16:creationId xmlns:a16="http://schemas.microsoft.com/office/drawing/2014/main" id="{E586CDF8-F8E5-4B4A-B768-111CD171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7687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875" b="0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exact target</a:t>
            </a:r>
          </a:p>
        </p:txBody>
      </p:sp>
      <p:sp>
        <p:nvSpPr>
          <p:cNvPr id="15" name="slide-3-positive-sign">
            <a:extLst xmlns:a="http://schemas.openxmlformats.org/drawingml/2006/main">
              <a:ext uri="{FF2B5EF4-FFF2-40B4-BE49-F238E27FC236}">
                <a16:creationId xmlns:a16="http://schemas.microsoft.com/office/drawing/2014/main" id="{19DD5C3E-BB00-463F-9894-2BEF2F25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33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f(theta) &gt; 0</a:t>
            </a:r>
          </a:p>
        </p:txBody>
      </p:sp>
      <p:sp>
        <p:nvSpPr>
          <p:cNvPr id="16" name="slide-3-positive-body">
            <a:extLst xmlns:a="http://schemas.openxmlformats.org/drawingml/2006/main">
              <a:ext uri="{FF2B5EF4-FFF2-40B4-BE49-F238E27FC236}">
                <a16:creationId xmlns:a16="http://schemas.microsoft.com/office/drawing/2014/main" id="{52943185-43C1-458B-A428-543F32C2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768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range above</a:t>
            </a:r>
          </a:p>
          <a:p xmlns:a="http://schemas.openxmlformats.org/drawingml/2006/main">
            <a:pPr algn="ctr">
              <a:defRPr sz="187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target</a:t>
            </a:r>
          </a:p>
        </p:txBody>
      </p:sp>
      <p:sp>
        <p:nvSpPr>
          <p:cNvPr id="17" name="slide-3-branch-note">
            <a:extLst xmlns:a="http://schemas.openxmlformats.org/drawingml/2006/main">
              <a:ext uri="{FF2B5EF4-FFF2-40B4-BE49-F238E27FC236}">
                <a16:creationId xmlns:a16="http://schemas.microsoft.com/office/drawing/2014/main" id="{0337FA0E-3564-4C74-945F-45E608CE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7151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On the low-angle branch</a:t>
            </a:r>
          </a:p>
        </p:txBody>
      </p:sp>
      <p:sp>
        <p:nvSpPr>
          <p:cNvPr id="18" name="slide-3-move-panel">
            <a:extLst xmlns:a="http://schemas.openxmlformats.org/drawingml/2006/main">
              <a:ext uri="{FF2B5EF4-FFF2-40B4-BE49-F238E27FC236}">
                <a16:creationId xmlns:a16="http://schemas.microsoft.com/office/drawing/2014/main" id="{6A99745D-B2E3-4C8F-9887-08C5AA85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71750"/>
            <a:ext cx="8096250" cy="5429250"/>
          </a:xfrm>
          <a:prstGeom xmlns:a="http://schemas.openxmlformats.org/drawingml/2006/main" prst="roundRect">
            <a:avLst>
              <a:gd name="adj" fmla="val 3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19" name="slide-3-move-heading">
            <a:extLst xmlns:a="http://schemas.openxmlformats.org/drawingml/2006/main">
              <a:ext uri="{FF2B5EF4-FFF2-40B4-BE49-F238E27FC236}">
                <a16:creationId xmlns:a16="http://schemas.microsoft.com/office/drawing/2014/main" id="{2043959D-EA8E-4461-86BC-F8016416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05125"/>
            <a:ext cx="733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4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Turn sign into a direction</a:t>
            </a:r>
          </a:p>
        </p:txBody>
      </p:sp>
      <p:sp>
        <p:nvSpPr>
          <p:cNvPr id="20" name="slide-3-move-blue">
            <a:extLst xmlns:a="http://schemas.openxmlformats.org/drawingml/2006/main">
              <a:ext uri="{FF2B5EF4-FFF2-40B4-BE49-F238E27FC236}">
                <a16:creationId xmlns:a16="http://schemas.microsoft.com/office/drawing/2014/main" id="{A4D8969D-1A45-46F8-9C2A-E55FEF1C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895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21" name="slide-3-move-blue-text">
            <a:extLst xmlns:a="http://schemas.openxmlformats.org/drawingml/2006/main">
              <a:ext uri="{FF2B5EF4-FFF2-40B4-BE49-F238E27FC236}">
                <a16:creationId xmlns:a16="http://schemas.microsoft.com/office/drawing/2014/main" id="{C2463F1D-6951-406D-9F55-48BE8F70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5762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negative residual</a:t>
            </a:r>
          </a:p>
        </p:txBody>
      </p:sp>
      <p:sp>
        <p:nvSpPr>
          <p:cNvPr id="22" name="slide-3-move-blue-body">
            <a:extLst xmlns:a="http://schemas.openxmlformats.org/drawingml/2006/main">
              <a:ext uri="{FF2B5EF4-FFF2-40B4-BE49-F238E27FC236}">
                <a16:creationId xmlns:a16="http://schemas.microsoft.com/office/drawing/2014/main" id="{55BE8D9D-E087-4871-A883-93C51F36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23862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model falls short of 35 m</a:t>
            </a:r>
          </a:p>
        </p:txBody>
      </p:sp>
      <p:sp>
        <p:nvSpPr>
          <p:cNvPr id="23" name="slide-3-move-arrow-up">
            <a:extLst xmlns:a="http://schemas.openxmlformats.org/drawingml/2006/main">
              <a:ext uri="{FF2B5EF4-FFF2-40B4-BE49-F238E27FC236}">
                <a16:creationId xmlns:a16="http://schemas.microsoft.com/office/drawing/2014/main" id="{87832803-434A-41D3-91BD-B3BBF9EF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53000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lide-3-move-up-text">
            <a:extLst xmlns:a="http://schemas.openxmlformats.org/drawingml/2006/main">
              <a:ext uri="{FF2B5EF4-FFF2-40B4-BE49-F238E27FC236}">
                <a16:creationId xmlns:a16="http://schemas.microsoft.com/office/drawing/2014/main" id="{7A3AF65E-BAF7-42AF-830B-188B5602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768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move to a larger angle on this branch</a:t>
            </a:r>
          </a:p>
        </p:txBody>
      </p:sp>
      <p:sp>
        <p:nvSpPr>
          <p:cNvPr id="25" name="slide-3-move-gold">
            <a:extLst xmlns:a="http://schemas.openxmlformats.org/drawingml/2006/main">
              <a:ext uri="{FF2B5EF4-FFF2-40B4-BE49-F238E27FC236}">
                <a16:creationId xmlns:a16="http://schemas.microsoft.com/office/drawing/2014/main" id="{07EE2D5E-C51F-4961-962A-AABC1ACD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5800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16"/>
          </a:solidFill>
          <a:ln xmlns:a="http://schemas.openxmlformats.org/drawingml/2006/main" w="0">
            <a:solidFill>
              <a:srgbClr val="C98A16"/>
            </a:solidFill>
            <a:prstDash val="solid"/>
          </a:ln>
        </p:spPr>
      </p:sp>
      <p:sp>
        <p:nvSpPr>
          <p:cNvPr id="26" name="slide-3-move-gold-text">
            <a:extLst xmlns:a="http://schemas.openxmlformats.org/drawingml/2006/main">
              <a:ext uri="{FF2B5EF4-FFF2-40B4-BE49-F238E27FC236}">
                <a16:creationId xmlns:a16="http://schemas.microsoft.com/office/drawing/2014/main" id="{AF6188DA-2356-487D-8DAB-FE433990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76262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positive residual</a:t>
            </a:r>
          </a:p>
        </p:txBody>
      </p:sp>
      <p:sp>
        <p:nvSpPr>
          <p:cNvPr id="27" name="slide-3-move-gold-body">
            <a:extLst xmlns:a="http://schemas.openxmlformats.org/drawingml/2006/main">
              <a:ext uri="{FF2B5EF4-FFF2-40B4-BE49-F238E27FC236}">
                <a16:creationId xmlns:a16="http://schemas.microsoft.com/office/drawing/2014/main" id="{C08EDABC-F93C-4E70-8FBE-3C8DFCCC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14362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model overshoots 35 m</a:t>
            </a:r>
          </a:p>
        </p:txBody>
      </p:sp>
      <p:sp>
        <p:nvSpPr>
          <p:cNvPr id="28" name="slide-3-move-arrow-down">
            <a:extLst xmlns:a="http://schemas.openxmlformats.org/drawingml/2006/main">
              <a:ext uri="{FF2B5EF4-FFF2-40B4-BE49-F238E27FC236}">
                <a16:creationId xmlns:a16="http://schemas.microsoft.com/office/drawing/2014/main" id="{5BE74B7A-4BA4-4330-924A-9554A4A8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858000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8A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lide-3-move-down-text">
            <a:extLst xmlns:a="http://schemas.openxmlformats.org/drawingml/2006/main">
              <a:ext uri="{FF2B5EF4-FFF2-40B4-BE49-F238E27FC236}">
                <a16:creationId xmlns:a16="http://schemas.microsoft.com/office/drawing/2014/main" id="{BD3C3AA9-F581-47E2-9CDB-8FCD07FB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818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move to a smaller angle on this branch</a:t>
            </a:r>
          </a:p>
        </p:txBody>
      </p:sp>
    </p:spTree>
    <p:extLst>
      <p:ext uri="{BB962C8B-B14F-4D97-AF65-F5344CB8AC3E}">
        <p14:creationId xmlns:p14="http://schemas.microsoft.com/office/powerpoint/2010/main" val="1577626368"/>
      </p:ext>
    </p:extLst>
  </p:cSld>
</p:sld>
</file>

<file path=ppt/slides/slide4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212649AA-3398-483C-99EE-E7A40CD4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graph gives us a bracket</a:t>
            </a:r>
          </a:p>
        </p:txBody>
      </p:sp>
      <p:sp>
        <p:nvSpPr>
          <p:cNvPr id="2" name="slide-4-title-rule">
            <a:extLst xmlns:a="http://schemas.openxmlformats.org/drawingml/2006/main">
              <a:ext uri="{FF2B5EF4-FFF2-40B4-BE49-F238E27FC236}">
                <a16:creationId xmlns:a16="http://schemas.microsoft.com/office/drawing/2014/main" id="{6D0DB3FE-D750-4399-9990-BE6C4B59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09700"/>
            <a:ext cx="1504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3" name="slide-4-subtitle">
            <a:extLst xmlns:a="http://schemas.openxmlformats.org/drawingml/2006/main">
              <a:ext uri="{FF2B5EF4-FFF2-40B4-BE49-F238E27FC236}">
                <a16:creationId xmlns:a16="http://schemas.microsoft.com/office/drawing/2014/main" id="{AA46E01C-ACDE-41DF-9AC2-8E113495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 sign change marks the low-angle interval we will keep</a:t>
            </a:r>
          </a:p>
        </p:txBody>
      </p:sp>
      <p:sp>
        <p:nvSpPr>
          <p:cNvPr id="4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EEF9AF08-12B6-4BB5-A72A-DEA7E863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5" name="slide-4-bracket-panel">
            <a:extLst xmlns:a="http://schemas.openxmlformats.org/drawingml/2006/main">
              <a:ext uri="{FF2B5EF4-FFF2-40B4-BE49-F238E27FC236}">
                <a16:creationId xmlns:a16="http://schemas.microsoft.com/office/drawing/2014/main" id="{43C68C5F-12D6-41CF-A453-2CD80EDA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24125"/>
            <a:ext cx="4048125" cy="5810250"/>
          </a:xfrm>
          <a:prstGeom xmlns:a="http://schemas.openxmlformats.org/drawingml/2006/main" prst="roundRect">
            <a:avLst>
              <a:gd name="adj" fmla="val 5176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slide-4-panel-heading">
            <a:extLst xmlns:a="http://schemas.openxmlformats.org/drawingml/2006/main">
              <a:ext uri="{FF2B5EF4-FFF2-40B4-BE49-F238E27FC236}">
                <a16:creationId xmlns:a16="http://schemas.microsoft.com/office/drawing/2014/main" id="{046691AE-9B1C-4980-8387-B26C2377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4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Scan before solving</a:t>
            </a:r>
          </a:p>
        </p:txBody>
      </p:sp>
      <p:sp>
        <p:nvSpPr>
          <p:cNvPr id="7" name="slide-4-scan">
            <a:extLst xmlns:a="http://schemas.openxmlformats.org/drawingml/2006/main">
              <a:ext uri="{FF2B5EF4-FFF2-40B4-BE49-F238E27FC236}">
                <a16:creationId xmlns:a16="http://schemas.microsoft.com/office/drawing/2014/main" id="{8BEB1A3D-993F-4D2A-BC5B-27D9440D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338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75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theta = 10:1:70 degree</a:t>
            </a:r>
          </a:p>
        </p:txBody>
      </p:sp>
      <p:sp>
        <p:nvSpPr>
          <p:cNvPr id="8" name="slide-4-panel-rule">
            <a:extLst xmlns:a="http://schemas.openxmlformats.org/drawingml/2006/main">
              <a:ext uri="{FF2B5EF4-FFF2-40B4-BE49-F238E27FC236}">
                <a16:creationId xmlns:a16="http://schemas.microsoft.com/office/drawing/2014/main" id="{C0FF7765-DA0C-4517-9D1B-CC98FC92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3381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9" name="slide-4-left-endpoint">
            <a:extLst xmlns:a="http://schemas.openxmlformats.org/drawingml/2006/main">
              <a:ext uri="{FF2B5EF4-FFF2-40B4-BE49-F238E27FC236}">
                <a16:creationId xmlns:a16="http://schemas.microsoft.com/office/drawing/2014/main" id="{6AADF00A-C099-4FCB-AF58-21BC6FE3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025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f(20 degree) = -8.7905 m</a:t>
            </a:r>
          </a:p>
        </p:txBody>
      </p:sp>
      <p:sp>
        <p:nvSpPr>
          <p:cNvPr id="10" name="slide-4-right-endpoint">
            <a:extLst xmlns:a="http://schemas.openxmlformats.org/drawingml/2006/main">
              <a:ext uri="{FF2B5EF4-FFF2-40B4-BE49-F238E27FC236}">
                <a16:creationId xmlns:a16="http://schemas.microsoft.com/office/drawing/2014/main" id="{63B5ADD1-4F54-4958-ABB7-F0433477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025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f(40 degree) = +5.1553 m</a:t>
            </a:r>
          </a:p>
        </p:txBody>
      </p:sp>
      <p:sp>
        <p:nvSpPr>
          <p:cNvPr id="11" name="slide-4-opposite">
            <a:extLst xmlns:a="http://schemas.openxmlformats.org/drawingml/2006/main">
              <a:ext uri="{FF2B5EF4-FFF2-40B4-BE49-F238E27FC236}">
                <a16:creationId xmlns:a16="http://schemas.microsoft.com/office/drawing/2014/main" id="{B0282AE7-B0C2-46D4-A50A-66901439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72250"/>
            <a:ext cx="338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opposite signs</a:t>
            </a:r>
          </a:p>
        </p:txBody>
      </p:sp>
      <p:sp>
        <p:nvSpPr>
          <p:cNvPr id="12" name="slide-4-bracket">
            <a:extLst xmlns:a="http://schemas.openxmlformats.org/drawingml/2006/main">
              <a:ext uri="{FF2B5EF4-FFF2-40B4-BE49-F238E27FC236}">
                <a16:creationId xmlns:a16="http://schemas.microsoft.com/office/drawing/2014/main" id="{1EFB286A-18AC-4D41-9E66-9612CD47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00875"/>
            <a:ext cx="338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bracket = [20, 40] degree</a:t>
            </a:r>
          </a:p>
        </p:txBody>
      </p:sp>
      <p:sp>
        <p:nvSpPr>
          <p:cNvPr id="13" name="slide-4-prompt">
            <a:extLst xmlns:a="http://schemas.openxmlformats.org/drawingml/2006/main">
              <a:ext uri="{FF2B5EF4-FFF2-40B4-BE49-F238E27FC236}">
                <a16:creationId xmlns:a16="http://schemas.microsoft.com/office/drawing/2014/main" id="{59102DBD-51C2-49CD-A2F9-455E69EB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762875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650" b="0" i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Where does f(theta) cross zero?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97321e80d4c54"/>
          <a:stretch xmlns:a="http://schemas.openxmlformats.org/drawingml/2006/main"/>
        </p:blipFill>
        <p:spPr>
          <a:xfrm xmlns:a="http://schemas.openxmlformats.org/drawingml/2006/main">
            <a:off x="6512470" y="2381250"/>
            <a:ext cx="9501685" cy="628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15800"/>
      </p:ext>
    </p:extLst>
  </p:cSld>
</p:sld>
</file>

<file path=ppt/slides/slide5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095884D8-6349-41D6-84A7-955492A3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Bisection keeps a sign change alive</a:t>
            </a:r>
          </a:p>
        </p:txBody>
      </p:sp>
      <p:sp>
        <p:nvSpPr>
          <p:cNvPr id="2" name="slide-5-title-rule">
            <a:extLst xmlns:a="http://schemas.openxmlformats.org/drawingml/2006/main">
              <a:ext uri="{FF2B5EF4-FFF2-40B4-BE49-F238E27FC236}">
                <a16:creationId xmlns:a16="http://schemas.microsoft.com/office/drawing/2014/main" id="{291B8FEE-3347-4968-B544-0933F87D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09700"/>
            <a:ext cx="1504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3" name="slide-5-subtitle">
            <a:extLst xmlns:a="http://schemas.openxmlformats.org/drawingml/2006/main">
              <a:ext uri="{FF2B5EF4-FFF2-40B4-BE49-F238E27FC236}">
                <a16:creationId xmlns:a16="http://schemas.microsoft.com/office/drawing/2014/main" id="{770D298B-E7E5-4F3D-9889-0D2368F0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Bracket first, test the midpoint, keep the half that still straddles zero</a:t>
            </a:r>
          </a:p>
        </p:txBody>
      </p:sp>
      <p:sp>
        <p:nvSpPr>
          <p:cNvPr id="4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92F698A2-4F12-43C6-98B4-069F42CD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  <p:sp>
        <p:nvSpPr>
          <p:cNvPr id="5" name="slide-5-top-label">
            <a:extLst xmlns:a="http://schemas.openxmlformats.org/drawingml/2006/main">
              <a:ext uri="{FF2B5EF4-FFF2-40B4-BE49-F238E27FC236}">
                <a16:creationId xmlns:a16="http://schemas.microsoft.com/office/drawing/2014/main" id="{3D3CEBD8-9C36-48CF-A753-CF8AACD1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start with [20, 40] degree</a:t>
            </a:r>
          </a:p>
        </p:txBody>
      </p:sp>
      <p:sp>
        <p:nvSpPr>
          <p:cNvPr id="6" name="slide-5-top-line">
            <a:extLst xmlns:a="http://schemas.openxmlformats.org/drawingml/2006/main">
              <a:ext uri="{FF2B5EF4-FFF2-40B4-BE49-F238E27FC236}">
                <a16:creationId xmlns:a16="http://schemas.microsoft.com/office/drawing/2014/main" id="{D9416B65-FE84-4F54-B510-1BA0239E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667125"/>
            <a:ext cx="361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B2B4C"/>
            </a:solidFill>
            <a:prstDash val="solid"/>
          </a:ln>
        </p:spPr>
      </p:sp>
      <p:sp>
        <p:nvSpPr>
          <p:cNvPr id="7" name="slide-5-top-left">
            <a:extLst xmlns:a="http://schemas.openxmlformats.org/drawingml/2006/main">
              <a:ext uri="{FF2B5EF4-FFF2-40B4-BE49-F238E27FC236}">
                <a16:creationId xmlns:a16="http://schemas.microsoft.com/office/drawing/2014/main" id="{198F66D7-29E3-4777-9FF4-057C7AEF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8" name="slide-5-top-zero">
            <a:extLst xmlns:a="http://schemas.openxmlformats.org/drawingml/2006/main">
              <a:ext uri="{FF2B5EF4-FFF2-40B4-BE49-F238E27FC236}">
                <a16:creationId xmlns:a16="http://schemas.microsoft.com/office/drawing/2014/main" id="{FA82E8E8-21DB-4530-9E2C-7872B09A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24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B2B4C"/>
            </a:solidFill>
            <a:prstDash val="solid"/>
          </a:ln>
        </p:spPr>
      </p:sp>
      <p:sp>
        <p:nvSpPr>
          <p:cNvPr id="9" name="slide-5-top-right">
            <a:extLst xmlns:a="http://schemas.openxmlformats.org/drawingml/2006/main">
              <a:ext uri="{FF2B5EF4-FFF2-40B4-BE49-F238E27FC236}">
                <a16:creationId xmlns:a16="http://schemas.microsoft.com/office/drawing/2014/main" id="{3C7C08E8-118F-4A38-8AC8-0BB1B51A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16"/>
          </a:solidFill>
          <a:ln xmlns:a="http://schemas.openxmlformats.org/drawingml/2006/main" w="0">
            <a:solidFill>
              <a:srgbClr val="C98A16"/>
            </a:solidFill>
            <a:prstDash val="solid"/>
          </a:ln>
        </p:spPr>
      </p:sp>
      <p:sp>
        <p:nvSpPr>
          <p:cNvPr id="10" name="slide-5-top-left-label">
            <a:extLst xmlns:a="http://schemas.openxmlformats.org/drawingml/2006/main">
              <a:ext uri="{FF2B5EF4-FFF2-40B4-BE49-F238E27FC236}">
                <a16:creationId xmlns:a16="http://schemas.microsoft.com/office/drawing/2014/main" id="{1AD465D5-CBFD-4BFE-8E3D-A7B0C0DD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433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725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f(20) &lt; 0</a:t>
            </a:r>
          </a:p>
        </p:txBody>
      </p:sp>
      <p:sp>
        <p:nvSpPr>
          <p:cNvPr id="11" name="slide-5-top-right-label">
            <a:extLst xmlns:a="http://schemas.openxmlformats.org/drawingml/2006/main">
              <a:ext uri="{FF2B5EF4-FFF2-40B4-BE49-F238E27FC236}">
                <a16:creationId xmlns:a16="http://schemas.microsoft.com/office/drawing/2014/main" id="{F21D5FE7-948C-443D-AD48-78149960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433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725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f(40) &gt; 0</a:t>
            </a:r>
          </a:p>
        </p:txBody>
      </p:sp>
      <p:sp>
        <p:nvSpPr>
          <p:cNvPr id="12" name="slide-5-arrow-1">
            <a:extLst xmlns:a="http://schemas.openxmlformats.org/drawingml/2006/main">
              <a:ext uri="{FF2B5EF4-FFF2-40B4-BE49-F238E27FC236}">
                <a16:creationId xmlns:a16="http://schemas.microsoft.com/office/drawing/2014/main" id="{F90EB2D6-D375-4EA1-8A10-101E3A1E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524250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lide-5-mid-label">
            <a:extLst xmlns:a="http://schemas.openxmlformats.org/drawingml/2006/main">
              <a:ext uri="{FF2B5EF4-FFF2-40B4-BE49-F238E27FC236}">
                <a16:creationId xmlns:a16="http://schemas.microsoft.com/office/drawing/2014/main" id="{7A3E92E1-B065-40C0-8AA0-E0963BF8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670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test midpoint 30 degree</a:t>
            </a:r>
          </a:p>
        </p:txBody>
      </p:sp>
      <p:sp>
        <p:nvSpPr>
          <p:cNvPr id="14" name="slide-5-mid-line">
            <a:extLst xmlns:a="http://schemas.openxmlformats.org/drawingml/2006/main">
              <a:ext uri="{FF2B5EF4-FFF2-40B4-BE49-F238E27FC236}">
                <a16:creationId xmlns:a16="http://schemas.microsoft.com/office/drawing/2014/main" id="{05B45904-5582-4DB1-B985-AD3D32E2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67125"/>
            <a:ext cx="323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B2B4C"/>
            </a:solidFill>
            <a:prstDash val="solid"/>
          </a:ln>
        </p:spPr>
      </p:sp>
      <p:sp>
        <p:nvSpPr>
          <p:cNvPr id="15" name="slide-5-mid-left">
            <a:extLst xmlns:a="http://schemas.openxmlformats.org/drawingml/2006/main">
              <a:ext uri="{FF2B5EF4-FFF2-40B4-BE49-F238E27FC236}">
                <a16:creationId xmlns:a16="http://schemas.microsoft.com/office/drawing/2014/main" id="{E608D6A6-6FE6-4C61-A3ED-6BF8D319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16" name="slide-5-mid-point">
            <a:extLst xmlns:a="http://schemas.openxmlformats.org/drawingml/2006/main">
              <a:ext uri="{FF2B5EF4-FFF2-40B4-BE49-F238E27FC236}">
                <a16:creationId xmlns:a16="http://schemas.microsoft.com/office/drawing/2014/main" id="{06367553-1126-493F-AE94-E84BBDC7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486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16"/>
          </a:solidFill>
          <a:ln xmlns:a="http://schemas.openxmlformats.org/drawingml/2006/main" w="0">
            <a:solidFill>
              <a:srgbClr val="C98A16"/>
            </a:solidFill>
            <a:prstDash val="solid"/>
          </a:ln>
        </p:spPr>
      </p:sp>
      <p:sp>
        <p:nvSpPr>
          <p:cNvPr id="17" name="slide-5-mid-right">
            <a:extLst xmlns:a="http://schemas.openxmlformats.org/drawingml/2006/main">
              <a:ext uri="{FF2B5EF4-FFF2-40B4-BE49-F238E27FC236}">
                <a16:creationId xmlns:a16="http://schemas.microsoft.com/office/drawing/2014/main" id="{383F8CC8-BC03-4991-8899-D5C295E6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16"/>
          </a:solidFill>
          <a:ln xmlns:a="http://schemas.openxmlformats.org/drawingml/2006/main" w="0">
            <a:solidFill>
              <a:srgbClr val="C98A16"/>
            </a:solidFill>
            <a:prstDash val="solid"/>
          </a:ln>
        </p:spPr>
      </p:sp>
      <p:sp>
        <p:nvSpPr>
          <p:cNvPr id="18" name="slide-5-mid-value">
            <a:extLst xmlns:a="http://schemas.openxmlformats.org/drawingml/2006/main">
              <a:ext uri="{FF2B5EF4-FFF2-40B4-BE49-F238E27FC236}">
                <a16:creationId xmlns:a16="http://schemas.microsoft.com/office/drawing/2014/main" id="{E76EE971-602C-441E-AF2A-FC02C1C4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43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80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f(30) = +0.31194 m</a:t>
            </a:r>
          </a:p>
        </p:txBody>
      </p:sp>
      <p:sp>
        <p:nvSpPr>
          <p:cNvPr id="19" name="slide-5-arrow-2">
            <a:extLst xmlns:a="http://schemas.openxmlformats.org/drawingml/2006/main">
              <a:ext uri="{FF2B5EF4-FFF2-40B4-BE49-F238E27FC236}">
                <a16:creationId xmlns:a16="http://schemas.microsoft.com/office/drawing/2014/main" id="{E4B14B4C-7FD0-4C6E-A693-339B3859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524250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lide-5-keep-label">
            <a:extLst xmlns:a="http://schemas.openxmlformats.org/drawingml/2006/main">
              <a:ext uri="{FF2B5EF4-FFF2-40B4-BE49-F238E27FC236}">
                <a16:creationId xmlns:a16="http://schemas.microsoft.com/office/drawing/2014/main" id="{5965E055-A5CE-475C-A5D7-F2E8E69B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6670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keep the sign-changing half</a:t>
            </a:r>
          </a:p>
        </p:txBody>
      </p:sp>
      <p:sp>
        <p:nvSpPr>
          <p:cNvPr id="21" name="slide-5-keep-line">
            <a:extLst xmlns:a="http://schemas.openxmlformats.org/drawingml/2006/main">
              <a:ext uri="{FF2B5EF4-FFF2-40B4-BE49-F238E27FC236}">
                <a16:creationId xmlns:a16="http://schemas.microsoft.com/office/drawing/2014/main" id="{4792DE51-79FF-4504-81E2-0B88EFE6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667125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E8E45"/>
            </a:solidFill>
            <a:prstDash val="solid"/>
          </a:ln>
        </p:spPr>
      </p:sp>
      <p:sp>
        <p:nvSpPr>
          <p:cNvPr id="22" name="slide-5-keep-left">
            <a:extLst xmlns:a="http://schemas.openxmlformats.org/drawingml/2006/main">
              <a:ext uri="{FF2B5EF4-FFF2-40B4-BE49-F238E27FC236}">
                <a16:creationId xmlns:a16="http://schemas.microsoft.com/office/drawing/2014/main" id="{DA59F386-A84F-426B-891B-0C56901E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E45"/>
          </a:solidFill>
          <a:ln xmlns:a="http://schemas.openxmlformats.org/drawingml/2006/main" w="0">
            <a:solidFill>
              <a:srgbClr val="3E8E45"/>
            </a:solidFill>
            <a:prstDash val="solid"/>
          </a:ln>
        </p:spPr>
      </p:sp>
      <p:sp>
        <p:nvSpPr>
          <p:cNvPr id="23" name="slide-5-keep-right">
            <a:extLst xmlns:a="http://schemas.openxmlformats.org/drawingml/2006/main">
              <a:ext uri="{FF2B5EF4-FFF2-40B4-BE49-F238E27FC236}">
                <a16:creationId xmlns:a16="http://schemas.microsoft.com/office/drawing/2014/main" id="{AA437A72-E149-4C39-9A26-255697FA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325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E45"/>
          </a:solidFill>
          <a:ln xmlns:a="http://schemas.openxmlformats.org/drawingml/2006/main" w="0">
            <a:solidFill>
              <a:srgbClr val="3E8E45"/>
            </a:solidFill>
            <a:prstDash val="solid"/>
          </a:ln>
        </p:spPr>
      </p:sp>
      <p:sp>
        <p:nvSpPr>
          <p:cNvPr id="24" name="slide-5-keep-value">
            <a:extLst xmlns:a="http://schemas.openxmlformats.org/drawingml/2006/main">
              <a:ext uri="{FF2B5EF4-FFF2-40B4-BE49-F238E27FC236}">
                <a16:creationId xmlns:a16="http://schemas.microsoft.com/office/drawing/2014/main" id="{58336148-4F24-4675-91C7-1C10295F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1433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80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new bracket [20, 30] degree</a:t>
            </a:r>
          </a:p>
        </p:txBody>
      </p:sp>
      <p:sp>
        <p:nvSpPr>
          <p:cNvPr id="25" name="slide-5-step-1">
            <a:extLst xmlns:a="http://schemas.openxmlformats.org/drawingml/2006/main">
              <a:ext uri="{FF2B5EF4-FFF2-40B4-BE49-F238E27FC236}">
                <a16:creationId xmlns:a16="http://schemas.microsoft.com/office/drawing/2014/main" id="{AE7382E9-A856-473B-9958-42BE7580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305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26" name="slide-5-step-1-number">
            <a:extLst xmlns:a="http://schemas.openxmlformats.org/drawingml/2006/main">
              <a:ext uri="{FF2B5EF4-FFF2-40B4-BE49-F238E27FC236}">
                <a16:creationId xmlns:a16="http://schemas.microsoft.com/office/drawing/2014/main" id="{9BAE7107-8FDA-4209-99BC-FBE60BC3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6343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27" name="slide-5-step-1-heading">
            <a:extLst xmlns:a="http://schemas.openxmlformats.org/drawingml/2006/main">
              <a:ext uri="{FF2B5EF4-FFF2-40B4-BE49-F238E27FC236}">
                <a16:creationId xmlns:a16="http://schemas.microsoft.com/office/drawing/2014/main" id="{19EF00B9-1DA5-474A-8007-5D736B3F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63055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choose endpoints</a:t>
            </a:r>
          </a:p>
        </p:txBody>
      </p:sp>
      <p:sp>
        <p:nvSpPr>
          <p:cNvPr id="28" name="slide-5-step-1-body">
            <a:extLst xmlns:a="http://schemas.openxmlformats.org/drawingml/2006/main">
              <a:ext uri="{FF2B5EF4-FFF2-40B4-BE49-F238E27FC236}">
                <a16:creationId xmlns:a16="http://schemas.microsoft.com/office/drawing/2014/main" id="{AFD863F7-4561-467C-815A-E664DC94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67246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opposite signs</a:t>
            </a:r>
          </a:p>
        </p:txBody>
      </p:sp>
      <p:sp>
        <p:nvSpPr>
          <p:cNvPr id="29" name="slide-5-step-2">
            <a:extLst xmlns:a="http://schemas.openxmlformats.org/drawingml/2006/main">
              <a:ext uri="{FF2B5EF4-FFF2-40B4-BE49-F238E27FC236}">
                <a16:creationId xmlns:a16="http://schemas.microsoft.com/office/drawing/2014/main" id="{6F2E7876-B3C0-4606-9C15-E9EA15EA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305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16"/>
          </a:solidFill>
          <a:ln xmlns:a="http://schemas.openxmlformats.org/drawingml/2006/main" w="0">
            <a:solidFill>
              <a:srgbClr val="C98A16"/>
            </a:solidFill>
            <a:prstDash val="solid"/>
          </a:ln>
        </p:spPr>
      </p:sp>
      <p:sp>
        <p:nvSpPr>
          <p:cNvPr id="30" name="slide-5-step-2-number">
            <a:extLst xmlns:a="http://schemas.openxmlformats.org/drawingml/2006/main">
              <a:ext uri="{FF2B5EF4-FFF2-40B4-BE49-F238E27FC236}">
                <a16:creationId xmlns:a16="http://schemas.microsoft.com/office/drawing/2014/main" id="{4EC4A3A2-370A-4464-89B4-4A41BD2A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343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31" name="slide-5-step-2-heading">
            <a:extLst xmlns:a="http://schemas.openxmlformats.org/drawingml/2006/main">
              <a:ext uri="{FF2B5EF4-FFF2-40B4-BE49-F238E27FC236}">
                <a16:creationId xmlns:a16="http://schemas.microsoft.com/office/drawing/2014/main" id="{759626C7-6C41-4873-97F5-B514CE44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055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compute midpoint</a:t>
            </a:r>
          </a:p>
        </p:txBody>
      </p:sp>
      <p:sp>
        <p:nvSpPr>
          <p:cNvPr id="32" name="slide-5-step-2-body">
            <a:extLst xmlns:a="http://schemas.openxmlformats.org/drawingml/2006/main">
              <a:ext uri="{FF2B5EF4-FFF2-40B4-BE49-F238E27FC236}">
                <a16:creationId xmlns:a16="http://schemas.microsoft.com/office/drawing/2014/main" id="{1286741E-F746-4279-8025-4A3E6E21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7246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m = (a + b)/2</a:t>
            </a:r>
          </a:p>
        </p:txBody>
      </p:sp>
      <p:sp>
        <p:nvSpPr>
          <p:cNvPr id="33" name="slide-5-step-3">
            <a:extLst xmlns:a="http://schemas.openxmlformats.org/drawingml/2006/main">
              <a:ext uri="{FF2B5EF4-FFF2-40B4-BE49-F238E27FC236}">
                <a16:creationId xmlns:a16="http://schemas.microsoft.com/office/drawing/2014/main" id="{4655044C-7548-4442-95BA-C3B0FAC2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305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16"/>
          </a:solidFill>
          <a:ln xmlns:a="http://schemas.openxmlformats.org/drawingml/2006/main" w="0">
            <a:solidFill>
              <a:srgbClr val="C98A16"/>
            </a:solidFill>
            <a:prstDash val="solid"/>
          </a:ln>
        </p:spPr>
      </p:sp>
      <p:sp>
        <p:nvSpPr>
          <p:cNvPr id="34" name="slide-5-step-3-number">
            <a:extLst xmlns:a="http://schemas.openxmlformats.org/drawingml/2006/main">
              <a:ext uri="{FF2B5EF4-FFF2-40B4-BE49-F238E27FC236}">
                <a16:creationId xmlns:a16="http://schemas.microsoft.com/office/drawing/2014/main" id="{6671BF56-DEFC-4B54-8E4F-1B391E23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6343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35" name="slide-5-step-3-heading">
            <a:extLst xmlns:a="http://schemas.openxmlformats.org/drawingml/2006/main">
              <a:ext uri="{FF2B5EF4-FFF2-40B4-BE49-F238E27FC236}">
                <a16:creationId xmlns:a16="http://schemas.microsoft.com/office/drawing/2014/main" id="{BBB7F111-2F06-4CB7-AA57-2EA619EC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3055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evaluate residual</a:t>
            </a:r>
          </a:p>
        </p:txBody>
      </p:sp>
      <p:sp>
        <p:nvSpPr>
          <p:cNvPr id="36" name="slide-5-step-3-body">
            <a:extLst xmlns:a="http://schemas.openxmlformats.org/drawingml/2006/main">
              <a:ext uri="{FF2B5EF4-FFF2-40B4-BE49-F238E27FC236}">
                <a16:creationId xmlns:a16="http://schemas.microsoft.com/office/drawing/2014/main" id="{C2C71F0D-7019-4303-A8C7-7D0536DC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7246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read f(m)</a:t>
            </a:r>
          </a:p>
        </p:txBody>
      </p:sp>
      <p:sp>
        <p:nvSpPr>
          <p:cNvPr id="37" name="slide-5-step-4">
            <a:extLst xmlns:a="http://schemas.openxmlformats.org/drawingml/2006/main">
              <a:ext uri="{FF2B5EF4-FFF2-40B4-BE49-F238E27FC236}">
                <a16:creationId xmlns:a16="http://schemas.microsoft.com/office/drawing/2014/main" id="{2CBD1DE4-3C94-4C3B-97D0-D1328866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6305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E45"/>
          </a:solidFill>
          <a:ln xmlns:a="http://schemas.openxmlformats.org/drawingml/2006/main" w="0">
            <a:solidFill>
              <a:srgbClr val="3E8E45"/>
            </a:solidFill>
            <a:prstDash val="solid"/>
          </a:ln>
        </p:spPr>
      </p:sp>
      <p:sp>
        <p:nvSpPr>
          <p:cNvPr id="38" name="slide-5-step-4-number">
            <a:extLst xmlns:a="http://schemas.openxmlformats.org/drawingml/2006/main">
              <a:ext uri="{FF2B5EF4-FFF2-40B4-BE49-F238E27FC236}">
                <a16:creationId xmlns:a16="http://schemas.microsoft.com/office/drawing/2014/main" id="{CF291E36-425D-4AD6-B3A4-3935C286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6343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39" name="slide-5-step-4-heading">
            <a:extLst xmlns:a="http://schemas.openxmlformats.org/drawingml/2006/main">
              <a:ext uri="{FF2B5EF4-FFF2-40B4-BE49-F238E27FC236}">
                <a16:creationId xmlns:a16="http://schemas.microsoft.com/office/drawing/2014/main" id="{232ED00A-411E-4181-BF6D-134C5F20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63055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keep the sign change</a:t>
            </a:r>
          </a:p>
        </p:txBody>
      </p:sp>
      <p:sp>
        <p:nvSpPr>
          <p:cNvPr id="40" name="slide-5-step-4-body">
            <a:extLst xmlns:a="http://schemas.openxmlformats.org/drawingml/2006/main">
              <a:ext uri="{FF2B5EF4-FFF2-40B4-BE49-F238E27FC236}">
                <a16:creationId xmlns:a16="http://schemas.microsoft.com/office/drawing/2014/main" id="{CC470B4C-3494-4FFA-AE29-2B554149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67246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replace one endpoint</a:t>
            </a:r>
          </a:p>
        </p:txBody>
      </p:sp>
      <p:sp>
        <p:nvSpPr>
          <p:cNvPr id="41" name="slide-5-question-box">
            <a:extLst xmlns:a="http://schemas.openxmlformats.org/drawingml/2006/main">
              <a:ext uri="{FF2B5EF4-FFF2-40B4-BE49-F238E27FC236}">
                <a16:creationId xmlns:a16="http://schemas.microsoft.com/office/drawing/2014/main" id="{A2832B2F-ABB6-4FE0-9E87-61B22EBC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953375"/>
            <a:ext cx="14859000" cy="685800"/>
          </a:xfrm>
          <a:prstGeom xmlns:a="http://schemas.openxmlformats.org/drawingml/2006/main" prst="roundRect">
            <a:avLst>
              <a:gd name="adj" fmla="val 3055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42" name="slide-5-question">
            <a:extLst xmlns:a="http://schemas.openxmlformats.org/drawingml/2006/main">
              <a:ext uri="{FF2B5EF4-FFF2-40B4-BE49-F238E27FC236}">
                <a16:creationId xmlns:a16="http://schemas.microsoft.com/office/drawing/2014/main" id="{78AB4807-5B61-48FB-8211-BCB6B764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81057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Why is the midpoint not enough?</a:t>
            </a:r>
          </a:p>
        </p:txBody>
      </p:sp>
      <p:sp>
        <p:nvSpPr>
          <p:cNvPr id="43" name="slide-5-answer">
            <a:extLst xmlns:a="http://schemas.openxmlformats.org/drawingml/2006/main">
              <a:ext uri="{FF2B5EF4-FFF2-40B4-BE49-F238E27FC236}">
                <a16:creationId xmlns:a16="http://schemas.microsoft.com/office/drawing/2014/main" id="{FDD9BE5D-FCD3-40EA-B258-380C42D3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105775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72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Because bisection needs a bracket whose endpoint residuals have opposite signs.</a:t>
            </a:r>
          </a:p>
        </p:txBody>
      </p:sp>
    </p:spTree>
    <p:extLst>
      <p:ext uri="{BB962C8B-B14F-4D97-AF65-F5344CB8AC3E}">
        <p14:creationId xmlns:p14="http://schemas.microsoft.com/office/powerpoint/2010/main" val="981358159"/>
      </p:ext>
    </p:extLst>
  </p:cSld>
</p:sld>
</file>

<file path=ppt/slides/slide6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AA66F2F5-9035-4D43-A30A-9AC1D2B5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Bisection shrinks the bracket</a:t>
            </a:r>
          </a:p>
        </p:txBody>
      </p:sp>
      <p:sp>
        <p:nvSpPr>
          <p:cNvPr id="2" name="slide-6-title-rule">
            <a:extLst xmlns:a="http://schemas.openxmlformats.org/drawingml/2006/main">
              <a:ext uri="{FF2B5EF4-FFF2-40B4-BE49-F238E27FC236}">
                <a16:creationId xmlns:a16="http://schemas.microsoft.com/office/drawing/2014/main" id="{6FBE0E29-411F-4590-BCB4-8DB1FFC7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09700"/>
            <a:ext cx="1504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3" name="slide-6-subtitle">
            <a:extLst xmlns:a="http://schemas.openxmlformats.org/drawingml/2006/main">
              <a:ext uri="{FF2B5EF4-FFF2-40B4-BE49-F238E27FC236}">
                <a16:creationId xmlns:a16="http://schemas.microsoft.com/office/drawing/2014/main" id="{DBAA4D3B-1137-413C-AF4A-45C21378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Every row repeats the same four decisions</a:t>
            </a:r>
          </a:p>
        </p:txBody>
      </p:sp>
      <p:sp>
        <p:nvSpPr>
          <p:cNvPr id="4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5C6B4E96-4625-40B3-BF56-CCA3C955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6</a:t>
            </a:r>
          </a:p>
        </p:txBody>
      </p:sp>
      <p:sp>
        <p:nvSpPr>
          <p:cNvPr id="5" name="slide-6-algorithm">
            <a:extLst xmlns:a="http://schemas.openxmlformats.org/drawingml/2006/main">
              <a:ext uri="{FF2B5EF4-FFF2-40B4-BE49-F238E27FC236}">
                <a16:creationId xmlns:a16="http://schemas.microsoft.com/office/drawing/2014/main" id="{7F164D8E-3564-44CB-83DD-19DD70BE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24125"/>
            <a:ext cx="4476750" cy="5572125"/>
          </a:xfrm>
          <a:prstGeom xmlns:a="http://schemas.openxmlformats.org/drawingml/2006/main" prst="roundRect">
            <a:avLst>
              <a:gd name="adj" fmla="val 4681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slide-6-algorithm-heading">
            <a:extLst xmlns:a="http://schemas.openxmlformats.org/drawingml/2006/main">
              <a:ext uri="{FF2B5EF4-FFF2-40B4-BE49-F238E27FC236}">
                <a16:creationId xmlns:a16="http://schemas.microsoft.com/office/drawing/2014/main" id="{B705F134-3C9E-46ED-ABF4-AABD7319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Plain-language algorithm</a:t>
            </a:r>
          </a:p>
        </p:txBody>
      </p:sp>
      <p:sp>
        <p:nvSpPr>
          <p:cNvPr id="7" name="slide-6-alg-1">
            <a:extLst xmlns:a="http://schemas.openxmlformats.org/drawingml/2006/main">
              <a:ext uri="{FF2B5EF4-FFF2-40B4-BE49-F238E27FC236}">
                <a16:creationId xmlns:a16="http://schemas.microsoft.com/office/drawing/2014/main" id="{36B661A7-E525-40FA-A1FA-009E2E28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390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8" name="slide-6-alg-num-1">
            <a:extLst xmlns:a="http://schemas.openxmlformats.org/drawingml/2006/main">
              <a:ext uri="{FF2B5EF4-FFF2-40B4-BE49-F238E27FC236}">
                <a16:creationId xmlns:a16="http://schemas.microsoft.com/office/drawing/2014/main" id="{35910252-0F5A-47C2-8211-51B0C5E9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3909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9" name="slide-6-alg-text-1">
            <a:extLst xmlns:a="http://schemas.openxmlformats.org/drawingml/2006/main">
              <a:ext uri="{FF2B5EF4-FFF2-40B4-BE49-F238E27FC236}">
                <a16:creationId xmlns:a16="http://schemas.microsoft.com/office/drawing/2014/main" id="{A8FA8C02-B64A-4EA0-8E38-E7312583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4004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72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Start with opposite endpoint signs</a:t>
            </a:r>
          </a:p>
        </p:txBody>
      </p:sp>
      <p:sp>
        <p:nvSpPr>
          <p:cNvPr id="10" name="slide-6-alg-line-1">
            <a:extLst xmlns:a="http://schemas.openxmlformats.org/drawingml/2006/main">
              <a:ext uri="{FF2B5EF4-FFF2-40B4-BE49-F238E27FC236}">
                <a16:creationId xmlns:a16="http://schemas.microsoft.com/office/drawing/2014/main" id="{871B1E2C-9EBC-46AB-B896-F19286B8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857625"/>
            <a:ext cx="9525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4BE"/>
            </a:solidFill>
            <a:prstDash val="dash"/>
          </a:ln>
        </p:spPr>
      </p:sp>
      <p:sp>
        <p:nvSpPr>
          <p:cNvPr id="11" name="slide-6-alg-2">
            <a:extLst xmlns:a="http://schemas.openxmlformats.org/drawingml/2006/main">
              <a:ext uri="{FF2B5EF4-FFF2-40B4-BE49-F238E27FC236}">
                <a16:creationId xmlns:a16="http://schemas.microsoft.com/office/drawing/2014/main" id="{CC46EC16-3E6A-4E9B-97E4-0A0CD991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171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12" name="slide-6-alg-num-2">
            <a:extLst xmlns:a="http://schemas.openxmlformats.org/drawingml/2006/main">
              <a:ext uri="{FF2B5EF4-FFF2-40B4-BE49-F238E27FC236}">
                <a16:creationId xmlns:a16="http://schemas.microsoft.com/office/drawing/2014/main" id="{55937A08-74B4-4479-923C-1400080F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17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13" name="slide-6-alg-text-2">
            <a:extLst xmlns:a="http://schemas.openxmlformats.org/drawingml/2006/main">
              <a:ext uri="{FF2B5EF4-FFF2-40B4-BE49-F238E27FC236}">
                <a16:creationId xmlns:a16="http://schemas.microsoft.com/office/drawing/2014/main" id="{F44179F8-6346-4311-8EFF-EE289CDD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814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72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Compute the midpoint</a:t>
            </a:r>
          </a:p>
        </p:txBody>
      </p:sp>
      <p:sp>
        <p:nvSpPr>
          <p:cNvPr id="14" name="slide-6-alg-line-2">
            <a:extLst xmlns:a="http://schemas.openxmlformats.org/drawingml/2006/main">
              <a:ext uri="{FF2B5EF4-FFF2-40B4-BE49-F238E27FC236}">
                <a16:creationId xmlns:a16="http://schemas.microsoft.com/office/drawing/2014/main" id="{12D74A37-FA5B-434A-92B1-3A5B961A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38675"/>
            <a:ext cx="9525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4BE"/>
            </a:solidFill>
            <a:prstDash val="dash"/>
          </a:ln>
        </p:spPr>
      </p:sp>
      <p:sp>
        <p:nvSpPr>
          <p:cNvPr id="15" name="slide-6-alg-3">
            <a:extLst xmlns:a="http://schemas.openxmlformats.org/drawingml/2006/main">
              <a:ext uri="{FF2B5EF4-FFF2-40B4-BE49-F238E27FC236}">
                <a16:creationId xmlns:a16="http://schemas.microsoft.com/office/drawing/2014/main" id="{13C98513-CAA3-42E1-BC1F-E39BAE28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953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16" name="slide-6-alg-num-3">
            <a:extLst xmlns:a="http://schemas.openxmlformats.org/drawingml/2006/main">
              <a:ext uri="{FF2B5EF4-FFF2-40B4-BE49-F238E27FC236}">
                <a16:creationId xmlns:a16="http://schemas.microsoft.com/office/drawing/2014/main" id="{4A62AEED-936F-49E8-9C40-6C760B4D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953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17" name="slide-6-alg-text-3">
            <a:extLst xmlns:a="http://schemas.openxmlformats.org/drawingml/2006/main">
              <a:ext uri="{FF2B5EF4-FFF2-40B4-BE49-F238E27FC236}">
                <a16:creationId xmlns:a16="http://schemas.microsoft.com/office/drawing/2014/main" id="{8E38DFF2-60C2-4BE1-83E7-C2F241BE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9625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72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Evaluate f(mid)</a:t>
            </a:r>
          </a:p>
        </p:txBody>
      </p:sp>
      <p:sp>
        <p:nvSpPr>
          <p:cNvPr id="18" name="slide-6-alg-line-3">
            <a:extLst xmlns:a="http://schemas.openxmlformats.org/drawingml/2006/main">
              <a:ext uri="{FF2B5EF4-FFF2-40B4-BE49-F238E27FC236}">
                <a16:creationId xmlns:a16="http://schemas.microsoft.com/office/drawing/2014/main" id="{7017E8F3-6236-4B15-9170-ECFD4AD9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19725"/>
            <a:ext cx="9525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4BE"/>
            </a:solidFill>
            <a:prstDash val="dash"/>
          </a:ln>
        </p:spPr>
      </p:sp>
      <p:sp>
        <p:nvSpPr>
          <p:cNvPr id="19" name="slide-6-alg-4">
            <a:extLst xmlns:a="http://schemas.openxmlformats.org/drawingml/2006/main">
              <a:ext uri="{FF2B5EF4-FFF2-40B4-BE49-F238E27FC236}">
                <a16:creationId xmlns:a16="http://schemas.microsoft.com/office/drawing/2014/main" id="{01594B44-9346-49FD-BA4C-CD86D3C1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734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20" name="slide-6-alg-num-4">
            <a:extLst xmlns:a="http://schemas.openxmlformats.org/drawingml/2006/main">
              <a:ext uri="{FF2B5EF4-FFF2-40B4-BE49-F238E27FC236}">
                <a16:creationId xmlns:a16="http://schemas.microsoft.com/office/drawing/2014/main" id="{0E9609E5-15A4-4065-8206-5E7A1AF0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734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21" name="slide-6-alg-text-4">
            <a:extLst xmlns:a="http://schemas.openxmlformats.org/drawingml/2006/main">
              <a:ext uri="{FF2B5EF4-FFF2-40B4-BE49-F238E27FC236}">
                <a16:creationId xmlns:a16="http://schemas.microsoft.com/office/drawing/2014/main" id="{59077EF8-29CE-4A49-A24B-E5D28B0E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7435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72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Replace one endpoint</a:t>
            </a:r>
          </a:p>
        </p:txBody>
      </p:sp>
      <p:sp>
        <p:nvSpPr>
          <p:cNvPr id="22" name="slide-6-alg-line-4">
            <a:extLst xmlns:a="http://schemas.openxmlformats.org/drawingml/2006/main">
              <a:ext uri="{FF2B5EF4-FFF2-40B4-BE49-F238E27FC236}">
                <a16:creationId xmlns:a16="http://schemas.microsoft.com/office/drawing/2014/main" id="{25081CAF-A515-4138-8D33-5D4209E0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00775"/>
            <a:ext cx="9525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4BE"/>
            </a:solidFill>
            <a:prstDash val="dash"/>
          </a:ln>
        </p:spPr>
      </p:sp>
      <p:sp>
        <p:nvSpPr>
          <p:cNvPr id="23" name="slide-6-alg-5">
            <a:extLst xmlns:a="http://schemas.openxmlformats.org/drawingml/2006/main">
              <a:ext uri="{FF2B5EF4-FFF2-40B4-BE49-F238E27FC236}">
                <a16:creationId xmlns:a16="http://schemas.microsoft.com/office/drawing/2014/main" id="{C99546EC-5B4D-4567-B939-7E17FE69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515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E45"/>
          </a:solidFill>
          <a:ln xmlns:a="http://schemas.openxmlformats.org/drawingml/2006/main" w="0">
            <a:solidFill>
              <a:srgbClr val="3E8E45"/>
            </a:solidFill>
            <a:prstDash val="solid"/>
          </a:ln>
        </p:spPr>
      </p:sp>
      <p:sp>
        <p:nvSpPr>
          <p:cNvPr id="24" name="slide-6-alg-num-5">
            <a:extLst xmlns:a="http://schemas.openxmlformats.org/drawingml/2006/main">
              <a:ext uri="{FF2B5EF4-FFF2-40B4-BE49-F238E27FC236}">
                <a16:creationId xmlns:a16="http://schemas.microsoft.com/office/drawing/2014/main" id="{4F02C5F6-50B9-4B2A-B64D-CA4BEAB4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5151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  <p:sp>
        <p:nvSpPr>
          <p:cNvPr id="25" name="slide-6-alg-text-5">
            <a:extLst xmlns:a="http://schemas.openxmlformats.org/drawingml/2006/main">
              <a:ext uri="{FF2B5EF4-FFF2-40B4-BE49-F238E27FC236}">
                <a16:creationId xmlns:a16="http://schemas.microsoft.com/office/drawing/2014/main" id="{15FAADCD-6F77-451B-B887-ACA3604B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5246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72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Repeat with the smaller bracket</a:t>
            </a:r>
          </a:p>
        </p:txBody>
      </p:sp>
      <p:sp>
        <p:nvSpPr>
          <p:cNvPr id="26" name="slide-6-invariant">
            <a:extLst xmlns:a="http://schemas.openxmlformats.org/drawingml/2006/main">
              <a:ext uri="{FF2B5EF4-FFF2-40B4-BE49-F238E27FC236}">
                <a16:creationId xmlns:a16="http://schemas.microsoft.com/office/drawing/2014/main" id="{7E112603-C9A3-4B3F-889F-77DBCC9E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5247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725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invariant: f(a) and f(b) keep opposite signs</a:t>
            </a:r>
          </a:p>
        </p:txBody>
      </p:sp>
      <p:sp>
        <p:nvSpPr>
          <p:cNvPr id="27" name="slide-6-table-bg">
            <a:extLst xmlns:a="http://schemas.openxmlformats.org/drawingml/2006/main">
              <a:ext uri="{FF2B5EF4-FFF2-40B4-BE49-F238E27FC236}">
                <a16:creationId xmlns:a16="http://schemas.microsoft.com/office/drawing/2014/main" id="{5F188574-AAB3-4F34-A1C0-5C1A6FCC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11001375" cy="3962400"/>
          </a:xfrm>
          <a:prstGeom xmlns:a="http://schemas.openxmlformats.org/drawingml/2006/main" prst="roundRect">
            <a:avLst>
              <a:gd name="adj" fmla="val 52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28" name="slide-6-table-v-0">
            <a:extLst xmlns:a="http://schemas.openxmlformats.org/drawingml/2006/main">
              <a:ext uri="{FF2B5EF4-FFF2-40B4-BE49-F238E27FC236}">
                <a16:creationId xmlns:a16="http://schemas.microsoft.com/office/drawing/2014/main" id="{D3187A67-2487-43AD-9FB7-4623C0E9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24125"/>
            <a:ext cx="9525" cy="396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BE"/>
            </a:solidFill>
            <a:prstDash val="solid"/>
          </a:ln>
        </p:spPr>
      </p:sp>
      <p:sp>
        <p:nvSpPr>
          <p:cNvPr id="29" name="slide-6-table-v-1">
            <a:extLst xmlns:a="http://schemas.openxmlformats.org/drawingml/2006/main">
              <a:ext uri="{FF2B5EF4-FFF2-40B4-BE49-F238E27FC236}">
                <a16:creationId xmlns:a16="http://schemas.microsoft.com/office/drawing/2014/main" id="{C66F0B37-B06D-45D0-B8D9-17AF37CF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524125"/>
            <a:ext cx="9525" cy="396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BE"/>
            </a:solidFill>
            <a:prstDash val="solid"/>
          </a:ln>
        </p:spPr>
      </p:sp>
      <p:sp>
        <p:nvSpPr>
          <p:cNvPr id="30" name="slide-6-table-v-2">
            <a:extLst xmlns:a="http://schemas.openxmlformats.org/drawingml/2006/main">
              <a:ext uri="{FF2B5EF4-FFF2-40B4-BE49-F238E27FC236}">
                <a16:creationId xmlns:a16="http://schemas.microsoft.com/office/drawing/2014/main" id="{6E9DACD3-966E-4BC9-BBE7-3092EFBA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2524125"/>
            <a:ext cx="9525" cy="396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BE"/>
            </a:solidFill>
            <a:prstDash val="solid"/>
          </a:ln>
        </p:spPr>
      </p:sp>
      <p:sp>
        <p:nvSpPr>
          <p:cNvPr id="31" name="slide-6-table-v-3">
            <a:extLst xmlns:a="http://schemas.openxmlformats.org/drawingml/2006/main">
              <a:ext uri="{FF2B5EF4-FFF2-40B4-BE49-F238E27FC236}">
                <a16:creationId xmlns:a16="http://schemas.microsoft.com/office/drawing/2014/main" id="{3256B67A-9765-4C32-B1D6-3049D0E0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2524125"/>
            <a:ext cx="9525" cy="396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BE"/>
            </a:solidFill>
            <a:prstDash val="solid"/>
          </a:ln>
        </p:spPr>
      </p:sp>
      <p:sp>
        <p:nvSpPr>
          <p:cNvPr id="32" name="slide-6-table-header-rule">
            <a:extLst xmlns:a="http://schemas.openxmlformats.org/drawingml/2006/main">
              <a:ext uri="{FF2B5EF4-FFF2-40B4-BE49-F238E27FC236}">
                <a16:creationId xmlns:a16="http://schemas.microsoft.com/office/drawing/2014/main" id="{E59BE967-EA80-4557-9EB7-19551D00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9925"/>
            <a:ext cx="11001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33" name="slide-6-table-h-1">
            <a:extLst xmlns:a="http://schemas.openxmlformats.org/drawingml/2006/main">
              <a:ext uri="{FF2B5EF4-FFF2-40B4-BE49-F238E27FC236}">
                <a16:creationId xmlns:a16="http://schemas.microsoft.com/office/drawing/2014/main" id="{1780F7FD-E0B1-4121-B74C-833C07AA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29075"/>
            <a:ext cx="11001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C"/>
            </a:solidFill>
            <a:prstDash val="solid"/>
          </a:ln>
        </p:spPr>
      </p:sp>
      <p:sp>
        <p:nvSpPr>
          <p:cNvPr id="34" name="slide-6-table-h-2">
            <a:extLst xmlns:a="http://schemas.openxmlformats.org/drawingml/2006/main">
              <a:ext uri="{FF2B5EF4-FFF2-40B4-BE49-F238E27FC236}">
                <a16:creationId xmlns:a16="http://schemas.microsoft.com/office/drawing/2014/main" id="{AF094557-BDD1-4C09-8DED-D3036BEC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48225"/>
            <a:ext cx="11001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C"/>
            </a:solidFill>
            <a:prstDash val="solid"/>
          </a:ln>
        </p:spPr>
      </p:sp>
      <p:sp>
        <p:nvSpPr>
          <p:cNvPr id="35" name="slide-6-table-h-3">
            <a:extLst xmlns:a="http://schemas.openxmlformats.org/drawingml/2006/main">
              <a:ext uri="{FF2B5EF4-FFF2-40B4-BE49-F238E27FC236}">
                <a16:creationId xmlns:a16="http://schemas.microsoft.com/office/drawing/2014/main" id="{8FC7606A-CB59-4BBA-95BD-8D3CA6A3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67375"/>
            <a:ext cx="11001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C"/>
            </a:solidFill>
            <a:prstDash val="solid"/>
          </a:ln>
        </p:spPr>
      </p:sp>
      <p:sp>
        <p:nvSpPr>
          <p:cNvPr id="36" name="slide-6-table-0-0">
            <a:extLst xmlns:a="http://schemas.openxmlformats.org/drawingml/2006/main">
              <a:ext uri="{FF2B5EF4-FFF2-40B4-BE49-F238E27FC236}">
                <a16:creationId xmlns:a16="http://schemas.microsoft.com/office/drawing/2014/main" id="{A1812106-35B8-455A-A6E2-0AE90085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57475"/>
            <a:ext cx="847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iteration</a:t>
            </a:r>
          </a:p>
        </p:txBody>
      </p:sp>
      <p:sp>
        <p:nvSpPr>
          <p:cNvPr id="37" name="slide-6-table-0-1">
            <a:extLst xmlns:a="http://schemas.openxmlformats.org/drawingml/2006/main">
              <a:ext uri="{FF2B5EF4-FFF2-40B4-BE49-F238E27FC236}">
                <a16:creationId xmlns:a16="http://schemas.microsoft.com/office/drawing/2014/main" id="{CC704766-837C-4B6C-B419-ECA2268E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657475"/>
            <a:ext cx="2228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current bracket (degree)</a:t>
            </a:r>
          </a:p>
        </p:txBody>
      </p:sp>
      <p:sp>
        <p:nvSpPr>
          <p:cNvPr id="38" name="slide-6-table-0-2">
            <a:extLst xmlns:a="http://schemas.openxmlformats.org/drawingml/2006/main">
              <a:ext uri="{FF2B5EF4-FFF2-40B4-BE49-F238E27FC236}">
                <a16:creationId xmlns:a16="http://schemas.microsoft.com/office/drawing/2014/main" id="{871545BE-1FD6-4FDC-BF2E-46E62623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65747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midpoint (degree)</a:t>
            </a:r>
          </a:p>
        </p:txBody>
      </p:sp>
      <p:sp>
        <p:nvSpPr>
          <p:cNvPr id="39" name="slide-6-table-0-3">
            <a:extLst xmlns:a="http://schemas.openxmlformats.org/drawingml/2006/main">
              <a:ext uri="{FF2B5EF4-FFF2-40B4-BE49-F238E27FC236}">
                <a16:creationId xmlns:a16="http://schemas.microsoft.com/office/drawing/2014/main" id="{B9C7FD2D-F873-4672-A323-0A4FAED3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2657475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f(mid) (m)</a:t>
            </a:r>
          </a:p>
        </p:txBody>
      </p:sp>
      <p:sp>
        <p:nvSpPr>
          <p:cNvPr id="40" name="slide-6-table-0-4">
            <a:extLst xmlns:a="http://schemas.openxmlformats.org/drawingml/2006/main">
              <a:ext uri="{FF2B5EF4-FFF2-40B4-BE49-F238E27FC236}">
                <a16:creationId xmlns:a16="http://schemas.microsoft.com/office/drawing/2014/main" id="{6F6C136C-E99C-4DC2-A020-DEE7FA32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2657475"/>
            <a:ext cx="3086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keep</a:t>
            </a:r>
          </a:p>
        </p:txBody>
      </p:sp>
      <p:sp>
        <p:nvSpPr>
          <p:cNvPr id="41" name="slide-6-table-1-0">
            <a:extLst xmlns:a="http://schemas.openxmlformats.org/drawingml/2006/main">
              <a:ext uri="{FF2B5EF4-FFF2-40B4-BE49-F238E27FC236}">
                <a16:creationId xmlns:a16="http://schemas.microsoft.com/office/drawing/2014/main" id="{8619E0D9-3009-4A7A-8A6F-6548FB5B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43275"/>
            <a:ext cx="8477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42" name="slide-6-table-1-1">
            <a:extLst xmlns:a="http://schemas.openxmlformats.org/drawingml/2006/main">
              <a:ext uri="{FF2B5EF4-FFF2-40B4-BE49-F238E27FC236}">
                <a16:creationId xmlns:a16="http://schemas.microsoft.com/office/drawing/2014/main" id="{2A2250DD-AF35-4738-9F05-6F294E63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343275"/>
            <a:ext cx="2228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[20, 40]</a:t>
            </a:r>
          </a:p>
        </p:txBody>
      </p:sp>
      <p:sp>
        <p:nvSpPr>
          <p:cNvPr id="43" name="slide-6-table-1-2">
            <a:extLst xmlns:a="http://schemas.openxmlformats.org/drawingml/2006/main">
              <a:ext uri="{FF2B5EF4-FFF2-40B4-BE49-F238E27FC236}">
                <a16:creationId xmlns:a16="http://schemas.microsoft.com/office/drawing/2014/main" id="{23ADF625-3034-44E2-A2E9-C747D310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343275"/>
            <a:ext cx="1943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30</a:t>
            </a:r>
          </a:p>
        </p:txBody>
      </p:sp>
      <p:sp>
        <p:nvSpPr>
          <p:cNvPr id="44" name="slide-6-table-1-3">
            <a:extLst xmlns:a="http://schemas.openxmlformats.org/drawingml/2006/main">
              <a:ext uri="{FF2B5EF4-FFF2-40B4-BE49-F238E27FC236}">
                <a16:creationId xmlns:a16="http://schemas.microsoft.com/office/drawing/2014/main" id="{B69D1FCF-C116-4D98-B90E-8C7BB803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33432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+0.31194</a:t>
            </a:r>
          </a:p>
        </p:txBody>
      </p:sp>
      <p:sp>
        <p:nvSpPr>
          <p:cNvPr id="45" name="slide-6-table-1-4">
            <a:extLst xmlns:a="http://schemas.openxmlformats.org/drawingml/2006/main">
              <a:ext uri="{FF2B5EF4-FFF2-40B4-BE49-F238E27FC236}">
                <a16:creationId xmlns:a16="http://schemas.microsoft.com/office/drawing/2014/main" id="{F34CF43B-2AFC-491A-A5A8-DAFEA083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3343275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[20, 30]</a:t>
            </a:r>
          </a:p>
        </p:txBody>
      </p:sp>
      <p:sp>
        <p:nvSpPr>
          <p:cNvPr id="46" name="slide-6-table-2-0">
            <a:extLst xmlns:a="http://schemas.openxmlformats.org/drawingml/2006/main">
              <a:ext uri="{FF2B5EF4-FFF2-40B4-BE49-F238E27FC236}">
                <a16:creationId xmlns:a16="http://schemas.microsoft.com/office/drawing/2014/main" id="{1A5DFE69-2FCB-4703-8D41-327573AC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62425"/>
            <a:ext cx="8477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47" name="slide-6-table-2-1">
            <a:extLst xmlns:a="http://schemas.openxmlformats.org/drawingml/2006/main">
              <a:ext uri="{FF2B5EF4-FFF2-40B4-BE49-F238E27FC236}">
                <a16:creationId xmlns:a16="http://schemas.microsoft.com/office/drawing/2014/main" id="{E685C34C-60BB-4916-B67B-6E47E6C5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162425"/>
            <a:ext cx="2228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[20, 30]</a:t>
            </a:r>
          </a:p>
        </p:txBody>
      </p:sp>
      <p:sp>
        <p:nvSpPr>
          <p:cNvPr id="48" name="slide-6-table-2-2">
            <a:extLst xmlns:a="http://schemas.openxmlformats.org/drawingml/2006/main">
              <a:ext uri="{FF2B5EF4-FFF2-40B4-BE49-F238E27FC236}">
                <a16:creationId xmlns:a16="http://schemas.microsoft.com/office/drawing/2014/main" id="{5325D5EC-109A-4A87-8359-624CBEA5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162425"/>
            <a:ext cx="1943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25</a:t>
            </a:r>
          </a:p>
        </p:txBody>
      </p:sp>
      <p:sp>
        <p:nvSpPr>
          <p:cNvPr id="49" name="slide-6-table-2-3">
            <a:extLst xmlns:a="http://schemas.openxmlformats.org/drawingml/2006/main">
              <a:ext uri="{FF2B5EF4-FFF2-40B4-BE49-F238E27FC236}">
                <a16:creationId xmlns:a16="http://schemas.microsoft.com/office/drawing/2014/main" id="{33961A40-6B44-4509-8991-3C81C19D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416242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-3.7648</a:t>
            </a:r>
          </a:p>
        </p:txBody>
      </p:sp>
      <p:sp>
        <p:nvSpPr>
          <p:cNvPr id="50" name="slide-6-table-2-4">
            <a:extLst xmlns:a="http://schemas.openxmlformats.org/drawingml/2006/main">
              <a:ext uri="{FF2B5EF4-FFF2-40B4-BE49-F238E27FC236}">
                <a16:creationId xmlns:a16="http://schemas.microsoft.com/office/drawing/2014/main" id="{C7F3F412-FAE3-4A2C-94D1-2F4F734F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4162425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[25, 30]</a:t>
            </a:r>
          </a:p>
        </p:txBody>
      </p:sp>
      <p:sp>
        <p:nvSpPr>
          <p:cNvPr id="51" name="slide-6-table-3-0">
            <a:extLst xmlns:a="http://schemas.openxmlformats.org/drawingml/2006/main">
              <a:ext uri="{FF2B5EF4-FFF2-40B4-BE49-F238E27FC236}">
                <a16:creationId xmlns:a16="http://schemas.microsoft.com/office/drawing/2014/main" id="{5C4A795A-CF81-4530-8F13-5B7B442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81575"/>
            <a:ext cx="8477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52" name="slide-6-table-3-1">
            <a:extLst xmlns:a="http://schemas.openxmlformats.org/drawingml/2006/main">
              <a:ext uri="{FF2B5EF4-FFF2-40B4-BE49-F238E27FC236}">
                <a16:creationId xmlns:a16="http://schemas.microsoft.com/office/drawing/2014/main" id="{0710F1EA-FD8C-4749-831D-73CDEB3B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981575"/>
            <a:ext cx="2228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[25, 30]</a:t>
            </a:r>
          </a:p>
        </p:txBody>
      </p:sp>
      <p:sp>
        <p:nvSpPr>
          <p:cNvPr id="53" name="slide-6-table-3-2">
            <a:extLst xmlns:a="http://schemas.openxmlformats.org/drawingml/2006/main">
              <a:ext uri="{FF2B5EF4-FFF2-40B4-BE49-F238E27FC236}">
                <a16:creationId xmlns:a16="http://schemas.microsoft.com/office/drawing/2014/main" id="{B5DB7C3C-F95A-427D-82D3-04716204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981575"/>
            <a:ext cx="1943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27.5</a:t>
            </a:r>
          </a:p>
        </p:txBody>
      </p:sp>
      <p:sp>
        <p:nvSpPr>
          <p:cNvPr id="54" name="slide-6-table-3-3">
            <a:extLst xmlns:a="http://schemas.openxmlformats.org/drawingml/2006/main">
              <a:ext uri="{FF2B5EF4-FFF2-40B4-BE49-F238E27FC236}">
                <a16:creationId xmlns:a16="http://schemas.microsoft.com/office/drawing/2014/main" id="{742DD2C0-2383-43F2-A544-4C0F4506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49815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-1.5993</a:t>
            </a:r>
          </a:p>
        </p:txBody>
      </p:sp>
      <p:sp>
        <p:nvSpPr>
          <p:cNvPr id="55" name="slide-6-table-3-4">
            <a:extLst xmlns:a="http://schemas.openxmlformats.org/drawingml/2006/main">
              <a:ext uri="{FF2B5EF4-FFF2-40B4-BE49-F238E27FC236}">
                <a16:creationId xmlns:a16="http://schemas.microsoft.com/office/drawing/2014/main" id="{F894E358-F77E-42B0-B4F7-B2AFBA74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4981575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[27.5, 30]</a:t>
            </a:r>
          </a:p>
        </p:txBody>
      </p:sp>
      <p:sp>
        <p:nvSpPr>
          <p:cNvPr id="56" name="slide-6-table-4-0">
            <a:extLst xmlns:a="http://schemas.openxmlformats.org/drawingml/2006/main">
              <a:ext uri="{FF2B5EF4-FFF2-40B4-BE49-F238E27FC236}">
                <a16:creationId xmlns:a16="http://schemas.microsoft.com/office/drawing/2014/main" id="{ED4615D6-1B91-44C2-953B-B1571CC2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800725"/>
            <a:ext cx="8477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57" name="slide-6-table-4-1">
            <a:extLst xmlns:a="http://schemas.openxmlformats.org/drawingml/2006/main">
              <a:ext uri="{FF2B5EF4-FFF2-40B4-BE49-F238E27FC236}">
                <a16:creationId xmlns:a16="http://schemas.microsoft.com/office/drawing/2014/main" id="{E0AE1A28-3812-4AA9-AFF0-E8B566BA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800725"/>
            <a:ext cx="2228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[27.5, 30]</a:t>
            </a:r>
          </a:p>
        </p:txBody>
      </p:sp>
      <p:sp>
        <p:nvSpPr>
          <p:cNvPr id="58" name="slide-6-table-4-2">
            <a:extLst xmlns:a="http://schemas.openxmlformats.org/drawingml/2006/main">
              <a:ext uri="{FF2B5EF4-FFF2-40B4-BE49-F238E27FC236}">
                <a16:creationId xmlns:a16="http://schemas.microsoft.com/office/drawing/2014/main" id="{4A787B50-0BA3-4BF3-BD0C-EFEBB54F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800725"/>
            <a:ext cx="1943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28.75</a:t>
            </a:r>
          </a:p>
        </p:txBody>
      </p:sp>
      <p:sp>
        <p:nvSpPr>
          <p:cNvPr id="59" name="slide-6-table-4-3">
            <a:extLst xmlns:a="http://schemas.openxmlformats.org/drawingml/2006/main">
              <a:ext uri="{FF2B5EF4-FFF2-40B4-BE49-F238E27FC236}">
                <a16:creationId xmlns:a16="http://schemas.microsoft.com/office/drawing/2014/main" id="{98E58928-65E0-4009-9307-802ACE34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580072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-0.61095</a:t>
            </a:r>
          </a:p>
        </p:txBody>
      </p:sp>
      <p:sp>
        <p:nvSpPr>
          <p:cNvPr id="60" name="slide-6-table-4-4">
            <a:extLst xmlns:a="http://schemas.openxmlformats.org/drawingml/2006/main">
              <a:ext uri="{FF2B5EF4-FFF2-40B4-BE49-F238E27FC236}">
                <a16:creationId xmlns:a16="http://schemas.microsoft.com/office/drawing/2014/main" id="{BCEDAF66-3D41-4A29-9151-5FC4A25E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5800725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[28.75, 30]</a:t>
            </a:r>
          </a:p>
        </p:txBody>
      </p:sp>
      <p:sp>
        <p:nvSpPr>
          <p:cNvPr id="61" name="slide-6-takeaway">
            <a:extLst xmlns:a="http://schemas.openxmlformats.org/drawingml/2006/main">
              <a:ext uri="{FF2B5EF4-FFF2-40B4-BE49-F238E27FC236}">
                <a16:creationId xmlns:a16="http://schemas.microsoft.com/office/drawing/2014/main" id="{278D3C4E-BD3D-449E-8753-5EB0C1F2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810625"/>
            <a:ext cx="14859000" cy="781050"/>
          </a:xfrm>
          <a:prstGeom xmlns:a="http://schemas.openxmlformats.org/drawingml/2006/main" prst="roundRect">
            <a:avLst>
              <a:gd name="adj" fmla="val 26829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62" name="slide-6-takeaway-text">
            <a:extLst xmlns:a="http://schemas.openxmlformats.org/drawingml/2006/main">
              <a:ext uri="{FF2B5EF4-FFF2-40B4-BE49-F238E27FC236}">
                <a16:creationId xmlns:a16="http://schemas.microsoft.com/office/drawing/2014/main" id="{50C2FAF8-599D-4A99-A880-2BB9A551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020175"/>
            <a:ext cx="1419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The bracket width halves; the sign change is the invariant</a:t>
            </a:r>
          </a:p>
        </p:txBody>
      </p:sp>
    </p:spTree>
    <p:extLst>
      <p:ext uri="{BB962C8B-B14F-4D97-AF65-F5344CB8AC3E}">
        <p14:creationId xmlns:p14="http://schemas.microsoft.com/office/powerpoint/2010/main" val="1342738259"/>
      </p:ext>
    </p:extLst>
  </p:cSld>
</p:sld>
</file>

<file path=ppt/slides/slide7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2312E217-D93E-43EC-BABD-B0961622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scaffold makes each decision visible</a:t>
            </a:r>
          </a:p>
        </p:txBody>
      </p:sp>
      <p:sp>
        <p:nvSpPr>
          <p:cNvPr id="2" name="slide-7-title-rule">
            <a:extLst xmlns:a="http://schemas.openxmlformats.org/drawingml/2006/main">
              <a:ext uri="{FF2B5EF4-FFF2-40B4-BE49-F238E27FC236}">
                <a16:creationId xmlns:a16="http://schemas.microsoft.com/office/drawing/2014/main" id="{438A6522-1716-4284-990D-34D30C13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09700"/>
            <a:ext cx="1504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3" name="slide-7-subtitle">
            <a:extLst xmlns:a="http://schemas.openxmlformats.org/drawingml/2006/main">
              <a:ext uri="{FF2B5EF4-FFF2-40B4-BE49-F238E27FC236}">
                <a16:creationId xmlns:a16="http://schemas.microsoft.com/office/drawing/2014/main" id="{B6B7E1C9-D16C-48D9-8E09-B29BA896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loop is short because the physical decision is explicit</a:t>
            </a:r>
          </a:p>
        </p:txBody>
      </p:sp>
      <p:sp>
        <p:nvSpPr>
          <p:cNvPr id="4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373706F8-84E0-4876-A60D-DA38820E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7</a:t>
            </a:r>
          </a:p>
        </p:txBody>
      </p:sp>
      <p:sp>
        <p:nvSpPr>
          <p:cNvPr id="5" name="slide-7-pseudocode">
            <a:extLst xmlns:a="http://schemas.openxmlformats.org/drawingml/2006/main">
              <a:ext uri="{FF2B5EF4-FFF2-40B4-BE49-F238E27FC236}">
                <a16:creationId xmlns:a16="http://schemas.microsoft.com/office/drawing/2014/main" id="{D06B10E8-2339-46DF-BA13-292D076E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5000625" cy="5572125"/>
          </a:xfrm>
          <a:prstGeom xmlns:a="http://schemas.openxmlformats.org/drawingml/2006/main" prst="roundRect">
            <a:avLst>
              <a:gd name="adj" fmla="val 4190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slide-7-pseudo-heading">
            <a:extLst xmlns:a="http://schemas.openxmlformats.org/drawingml/2006/main">
              <a:ext uri="{FF2B5EF4-FFF2-40B4-BE49-F238E27FC236}">
                <a16:creationId xmlns:a16="http://schemas.microsoft.com/office/drawing/2014/main" id="{7604F84A-B252-45E3-BF50-B48C45F1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Read the loop in plain language</a:t>
            </a:r>
          </a:p>
        </p:txBody>
      </p:sp>
      <p:sp>
        <p:nvSpPr>
          <p:cNvPr id="7" name="slide-7-pseudo-1">
            <a:extLst xmlns:a="http://schemas.openxmlformats.org/drawingml/2006/main">
              <a:ext uri="{FF2B5EF4-FFF2-40B4-BE49-F238E27FC236}">
                <a16:creationId xmlns:a16="http://schemas.microsoft.com/office/drawing/2014/main" id="{F4262B55-0D69-4649-9C51-E9677D74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05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8" name="slide-7-pseudo-num-1">
            <a:extLst xmlns:a="http://schemas.openxmlformats.org/drawingml/2006/main">
              <a:ext uri="{FF2B5EF4-FFF2-40B4-BE49-F238E27FC236}">
                <a16:creationId xmlns:a16="http://schemas.microsoft.com/office/drawing/2014/main" id="{6DBD94B3-3B25-494E-A31D-7AF7B6C5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052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50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9" name="slide-7-pseudo-text-1">
            <a:extLst xmlns:a="http://schemas.openxmlformats.org/drawingml/2006/main">
              <a:ext uri="{FF2B5EF4-FFF2-40B4-BE49-F238E27FC236}">
                <a16:creationId xmlns:a16="http://schemas.microsoft.com/office/drawing/2014/main" id="{3FBC10DD-9BC5-4F84-BD00-2F3631E6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147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choose left and right</a:t>
            </a:r>
          </a:p>
        </p:txBody>
      </p:sp>
      <p:sp>
        <p:nvSpPr>
          <p:cNvPr id="10" name="slide-7-pseudo-line-1">
            <a:extLst xmlns:a="http://schemas.openxmlformats.org/drawingml/2006/main">
              <a:ext uri="{FF2B5EF4-FFF2-40B4-BE49-F238E27FC236}">
                <a16:creationId xmlns:a16="http://schemas.microsoft.com/office/drawing/2014/main" id="{7CF9C47A-0A0E-44B0-BCB5-820BC3E2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43350"/>
            <a:ext cx="952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4BE"/>
            </a:solidFill>
            <a:prstDash val="dash"/>
          </a:ln>
        </p:spPr>
      </p:sp>
      <p:sp>
        <p:nvSpPr>
          <p:cNvPr id="11" name="slide-7-pseudo-2">
            <a:extLst xmlns:a="http://schemas.openxmlformats.org/drawingml/2006/main">
              <a:ext uri="{FF2B5EF4-FFF2-40B4-BE49-F238E27FC236}">
                <a16:creationId xmlns:a16="http://schemas.microsoft.com/office/drawing/2014/main" id="{345E9962-F9F8-491D-8E66-158E1278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48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12" name="slide-7-pseudo-num-2">
            <a:extLst xmlns:a="http://schemas.openxmlformats.org/drawingml/2006/main">
              <a:ext uri="{FF2B5EF4-FFF2-40B4-BE49-F238E27FC236}">
                <a16:creationId xmlns:a16="http://schemas.microsoft.com/office/drawing/2014/main" id="{88469233-6C91-4274-8822-F4B6607A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481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50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13" name="slide-7-pseudo-text-2">
            <a:extLst xmlns:a="http://schemas.openxmlformats.org/drawingml/2006/main">
              <a:ext uri="{FF2B5EF4-FFF2-40B4-BE49-F238E27FC236}">
                <a16:creationId xmlns:a16="http://schemas.microsoft.com/office/drawing/2014/main" id="{1E66D498-B771-4903-9732-90FF54AF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576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compute midpoint</a:t>
            </a:r>
          </a:p>
        </p:txBody>
      </p:sp>
      <p:sp>
        <p:nvSpPr>
          <p:cNvPr id="14" name="slide-7-pseudo-line-2">
            <a:extLst xmlns:a="http://schemas.openxmlformats.org/drawingml/2006/main">
              <a:ext uri="{FF2B5EF4-FFF2-40B4-BE49-F238E27FC236}">
                <a16:creationId xmlns:a16="http://schemas.microsoft.com/office/drawing/2014/main" id="{366A799B-B329-483B-A3D7-575033BC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86300"/>
            <a:ext cx="952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4BE"/>
            </a:solidFill>
            <a:prstDash val="dash"/>
          </a:ln>
        </p:spPr>
      </p:sp>
      <p:sp>
        <p:nvSpPr>
          <p:cNvPr id="15" name="slide-7-pseudo-3">
            <a:extLst xmlns:a="http://schemas.openxmlformats.org/drawingml/2006/main">
              <a:ext uri="{FF2B5EF4-FFF2-40B4-BE49-F238E27FC236}">
                <a16:creationId xmlns:a16="http://schemas.microsoft.com/office/drawing/2014/main" id="{B20A41CF-54C1-44E2-9E2E-7F70FF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91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16" name="slide-7-pseudo-num-3">
            <a:extLst xmlns:a="http://schemas.openxmlformats.org/drawingml/2006/main">
              <a:ext uri="{FF2B5EF4-FFF2-40B4-BE49-F238E27FC236}">
                <a16:creationId xmlns:a16="http://schemas.microsoft.com/office/drawing/2014/main" id="{4477A399-B248-4C9D-9912-96EF327E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911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50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17" name="slide-7-pseudo-text-3">
            <a:extLst xmlns:a="http://schemas.openxmlformats.org/drawingml/2006/main">
              <a:ext uri="{FF2B5EF4-FFF2-40B4-BE49-F238E27FC236}">
                <a16:creationId xmlns:a16="http://schemas.microsoft.com/office/drawing/2014/main" id="{075C228D-A8BB-4B85-BD55-7298EDCC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006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evaluate residual</a:t>
            </a:r>
          </a:p>
        </p:txBody>
      </p:sp>
      <p:sp>
        <p:nvSpPr>
          <p:cNvPr id="18" name="slide-7-pseudo-line-3">
            <a:extLst xmlns:a="http://schemas.openxmlformats.org/drawingml/2006/main">
              <a:ext uri="{FF2B5EF4-FFF2-40B4-BE49-F238E27FC236}">
                <a16:creationId xmlns:a16="http://schemas.microsoft.com/office/drawing/2014/main" id="{F8979CEF-F536-4277-82DD-D27C2B12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29250"/>
            <a:ext cx="952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4BE"/>
            </a:solidFill>
            <a:prstDash val="dash"/>
          </a:ln>
        </p:spPr>
      </p:sp>
      <p:sp>
        <p:nvSpPr>
          <p:cNvPr id="19" name="slide-7-pseudo-4">
            <a:extLst xmlns:a="http://schemas.openxmlformats.org/drawingml/2006/main">
              <a:ext uri="{FF2B5EF4-FFF2-40B4-BE49-F238E27FC236}">
                <a16:creationId xmlns:a16="http://schemas.microsoft.com/office/drawing/2014/main" id="{0B2CE713-37F2-4F15-9E22-CD289E32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34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E45"/>
          </a:solidFill>
          <a:ln xmlns:a="http://schemas.openxmlformats.org/drawingml/2006/main" w="0">
            <a:solidFill>
              <a:srgbClr val="3E8E45"/>
            </a:solidFill>
            <a:prstDash val="solid"/>
          </a:ln>
        </p:spPr>
      </p:sp>
      <p:sp>
        <p:nvSpPr>
          <p:cNvPr id="20" name="slide-7-pseudo-num-4">
            <a:extLst xmlns:a="http://schemas.openxmlformats.org/drawingml/2006/main">
              <a:ext uri="{FF2B5EF4-FFF2-40B4-BE49-F238E27FC236}">
                <a16:creationId xmlns:a16="http://schemas.microsoft.com/office/drawing/2014/main" id="{5A05CCAA-5300-44F4-BAF6-D16ACB85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34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50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21" name="slide-7-pseudo-text-4">
            <a:extLst xmlns:a="http://schemas.openxmlformats.org/drawingml/2006/main">
              <a:ext uri="{FF2B5EF4-FFF2-40B4-BE49-F238E27FC236}">
                <a16:creationId xmlns:a16="http://schemas.microsoft.com/office/drawing/2014/main" id="{45904E79-5CF4-4DEF-BC6C-1196035A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435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if small, stop</a:t>
            </a:r>
          </a:p>
        </p:txBody>
      </p:sp>
      <p:sp>
        <p:nvSpPr>
          <p:cNvPr id="22" name="slide-7-pseudo-line-4">
            <a:extLst xmlns:a="http://schemas.openxmlformats.org/drawingml/2006/main">
              <a:ext uri="{FF2B5EF4-FFF2-40B4-BE49-F238E27FC236}">
                <a16:creationId xmlns:a16="http://schemas.microsoft.com/office/drawing/2014/main" id="{D66BF60E-C116-4A46-9E7C-5A98D8B7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72200"/>
            <a:ext cx="952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4BE"/>
            </a:solidFill>
            <a:prstDash val="dash"/>
          </a:ln>
        </p:spPr>
      </p:sp>
      <p:sp>
        <p:nvSpPr>
          <p:cNvPr id="23" name="slide-7-pseudo-5">
            <a:extLst xmlns:a="http://schemas.openxmlformats.org/drawingml/2006/main">
              <a:ext uri="{FF2B5EF4-FFF2-40B4-BE49-F238E27FC236}">
                <a16:creationId xmlns:a16="http://schemas.microsoft.com/office/drawing/2014/main" id="{62E573F2-5646-47CC-AFBB-A905EF5B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477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24" name="slide-7-pseudo-num-5">
            <a:extLst xmlns:a="http://schemas.openxmlformats.org/drawingml/2006/main">
              <a:ext uri="{FF2B5EF4-FFF2-40B4-BE49-F238E27FC236}">
                <a16:creationId xmlns:a16="http://schemas.microsoft.com/office/drawing/2014/main" id="{E1C076A3-3D32-412A-B56A-03AA8D8E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477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50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  <p:sp>
        <p:nvSpPr>
          <p:cNvPr id="25" name="slide-7-pseudo-text-5">
            <a:extLst xmlns:a="http://schemas.openxmlformats.org/drawingml/2006/main">
              <a:ext uri="{FF2B5EF4-FFF2-40B4-BE49-F238E27FC236}">
                <a16:creationId xmlns:a16="http://schemas.microsoft.com/office/drawing/2014/main" id="{5DEB0499-6EEB-4B6E-BF35-D10AFE4A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4865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otherwise keep the sign change</a:t>
            </a:r>
          </a:p>
        </p:txBody>
      </p:sp>
      <p:sp>
        <p:nvSpPr>
          <p:cNvPr id="26" name="slide-7-tolerance">
            <a:extLst xmlns:a="http://schemas.openxmlformats.org/drawingml/2006/main">
              <a:ext uri="{FF2B5EF4-FFF2-40B4-BE49-F238E27FC236}">
                <a16:creationId xmlns:a16="http://schemas.microsoft.com/office/drawing/2014/main" id="{AC34D94E-0F5B-42C6-991F-BF31D892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5247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E8E45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 b="1" i="0">
                <a:solidFill>
                  <a:srgbClr val="3E8E45"/>
                </a:solidFill>
                <a:latin typeface="IBM Plex Mono"/>
                <a:ea typeface="IBM Plex Mono"/>
                <a:cs typeface="IBM Plex Mono"/>
              </a:rPr>
              <a:t>tolerance_m = 1e-3 m</a:t>
            </a:r>
          </a:p>
        </p:txBody>
      </p:sp>
      <p:sp>
        <p:nvSpPr>
          <p:cNvPr id="27" name="slide-7-code-box">
            <a:extLst xmlns:a="http://schemas.openxmlformats.org/drawingml/2006/main">
              <a:ext uri="{FF2B5EF4-FFF2-40B4-BE49-F238E27FC236}">
                <a16:creationId xmlns:a16="http://schemas.microsoft.com/office/drawing/2014/main" id="{8EEADFC2-3315-4E61-A59F-55FB5AF8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10525125" cy="5572125"/>
          </a:xfrm>
          <a:prstGeom xmlns:a="http://schemas.openxmlformats.org/drawingml/2006/main" prst="roundRect">
            <a:avLst>
              <a:gd name="adj" fmla="val 3761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28" name="slide-7-code-label">
            <a:extLst xmlns:a="http://schemas.openxmlformats.org/drawingml/2006/main">
              <a:ext uri="{FF2B5EF4-FFF2-40B4-BE49-F238E27FC236}">
                <a16:creationId xmlns:a16="http://schemas.microsoft.com/office/drawing/2014/main" id="{93972CDB-9067-436C-A29F-41E03FDD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0512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MATLAB</a:t>
            </a:r>
          </a:p>
        </p:txBody>
      </p:sp>
      <p:sp>
        <p:nvSpPr>
          <p:cNvPr id="29" name="slide-7-code">
            <a:extLst xmlns:a="http://schemas.openxmlformats.org/drawingml/2006/main">
              <a:ext uri="{FF2B5EF4-FFF2-40B4-BE49-F238E27FC236}">
                <a16:creationId xmlns:a16="http://schemas.microsoft.com/office/drawing/2014/main" id="{A2379E96-0CDA-4774-A01D-A63B01B9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76625"/>
            <a:ext cx="9810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mid_deg = (left_deg + right_deg)/2;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f_mid_m = (v0_mps^2/g_mps2)*sind(2*mid_deg) - target_m;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if abs(f_mid_m) &lt; tolerance_m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    break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end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f_left_m = (v0_mps^2/g_mps2)*sind(2*left_deg) - target_m;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if f_left_m*f_mid_m &lt; 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    right_deg = mid_deg;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else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    left_deg = mid_deg;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end</a:t>
            </a:r>
          </a:p>
        </p:txBody>
      </p:sp>
      <p:sp>
        <p:nvSpPr>
          <p:cNvPr id="30" name="slide-7-code-prompt">
            <a:extLst xmlns:a="http://schemas.openxmlformats.org/drawingml/2006/main">
              <a:ext uri="{FF2B5EF4-FFF2-40B4-BE49-F238E27FC236}">
                <a16:creationId xmlns:a16="http://schemas.microsoft.com/office/drawing/2014/main" id="{590E1D7D-1C4A-4A22-B49A-12D88D3F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5247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800" b="0" i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Which line protects the bracket?</a:t>
            </a:r>
          </a:p>
        </p:txBody>
      </p:sp>
    </p:spTree>
    <p:extLst>
      <p:ext uri="{BB962C8B-B14F-4D97-AF65-F5344CB8AC3E}">
        <p14:creationId xmlns:p14="http://schemas.microsoft.com/office/powerpoint/2010/main" val="1342738259"/>
      </p:ext>
    </p:extLst>
  </p:cSld>
</p:sld>
</file>

<file path=ppt/slides/slide8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E03A3BEA-0DDD-4083-8191-F30EFF66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Stop once, then substitute back</a:t>
            </a:r>
          </a:p>
        </p:txBody>
      </p:sp>
      <p:sp>
        <p:nvSpPr>
          <p:cNvPr id="2" name="slide-8-title-rule">
            <a:extLst xmlns:a="http://schemas.openxmlformats.org/drawingml/2006/main">
              <a:ext uri="{FF2B5EF4-FFF2-40B4-BE49-F238E27FC236}">
                <a16:creationId xmlns:a16="http://schemas.microsoft.com/office/drawing/2014/main" id="{458D6D6F-79BA-4F21-A783-C4C02CA6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09700"/>
            <a:ext cx="1504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3" name="slide-8-subtitle">
            <a:extLst xmlns:a="http://schemas.openxmlformats.org/drawingml/2006/main">
              <a:ext uri="{FF2B5EF4-FFF2-40B4-BE49-F238E27FC236}">
                <a16:creationId xmlns:a16="http://schemas.microsoft.com/office/drawing/2014/main" id="{1DCF0B56-765B-4BD8-AD57-A1600EF8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 numerical angle matters only if it satisfies the original condition</a:t>
            </a:r>
          </a:p>
        </p:txBody>
      </p:sp>
      <p:sp>
        <p:nvSpPr>
          <p:cNvPr id="4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E86C3926-CCE2-4AEC-99F3-EF195CD5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8</a:t>
            </a:r>
          </a:p>
        </p:txBody>
      </p:sp>
      <p:sp>
        <p:nvSpPr>
          <p:cNvPr id="5" name="slide-8-stop">
            <a:extLst xmlns:a="http://schemas.openxmlformats.org/drawingml/2006/main">
              <a:ext uri="{FF2B5EF4-FFF2-40B4-BE49-F238E27FC236}">
                <a16:creationId xmlns:a16="http://schemas.microsoft.com/office/drawing/2014/main" id="{721B32AD-FC9C-4A5C-A461-0CE140E6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19375"/>
            <a:ext cx="4953000" cy="5286375"/>
          </a:xfrm>
          <a:prstGeom xmlns:a="http://schemas.openxmlformats.org/drawingml/2006/main" prst="roundRect">
            <a:avLst>
              <a:gd name="adj" fmla="val 423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6" name="slide-8-stop-heading">
            <a:extLst xmlns:a="http://schemas.openxmlformats.org/drawingml/2006/main">
              <a:ext uri="{FF2B5EF4-FFF2-40B4-BE49-F238E27FC236}">
                <a16:creationId xmlns:a16="http://schemas.microsoft.com/office/drawing/2014/main" id="{17253F1E-8E16-4C39-B924-C4297FB5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003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One Core stopping rule</a:t>
            </a:r>
          </a:p>
        </p:txBody>
      </p:sp>
      <p:sp>
        <p:nvSpPr>
          <p:cNvPr id="7" name="slide-8-stop-rule">
            <a:extLst xmlns:a="http://schemas.openxmlformats.org/drawingml/2006/main">
              <a:ext uri="{FF2B5EF4-FFF2-40B4-BE49-F238E27FC236}">
                <a16:creationId xmlns:a16="http://schemas.microsoft.com/office/drawing/2014/main" id="{2BC4167D-8FF4-4294-ACA8-AB99FD18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05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C98A16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 i="0">
                <a:solidFill>
                  <a:srgbClr val="C98A16"/>
                </a:solidFill>
                <a:latin typeface="IBM Plex Mono"/>
                <a:ea typeface="IBM Plex Mono"/>
                <a:cs typeface="IBM Plex Mono"/>
              </a:rPr>
              <a:t>abs(f_mid_m) &lt; 1e-3 m</a:t>
            </a:r>
          </a:p>
        </p:txBody>
      </p:sp>
      <p:sp>
        <p:nvSpPr>
          <p:cNvPr id="8" name="slide-8-stop-explain">
            <a:extLst xmlns:a="http://schemas.openxmlformats.org/drawingml/2006/main">
              <a:ext uri="{FF2B5EF4-FFF2-40B4-BE49-F238E27FC236}">
                <a16:creationId xmlns:a16="http://schemas.microsoft.com/office/drawing/2014/main" id="{5B484DF9-19E8-4881-86DA-9DC7EFCB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577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residual is an error in range, so the tolerance is measured in metres.</a:t>
            </a:r>
          </a:p>
        </p:txBody>
      </p:sp>
      <p:sp>
        <p:nvSpPr>
          <p:cNvPr id="9" name="slide-8-stop-arrow">
            <a:extLst xmlns:a="http://schemas.openxmlformats.org/drawingml/2006/main">
              <a:ext uri="{FF2B5EF4-FFF2-40B4-BE49-F238E27FC236}">
                <a16:creationId xmlns:a16="http://schemas.microsoft.com/office/drawing/2014/main" id="{8C556967-42BF-4740-B19E-E9CA7469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381750"/>
            <a:ext cx="952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8A16"/>
            </a:solidFill>
            <a:prstDash val="solid"/>
          </a:ln>
        </p:spPr>
      </p:sp>
      <p:sp>
        <p:nvSpPr>
          <p:cNvPr id="10" name="slide-8-stop-pass">
            <a:extLst xmlns:a="http://schemas.openxmlformats.org/drawingml/2006/main">
              <a:ext uri="{FF2B5EF4-FFF2-40B4-BE49-F238E27FC236}">
                <a16:creationId xmlns:a16="http://schemas.microsoft.com/office/drawing/2014/main" id="{B9B12299-1F14-427F-B6ED-F6187F6B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2866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then validate the root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71ec7da0c4009"/>
          <a:stretch xmlns:a="http://schemas.openxmlformats.org/drawingml/2006/main"/>
        </p:blipFill>
        <p:spPr>
          <a:xfrm xmlns:a="http://schemas.openxmlformats.org/drawingml/2006/main">
            <a:off x="7096125" y="3174582"/>
            <a:ext cx="8286750" cy="2556711"/>
          </a:xfrm>
          <a:prstGeom xmlns:a="http://schemas.openxmlformats.org/drawingml/2006/main" prst="rect">
            <a:avLst/>
          </a:prstGeom>
        </p:spPr>
      </p:pic>
      <p:sp>
        <p:nvSpPr>
          <p:cNvPr id="12" name="slide-8-validation-box">
            <a:extLst xmlns:a="http://schemas.openxmlformats.org/drawingml/2006/main">
              <a:ext uri="{FF2B5EF4-FFF2-40B4-BE49-F238E27FC236}">
                <a16:creationId xmlns:a16="http://schemas.microsoft.com/office/drawing/2014/main" id="{9682AF91-8333-4A6C-A9BF-8D3754D9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191250"/>
            <a:ext cx="1009650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13" name="slide-8-validation-title">
            <a:extLst xmlns:a="http://schemas.openxmlformats.org/drawingml/2006/main">
              <a:ext uri="{FF2B5EF4-FFF2-40B4-BE49-F238E27FC236}">
                <a16:creationId xmlns:a16="http://schemas.microsoft.com/office/drawing/2014/main" id="{536B9F0E-6A96-4E76-B648-0A0CFDEF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4770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VALIDATION</a:t>
            </a:r>
          </a:p>
        </p:txBody>
      </p:sp>
      <p:sp>
        <p:nvSpPr>
          <p:cNvPr id="14" name="slide-8-validation-values">
            <a:extLst xmlns:a="http://schemas.openxmlformats.org/drawingml/2006/main">
              <a:ext uri="{FF2B5EF4-FFF2-40B4-BE49-F238E27FC236}">
                <a16:creationId xmlns:a16="http://schemas.microsoft.com/office/drawing/2014/main" id="{4C6AAE1E-159C-4248-B82A-9706AC05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7000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79256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 b="1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theta* = 29.5679 degree    |    R(theta*) = 35.0004 m    |    f(theta*) = +4.1164e-4 m</a:t>
            </a:r>
          </a:p>
        </p:txBody>
      </p:sp>
      <p:sp>
        <p:nvSpPr>
          <p:cNvPr id="15" name="slide-8-takeaway">
            <a:extLst xmlns:a="http://schemas.openxmlformats.org/drawingml/2006/main">
              <a:ext uri="{FF2B5EF4-FFF2-40B4-BE49-F238E27FC236}">
                <a16:creationId xmlns:a16="http://schemas.microsoft.com/office/drawing/2014/main" id="{E6E1B710-8E1D-4A83-9E8F-0D6C6455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810625"/>
            <a:ext cx="14859000" cy="781050"/>
          </a:xfrm>
          <a:prstGeom xmlns:a="http://schemas.openxmlformats.org/drawingml/2006/main" prst="roundRect">
            <a:avLst>
              <a:gd name="adj" fmla="val 26829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16" name="slide-8-takeaway-text">
            <a:extLst xmlns:a="http://schemas.openxmlformats.org/drawingml/2006/main">
              <a:ext uri="{FF2B5EF4-FFF2-40B4-BE49-F238E27FC236}">
                <a16:creationId xmlns:a16="http://schemas.microsoft.com/office/drawing/2014/main" id="{2D0F4F55-4459-428A-9B43-15989635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020175"/>
            <a:ext cx="1419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The root is useful because substitution returns the target range</a:t>
            </a:r>
          </a:p>
        </p:txBody>
      </p:sp>
    </p:spTree>
    <p:extLst>
      <p:ext uri="{BB962C8B-B14F-4D97-AF65-F5344CB8AC3E}">
        <p14:creationId xmlns:p14="http://schemas.microsoft.com/office/powerpoint/2010/main" val="1134815800"/>
      </p:ext>
    </p:extLst>
  </p:cSld>
</p:sld>
</file>

<file path=ppt/slides/slide9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CB642800-591E-4BDF-9AB4-58E66CCA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Newton follows the local tangent</a:t>
            </a:r>
          </a:p>
        </p:txBody>
      </p:sp>
      <p:sp>
        <p:nvSpPr>
          <p:cNvPr id="2" name="slide-9-title-rule">
            <a:extLst xmlns:a="http://schemas.openxmlformats.org/drawingml/2006/main">
              <a:ext uri="{FF2B5EF4-FFF2-40B4-BE49-F238E27FC236}">
                <a16:creationId xmlns:a16="http://schemas.microsoft.com/office/drawing/2014/main" id="{0EE9D231-F8C2-4382-B5A6-FC9D422B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09700"/>
            <a:ext cx="1504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3" name="slide-9-subtitle">
            <a:extLst xmlns:a="http://schemas.openxmlformats.org/drawingml/2006/main">
              <a:ext uri="{FF2B5EF4-FFF2-40B4-BE49-F238E27FC236}">
                <a16:creationId xmlns:a16="http://schemas.microsoft.com/office/drawing/2014/main" id="{680A5013-2570-4957-A932-5E0B0D06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One estimate plus a local slope gives the next angle</a:t>
            </a:r>
          </a:p>
        </p:txBody>
      </p:sp>
      <p:sp>
        <p:nvSpPr>
          <p:cNvPr id="4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6714C5DD-486A-45A8-BC86-DD6DA068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9</a:t>
            </a:r>
          </a:p>
        </p:txBody>
      </p:sp>
      <p:sp>
        <p:nvSpPr>
          <p:cNvPr id="5" name="slide-9-curve-area">
            <a:extLst xmlns:a="http://schemas.openxmlformats.org/drawingml/2006/main">
              <a:ext uri="{FF2B5EF4-FFF2-40B4-BE49-F238E27FC236}">
                <a16:creationId xmlns:a16="http://schemas.microsoft.com/office/drawing/2014/main" id="{08EFEC56-87D0-4D7E-995C-F283EFF8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8334375" cy="5667375"/>
          </a:xfrm>
          <a:prstGeom xmlns:a="http://schemas.openxmlformats.org/drawingml/2006/main" prst="roundRect">
            <a:avLst>
              <a:gd name="adj" fmla="val 3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6" name="slide-9-curve-heading">
            <a:extLst xmlns:a="http://schemas.openxmlformats.org/drawingml/2006/main">
              <a:ext uri="{FF2B5EF4-FFF2-40B4-BE49-F238E27FC236}">
                <a16:creationId xmlns:a16="http://schemas.microsoft.com/office/drawing/2014/main" id="{285B3A5F-70F9-4263-9B4B-9BD3D0CB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tangent predicts the next angle</a:t>
            </a:r>
          </a:p>
        </p:txBody>
      </p:sp>
      <p:sp>
        <p:nvSpPr>
          <p:cNvPr id="7" name="slide-9-axis-x">
            <a:extLst xmlns:a="http://schemas.openxmlformats.org/drawingml/2006/main">
              <a:ext uri="{FF2B5EF4-FFF2-40B4-BE49-F238E27FC236}">
                <a16:creationId xmlns:a16="http://schemas.microsoft.com/office/drawing/2014/main" id="{75F20D73-2D43-4AFF-9168-DA5F2B89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86500"/>
            <a:ext cx="628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F4B57"/>
            </a:solidFill>
            <a:prstDash val="solid"/>
          </a:ln>
        </p:spPr>
      </p:sp>
      <p:sp>
        <p:nvSpPr>
          <p:cNvPr id="8" name="slide-9-axis-y">
            <a:extLst xmlns:a="http://schemas.openxmlformats.org/drawingml/2006/main">
              <a:ext uri="{FF2B5EF4-FFF2-40B4-BE49-F238E27FC236}">
                <a16:creationId xmlns:a16="http://schemas.microsoft.com/office/drawing/2014/main" id="{A5262898-0F3A-4309-9D60-34BCC99E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14750"/>
            <a:ext cx="9525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F4B57"/>
            </a:solidFill>
            <a:prstDash val="solid"/>
          </a:ln>
        </p:spPr>
      </p:sp>
      <p:sp>
        <p:nvSpPr>
          <p:cNvPr id="9" name="slide-9-axis-x-label">
            <a:extLst xmlns:a="http://schemas.openxmlformats.org/drawingml/2006/main">
              <a:ext uri="{FF2B5EF4-FFF2-40B4-BE49-F238E27FC236}">
                <a16:creationId xmlns:a16="http://schemas.microsoft.com/office/drawing/2014/main" id="{2B1F9C5A-B35A-48D1-B3CF-58CF419A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7124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theta (degree)</a:t>
            </a:r>
          </a:p>
        </p:txBody>
      </p:sp>
      <p:sp>
        <p:nvSpPr>
          <p:cNvPr id="10" name="slide-9-axis-y-label">
            <a:extLst xmlns:a="http://schemas.openxmlformats.org/drawingml/2006/main">
              <a:ext uri="{FF2B5EF4-FFF2-40B4-BE49-F238E27FC236}">
                <a16:creationId xmlns:a16="http://schemas.microsoft.com/office/drawing/2014/main" id="{E2060961-8F89-4ED5-8675-AC14AAD5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76750"/>
            <a:ext cx="104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f(theta) (m)</a:t>
            </a:r>
          </a:p>
        </p:txBody>
      </p:sp>
      <p:sp>
        <p:nvSpPr>
          <p:cNvPr id="11" name="slide-9-zero-line">
            <a:extLst xmlns:a="http://schemas.openxmlformats.org/drawingml/2006/main">
              <a:ext uri="{FF2B5EF4-FFF2-40B4-BE49-F238E27FC236}">
                <a16:creationId xmlns:a16="http://schemas.microsoft.com/office/drawing/2014/main" id="{6AD2D284-3BEA-4EEC-A33D-10B4D936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86500"/>
            <a:ext cx="628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E8E45"/>
            </a:solidFill>
            <a:prstDash val="dash"/>
          </a:ln>
        </p:spPr>
      </p:sp>
      <p:sp>
        <p:nvSpPr>
          <p:cNvPr id="12" name="slide-9-zero-label">
            <a:extLst xmlns:a="http://schemas.openxmlformats.org/drawingml/2006/main">
              <a:ext uri="{FF2B5EF4-FFF2-40B4-BE49-F238E27FC236}">
                <a16:creationId xmlns:a16="http://schemas.microsoft.com/office/drawing/2014/main" id="{5F94EEE0-4B7B-4BFC-9C71-03C5812A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019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f(theta) = 0</a:t>
            </a:r>
          </a:p>
        </p:txBody>
      </p:sp>
      <p:sp>
        <p:nvSpPr>
          <p:cNvPr id="13" name="slide-9-curve-1">
            <a:extLst xmlns:a="http://schemas.openxmlformats.org/drawingml/2006/main">
              <a:ext uri="{FF2B5EF4-FFF2-40B4-BE49-F238E27FC236}">
                <a16:creationId xmlns:a16="http://schemas.microsoft.com/office/drawing/2014/main" id="{8320F1EC-0A0A-4307-831A-FD69E6DA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23994"/>
            <a:ext cx="510886" cy="1851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4" name="slide-9-curve-2">
            <a:extLst xmlns:a="http://schemas.openxmlformats.org/drawingml/2006/main">
              <a:ext uri="{FF2B5EF4-FFF2-40B4-BE49-F238E27FC236}">
                <a16:creationId xmlns:a16="http://schemas.microsoft.com/office/drawing/2014/main" id="{A367AD82-5D3F-4A0D-80BB-6FD020ED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636" y="4709160"/>
            <a:ext cx="510886" cy="1748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5" name="slide-9-curve-3">
            <a:extLst xmlns:a="http://schemas.openxmlformats.org/drawingml/2006/main">
              <a:ext uri="{FF2B5EF4-FFF2-40B4-BE49-F238E27FC236}">
                <a16:creationId xmlns:a16="http://schemas.microsoft.com/office/drawing/2014/main" id="{6386755B-B5AF-44AC-9B04-95E17673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3" y="4884039"/>
            <a:ext cx="510886" cy="1748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6" name="slide-9-curve-4">
            <a:extLst xmlns:a="http://schemas.openxmlformats.org/drawingml/2006/main">
              <a:ext uri="{FF2B5EF4-FFF2-40B4-BE49-F238E27FC236}">
                <a16:creationId xmlns:a16="http://schemas.microsoft.com/office/drawing/2014/main" id="{185CEF5B-8426-4466-A440-572834DE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409" y="5058918"/>
            <a:ext cx="510886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7" name="slide-9-curve-5">
            <a:extLst xmlns:a="http://schemas.openxmlformats.org/drawingml/2006/main">
              <a:ext uri="{FF2B5EF4-FFF2-40B4-BE49-F238E27FC236}">
                <a16:creationId xmlns:a16="http://schemas.microsoft.com/office/drawing/2014/main" id="{ECA2E8F8-DD93-4A0A-9DE3-B98D379D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295" y="5223510"/>
            <a:ext cx="510886" cy="1234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8" name="slide-9-curve-6">
            <a:extLst xmlns:a="http://schemas.openxmlformats.org/drawingml/2006/main">
              <a:ext uri="{FF2B5EF4-FFF2-40B4-BE49-F238E27FC236}">
                <a16:creationId xmlns:a16="http://schemas.microsoft.com/office/drawing/2014/main" id="{E8AA45F2-B6DC-4E0C-95A6-F68C0DAD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6182" y="5346954"/>
            <a:ext cx="510886" cy="1028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9" name="slide-9-curve-7">
            <a:extLst xmlns:a="http://schemas.openxmlformats.org/drawingml/2006/main">
              <a:ext uri="{FF2B5EF4-FFF2-40B4-BE49-F238E27FC236}">
                <a16:creationId xmlns:a16="http://schemas.microsoft.com/office/drawing/2014/main" id="{74924A92-7FA4-417A-8069-9EDB86B7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068" y="5449824"/>
            <a:ext cx="510886" cy="92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20" name="slide-9-curve-8">
            <a:extLst xmlns:a="http://schemas.openxmlformats.org/drawingml/2006/main">
              <a:ext uri="{FF2B5EF4-FFF2-40B4-BE49-F238E27FC236}">
                <a16:creationId xmlns:a16="http://schemas.microsoft.com/office/drawing/2014/main" id="{FB9829FF-287A-498B-A028-0D67666E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955" y="5542407"/>
            <a:ext cx="510886" cy="822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21" name="slide-9-curve-9">
            <a:extLst xmlns:a="http://schemas.openxmlformats.org/drawingml/2006/main">
              <a:ext uri="{FF2B5EF4-FFF2-40B4-BE49-F238E27FC236}">
                <a16:creationId xmlns:a16="http://schemas.microsoft.com/office/drawing/2014/main" id="{E3749D84-315F-4734-B486-EDC38331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841" y="5624703"/>
            <a:ext cx="510886" cy="51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22" name="slide-9-curve-10">
            <a:extLst xmlns:a="http://schemas.openxmlformats.org/drawingml/2006/main">
              <a:ext uri="{FF2B5EF4-FFF2-40B4-BE49-F238E27FC236}">
                <a16:creationId xmlns:a16="http://schemas.microsoft.com/office/drawing/2014/main" id="{909BA9D7-A490-4A26-A0E8-C4861F9E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727" y="5676138"/>
            <a:ext cx="510886" cy="411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23" name="slide-9-curve-11">
            <a:extLst xmlns:a="http://schemas.openxmlformats.org/drawingml/2006/main">
              <a:ext uri="{FF2B5EF4-FFF2-40B4-BE49-F238E27FC236}">
                <a16:creationId xmlns:a16="http://schemas.microsoft.com/office/drawing/2014/main" id="{8BBD3CF0-314E-4EE8-8E5E-D778DB63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614" y="5717286"/>
            <a:ext cx="510886" cy="102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24" name="slide-9-tangent">
            <a:extLst xmlns:a="http://schemas.openxmlformats.org/drawingml/2006/main">
              <a:ext uri="{FF2B5EF4-FFF2-40B4-BE49-F238E27FC236}">
                <a16:creationId xmlns:a16="http://schemas.microsoft.com/office/drawing/2014/main" id="{16C9C4B2-77F5-4428-B648-2BD4F757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585" y="6204204"/>
            <a:ext cx="3286125" cy="251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8A16"/>
            </a:solidFill>
            <a:prstDash val="dash"/>
          </a:ln>
        </p:spPr>
      </p:sp>
      <p:sp>
        <p:nvSpPr>
          <p:cNvPr id="25" name="slide-9-current-point">
            <a:extLst xmlns:a="http://schemas.openxmlformats.org/drawingml/2006/main">
              <a:ext uri="{FF2B5EF4-FFF2-40B4-BE49-F238E27FC236}">
                <a16:creationId xmlns:a16="http://schemas.microsoft.com/office/drawing/2014/main" id="{0824EA5D-17A3-4963-A87D-88706148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010" y="5223129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26" name="slide-9-next-point">
            <a:extLst xmlns:a="http://schemas.openxmlformats.org/drawingml/2006/main">
              <a:ext uri="{FF2B5EF4-FFF2-40B4-BE49-F238E27FC236}">
                <a16:creationId xmlns:a16="http://schemas.microsoft.com/office/drawing/2014/main" id="{BD2AF69C-5D22-4BC1-8792-E9AD62FC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4052" y="6153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16"/>
          </a:solidFill>
          <a:ln xmlns:a="http://schemas.openxmlformats.org/drawingml/2006/main" w="0">
            <a:solidFill>
              <a:srgbClr val="C98A16"/>
            </a:solidFill>
            <a:prstDash val="solid"/>
          </a:ln>
        </p:spPr>
      </p:sp>
      <p:sp>
        <p:nvSpPr>
          <p:cNvPr id="27" name="slide-9-current-guide">
            <a:extLst xmlns:a="http://schemas.openxmlformats.org/drawingml/2006/main">
              <a:ext uri="{FF2B5EF4-FFF2-40B4-BE49-F238E27FC236}">
                <a16:creationId xmlns:a16="http://schemas.microsoft.com/office/drawing/2014/main" id="{44B69353-5333-4B79-83E4-60EEC99D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835" y="5346954"/>
            <a:ext cx="9525" cy="9395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DB2"/>
            </a:solidFill>
            <a:prstDash val="dash"/>
          </a:ln>
        </p:spPr>
      </p:sp>
      <p:sp>
        <p:nvSpPr>
          <p:cNvPr id="28" name="slide-9-next-guide">
            <a:extLst xmlns:a="http://schemas.openxmlformats.org/drawingml/2006/main">
              <a:ext uri="{FF2B5EF4-FFF2-40B4-BE49-F238E27FC236}">
                <a16:creationId xmlns:a16="http://schemas.microsoft.com/office/drawing/2014/main" id="{EE9220F2-691F-4501-9D8A-5D940096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7402" y="6286500"/>
            <a:ext cx="9525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29" name="slide-9-current-label">
            <a:extLst xmlns:a="http://schemas.openxmlformats.org/drawingml/2006/main">
              <a:ext uri="{FF2B5EF4-FFF2-40B4-BE49-F238E27FC236}">
                <a16:creationId xmlns:a16="http://schemas.microsoft.com/office/drawing/2014/main" id="{27617AAB-87DE-4441-A1AA-3BC2D3EC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585" y="4537329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current angle</a:t>
            </a:r>
          </a:p>
          <a:p xmlns:a="http://schemas.openxmlformats.org/drawingml/2006/main">
            <a:pPr algn="ctr">
              <a:defRPr sz="165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25 degree</a:t>
            </a:r>
          </a:p>
        </p:txBody>
      </p:sp>
      <p:sp>
        <p:nvSpPr>
          <p:cNvPr id="30" name="slide-9-next-label">
            <a:extLst xmlns:a="http://schemas.openxmlformats.org/drawingml/2006/main">
              <a:ext uri="{FF2B5EF4-FFF2-40B4-BE49-F238E27FC236}">
                <a16:creationId xmlns:a16="http://schemas.microsoft.com/office/drawing/2014/main" id="{26106854-147E-41BF-8348-1153DC45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4902" y="6619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next estimate</a:t>
            </a:r>
          </a:p>
          <a:p xmlns:a="http://schemas.openxmlformats.org/drawingml/2006/main">
            <a:pPr algn="ctr">
              <a:defRPr sz="165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29.115 degree</a:t>
            </a:r>
          </a:p>
        </p:txBody>
      </p:sp>
      <p:sp>
        <p:nvSpPr>
          <p:cNvPr id="31" name="slide-9-slope-label">
            <a:extLst xmlns:a="http://schemas.openxmlformats.org/drawingml/2006/main">
              <a:ext uri="{FF2B5EF4-FFF2-40B4-BE49-F238E27FC236}">
                <a16:creationId xmlns:a16="http://schemas.microsoft.com/office/drawing/2014/main" id="{5FA8BF22-4946-4FD8-91B0-ABC7B492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4085" y="5489829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local slope</a:t>
            </a:r>
          </a:p>
        </p:txBody>
      </p:sp>
      <p:sp>
        <p:nvSpPr>
          <p:cNvPr id="32" name="slide-9-equation-box">
            <a:extLst xmlns:a="http://schemas.openxmlformats.org/drawingml/2006/main">
              <a:ext uri="{FF2B5EF4-FFF2-40B4-BE49-F238E27FC236}">
                <a16:creationId xmlns:a16="http://schemas.microsoft.com/office/drawing/2014/main" id="{E814254B-525C-4B65-A9ED-2EE38133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14625"/>
            <a:ext cx="7096125" cy="4048125"/>
          </a:xfrm>
          <a:prstGeom xmlns:a="http://schemas.openxmlformats.org/drawingml/2006/main" prst="roundRect">
            <a:avLst>
              <a:gd name="adj" fmla="val 5176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7140040e44891"/>
          <a:stretch xmlns:a="http://schemas.openxmlformats.org/drawingml/2006/main"/>
        </p:blipFill>
        <p:spPr>
          <a:xfrm xmlns:a="http://schemas.openxmlformats.org/drawingml/2006/main">
            <a:off x="10477500" y="3592180"/>
            <a:ext cx="6334125" cy="1816765"/>
          </a:xfrm>
          <a:prstGeom xmlns:a="http://schemas.openxmlformats.org/drawingml/2006/main" prst="rect">
            <a:avLst/>
          </a:prstGeom>
        </p:spPr>
      </p:pic>
      <p:sp>
        <p:nvSpPr>
          <p:cNvPr id="34" name="slide-9-unit-callout">
            <a:extLst xmlns:a="http://schemas.openxmlformats.org/drawingml/2006/main">
              <a:ext uri="{FF2B5EF4-FFF2-40B4-BE49-F238E27FC236}">
                <a16:creationId xmlns:a16="http://schemas.microsoft.com/office/drawing/2014/main" id="{9911B72F-5EC1-4C18-A2BB-2D9A77DE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007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slope unit = metres per degree</a:t>
            </a:r>
          </a:p>
        </p:txBody>
      </p:sp>
      <p:sp>
        <p:nvSpPr>
          <p:cNvPr id="35" name="slide-9-prompt-box">
            <a:extLst xmlns:a="http://schemas.openxmlformats.org/drawingml/2006/main">
              <a:ext uri="{FF2B5EF4-FFF2-40B4-BE49-F238E27FC236}">
                <a16:creationId xmlns:a16="http://schemas.microsoft.com/office/drawing/2014/main" id="{BBC8482A-463B-4638-92ED-2485A819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143750"/>
            <a:ext cx="7096125" cy="1095375"/>
          </a:xfrm>
          <a:prstGeom xmlns:a="http://schemas.openxmlformats.org/drawingml/2006/main" prst="roundRect">
            <a:avLst>
              <a:gd name="adj" fmla="val 1913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36" name="slide-9-prompt">
            <a:extLst xmlns:a="http://schemas.openxmlformats.org/drawingml/2006/main">
              <a:ext uri="{FF2B5EF4-FFF2-40B4-BE49-F238E27FC236}">
                <a16:creationId xmlns:a16="http://schemas.microsoft.com/office/drawing/2014/main" id="{61DC9211-9137-4498-ADE3-D2424E2A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477125"/>
            <a:ext cx="633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What does the slope measure?</a:t>
            </a:r>
          </a:p>
        </p:txBody>
      </p:sp>
    </p:spTree>
    <p:extLst>
      <p:ext uri="{BB962C8B-B14F-4D97-AF65-F5344CB8AC3E}">
        <p14:creationId xmlns:p14="http://schemas.microsoft.com/office/powerpoint/2010/main" val="1408870258"/>
      </p:ext>
    </p:extLst>
  </p:cSld>
</p:sld>
</file>

<file path=ppt/slides/slide10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C2626A9E-C517-4D4D-BEE2-46A5FEB9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Newton can jump close to the root</a:t>
            </a:r>
          </a:p>
        </p:txBody>
      </p:sp>
      <p:sp>
        <p:nvSpPr>
          <p:cNvPr id="2" name="slide-10-title-rule">
            <a:extLst xmlns:a="http://schemas.openxmlformats.org/drawingml/2006/main">
              <a:ext uri="{FF2B5EF4-FFF2-40B4-BE49-F238E27FC236}">
                <a16:creationId xmlns:a16="http://schemas.microsoft.com/office/drawing/2014/main" id="{E15DAED6-2844-4247-9794-070FD63F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09700"/>
            <a:ext cx="1504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3" name="slide-10-subtitle">
            <a:extLst xmlns:a="http://schemas.openxmlformats.org/drawingml/2006/main">
              <a:ext uri="{FF2B5EF4-FFF2-40B4-BE49-F238E27FC236}">
                <a16:creationId xmlns:a16="http://schemas.microsoft.com/office/drawing/2014/main" id="{A899CA13-2942-421C-92CE-BFBD8BF7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Four evaluations move from 25 degree to a validated root</a:t>
            </a:r>
          </a:p>
        </p:txBody>
      </p:sp>
      <p:sp>
        <p:nvSpPr>
          <p:cNvPr id="4" name="slide-10-number">
            <a:extLst xmlns:a="http://schemas.openxmlformats.org/drawingml/2006/main">
              <a:ext uri="{FF2B5EF4-FFF2-40B4-BE49-F238E27FC236}">
                <a16:creationId xmlns:a16="http://schemas.microsoft.com/office/drawing/2014/main" id="{2C26A68D-6B73-44CF-9106-CDC4A5F9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10</a:t>
            </a:r>
          </a:p>
        </p:txBody>
      </p:sp>
      <p:sp>
        <p:nvSpPr>
          <p:cNvPr id="5" name="slide-10-table-heading">
            <a:extLst xmlns:a="http://schemas.openxmlformats.org/drawingml/2006/main">
              <a:ext uri="{FF2B5EF4-FFF2-40B4-BE49-F238E27FC236}">
                <a16:creationId xmlns:a16="http://schemas.microsoft.com/office/drawing/2014/main" id="{6D37E93F-BEE3-4217-8095-0E609345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Trace the current estimate, residual, slope, and next estimate</a:t>
            </a:r>
          </a:p>
        </p:txBody>
      </p:sp>
      <p:sp>
        <p:nvSpPr>
          <p:cNvPr id="6" name="slide-10-table-bg">
            <a:extLst xmlns:a="http://schemas.openxmlformats.org/drawingml/2006/main">
              <a:ext uri="{FF2B5EF4-FFF2-40B4-BE49-F238E27FC236}">
                <a16:creationId xmlns:a16="http://schemas.microsoft.com/office/drawing/2014/main" id="{1073EE4D-CCDE-4815-9DFB-F71CFC58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0"/>
            <a:ext cx="12096750" cy="3962400"/>
          </a:xfrm>
          <a:prstGeom xmlns:a="http://schemas.openxmlformats.org/drawingml/2006/main" prst="roundRect">
            <a:avLst>
              <a:gd name="adj" fmla="val 52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7" name="slide-10-table-v-0">
            <a:extLst xmlns:a="http://schemas.openxmlformats.org/drawingml/2006/main">
              <a:ext uri="{FF2B5EF4-FFF2-40B4-BE49-F238E27FC236}">
                <a16:creationId xmlns:a16="http://schemas.microsoft.com/office/drawing/2014/main" id="{88A11080-3434-47A1-B11B-84ACFB16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38500"/>
            <a:ext cx="9525" cy="396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BE"/>
            </a:solidFill>
            <a:prstDash val="solid"/>
          </a:ln>
        </p:spPr>
      </p:sp>
      <p:sp>
        <p:nvSpPr>
          <p:cNvPr id="8" name="slide-10-table-v-1">
            <a:extLst xmlns:a="http://schemas.openxmlformats.org/drawingml/2006/main">
              <a:ext uri="{FF2B5EF4-FFF2-40B4-BE49-F238E27FC236}">
                <a16:creationId xmlns:a16="http://schemas.microsoft.com/office/drawing/2014/main" id="{361D3308-39B3-488D-9E6C-AA9AAE87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38500"/>
            <a:ext cx="9525" cy="396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BE"/>
            </a:solidFill>
            <a:prstDash val="solid"/>
          </a:ln>
        </p:spPr>
      </p:sp>
      <p:sp>
        <p:nvSpPr>
          <p:cNvPr id="9" name="slide-10-table-v-2">
            <a:extLst xmlns:a="http://schemas.openxmlformats.org/drawingml/2006/main">
              <a:ext uri="{FF2B5EF4-FFF2-40B4-BE49-F238E27FC236}">
                <a16:creationId xmlns:a16="http://schemas.microsoft.com/office/drawing/2014/main" id="{09FF41AB-6E8F-47D5-A5A6-6CAFE62D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38500"/>
            <a:ext cx="9525" cy="396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BE"/>
            </a:solidFill>
            <a:prstDash val="solid"/>
          </a:ln>
        </p:spPr>
      </p:sp>
      <p:sp>
        <p:nvSpPr>
          <p:cNvPr id="10" name="slide-10-table-v-3">
            <a:extLst xmlns:a="http://schemas.openxmlformats.org/drawingml/2006/main">
              <a:ext uri="{FF2B5EF4-FFF2-40B4-BE49-F238E27FC236}">
                <a16:creationId xmlns:a16="http://schemas.microsoft.com/office/drawing/2014/main" id="{B6ADBC22-B57A-4033-B48E-FB94B1D7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238500"/>
            <a:ext cx="9525" cy="396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BE"/>
            </a:solidFill>
            <a:prstDash val="solid"/>
          </a:ln>
        </p:spPr>
      </p:sp>
      <p:sp>
        <p:nvSpPr>
          <p:cNvPr id="11" name="slide-10-table-header-rule">
            <a:extLst xmlns:a="http://schemas.openxmlformats.org/drawingml/2006/main">
              <a:ext uri="{FF2B5EF4-FFF2-40B4-BE49-F238E27FC236}">
                <a16:creationId xmlns:a16="http://schemas.microsoft.com/office/drawing/2014/main" id="{72A4D5A3-AAF3-438F-8CB2-53A0461E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24300"/>
            <a:ext cx="1209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12" name="slide-10-table-h-1">
            <a:extLst xmlns:a="http://schemas.openxmlformats.org/drawingml/2006/main">
              <a:ext uri="{FF2B5EF4-FFF2-40B4-BE49-F238E27FC236}">
                <a16:creationId xmlns:a16="http://schemas.microsoft.com/office/drawing/2014/main" id="{53942AA6-8D8A-4BF6-8A72-9391FBD8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43450"/>
            <a:ext cx="1209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C"/>
            </a:solidFill>
            <a:prstDash val="solid"/>
          </a:ln>
        </p:spPr>
      </p:sp>
      <p:sp>
        <p:nvSpPr>
          <p:cNvPr id="13" name="slide-10-table-h-2">
            <a:extLst xmlns:a="http://schemas.openxmlformats.org/drawingml/2006/main">
              <a:ext uri="{FF2B5EF4-FFF2-40B4-BE49-F238E27FC236}">
                <a16:creationId xmlns:a16="http://schemas.microsoft.com/office/drawing/2014/main" id="{D7272DFE-949C-44AC-81AB-4B04E68D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62600"/>
            <a:ext cx="1209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C"/>
            </a:solidFill>
            <a:prstDash val="solid"/>
          </a:ln>
        </p:spPr>
      </p:sp>
      <p:sp>
        <p:nvSpPr>
          <p:cNvPr id="14" name="slide-10-table-h-3">
            <a:extLst xmlns:a="http://schemas.openxmlformats.org/drawingml/2006/main">
              <a:ext uri="{FF2B5EF4-FFF2-40B4-BE49-F238E27FC236}">
                <a16:creationId xmlns:a16="http://schemas.microsoft.com/office/drawing/2014/main" id="{CB478082-95F0-4C6D-9E95-D73B2B7C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381750"/>
            <a:ext cx="1209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C"/>
            </a:solidFill>
            <a:prstDash val="solid"/>
          </a:ln>
        </p:spPr>
      </p:sp>
      <p:sp>
        <p:nvSpPr>
          <p:cNvPr id="15" name="slide-10-table-0-0">
            <a:extLst xmlns:a="http://schemas.openxmlformats.org/drawingml/2006/main">
              <a:ext uri="{FF2B5EF4-FFF2-40B4-BE49-F238E27FC236}">
                <a16:creationId xmlns:a16="http://schemas.microsoft.com/office/drawing/2014/main" id="{A8896551-4BEC-4F2D-B208-4B94CB5F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371850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eval</a:t>
            </a:r>
          </a:p>
        </p:txBody>
      </p:sp>
      <p:sp>
        <p:nvSpPr>
          <p:cNvPr id="16" name="slide-10-table-0-1">
            <a:extLst xmlns:a="http://schemas.openxmlformats.org/drawingml/2006/main">
              <a:ext uri="{FF2B5EF4-FFF2-40B4-BE49-F238E27FC236}">
                <a16:creationId xmlns:a16="http://schemas.microsoft.com/office/drawing/2014/main" id="{B07DB3FF-1CF6-43E8-BE72-6152F8AA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3718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theta (degree)</a:t>
            </a:r>
          </a:p>
        </p:txBody>
      </p:sp>
      <p:sp>
        <p:nvSpPr>
          <p:cNvPr id="17" name="slide-10-table-0-2">
            <a:extLst xmlns:a="http://schemas.openxmlformats.org/drawingml/2006/main">
              <a:ext uri="{FF2B5EF4-FFF2-40B4-BE49-F238E27FC236}">
                <a16:creationId xmlns:a16="http://schemas.microsoft.com/office/drawing/2014/main" id="{9FB4817A-8B90-4320-B17A-552D5508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71850"/>
            <a:ext cx="2562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f(theta) (m)</a:t>
            </a:r>
          </a:p>
        </p:txBody>
      </p:sp>
      <p:sp>
        <p:nvSpPr>
          <p:cNvPr id="18" name="slide-10-table-0-3">
            <a:extLst xmlns:a="http://schemas.openxmlformats.org/drawingml/2006/main">
              <a:ext uri="{FF2B5EF4-FFF2-40B4-BE49-F238E27FC236}">
                <a16:creationId xmlns:a16="http://schemas.microsoft.com/office/drawing/2014/main" id="{C4A96BD4-0B86-489B-BF10-5CB60A89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71850"/>
            <a:ext cx="2657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slope (m/degree)</a:t>
            </a:r>
          </a:p>
        </p:txBody>
      </p:sp>
      <p:sp>
        <p:nvSpPr>
          <p:cNvPr id="19" name="slide-10-table-0-4">
            <a:extLst xmlns:a="http://schemas.openxmlformats.org/drawingml/2006/main">
              <a:ext uri="{FF2B5EF4-FFF2-40B4-BE49-F238E27FC236}">
                <a16:creationId xmlns:a16="http://schemas.microsoft.com/office/drawing/2014/main" id="{725D9754-2440-4207-A065-6AB8AA1C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37185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next theta (degree)</a:t>
            </a:r>
          </a:p>
        </p:txBody>
      </p:sp>
      <p:sp>
        <p:nvSpPr>
          <p:cNvPr id="20" name="slide-10-table-1-0">
            <a:extLst xmlns:a="http://schemas.openxmlformats.org/drawingml/2006/main">
              <a:ext uri="{FF2B5EF4-FFF2-40B4-BE49-F238E27FC236}">
                <a16:creationId xmlns:a16="http://schemas.microsoft.com/office/drawing/2014/main" id="{C034A1E6-D360-4EC2-A3C3-DBC8EF25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57650"/>
            <a:ext cx="70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21" name="slide-10-table-1-1">
            <a:extLst xmlns:a="http://schemas.openxmlformats.org/drawingml/2006/main">
              <a:ext uri="{FF2B5EF4-FFF2-40B4-BE49-F238E27FC236}">
                <a16:creationId xmlns:a16="http://schemas.microsoft.com/office/drawing/2014/main" id="{868C508B-27E1-4BD9-A164-BD941218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05765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25.000</a:t>
            </a:r>
          </a:p>
        </p:txBody>
      </p:sp>
      <p:sp>
        <p:nvSpPr>
          <p:cNvPr id="22" name="slide-10-table-1-2">
            <a:extLst xmlns:a="http://schemas.openxmlformats.org/drawingml/2006/main">
              <a:ext uri="{FF2B5EF4-FFF2-40B4-BE49-F238E27FC236}">
                <a16:creationId xmlns:a16="http://schemas.microsoft.com/office/drawing/2014/main" id="{70D56EA6-740A-4BFC-9E4D-0DB45BF3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057650"/>
            <a:ext cx="2562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-3.7648</a:t>
            </a:r>
          </a:p>
        </p:txBody>
      </p:sp>
      <p:sp>
        <p:nvSpPr>
          <p:cNvPr id="23" name="slide-10-table-1-3">
            <a:extLst xmlns:a="http://schemas.openxmlformats.org/drawingml/2006/main">
              <a:ext uri="{FF2B5EF4-FFF2-40B4-BE49-F238E27FC236}">
                <a16:creationId xmlns:a16="http://schemas.microsoft.com/office/drawing/2014/main" id="{359038FA-3B4A-4012-A71C-4706FCD4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57650"/>
            <a:ext cx="2657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0.91488</a:t>
            </a:r>
          </a:p>
        </p:txBody>
      </p:sp>
      <p:sp>
        <p:nvSpPr>
          <p:cNvPr id="24" name="slide-10-table-1-4">
            <a:extLst xmlns:a="http://schemas.openxmlformats.org/drawingml/2006/main">
              <a:ext uri="{FF2B5EF4-FFF2-40B4-BE49-F238E27FC236}">
                <a16:creationId xmlns:a16="http://schemas.microsoft.com/office/drawing/2014/main" id="{8D13AE1F-2C7D-407D-B987-858EA819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05765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29.115</a:t>
            </a:r>
          </a:p>
        </p:txBody>
      </p:sp>
      <p:sp>
        <p:nvSpPr>
          <p:cNvPr id="25" name="slide-10-table-2-0">
            <a:extLst xmlns:a="http://schemas.openxmlformats.org/drawingml/2006/main">
              <a:ext uri="{FF2B5EF4-FFF2-40B4-BE49-F238E27FC236}">
                <a16:creationId xmlns:a16="http://schemas.microsoft.com/office/drawing/2014/main" id="{1B51B6EA-4975-4B87-B25F-6EC1150F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876800"/>
            <a:ext cx="70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26" name="slide-10-table-2-1">
            <a:extLst xmlns:a="http://schemas.openxmlformats.org/drawingml/2006/main">
              <a:ext uri="{FF2B5EF4-FFF2-40B4-BE49-F238E27FC236}">
                <a16:creationId xmlns:a16="http://schemas.microsoft.com/office/drawing/2014/main" id="{C2AE0620-ABEF-420C-A6B5-DE93AE1E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87680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29.115</a:t>
            </a:r>
          </a:p>
        </p:txBody>
      </p:sp>
      <p:sp>
        <p:nvSpPr>
          <p:cNvPr id="27" name="slide-10-table-2-2">
            <a:extLst xmlns:a="http://schemas.openxmlformats.org/drawingml/2006/main">
              <a:ext uri="{FF2B5EF4-FFF2-40B4-BE49-F238E27FC236}">
                <a16:creationId xmlns:a16="http://schemas.microsoft.com/office/drawing/2014/main" id="{7FB500E1-249F-4F72-9764-3E89F991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876800"/>
            <a:ext cx="2562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-0.33461</a:t>
            </a:r>
          </a:p>
        </p:txBody>
      </p:sp>
      <p:sp>
        <p:nvSpPr>
          <p:cNvPr id="28" name="slide-10-table-2-3">
            <a:extLst xmlns:a="http://schemas.openxmlformats.org/drawingml/2006/main">
              <a:ext uri="{FF2B5EF4-FFF2-40B4-BE49-F238E27FC236}">
                <a16:creationId xmlns:a16="http://schemas.microsoft.com/office/drawing/2014/main" id="{9FD19400-E980-475F-B19C-FA51A4E0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76800"/>
            <a:ext cx="2657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0.74939</a:t>
            </a:r>
          </a:p>
        </p:txBody>
      </p:sp>
      <p:sp>
        <p:nvSpPr>
          <p:cNvPr id="29" name="slide-10-table-2-4">
            <a:extLst xmlns:a="http://schemas.openxmlformats.org/drawingml/2006/main">
              <a:ext uri="{FF2B5EF4-FFF2-40B4-BE49-F238E27FC236}">
                <a16:creationId xmlns:a16="http://schemas.microsoft.com/office/drawing/2014/main" id="{E8DE3286-D132-407B-8E97-82A807F4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7680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29.562</a:t>
            </a:r>
          </a:p>
        </p:txBody>
      </p:sp>
      <p:sp>
        <p:nvSpPr>
          <p:cNvPr id="30" name="slide-10-table-3-0">
            <a:extLst xmlns:a="http://schemas.openxmlformats.org/drawingml/2006/main">
              <a:ext uri="{FF2B5EF4-FFF2-40B4-BE49-F238E27FC236}">
                <a16:creationId xmlns:a16="http://schemas.microsoft.com/office/drawing/2014/main" id="{78EDFFD6-B8CA-446F-8194-37C28CBF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695950"/>
            <a:ext cx="70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31" name="slide-10-table-3-1">
            <a:extLst xmlns:a="http://schemas.openxmlformats.org/drawingml/2006/main">
              <a:ext uri="{FF2B5EF4-FFF2-40B4-BE49-F238E27FC236}">
                <a16:creationId xmlns:a16="http://schemas.microsoft.com/office/drawing/2014/main" id="{E576CABF-BFCB-4248-991C-8657DE22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69595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29.562</a:t>
            </a:r>
          </a:p>
        </p:txBody>
      </p:sp>
      <p:sp>
        <p:nvSpPr>
          <p:cNvPr id="32" name="slide-10-table-3-2">
            <a:extLst xmlns:a="http://schemas.openxmlformats.org/drawingml/2006/main">
              <a:ext uri="{FF2B5EF4-FFF2-40B4-BE49-F238E27FC236}">
                <a16:creationId xmlns:a16="http://schemas.microsoft.com/office/drawing/2014/main" id="{C1C845E5-16E0-4A14-B481-B8458FE8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695950"/>
            <a:ext cx="2562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-0.0042242</a:t>
            </a:r>
          </a:p>
        </p:txBody>
      </p:sp>
      <p:sp>
        <p:nvSpPr>
          <p:cNvPr id="33" name="slide-10-table-3-3">
            <a:extLst xmlns:a="http://schemas.openxmlformats.org/drawingml/2006/main">
              <a:ext uri="{FF2B5EF4-FFF2-40B4-BE49-F238E27FC236}">
                <a16:creationId xmlns:a16="http://schemas.microsoft.com/office/drawing/2014/main" id="{9EFD785E-3F98-4209-AA7C-BF7236CB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95950"/>
            <a:ext cx="2657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0.73044</a:t>
            </a:r>
          </a:p>
        </p:txBody>
      </p:sp>
      <p:sp>
        <p:nvSpPr>
          <p:cNvPr id="34" name="slide-10-table-3-4">
            <a:extLst xmlns:a="http://schemas.openxmlformats.org/drawingml/2006/main">
              <a:ext uri="{FF2B5EF4-FFF2-40B4-BE49-F238E27FC236}">
                <a16:creationId xmlns:a16="http://schemas.microsoft.com/office/drawing/2014/main" id="{C2732608-A4BF-4876-BE21-0E89E48E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69595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29.567</a:t>
            </a:r>
          </a:p>
        </p:txBody>
      </p:sp>
      <p:sp>
        <p:nvSpPr>
          <p:cNvPr id="35" name="slide-10-table-4-0">
            <a:extLst xmlns:a="http://schemas.openxmlformats.org/drawingml/2006/main">
              <a:ext uri="{FF2B5EF4-FFF2-40B4-BE49-F238E27FC236}">
                <a16:creationId xmlns:a16="http://schemas.microsoft.com/office/drawing/2014/main" id="{F0134F69-C91A-4DFC-B897-A263532F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6515100"/>
            <a:ext cx="70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36" name="slide-10-table-4-1">
            <a:extLst xmlns:a="http://schemas.openxmlformats.org/drawingml/2006/main">
              <a:ext uri="{FF2B5EF4-FFF2-40B4-BE49-F238E27FC236}">
                <a16:creationId xmlns:a16="http://schemas.microsoft.com/office/drawing/2014/main" id="{C18C2DCB-4CD7-426B-84CA-E630B333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651510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29.567</a:t>
            </a:r>
          </a:p>
        </p:txBody>
      </p:sp>
      <p:sp>
        <p:nvSpPr>
          <p:cNvPr id="37" name="slide-10-table-4-2">
            <a:extLst xmlns:a="http://schemas.openxmlformats.org/drawingml/2006/main">
              <a:ext uri="{FF2B5EF4-FFF2-40B4-BE49-F238E27FC236}">
                <a16:creationId xmlns:a16="http://schemas.microsoft.com/office/drawing/2014/main" id="{816B641C-574A-4935-A36C-68088B7C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6515100"/>
            <a:ext cx="2562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-7.1308e-7</a:t>
            </a:r>
          </a:p>
        </p:txBody>
      </p:sp>
      <p:sp>
        <p:nvSpPr>
          <p:cNvPr id="38" name="slide-10-table-4-3">
            <a:extLst xmlns:a="http://schemas.openxmlformats.org/drawingml/2006/main">
              <a:ext uri="{FF2B5EF4-FFF2-40B4-BE49-F238E27FC236}">
                <a16:creationId xmlns:a16="http://schemas.microsoft.com/office/drawing/2014/main" id="{6E57007C-0E47-4B7C-A42D-8AE491B2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515100"/>
            <a:ext cx="2657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0.73019</a:t>
            </a:r>
          </a:p>
        </p:txBody>
      </p:sp>
      <p:sp>
        <p:nvSpPr>
          <p:cNvPr id="39" name="slide-10-table-4-4">
            <a:extLst xmlns:a="http://schemas.openxmlformats.org/drawingml/2006/main">
              <a:ext uri="{FF2B5EF4-FFF2-40B4-BE49-F238E27FC236}">
                <a16:creationId xmlns:a16="http://schemas.microsoft.com/office/drawing/2014/main" id="{6C2E35C4-D6EC-48EB-8DA4-169F74C6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51510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stop</a:t>
            </a:r>
          </a:p>
        </p:txBody>
      </p:sp>
      <p:sp>
        <p:nvSpPr>
          <p:cNvPr id="40" name="slide-10-trace-note">
            <a:extLst xmlns:a="http://schemas.openxmlformats.org/drawingml/2006/main">
              <a:ext uri="{FF2B5EF4-FFF2-40B4-BE49-F238E27FC236}">
                <a16:creationId xmlns:a16="http://schemas.microsoft.com/office/drawing/2014/main" id="{B4FB8B63-9B6E-4EC1-9E2D-D3041E9B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238500"/>
            <a:ext cx="3667125" cy="4095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41" name="slide-10-note-heading">
            <a:extLst xmlns:a="http://schemas.openxmlformats.org/drawingml/2006/main">
              <a:ext uri="{FF2B5EF4-FFF2-40B4-BE49-F238E27FC236}">
                <a16:creationId xmlns:a16="http://schemas.microsoft.com/office/drawing/2014/main" id="{06A08011-E0E0-44E5-8275-51FA9C97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3619500"/>
            <a:ext cx="290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Each row</a:t>
            </a:r>
          </a:p>
        </p:txBody>
      </p:sp>
      <p:sp>
        <p:nvSpPr>
          <p:cNvPr id="42" name="slide-10-note-body">
            <a:extLst xmlns:a="http://schemas.openxmlformats.org/drawingml/2006/main">
              <a:ext uri="{FF2B5EF4-FFF2-40B4-BE49-F238E27FC236}">
                <a16:creationId xmlns:a16="http://schemas.microsoft.com/office/drawing/2014/main" id="{690C1D59-8B1B-488F-B657-AB33F7CB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4333875"/>
            <a:ext cx="2905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evaluate</a:t>
            </a:r>
          </a:p>
          <a:p xmlns:a="http://schemas.openxmlformats.org/drawingml/2006/main">
            <a:pPr algn="ctr">
              <a:defRPr sz="225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↓</a:t>
            </a:r>
          </a:p>
          <a:p xmlns:a="http://schemas.openxmlformats.org/drawingml/2006/main">
            <a:pPr algn="ctr">
              <a:defRPr sz="225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slope</a:t>
            </a:r>
          </a:p>
          <a:p xmlns:a="http://schemas.openxmlformats.org/drawingml/2006/main">
            <a:pPr algn="ctr">
              <a:defRPr sz="225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↓</a:t>
            </a:r>
          </a:p>
          <a:p xmlns:a="http://schemas.openxmlformats.org/drawingml/2006/main">
            <a:pPr algn="ctr">
              <a:defRPr sz="225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update</a:t>
            </a:r>
          </a:p>
        </p:txBody>
      </p:sp>
      <p:sp>
        <p:nvSpPr>
          <p:cNvPr id="43" name="slide-10-note-prompt">
            <a:extLst xmlns:a="http://schemas.openxmlformats.org/drawingml/2006/main">
              <a:ext uri="{FF2B5EF4-FFF2-40B4-BE49-F238E27FC236}">
                <a16:creationId xmlns:a16="http://schemas.microsoft.com/office/drawing/2014/main" id="{D202F1C9-4FA3-48C3-B82E-E6828E3A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666750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725" b="0" i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What changes between rows?</a:t>
            </a:r>
          </a:p>
        </p:txBody>
      </p:sp>
      <p:sp>
        <p:nvSpPr>
          <p:cNvPr id="44" name="slide-10-takeaway">
            <a:extLst xmlns:a="http://schemas.openxmlformats.org/drawingml/2006/main">
              <a:ext uri="{FF2B5EF4-FFF2-40B4-BE49-F238E27FC236}">
                <a16:creationId xmlns:a16="http://schemas.microsoft.com/office/drawing/2014/main" id="{337CE060-CF16-47D3-B593-148BBFA7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810625"/>
            <a:ext cx="14859000" cy="781050"/>
          </a:xfrm>
          <a:prstGeom xmlns:a="http://schemas.openxmlformats.org/drawingml/2006/main" prst="roundRect">
            <a:avLst>
              <a:gd name="adj" fmla="val 26829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45" name="slide-10-takeaway-text">
            <a:extLst xmlns:a="http://schemas.openxmlformats.org/drawingml/2006/main">
              <a:ext uri="{FF2B5EF4-FFF2-40B4-BE49-F238E27FC236}">
                <a16:creationId xmlns:a16="http://schemas.microsoft.com/office/drawing/2014/main" id="{79AD6EF4-8DCC-4FF5-AF47-CE15EDE3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020175"/>
            <a:ext cx="1419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At eval 4, |f(theta)| = 7.1308e-7 m &lt; 1e-3 m</a:t>
            </a:r>
          </a:p>
        </p:txBody>
      </p:sp>
    </p:spTree>
    <p:extLst>
      <p:ext uri="{BB962C8B-B14F-4D97-AF65-F5344CB8AC3E}">
        <p14:creationId xmlns:p14="http://schemas.microsoft.com/office/powerpoint/2010/main" val="1342738259"/>
      </p:ext>
    </p:extLst>
  </p:cSld>
</p:sld>
</file>

<file path=ppt/slides/slide11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C4C75E96-D2DA-46A9-92F6-C96E9C87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Working exposure: same root, different route</a:t>
            </a:r>
          </a:p>
        </p:txBody>
      </p:sp>
      <p:sp>
        <p:nvSpPr>
          <p:cNvPr id="2" name="slide-11-title-rule">
            <a:extLst xmlns:a="http://schemas.openxmlformats.org/drawingml/2006/main">
              <a:ext uri="{FF2B5EF4-FFF2-40B4-BE49-F238E27FC236}">
                <a16:creationId xmlns:a16="http://schemas.microsoft.com/office/drawing/2014/main" id="{B47D4E83-E83D-46AC-8C0E-A7C10FFD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09700"/>
            <a:ext cx="1504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3" name="slide-11-subtitle">
            <a:extLst xmlns:a="http://schemas.openxmlformats.org/drawingml/2006/main">
              <a:ext uri="{FF2B5EF4-FFF2-40B4-BE49-F238E27FC236}">
                <a16:creationId xmlns:a16="http://schemas.microsoft.com/office/drawing/2014/main" id="{011936DF-0000-4424-AB3F-E436C5C6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Bisection is guarded; Newton is locally fast</a:t>
            </a:r>
          </a:p>
        </p:txBody>
      </p:sp>
      <p:sp>
        <p:nvSpPr>
          <p:cNvPr id="4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B067F614-EB37-4BB6-8A45-92F6C176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11</a:t>
            </a:r>
          </a:p>
        </p:txBody>
      </p:sp>
      <p:sp>
        <p:nvSpPr>
          <p:cNvPr id="5" name="slide-11-bisection">
            <a:extLst xmlns:a="http://schemas.openxmlformats.org/drawingml/2006/main">
              <a:ext uri="{FF2B5EF4-FFF2-40B4-BE49-F238E27FC236}">
                <a16:creationId xmlns:a16="http://schemas.microsoft.com/office/drawing/2014/main" id="{58EEAB4D-E858-4865-AE22-B3F6680A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62250"/>
            <a:ext cx="733425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slide-11-bisection-heading">
            <a:extLst xmlns:a="http://schemas.openxmlformats.org/drawingml/2006/main">
              <a:ext uri="{FF2B5EF4-FFF2-40B4-BE49-F238E27FC236}">
                <a16:creationId xmlns:a16="http://schemas.microsoft.com/office/drawing/2014/main" id="{54BB75D2-FAD0-4210-B0EB-FF0DA8E8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90875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40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BISECTION</a:t>
            </a:r>
          </a:p>
        </p:txBody>
      </p:sp>
      <p:sp>
        <p:nvSpPr>
          <p:cNvPr id="7" name="slide-11-bisection-count">
            <a:extLst xmlns:a="http://schemas.openxmlformats.org/drawingml/2006/main">
              <a:ext uri="{FF2B5EF4-FFF2-40B4-BE49-F238E27FC236}">
                <a16:creationId xmlns:a16="http://schemas.microsoft.com/office/drawing/2014/main" id="{3DD2A052-176C-4350-BF4F-4CF73084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067175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8" name="slide-11-bisection-count-number">
            <a:extLst xmlns:a="http://schemas.openxmlformats.org/drawingml/2006/main">
              <a:ext uri="{FF2B5EF4-FFF2-40B4-BE49-F238E27FC236}">
                <a16:creationId xmlns:a16="http://schemas.microsoft.com/office/drawing/2014/main" id="{A7450928-1726-491A-BF63-E951D704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14825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390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13</a:t>
            </a:r>
          </a:p>
        </p:txBody>
      </p:sp>
      <p:sp>
        <p:nvSpPr>
          <p:cNvPr id="9" name="slide-11-bisection-count-label">
            <a:extLst xmlns:a="http://schemas.openxmlformats.org/drawingml/2006/main">
              <a:ext uri="{FF2B5EF4-FFF2-40B4-BE49-F238E27FC236}">
                <a16:creationId xmlns:a16="http://schemas.microsoft.com/office/drawing/2014/main" id="{C264B8DB-1EFD-4B24-AFB6-222C024C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624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recorded</a:t>
            </a:r>
          </a:p>
          <a:p xmlns:a="http://schemas.openxmlformats.org/drawingml/2006/main">
            <a:pPr algn="l">
              <a:defRPr sz="19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iterations</a:t>
            </a:r>
          </a:p>
        </p:txBody>
      </p:sp>
      <p:sp>
        <p:nvSpPr>
          <p:cNvPr id="10" name="slide-11-bisection-body">
            <a:extLst xmlns:a="http://schemas.openxmlformats.org/drawingml/2006/main">
              <a:ext uri="{FF2B5EF4-FFF2-40B4-BE49-F238E27FC236}">
                <a16:creationId xmlns:a16="http://schemas.microsoft.com/office/drawing/2014/main" id="{67088818-9616-4547-8F41-69D72F40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57875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02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preserves a sign-changing bracket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02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02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needs a valid endpoint pair</a:t>
            </a:r>
          </a:p>
        </p:txBody>
      </p:sp>
      <p:sp>
        <p:nvSpPr>
          <p:cNvPr id="11" name="slide-11-newton">
            <a:extLst xmlns:a="http://schemas.openxmlformats.org/drawingml/2006/main">
              <a:ext uri="{FF2B5EF4-FFF2-40B4-BE49-F238E27FC236}">
                <a16:creationId xmlns:a16="http://schemas.microsoft.com/office/drawing/2014/main" id="{0341B09B-0A6C-4BE7-99C0-54FBFDDC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62250"/>
            <a:ext cx="733425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12" name="slide-11-newton-heading">
            <a:extLst xmlns:a="http://schemas.openxmlformats.org/drawingml/2006/main">
              <a:ext uri="{FF2B5EF4-FFF2-40B4-BE49-F238E27FC236}">
                <a16:creationId xmlns:a16="http://schemas.microsoft.com/office/drawing/2014/main" id="{03B3B0AB-26BE-4184-87BA-44FE64B3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190875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40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NEWTON</a:t>
            </a:r>
          </a:p>
        </p:txBody>
      </p:sp>
      <p:sp>
        <p:nvSpPr>
          <p:cNvPr id="13" name="slide-11-newton-count">
            <a:extLst xmlns:a="http://schemas.openxmlformats.org/drawingml/2006/main">
              <a:ext uri="{FF2B5EF4-FFF2-40B4-BE49-F238E27FC236}">
                <a16:creationId xmlns:a16="http://schemas.microsoft.com/office/drawing/2014/main" id="{844833AF-A619-4750-B7CA-F7C13260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067175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16"/>
          </a:solidFill>
          <a:ln xmlns:a="http://schemas.openxmlformats.org/drawingml/2006/main" w="0">
            <a:solidFill>
              <a:srgbClr val="C98A16"/>
            </a:solidFill>
            <a:prstDash val="solid"/>
          </a:ln>
        </p:spPr>
      </p:sp>
      <p:sp>
        <p:nvSpPr>
          <p:cNvPr id="14" name="slide-11-newton-count-number">
            <a:extLst xmlns:a="http://schemas.openxmlformats.org/drawingml/2006/main">
              <a:ext uri="{FF2B5EF4-FFF2-40B4-BE49-F238E27FC236}">
                <a16:creationId xmlns:a16="http://schemas.microsoft.com/office/drawing/2014/main" id="{2B6628C2-B2E4-4069-A825-F7809002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314825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390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15" name="slide-11-newton-count-label">
            <a:extLst xmlns:a="http://schemas.openxmlformats.org/drawingml/2006/main">
              <a:ext uri="{FF2B5EF4-FFF2-40B4-BE49-F238E27FC236}">
                <a16:creationId xmlns:a16="http://schemas.microsoft.com/office/drawing/2014/main" id="{EEFF0CA5-F891-45E5-BF52-17CB6FBB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43624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recorded</a:t>
            </a:r>
          </a:p>
          <a:p xmlns:a="http://schemas.openxmlformats.org/drawingml/2006/main">
            <a:pPr algn="l">
              <a:defRPr sz="19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evaluations</a:t>
            </a:r>
          </a:p>
        </p:txBody>
      </p:sp>
      <p:sp>
        <p:nvSpPr>
          <p:cNvPr id="16" name="slide-11-newton-body">
            <a:extLst xmlns:a="http://schemas.openxmlformats.org/drawingml/2006/main">
              <a:ext uri="{FF2B5EF4-FFF2-40B4-BE49-F238E27FC236}">
                <a16:creationId xmlns:a16="http://schemas.microsoft.com/office/drawing/2014/main" id="{ABD67046-2BAF-4562-AF18-2452FE9A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857875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02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same low-angle root from 25 degree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02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02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needs a useful slope and start</a:t>
            </a:r>
          </a:p>
        </p:txBody>
      </p:sp>
      <p:sp>
        <p:nvSpPr>
          <p:cNvPr id="17" name="slide-11-shared-validation">
            <a:extLst xmlns:a="http://schemas.openxmlformats.org/drawingml/2006/main">
              <a:ext uri="{FF2B5EF4-FFF2-40B4-BE49-F238E27FC236}">
                <a16:creationId xmlns:a16="http://schemas.microsoft.com/office/drawing/2014/main" id="{94EB8B52-EECC-4A38-A9FF-0F977BBE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953375"/>
            <a:ext cx="13525500" cy="685800"/>
          </a:xfrm>
          <a:prstGeom xmlns:a="http://schemas.openxmlformats.org/drawingml/2006/main" prst="roundRect">
            <a:avLst>
              <a:gd name="adj" fmla="val 30556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18" name="slide-11-shared-validation-text">
            <a:extLst xmlns:a="http://schemas.openxmlformats.org/drawingml/2006/main">
              <a:ext uri="{FF2B5EF4-FFF2-40B4-BE49-F238E27FC236}">
                <a16:creationId xmlns:a16="http://schemas.microsoft.com/office/drawing/2014/main" id="{43ECFE2E-6779-4419-A931-AF06CEF9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124825"/>
            <a:ext cx="1257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Both still require residual validation</a:t>
            </a:r>
          </a:p>
        </p:txBody>
      </p:sp>
    </p:spTree>
    <p:extLst>
      <p:ext uri="{BB962C8B-B14F-4D97-AF65-F5344CB8AC3E}">
        <p14:creationId xmlns:p14="http://schemas.microsoft.com/office/powerpoint/2010/main" val="1259842193"/>
      </p:ext>
    </p:extLst>
  </p:cSld>
</p:sld>
</file>

<file path=ppt/slides/slide12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28512B0C-9AD6-483B-BE42-6602EBCD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midpoint is not enough: the bracket must change sign</a:t>
            </a:r>
          </a:p>
        </p:txBody>
      </p:sp>
      <p:sp>
        <p:nvSpPr>
          <p:cNvPr id="2" name="slide-12-title-rule">
            <a:extLst xmlns:a="http://schemas.openxmlformats.org/drawingml/2006/main">
              <a:ext uri="{FF2B5EF4-FFF2-40B4-BE49-F238E27FC236}">
                <a16:creationId xmlns:a16="http://schemas.microsoft.com/office/drawing/2014/main" id="{84BBE282-B186-48BE-81B0-B5817646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09700"/>
            <a:ext cx="1504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3" name="slide-12-subtitle">
            <a:extLst xmlns:a="http://schemas.openxmlformats.org/drawingml/2006/main">
              <a:ext uri="{FF2B5EF4-FFF2-40B4-BE49-F238E27FC236}">
                <a16:creationId xmlns:a16="http://schemas.microsoft.com/office/drawing/2014/main" id="{298E5F2C-B7C4-41F8-957D-C6E12165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method only works when the endpoints still have opposite signs</a:t>
            </a:r>
          </a:p>
        </p:txBody>
      </p:sp>
      <p:sp>
        <p:nvSpPr>
          <p:cNvPr id="4" name="slide-12-number">
            <a:extLst xmlns:a="http://schemas.openxmlformats.org/drawingml/2006/main">
              <a:ext uri="{FF2B5EF4-FFF2-40B4-BE49-F238E27FC236}">
                <a16:creationId xmlns:a16="http://schemas.microsoft.com/office/drawing/2014/main" id="{241C75AF-F690-4127-A2C7-90573383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12</a:t>
            </a:r>
          </a:p>
        </p:txBody>
      </p:sp>
      <p:sp>
        <p:nvSpPr>
          <p:cNvPr id="5" name="slide-12-current-heading">
            <a:extLst xmlns:a="http://schemas.openxmlformats.org/drawingml/2006/main">
              <a:ext uri="{FF2B5EF4-FFF2-40B4-BE49-F238E27FC236}">
                <a16:creationId xmlns:a16="http://schemas.microsoft.com/office/drawing/2014/main" id="{B5B1FFEB-9F7B-4AE3-BCD4-0BE8AE61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Current bracket</a:t>
            </a:r>
          </a:p>
        </p:txBody>
      </p:sp>
      <p:sp>
        <p:nvSpPr>
          <p:cNvPr id="6" name="slide-12-current-line">
            <a:extLst xmlns:a="http://schemas.openxmlformats.org/drawingml/2006/main">
              <a:ext uri="{FF2B5EF4-FFF2-40B4-BE49-F238E27FC236}">
                <a16:creationId xmlns:a16="http://schemas.microsoft.com/office/drawing/2014/main" id="{BB3D4382-301B-4849-8CF9-2440D1AE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3381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B2B4C"/>
            </a:solidFill>
            <a:prstDash val="solid"/>
          </a:ln>
        </p:spPr>
      </p:sp>
      <p:sp>
        <p:nvSpPr>
          <p:cNvPr id="7" name="slide-12-current-left">
            <a:extLst xmlns:a="http://schemas.openxmlformats.org/drawingml/2006/main">
              <a:ext uri="{FF2B5EF4-FFF2-40B4-BE49-F238E27FC236}">
                <a16:creationId xmlns:a16="http://schemas.microsoft.com/office/drawing/2014/main" id="{D0B19A3F-64B4-4032-AC7E-CE88792B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362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8" name="slide-12-current-mid">
            <a:extLst xmlns:a="http://schemas.openxmlformats.org/drawingml/2006/main">
              <a:ext uri="{FF2B5EF4-FFF2-40B4-BE49-F238E27FC236}">
                <a16:creationId xmlns:a16="http://schemas.microsoft.com/office/drawing/2014/main" id="{5197FCAA-2EFA-4357-9B27-12011D24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362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16"/>
          </a:solidFill>
          <a:ln xmlns:a="http://schemas.openxmlformats.org/drawingml/2006/main" w="0">
            <a:solidFill>
              <a:srgbClr val="C98A16"/>
            </a:solidFill>
            <a:prstDash val="solid"/>
          </a:ln>
        </p:spPr>
      </p:sp>
      <p:sp>
        <p:nvSpPr>
          <p:cNvPr id="9" name="slide-12-current-right">
            <a:extLst xmlns:a="http://schemas.openxmlformats.org/drawingml/2006/main">
              <a:ext uri="{FF2B5EF4-FFF2-40B4-BE49-F238E27FC236}">
                <a16:creationId xmlns:a16="http://schemas.microsoft.com/office/drawing/2014/main" id="{95069D3B-41BF-4B2B-9C13-8B9AB8E1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62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16"/>
          </a:solidFill>
          <a:ln xmlns:a="http://schemas.openxmlformats.org/drawingml/2006/main" w="0">
            <a:solidFill>
              <a:srgbClr val="C98A16"/>
            </a:solidFill>
            <a:prstDash val="solid"/>
          </a:ln>
        </p:spPr>
      </p:sp>
      <p:sp>
        <p:nvSpPr>
          <p:cNvPr id="10" name="slide-12-current-label">
            <a:extLst xmlns:a="http://schemas.openxmlformats.org/drawingml/2006/main">
              <a:ext uri="{FF2B5EF4-FFF2-40B4-BE49-F238E27FC236}">
                <a16:creationId xmlns:a16="http://schemas.microsoft.com/office/drawing/2014/main" id="{C999B22C-6ED7-461F-BCC0-63EF9E9D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48125"/>
            <a:ext cx="338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025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[20, 40] degree</a:t>
            </a:r>
          </a:p>
        </p:txBody>
      </p:sp>
      <p:sp>
        <p:nvSpPr>
          <p:cNvPr id="11" name="slide-12-current-values">
            <a:extLst xmlns:a="http://schemas.openxmlformats.org/drawingml/2006/main">
              <a:ext uri="{FF2B5EF4-FFF2-40B4-BE49-F238E27FC236}">
                <a16:creationId xmlns:a16="http://schemas.microsoft.com/office/drawing/2014/main" id="{BFED890E-14BC-43C3-B65F-094059BF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19625"/>
            <a:ext cx="423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267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3F4B57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0" i="0">
                <a:solidFill>
                  <a:srgbClr val="3F4B57"/>
                </a:solidFill>
                <a:latin typeface="IBM Plex Mono"/>
                <a:ea typeface="IBM Plex Mono"/>
                <a:cs typeface="IBM Plex Mono"/>
              </a:rPr>
              <a:t>f(20) &lt; 0       f(30) &gt; 0       f(40) &gt; 0</a:t>
            </a:r>
          </a:p>
        </p:txBody>
      </p:sp>
      <p:sp>
        <p:nvSpPr>
          <p:cNvPr id="12" name="slide-12-arrow">
            <a:extLst xmlns:a="http://schemas.openxmlformats.org/drawingml/2006/main">
              <a:ext uri="{FF2B5EF4-FFF2-40B4-BE49-F238E27FC236}">
                <a16:creationId xmlns:a16="http://schemas.microsoft.com/office/drawing/2014/main" id="{BE2617B3-8F19-430B-B796-003706F4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lide-12-bad-box">
            <a:extLst xmlns:a="http://schemas.openxmlformats.org/drawingml/2006/main">
              <a:ext uri="{FF2B5EF4-FFF2-40B4-BE49-F238E27FC236}">
                <a16:creationId xmlns:a16="http://schemas.microsoft.com/office/drawing/2014/main" id="{502CE802-72E1-4978-8B9F-A6A2FF4E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4810125" cy="3238500"/>
          </a:xfrm>
          <a:prstGeom xmlns:a="http://schemas.openxmlformats.org/drawingml/2006/main" prst="roundRect">
            <a:avLst>
              <a:gd name="adj" fmla="val 647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19050">
            <a:solidFill>
              <a:srgbClr val="B3262E"/>
            </a:solidFill>
            <a:prstDash val="solid"/>
          </a:ln>
        </p:spPr>
      </p:sp>
      <p:sp>
        <p:nvSpPr>
          <p:cNvPr id="14" name="slide-12-bad-heading">
            <a:extLst xmlns:a="http://schemas.openxmlformats.org/drawingml/2006/main">
              <a:ext uri="{FF2B5EF4-FFF2-40B4-BE49-F238E27FC236}">
                <a16:creationId xmlns:a16="http://schemas.microsoft.com/office/drawing/2014/main" id="{ED5F292A-3A79-4C02-BEE3-CCFC9B65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52750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B3262E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B3262E"/>
                </a:solidFill>
                <a:latin typeface="Nunito"/>
                <a:ea typeface="Nunito"/>
                <a:cs typeface="Nunito"/>
              </a:rPr>
              <a:t>BAD UPDATE</a:t>
            </a:r>
          </a:p>
        </p:txBody>
      </p:sp>
      <p:sp>
        <p:nvSpPr>
          <p:cNvPr id="15" name="slide-12-bad-bracket">
            <a:extLst xmlns:a="http://schemas.openxmlformats.org/drawingml/2006/main">
              <a:ext uri="{FF2B5EF4-FFF2-40B4-BE49-F238E27FC236}">
                <a16:creationId xmlns:a16="http://schemas.microsoft.com/office/drawing/2014/main" id="{37152659-8730-4EDB-B40A-E586A0DB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14750"/>
            <a:ext cx="395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B3262E"/>
                </a:solidFill>
                <a:latin typeface="IBM Plex Mono"/>
                <a:ea typeface="IBM Plex Mono"/>
                <a:cs typeface="IBM Plex Mono"/>
              </a:defRPr>
            </a:pPr>
            <a:r>
              <a:rPr sz="2400" b="1" i="0">
                <a:solidFill>
                  <a:srgbClr val="B3262E"/>
                </a:solidFill>
                <a:latin typeface="IBM Plex Mono"/>
                <a:ea typeface="IBM Plex Mono"/>
                <a:cs typeface="IBM Plex Mono"/>
              </a:rPr>
              <a:t>[30, 40] degree</a:t>
            </a:r>
          </a:p>
        </p:txBody>
      </p:sp>
      <p:sp>
        <p:nvSpPr>
          <p:cNvPr id="16" name="slide-12-bad-reason">
            <a:extLst xmlns:a="http://schemas.openxmlformats.org/drawingml/2006/main">
              <a:ext uri="{FF2B5EF4-FFF2-40B4-BE49-F238E27FC236}">
                <a16:creationId xmlns:a16="http://schemas.microsoft.com/office/drawing/2014/main" id="{B0102688-17C0-4DE0-B82A-72A158D7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24375"/>
            <a:ext cx="395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both endpoint residuals are positive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no sign change remains</a:t>
            </a:r>
          </a:p>
        </p:txBody>
      </p:sp>
      <p:sp>
        <p:nvSpPr>
          <p:cNvPr id="17" name="slide-12-arrow-repair">
            <a:extLst xmlns:a="http://schemas.openxmlformats.org/drawingml/2006/main">
              <a:ext uri="{FF2B5EF4-FFF2-40B4-BE49-F238E27FC236}">
                <a16:creationId xmlns:a16="http://schemas.microsoft.com/office/drawing/2014/main" id="{E42D8537-E9E4-4118-9E9E-D3095D8E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333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lide-12-good-box">
            <a:extLst xmlns:a="http://schemas.openxmlformats.org/drawingml/2006/main">
              <a:ext uri="{FF2B5EF4-FFF2-40B4-BE49-F238E27FC236}">
                <a16:creationId xmlns:a16="http://schemas.microsoft.com/office/drawing/2014/main" id="{346E6D52-FF9A-4A09-AA96-5495DB63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2524125"/>
            <a:ext cx="3381375" cy="3238500"/>
          </a:xfrm>
          <a:prstGeom xmlns:a="http://schemas.openxmlformats.org/drawingml/2006/main" prst="roundRect">
            <a:avLst>
              <a:gd name="adj" fmla="val 6471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19" name="slide-12-good-heading">
            <a:extLst xmlns:a="http://schemas.openxmlformats.org/drawingml/2006/main">
              <a:ext uri="{FF2B5EF4-FFF2-40B4-BE49-F238E27FC236}">
                <a16:creationId xmlns:a16="http://schemas.microsoft.com/office/drawing/2014/main" id="{1A2D25A3-7225-4464-8D8F-EE34BF0A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95275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REPAIR</a:t>
            </a:r>
          </a:p>
        </p:txBody>
      </p:sp>
      <p:sp>
        <p:nvSpPr>
          <p:cNvPr id="20" name="slide-12-good-bracket">
            <a:extLst xmlns:a="http://schemas.openxmlformats.org/drawingml/2006/main">
              <a:ext uri="{FF2B5EF4-FFF2-40B4-BE49-F238E27FC236}">
                <a16:creationId xmlns:a16="http://schemas.microsoft.com/office/drawing/2014/main" id="{B8A37019-6743-438C-9415-A7389843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8100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E8E45"/>
                </a:solidFill>
                <a:latin typeface="IBM Plex Mono"/>
                <a:ea typeface="IBM Plex Mono"/>
                <a:cs typeface="IBM Plex Mono"/>
              </a:defRPr>
            </a:pPr>
            <a:r>
              <a:rPr sz="2100" b="1" i="0">
                <a:solidFill>
                  <a:srgbClr val="3E8E45"/>
                </a:solidFill>
                <a:latin typeface="IBM Plex Mono"/>
                <a:ea typeface="IBM Plex Mono"/>
                <a:cs typeface="IBM Plex Mono"/>
              </a:rPr>
              <a:t>[20, 30] degree</a:t>
            </a:r>
          </a:p>
        </p:txBody>
      </p:sp>
      <p:sp>
        <p:nvSpPr>
          <p:cNvPr id="21" name="slide-12-good-reason">
            <a:extLst xmlns:a="http://schemas.openxmlformats.org/drawingml/2006/main">
              <a:ext uri="{FF2B5EF4-FFF2-40B4-BE49-F238E27FC236}">
                <a16:creationId xmlns:a16="http://schemas.microsoft.com/office/drawing/2014/main" id="{C5566693-9359-43EB-8FCA-A7E4462B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4619625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75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f(20) &lt; 0</a:t>
            </a:r>
          </a:p>
          <a:p xmlns:a="http://schemas.openxmlformats.org/drawingml/2006/main">
            <a:pPr algn="ctr">
              <a:defRPr sz="1875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75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f(30) &gt; 0</a:t>
            </a:r>
          </a:p>
        </p:txBody>
      </p:sp>
      <p:sp>
        <p:nvSpPr>
          <p:cNvPr id="22" name="slide-12-check-box">
            <a:extLst xmlns:a="http://schemas.openxmlformats.org/drawingml/2006/main">
              <a:ext uri="{FF2B5EF4-FFF2-40B4-BE49-F238E27FC236}">
                <a16:creationId xmlns:a16="http://schemas.microsoft.com/office/drawing/2014/main" id="{1D60043A-8572-4DF7-9C23-AB8914F8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667500"/>
            <a:ext cx="1381125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23" name="slide-12-check-heading">
            <a:extLst xmlns:a="http://schemas.openxmlformats.org/drawingml/2006/main">
              <a:ext uri="{FF2B5EF4-FFF2-40B4-BE49-F238E27FC236}">
                <a16:creationId xmlns:a16="http://schemas.microsoft.com/office/drawing/2014/main" id="{4F82D43E-8236-495D-A2A6-DA3C9BBC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0008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CHECK AFTER EVERY UPDATE</a:t>
            </a:r>
          </a:p>
        </p:txBody>
      </p:sp>
      <p:sp>
        <p:nvSpPr>
          <p:cNvPr id="24" name="slide-12-check-rule">
            <a:extLst xmlns:a="http://schemas.openxmlformats.org/drawingml/2006/main">
              <a:ext uri="{FF2B5EF4-FFF2-40B4-BE49-F238E27FC236}">
                <a16:creationId xmlns:a16="http://schemas.microsoft.com/office/drawing/2014/main" id="{62AE43FA-BD81-4204-8C21-ED85B87F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9246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400" b="1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f(a) * f(b) &lt; 0</a:t>
            </a:r>
          </a:p>
        </p:txBody>
      </p:sp>
      <p:sp>
        <p:nvSpPr>
          <p:cNvPr id="25" name="slide-12-check-body">
            <a:extLst xmlns:a="http://schemas.openxmlformats.org/drawingml/2006/main">
              <a:ext uri="{FF2B5EF4-FFF2-40B4-BE49-F238E27FC236}">
                <a16:creationId xmlns:a16="http://schemas.microsoft.com/office/drawing/2014/main" id="{DF5258D5-3E23-4E64-9A51-561E9C6C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7000875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72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If the signs agree, the bracket is not safe</a:t>
            </a:r>
          </a:p>
        </p:txBody>
      </p:sp>
    </p:spTree>
    <p:extLst>
      <p:ext uri="{BB962C8B-B14F-4D97-AF65-F5344CB8AC3E}">
        <p14:creationId xmlns:p14="http://schemas.microsoft.com/office/powerpoint/2010/main" val="1134815800"/>
      </p:ext>
    </p:extLst>
  </p:cSld>
</p:sld>
</file>

<file path=ppt/slides/slide13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E621596F-CB76-453F-9C84-7EA97CAF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residual pattern transfers to new physics</a:t>
            </a:r>
          </a:p>
        </p:txBody>
      </p:sp>
      <p:sp>
        <p:nvSpPr>
          <p:cNvPr id="2" name="slide-13-title-rule">
            <a:extLst xmlns:a="http://schemas.openxmlformats.org/drawingml/2006/main">
              <a:ext uri="{FF2B5EF4-FFF2-40B4-BE49-F238E27FC236}">
                <a16:creationId xmlns:a16="http://schemas.microsoft.com/office/drawing/2014/main" id="{E56820E0-DEC3-44A6-825E-14D756A0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09700"/>
            <a:ext cx="1504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3" name="slide-13-subtitle">
            <a:extLst xmlns:a="http://schemas.openxmlformats.org/drawingml/2006/main">
              <a:ext uri="{FF2B5EF4-FFF2-40B4-BE49-F238E27FC236}">
                <a16:creationId xmlns:a16="http://schemas.microsoft.com/office/drawing/2014/main" id="{22BE3A12-7D00-40EA-998D-C06E2CBD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Change the model; keep the reasoning chain</a:t>
            </a:r>
          </a:p>
        </p:txBody>
      </p:sp>
      <p:sp>
        <p:nvSpPr>
          <p:cNvPr id="4" name="slide-13-number">
            <a:extLst xmlns:a="http://schemas.openxmlformats.org/drawingml/2006/main">
              <a:ext uri="{FF2B5EF4-FFF2-40B4-BE49-F238E27FC236}">
                <a16:creationId xmlns:a16="http://schemas.microsoft.com/office/drawing/2014/main" id="{A586A32E-6C59-4FBE-8ECC-00108442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13</a:t>
            </a:r>
          </a:p>
        </p:txBody>
      </p:sp>
      <p:sp>
        <p:nvSpPr>
          <p:cNvPr id="5" name="slide-13-chain">
            <a:extLst xmlns:a="http://schemas.openxmlformats.org/drawingml/2006/main">
              <a:ext uri="{FF2B5EF4-FFF2-40B4-BE49-F238E27FC236}">
                <a16:creationId xmlns:a16="http://schemas.microsoft.com/office/drawing/2014/main" id="{E9D3F0AE-E644-42C2-A071-5D9519AA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28875"/>
            <a:ext cx="1609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physical target  →  residual  →  root  →  validation</a:t>
            </a:r>
          </a:p>
        </p:txBody>
      </p:sp>
      <p:sp>
        <p:nvSpPr>
          <p:cNvPr id="6" name="slide-13-thin-lens">
            <a:extLst xmlns:a="http://schemas.openxmlformats.org/drawingml/2006/main">
              <a:ext uri="{FF2B5EF4-FFF2-40B4-BE49-F238E27FC236}">
                <a16:creationId xmlns:a16="http://schemas.microsoft.com/office/drawing/2014/main" id="{D7A0FA88-AB4F-4346-A508-73E2C820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86125"/>
            <a:ext cx="7715250" cy="4000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7" name="slide-13-thin-lens-heading">
            <a:extLst xmlns:a="http://schemas.openxmlformats.org/drawingml/2006/main">
              <a:ext uri="{FF2B5EF4-FFF2-40B4-BE49-F238E27FC236}">
                <a16:creationId xmlns:a16="http://schemas.microsoft.com/office/drawing/2014/main" id="{DBAFF5B8-D134-44F9-B589-971ACB38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671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40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THIN LENS</a:t>
            </a:r>
          </a:p>
        </p:txBody>
      </p:sp>
      <p:sp>
        <p:nvSpPr>
          <p:cNvPr id="8" name="slide-13-thin-lens-target">
            <a:extLst xmlns:a="http://schemas.openxmlformats.org/drawingml/2006/main">
              <a:ext uri="{FF2B5EF4-FFF2-40B4-BE49-F238E27FC236}">
                <a16:creationId xmlns:a16="http://schemas.microsoft.com/office/drawing/2014/main" id="{7E285E4B-F825-4EBA-8F00-68A51865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target: image distance</a:t>
            </a:r>
          </a:p>
        </p:txBody>
      </p:sp>
      <p:sp>
        <p:nvSpPr>
          <p:cNvPr id="9" name="slide-13-thin-lens-unknown">
            <a:extLst xmlns:a="http://schemas.openxmlformats.org/drawingml/2006/main">
              <a:ext uri="{FF2B5EF4-FFF2-40B4-BE49-F238E27FC236}">
                <a16:creationId xmlns:a16="http://schemas.microsoft.com/office/drawing/2014/main" id="{037925A5-5DCB-4D92-8453-5DE8135D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0062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025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unknown: d_i</a:t>
            </a:r>
          </a:p>
        </p:txBody>
      </p:sp>
      <p:sp>
        <p:nvSpPr>
          <p:cNvPr id="10" name="slide-13-thin-lens-check">
            <a:extLst xmlns:a="http://schemas.openxmlformats.org/drawingml/2006/main">
              <a:ext uri="{FF2B5EF4-FFF2-40B4-BE49-F238E27FC236}">
                <a16:creationId xmlns:a16="http://schemas.microsoft.com/office/drawing/2014/main" id="{FD4BFB34-015D-43B9-8F83-6BD86913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960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875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validate by substitution into the lens equation</a:t>
            </a:r>
          </a:p>
        </p:txBody>
      </p:sp>
      <p:sp>
        <p:nvSpPr>
          <p:cNvPr id="11" name="slide-13-rc">
            <a:extLst xmlns:a="http://schemas.openxmlformats.org/drawingml/2006/main">
              <a:ext uri="{FF2B5EF4-FFF2-40B4-BE49-F238E27FC236}">
                <a16:creationId xmlns:a16="http://schemas.microsoft.com/office/drawing/2014/main" id="{54BD6493-07C6-4BAD-9784-54C84096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86125"/>
            <a:ext cx="7715250" cy="4000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12" name="slide-13-rc-heading">
            <a:extLst xmlns:a="http://schemas.openxmlformats.org/drawingml/2006/main">
              <a:ext uri="{FF2B5EF4-FFF2-40B4-BE49-F238E27FC236}">
                <a16:creationId xmlns:a16="http://schemas.microsoft.com/office/drawing/2014/main" id="{834E9B3F-3B40-4DE1-9FD0-754D6FAD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671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40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RC THRESHOLD</a:t>
            </a:r>
          </a:p>
        </p:txBody>
      </p:sp>
      <p:sp>
        <p:nvSpPr>
          <p:cNvPr id="13" name="slide-13-rc-target">
            <a:extLst xmlns:a="http://schemas.openxmlformats.org/drawingml/2006/main">
              <a:ext uri="{FF2B5EF4-FFF2-40B4-BE49-F238E27FC236}">
                <a16:creationId xmlns:a16="http://schemas.microsoft.com/office/drawing/2014/main" id="{694A2F40-8B0A-4BE8-86E6-0D52F6F8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767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target: threshold voltage</a:t>
            </a:r>
          </a:p>
        </p:txBody>
      </p:sp>
      <p:sp>
        <p:nvSpPr>
          <p:cNvPr id="14" name="slide-13-rc-unknown">
            <a:extLst xmlns:a="http://schemas.openxmlformats.org/drawingml/2006/main">
              <a:ext uri="{FF2B5EF4-FFF2-40B4-BE49-F238E27FC236}">
                <a16:creationId xmlns:a16="http://schemas.microsoft.com/office/drawing/2014/main" id="{0ED4302F-C371-4E2A-B942-8C7BE18B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0062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025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unknown: t</a:t>
            </a:r>
          </a:p>
        </p:txBody>
      </p:sp>
      <p:sp>
        <p:nvSpPr>
          <p:cNvPr id="15" name="slide-13-rc-check">
            <a:extLst xmlns:a="http://schemas.openxmlformats.org/drawingml/2006/main">
              <a:ext uri="{FF2B5EF4-FFF2-40B4-BE49-F238E27FC236}">
                <a16:creationId xmlns:a16="http://schemas.microsoft.com/office/drawing/2014/main" id="{AF14B0C1-E95C-467C-AAA8-9FA52517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960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875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validate by checking V(t) against the target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166cda1f14f8d"/>
          <a:stretch xmlns:a="http://schemas.openxmlformats.org/drawingml/2006/main"/>
        </p:blipFill>
        <p:spPr>
          <a:xfrm xmlns:a="http://schemas.openxmlformats.org/drawingml/2006/main">
            <a:off x="7178701" y="7477125"/>
            <a:ext cx="3930599" cy="100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870258"/>
      </p:ext>
    </p:extLst>
  </p:cSld>
</p:sld>
</file>

<file path=ppt/slides/slide14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026C4A77-A4EA-422F-9DDD-03FF4E50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Exit ticket: explain a root to a future you</a:t>
            </a:r>
          </a:p>
        </p:txBody>
      </p:sp>
      <p:sp>
        <p:nvSpPr>
          <p:cNvPr id="2" name="slide-14-title-rule">
            <a:extLst xmlns:a="http://schemas.openxmlformats.org/drawingml/2006/main">
              <a:ext uri="{FF2B5EF4-FFF2-40B4-BE49-F238E27FC236}">
                <a16:creationId xmlns:a16="http://schemas.microsoft.com/office/drawing/2014/main" id="{7C070C0F-666C-412A-A361-82D1DFCC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09700"/>
            <a:ext cx="1504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3" name="slide-14-subtitle">
            <a:extLst xmlns:a="http://schemas.openxmlformats.org/drawingml/2006/main">
              <a:ext uri="{FF2B5EF4-FFF2-40B4-BE49-F238E27FC236}">
                <a16:creationId xmlns:a16="http://schemas.microsoft.com/office/drawing/2014/main" id="{9FC7218E-21A6-4E9E-B783-FC61FC02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Define it, bracket it, update it, check it</a:t>
            </a:r>
          </a:p>
        </p:txBody>
      </p:sp>
      <p:sp>
        <p:nvSpPr>
          <p:cNvPr id="4" name="slide-14-number">
            <a:extLst xmlns:a="http://schemas.openxmlformats.org/drawingml/2006/main">
              <a:ext uri="{FF2B5EF4-FFF2-40B4-BE49-F238E27FC236}">
                <a16:creationId xmlns:a16="http://schemas.microsoft.com/office/drawing/2014/main" id="{F5EC909D-593D-41B0-AF09-64483E80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14</a:t>
            </a:r>
          </a:p>
        </p:txBody>
      </p:sp>
      <p:sp>
        <p:nvSpPr>
          <p:cNvPr id="5" name="slide-14-define-card">
            <a:extLst xmlns:a="http://schemas.openxmlformats.org/drawingml/2006/main">
              <a:ext uri="{FF2B5EF4-FFF2-40B4-BE49-F238E27FC236}">
                <a16:creationId xmlns:a16="http://schemas.microsoft.com/office/drawing/2014/main" id="{C8D906FA-4A1B-40D0-AA54-7EBBB009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57500"/>
            <a:ext cx="3429000" cy="447675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slide-14-define-icon">
            <a:extLst xmlns:a="http://schemas.openxmlformats.org/drawingml/2006/main">
              <a:ext uri="{FF2B5EF4-FFF2-40B4-BE49-F238E27FC236}">
                <a16:creationId xmlns:a16="http://schemas.microsoft.com/office/drawing/2014/main" id="{C893C543-29EA-4325-B13F-F1C02F51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36232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6DB2"/>
            </a:solidFill>
            <a:prstDash val="solid"/>
          </a:ln>
        </p:spPr>
      </p:sp>
      <p:sp>
        <p:nvSpPr>
          <p:cNvPr id="7" name="slide-14-define-icon-text">
            <a:extLst xmlns:a="http://schemas.openxmlformats.org/drawingml/2006/main">
              <a:ext uri="{FF2B5EF4-FFF2-40B4-BE49-F238E27FC236}">
                <a16:creationId xmlns:a16="http://schemas.microsoft.com/office/drawing/2014/main" id="{A2C7BFC6-8E32-41BF-A23E-A172D8AB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476625"/>
            <a:ext cx="99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70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=</a:t>
            </a:r>
          </a:p>
        </p:txBody>
      </p:sp>
      <p:sp>
        <p:nvSpPr>
          <p:cNvPr id="8" name="slide-14-define-label">
            <a:extLst xmlns:a="http://schemas.openxmlformats.org/drawingml/2006/main">
              <a:ext uri="{FF2B5EF4-FFF2-40B4-BE49-F238E27FC236}">
                <a16:creationId xmlns:a16="http://schemas.microsoft.com/office/drawing/2014/main" id="{EFF3F2A6-FD4C-491D-B07C-4EE31E90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67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DEFINE</a:t>
            </a:r>
          </a:p>
        </p:txBody>
      </p:sp>
      <p:sp>
        <p:nvSpPr>
          <p:cNvPr id="9" name="slide-14-define-prompt">
            <a:extLst xmlns:a="http://schemas.openxmlformats.org/drawingml/2006/main">
              <a:ext uri="{FF2B5EF4-FFF2-40B4-BE49-F238E27FC236}">
                <a16:creationId xmlns:a16="http://schemas.microsoft.com/office/drawing/2014/main" id="{D5E483F0-41DA-4FE1-BA6E-4B868443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476875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write the physical target</a:t>
            </a:r>
          </a:p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and residual</a:t>
            </a:r>
          </a:p>
        </p:txBody>
      </p:sp>
      <p:sp>
        <p:nvSpPr>
          <p:cNvPr id="10" name="slide-14-bracket-card">
            <a:extLst xmlns:a="http://schemas.openxmlformats.org/drawingml/2006/main">
              <a:ext uri="{FF2B5EF4-FFF2-40B4-BE49-F238E27FC236}">
                <a16:creationId xmlns:a16="http://schemas.microsoft.com/office/drawing/2014/main" id="{C3AEEB04-7338-4798-9E49-F2968801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57500"/>
            <a:ext cx="3429000" cy="447675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0B2B4C"/>
            </a:solidFill>
            <a:prstDash val="solid"/>
          </a:ln>
        </p:spPr>
      </p:sp>
      <p:sp>
        <p:nvSpPr>
          <p:cNvPr id="11" name="slide-14-bracket-icon">
            <a:extLst xmlns:a="http://schemas.openxmlformats.org/drawingml/2006/main">
              <a:ext uri="{FF2B5EF4-FFF2-40B4-BE49-F238E27FC236}">
                <a16:creationId xmlns:a16="http://schemas.microsoft.com/office/drawing/2014/main" id="{9D7F6647-BAE8-48DB-B2B0-8BE7C7FD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6232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12" name="slide-14-bracket-icon-text">
            <a:extLst xmlns:a="http://schemas.openxmlformats.org/drawingml/2006/main">
              <a:ext uri="{FF2B5EF4-FFF2-40B4-BE49-F238E27FC236}">
                <a16:creationId xmlns:a16="http://schemas.microsoft.com/office/drawing/2014/main" id="{8ABB4EB9-E692-4934-A855-6A586BBE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76625"/>
            <a:ext cx="99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7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&lt; &gt;</a:t>
            </a:r>
          </a:p>
        </p:txBody>
      </p:sp>
      <p:sp>
        <p:nvSpPr>
          <p:cNvPr id="13" name="slide-14-bracket-label">
            <a:extLst xmlns:a="http://schemas.openxmlformats.org/drawingml/2006/main">
              <a:ext uri="{FF2B5EF4-FFF2-40B4-BE49-F238E27FC236}">
                <a16:creationId xmlns:a16="http://schemas.microsoft.com/office/drawing/2014/main" id="{9D2BF0F6-6187-49EB-BB3F-93D7D515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67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BRACKET</a:t>
            </a:r>
          </a:p>
        </p:txBody>
      </p:sp>
      <p:sp>
        <p:nvSpPr>
          <p:cNvPr id="14" name="slide-14-bracket-prompt">
            <a:extLst xmlns:a="http://schemas.openxmlformats.org/drawingml/2006/main">
              <a:ext uri="{FF2B5EF4-FFF2-40B4-BE49-F238E27FC236}">
                <a16:creationId xmlns:a16="http://schemas.microsoft.com/office/drawing/2014/main" id="{05C5EAD4-6A09-456B-8DC2-DE1EB739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476875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explain what opposite</a:t>
            </a:r>
          </a:p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endpoint signs mean</a:t>
            </a:r>
          </a:p>
        </p:txBody>
      </p:sp>
      <p:sp>
        <p:nvSpPr>
          <p:cNvPr id="15" name="slide-14-update-card">
            <a:extLst xmlns:a="http://schemas.openxmlformats.org/drawingml/2006/main">
              <a:ext uri="{FF2B5EF4-FFF2-40B4-BE49-F238E27FC236}">
                <a16:creationId xmlns:a16="http://schemas.microsoft.com/office/drawing/2014/main" id="{ECF83648-9885-4346-B584-69E8E22B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57500"/>
            <a:ext cx="3429000" cy="447675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16" name="slide-14-update-icon">
            <a:extLst xmlns:a="http://schemas.openxmlformats.org/drawingml/2006/main">
              <a:ext uri="{FF2B5EF4-FFF2-40B4-BE49-F238E27FC236}">
                <a16:creationId xmlns:a16="http://schemas.microsoft.com/office/drawing/2014/main" id="{3CF54F31-E2FE-4B82-AC17-85E2A7BD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36232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98A16"/>
            </a:solidFill>
            <a:prstDash val="solid"/>
          </a:ln>
        </p:spPr>
      </p:sp>
      <p:sp>
        <p:nvSpPr>
          <p:cNvPr id="17" name="slide-14-update-icon-text">
            <a:extLst xmlns:a="http://schemas.openxmlformats.org/drawingml/2006/main">
              <a:ext uri="{FF2B5EF4-FFF2-40B4-BE49-F238E27FC236}">
                <a16:creationId xmlns:a16="http://schemas.microsoft.com/office/drawing/2014/main" id="{2916A3C3-82FF-4077-8788-D53B6C59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476625"/>
            <a:ext cx="99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70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→</a:t>
            </a:r>
          </a:p>
        </p:txBody>
      </p:sp>
      <p:sp>
        <p:nvSpPr>
          <p:cNvPr id="18" name="slide-14-update-label">
            <a:extLst xmlns:a="http://schemas.openxmlformats.org/drawingml/2006/main">
              <a:ext uri="{FF2B5EF4-FFF2-40B4-BE49-F238E27FC236}">
                <a16:creationId xmlns:a16="http://schemas.microsoft.com/office/drawing/2014/main" id="{5ED1CD8D-4106-4B61-B666-907A5440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667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UPDATE</a:t>
            </a:r>
          </a:p>
        </p:txBody>
      </p:sp>
      <p:sp>
        <p:nvSpPr>
          <p:cNvPr id="19" name="slide-14-update-prompt">
            <a:extLst xmlns:a="http://schemas.openxmlformats.org/drawingml/2006/main">
              <a:ext uri="{FF2B5EF4-FFF2-40B4-BE49-F238E27FC236}">
                <a16:creationId xmlns:a16="http://schemas.microsoft.com/office/drawing/2014/main" id="{90367B5B-5774-4869-893B-DE055054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476875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describe one bisection midpoint</a:t>
            </a:r>
          </a:p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or Newton tangent step</a:t>
            </a:r>
          </a:p>
        </p:txBody>
      </p:sp>
      <p:sp>
        <p:nvSpPr>
          <p:cNvPr id="20" name="slide-14-check-card">
            <a:extLst xmlns:a="http://schemas.openxmlformats.org/drawingml/2006/main">
              <a:ext uri="{FF2B5EF4-FFF2-40B4-BE49-F238E27FC236}">
                <a16:creationId xmlns:a16="http://schemas.microsoft.com/office/drawing/2014/main" id="{6BC5C583-239A-43DA-99EB-30506227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857500"/>
            <a:ext cx="3429000" cy="447675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21" name="slide-14-check-icon">
            <a:extLst xmlns:a="http://schemas.openxmlformats.org/drawingml/2006/main">
              <a:ext uri="{FF2B5EF4-FFF2-40B4-BE49-F238E27FC236}">
                <a16:creationId xmlns:a16="http://schemas.microsoft.com/office/drawing/2014/main" id="{93D3B305-FA31-4947-A2D4-D9FC5613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36232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E8E45"/>
            </a:solidFill>
            <a:prstDash val="solid"/>
          </a:ln>
        </p:spPr>
      </p:sp>
      <p:sp>
        <p:nvSpPr>
          <p:cNvPr id="22" name="slide-14-check-icon-text">
            <a:extLst xmlns:a="http://schemas.openxmlformats.org/drawingml/2006/main">
              <a:ext uri="{FF2B5EF4-FFF2-40B4-BE49-F238E27FC236}">
                <a16:creationId xmlns:a16="http://schemas.microsoft.com/office/drawing/2014/main" id="{8E7CF79F-84F1-4C2C-BD84-78936F36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3476625"/>
            <a:ext cx="99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70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✓</a:t>
            </a:r>
          </a:p>
        </p:txBody>
      </p:sp>
      <p:sp>
        <p:nvSpPr>
          <p:cNvPr id="23" name="slide-14-check-label">
            <a:extLst xmlns:a="http://schemas.openxmlformats.org/drawingml/2006/main">
              <a:ext uri="{FF2B5EF4-FFF2-40B4-BE49-F238E27FC236}">
                <a16:creationId xmlns:a16="http://schemas.microsoft.com/office/drawing/2014/main" id="{AE25DDBB-611B-4D68-B5EA-8269C152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667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CHECK</a:t>
            </a:r>
          </a:p>
        </p:txBody>
      </p:sp>
      <p:sp>
        <p:nvSpPr>
          <p:cNvPr id="24" name="slide-14-check-prompt">
            <a:extLst xmlns:a="http://schemas.openxmlformats.org/drawingml/2006/main">
              <a:ext uri="{FF2B5EF4-FFF2-40B4-BE49-F238E27FC236}">
                <a16:creationId xmlns:a16="http://schemas.microsoft.com/office/drawing/2014/main" id="{2A813EB4-E446-44E6-998D-DC16EE4A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5476875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substitute the root into the residual</a:t>
            </a:r>
          </a:p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and state its physical unit</a:t>
            </a:r>
          </a:p>
        </p:txBody>
      </p:sp>
      <p:sp>
        <p:nvSpPr>
          <p:cNvPr id="25" name="slide-14-transfer-ribbon">
            <a:extLst xmlns:a="http://schemas.openxmlformats.org/drawingml/2006/main">
              <a:ext uri="{FF2B5EF4-FFF2-40B4-BE49-F238E27FC236}">
                <a16:creationId xmlns:a16="http://schemas.microsoft.com/office/drawing/2014/main" id="{CAE32459-7B7C-410D-BB81-5C495080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858125"/>
            <a:ext cx="13144500" cy="685800"/>
          </a:xfrm>
          <a:prstGeom xmlns:a="http://schemas.openxmlformats.org/drawingml/2006/main" prst="roundRect">
            <a:avLst>
              <a:gd name="adj" fmla="val 30556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26" name="slide-14-transfer-text">
            <a:extLst xmlns:a="http://schemas.openxmlformats.org/drawingml/2006/main">
              <a:ext uri="{FF2B5EF4-FFF2-40B4-BE49-F238E27FC236}">
                <a16:creationId xmlns:a16="http://schemas.microsoft.com/office/drawing/2014/main" id="{FE759398-11B2-4C2A-9D35-E505B52E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0391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75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practical transfer: projectile range  •  thin lens  •  RC threshold</a:t>
            </a:r>
          </a:p>
        </p:txBody>
      </p:sp>
    </p:spTree>
    <p:extLst>
      <p:ext uri="{BB962C8B-B14F-4D97-AF65-F5344CB8AC3E}">
        <p14:creationId xmlns:p14="http://schemas.microsoft.com/office/powerpoint/2010/main" val="504528141"/>
      </p:ext>
    </p:extLst>
  </p:cSld>
</p:sld>
</file>

<file path=ppt/theme/theme1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2026-09-02T15:52:46.2800000Z</dcterms:created>
  <dcterms:modified xsi:type="dcterms:W3CDTF">2026-09-02T15:52:46.2800000Z</dcterms:modified>
</coreProperties>
</file>
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fe985b7884d87" /><Relationship Type="http://schemas.openxmlformats.org/officeDocument/2006/relationships/extended-properties" Target="/docProps/app.xml" Id="Rdb129cc6fae74686" /><Relationship Type="http://schemas.openxmlformats.org/officeDocument/2006/relationships/officeDocument" Target="/ppt/presentation.xml" Id="R21fa0a85bd37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3cc249f1f4ce3"/>
    <p:sldMasterId xmlns:r="http://schemas.openxmlformats.org/officeDocument/2006/relationships" id="2147483650" r:id="R3fb1e6e557114417"/>
  </p:sldMasterIdLst>
  <p:notesMasterIdLst>
    <p:notesMasterId xmlns:r="http://schemas.openxmlformats.org/officeDocument/2006/relationships" r:id="R069110e5dbdb4326"/>
  </p:notesMasterIdLst>
  <p:sldIdLst>
    <p:sldId xmlns:r="http://schemas.openxmlformats.org/officeDocument/2006/relationships" id="256" r:id="R2699b5370d9e4616"/>
    <p:sldId xmlns:r="http://schemas.openxmlformats.org/officeDocument/2006/relationships" id="257" r:id="R3fae09ef5d1a41d4"/>
    <p:sldId xmlns:r="http://schemas.openxmlformats.org/officeDocument/2006/relationships" id="258" r:id="R38e87e3dc4514fb0"/>
    <p:sldId xmlns:r="http://schemas.openxmlformats.org/officeDocument/2006/relationships" id="259" r:id="R976f6b9f08a74e6b"/>
    <p:sldId xmlns:r="http://schemas.openxmlformats.org/officeDocument/2006/relationships" id="260" r:id="Rde9b865789b34dda"/>
    <p:sldId xmlns:r="http://schemas.openxmlformats.org/officeDocument/2006/relationships" id="261" r:id="R67acc7f4e96d4b0b"/>
    <p:sldId xmlns:r="http://schemas.openxmlformats.org/officeDocument/2006/relationships" id="262" r:id="R4917208f561a440e"/>
    <p:sldId xmlns:r="http://schemas.openxmlformats.org/officeDocument/2006/relationships" id="263" r:id="R6210700d02b446d3"/>
    <p:sldId xmlns:r="http://schemas.openxmlformats.org/officeDocument/2006/relationships" id="264" r:id="R4b041e11ae8f41a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6d05914954679" /><Relationship Type="http://schemas.openxmlformats.org/officeDocument/2006/relationships/slideMaster" Target="/ppt/slideMasters/slideMaster1.xml" Id="R5503cc249f1f4ce3" /><Relationship Type="http://schemas.openxmlformats.org/officeDocument/2006/relationships/slideMaster" Target="/ppt/slideMasters/slideMaster2.xml" Id="R3fb1e6e557114417" /><Relationship Type="http://schemas.openxmlformats.org/officeDocument/2006/relationships/notesMaster" Target="/ppt/notesMasters/notesMaster1.xml" Id="R069110e5dbdb4326" /><Relationship Type="http://schemas.openxmlformats.org/officeDocument/2006/relationships/presProps" Target="/ppt/presProps.xml" Id="Redfc22892cf54186" /><Relationship Type="http://schemas.openxmlformats.org/officeDocument/2006/relationships/tableStyles" Target="/ppt/tableStyles.xml" Id="Rc33d79f4b90d438b" /><Relationship Type="http://schemas.openxmlformats.org/officeDocument/2006/relationships/slide" Target="/ppt/slides/slide1.xml" Id="R2699b5370d9e4616" /><Relationship Type="http://schemas.openxmlformats.org/officeDocument/2006/relationships/slide" Target="/ppt/slides/slide2.xml" Id="R3fae09ef5d1a41d4" /><Relationship Type="http://schemas.openxmlformats.org/officeDocument/2006/relationships/slide" Target="/ppt/slides/slide3.xml" Id="R38e87e3dc4514fb0" /><Relationship Type="http://schemas.openxmlformats.org/officeDocument/2006/relationships/slide" Target="/ppt/slides/slide4.xml" Id="R976f6b9f08a74e6b" /><Relationship Type="http://schemas.openxmlformats.org/officeDocument/2006/relationships/slide" Target="/ppt/slides/slide5.xml" Id="Rde9b865789b34dda" /><Relationship Type="http://schemas.openxmlformats.org/officeDocument/2006/relationships/slide" Target="/ppt/slides/slide6.xml" Id="R67acc7f4e96d4b0b" /><Relationship Type="http://schemas.openxmlformats.org/officeDocument/2006/relationships/slide" Target="/ppt/slides/slide7.xml" Id="R4917208f561a440e" /><Relationship Type="http://schemas.openxmlformats.org/officeDocument/2006/relationships/slide" Target="/ppt/slides/slide8.xml" Id="R6210700d02b446d3" /><Relationship Type="http://schemas.openxmlformats.org/officeDocument/2006/relationships/slide" Target="/ppt/slides/slide9.xml" Id="R4b041e11ae8f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2baec36f54b41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14c5a56d74b1d" /><Relationship Type="http://schemas.openxmlformats.org/officeDocument/2006/relationships/notesMaster" Target="/ppt/notesMasters/notesMaster1.xml" Id="R9364fca381b6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c423efecfc439a" /><Relationship Type="http://schemas.openxmlformats.org/officeDocument/2006/relationships/notesMaster" Target="/ppt/notesMasters/notesMaster1.xml" Id="Rb64946a1796b4c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d29c234f44545" /><Relationship Type="http://schemas.openxmlformats.org/officeDocument/2006/relationships/notesMaster" Target="/ppt/notesMasters/notesMaster1.xml" Id="Rc6731a5025ad40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6cd30d2a44172" /><Relationship Type="http://schemas.openxmlformats.org/officeDocument/2006/relationships/notesMaster" Target="/ppt/notesMasters/notesMaster1.xml" Id="Rcf982d02438c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1da85bf724e5b" /><Relationship Type="http://schemas.openxmlformats.org/officeDocument/2006/relationships/notesMaster" Target="/ppt/notesMasters/notesMaster1.xml" Id="Rf9a70aefd85a48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af2e70a2d48e8" /><Relationship Type="http://schemas.openxmlformats.org/officeDocument/2006/relationships/notesMaster" Target="/ppt/notesMasters/notesMaster1.xml" Id="R42d60b76fb5d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d7370ed8054e2a" /><Relationship Type="http://schemas.openxmlformats.org/officeDocument/2006/relationships/notesMaster" Target="/ppt/notesMasters/notesMaster1.xml" Id="Ra950a19193e240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70db79e8d7436d" /><Relationship Type="http://schemas.openxmlformats.org/officeDocument/2006/relationships/notesMaster" Target="/ppt/notesMasters/notesMaster1.xml" Id="R62573c5b1e73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732ad0e42432e" /><Relationship Type="http://schemas.openxmlformats.org/officeDocument/2006/relationships/notesMaster" Target="/ppt/notesMasters/notesMaster1.xml" Id="Rca472b3c8a9b4b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OpenAI ImageGen; PHY4605 Matte Scientific Cutaway visual-only projectile illustration; generated 2026-08-31</a:t>
            </a:r>
          </a:p>
          <a:p xmlns:a="http://schemas.openxmlformats.org/drawingml/2006/main">
            <a:r>
              <a:t>- Standard constant-acceleration kinematics; lecturer-authored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OpenAI ImageGen; PHY4605 Matte Scientific Cutaway visual-only eleven-sample motion illustration aligned with the editable index rail; generated 2026-08-31</a:t>
            </a:r>
          </a:p>
          <a:p xmlns:a="http://schemas.openxmlformats.org/drawingml/2006/main">
            <a:r>
              <a:t>- LaTeX array-moment assets: `array-moment-start.tex`, `array-moment-peak.tex`, and `array-moment-end.tex`; rendered by `render-equations-diagrams`; transparent PNGs inserted in the three editable callout cards;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arrayStart: TeX `t(1)=0.0\,\mathrm{s}`; SVG `.agent/lecture-slide-system/assets/equations/array-moment-start.svg`; PNG `.agent/lecture-slide-system/assets/equations/array-moment-start.png`; foreground `#2F6DB2`; target `258 × 42 px`; fit/crop `contain`; alt `LaTeX-rendered expression t(1)=0.0\,\mathrm{s}`; QA `render-equations-diagrams, PNG scale 6, retained TeX/SVG`</a:t>
            </a:r>
          </a:p>
          <a:p xmlns:a="http://schemas.openxmlformats.org/drawingml/2006/main">
            <a:r>
              <a:t>- arrayPeak: TeX `t(6)=2.0\,\mathrm{s}`; SVG `.agent/lecture-slide-system/assets/equations/array-moment-peak.svg`; PNG `.agent/lecture-slide-system/assets/equations/array-moment-peak.png`; foreground `#C98A16`; target `258 × 42 px`; fit/crop `contain`; alt `LaTeX-rendered expression t(6)=2.0\,\mathrm{s}`; QA `render-equations-diagrams, PNG scale 6, retained TeX/SVG`</a:t>
            </a:r>
          </a:p>
          <a:p xmlns:a="http://schemas.openxmlformats.org/drawingml/2006/main">
            <a:r>
              <a:t>- arrayEnd: TeX `t(11)=4.0\,\mathrm{s}`; SVG `.agent/lecture-slide-system/assets/equations/array-moment-end.svg`; PNG `.agent/lecture-slide-system/assets/equations/array-moment-end.png`; foreground `#3E8E45`; target `258 × 42 px`; fit/crop `contain`; alt `LaTeX-rendered expression t(11)=4.0\,\mathrm{s}`;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y(t) = 20t - 4.905t^2</a:t>
            </a:r>
          </a:p>
          <a:p xmlns:a="http://schemas.openxmlformats.org/drawingml/2006/main">
            <a:r>
              <a:t>- MATLAB figure `assets/matlab-figures/height_time_evidence.png`, generated by `source/generate_master_matlab_figures.m` from retained `height_time_evidence_data.mat` and `.csv`; title, axes, and all figure text use the LaTeX interpreter</a:t>
            </a:r>
          </a:p>
          <a:p xmlns:a="http://schemas.openxmlformats.org/drawingml/2006/main">
            <a:r>
              <a:t>- LaTeX equation assets: `height-zero.tex` and `height-near-zero.tex`; rendered by `render-equations-diagrams`; transparent PNGs inserted with editable explanatory labels; asset directory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`#2F6DB2`; target `300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heightNearZero: TeX `y\approx 0\,\mathrm{m}`; SVG `.agent/lecture-slide-system/assets/equations/height-near-zero.svg`; PNG `.agent/lecture-slide-system/assets/equations/height-near-zero.png`; foreground `#2F6DB2`; target `300 × 48 px`; fit/crop `contain`; alt `LaTeX-rendered expression y is approximately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SI units for one-dimensional vertical motion</a:t>
            </a:r>
          </a:p>
          <a:p xmlns:a="http://schemas.openxmlformats.org/drawingml/2006/main">
            <a:r>
              <a:t>- LaTeX symbol/unit assets: `symbol-*.tex` and `unit-*.tex`; rendered by `render-equations-diagrams`; transparent PNGs inserted as display-math assets;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symbolT: TeX `t`; SVG `.agent/lecture-slide-system/assets/equations/symbol-t.svg`; PNG `.agent/lecture-slide-system/assets/equations/symbol-t.png`; foreground `#2F6DB2`; target `110 × 48 px`; fit/crop `contain`; alt `LaTeX-rendered symbol t`; QA `render-equations-diagrams, PNG scale 6, retained TeX/SVG`</a:t>
            </a:r>
          </a:p>
          <a:p xmlns:a="http://schemas.openxmlformats.org/drawingml/2006/main">
            <a:r>
              <a:t>- unitS: TeX `\mathrm{s}`; SVG `.agent/lecture-slide-system/assets/equations/unit-s.svg`; PNG `.agent/lecture-slide-system/assets/equations/unit-s.png`; foreground `#3F4B57`; target `42 × 17 px`; fit/crop `contain`; alt `LaTeX-rendered SI unit \mathrm{s}`; QA `render-equations-diagrams, PNG scale 6, retained TeX/SVG`</a:t>
            </a:r>
          </a:p>
          <a:p xmlns:a="http://schemas.openxmlformats.org/drawingml/2006/main">
            <a:r>
              <a:t>- symbolY: TeX `y`; SVG `.agent/lecture-slide-system/assets/equations/symbol-y.svg`; PNG `.agent/lecture-slide-system/assets/equations/symbol-y.png`; foreground `#2A9D9F`; target `110 × 48 px`; fit/crop `contain`; alt `LaTeX-rendered symbol y`; QA `render-equations-diagrams, PNG scale 6, retained TeX/SVG`</a:t>
            </a:r>
          </a:p>
          <a:p xmlns:a="http://schemas.openxmlformats.org/drawingml/2006/main">
            <a:r>
              <a:t>- unitM: TeX `\mathrm{m}`; SVG `.agent/lecture-slide-system/assets/equations/unit-m.svg`; PNG `.agent/lecture-slide-system/assets/equations/unit-m.png`; foreground `#3F4B57`; target `42 × 17 px`; fit/crop `contain`; alt `LaTeX-rendered SI unit \mathrm{m}`; QA `render-equations-diagrams, PNG scale 6, retained TeX/SVG`</a:t>
            </a:r>
          </a:p>
          <a:p xmlns:a="http://schemas.openxmlformats.org/drawingml/2006/main">
            <a:r>
              <a:t>- symbolV0: TeX `v_0`; SVG `.agent/lecture-slide-system/assets/equations/symbol-v0.svg`; PNG `.agent/lecture-slide-system/assets/equations/symbol-v0.png`; foreground `#C98A16`; target `110 × 48 px`; fit/crop `contain`; alt `LaTeX-rendered symbol v_0`; QA `render-equations-diagrams, PNG scale 6, retained TeX/SVG`</a:t>
            </a:r>
          </a:p>
          <a:p xmlns:a="http://schemas.openxmlformats.org/drawingml/2006/main">
            <a:r>
              <a:t>- unitMs1: TeX `\mathrm{m\,s^{-1}}`; SVG `.agent/lecture-slide-system/assets/equations/unit-ms1.svg`; PNG `.agent/lecture-slide-system/assets/equations/unit-ms1.png`; foreground `#3F4B57`; target `160 × 26 px`; fit/crop `contain`; alt `LaTeX-rendered SI unit \mathrm{m\,s^{-1}}`; QA `render-equations-diagrams, PNG scale 6, retained TeX/SVG`</a:t>
            </a:r>
          </a:p>
          <a:p xmlns:a="http://schemas.openxmlformats.org/drawingml/2006/main">
            <a:r>
              <a:t>- symbolG: TeX `g`; SVG `.agent/lecture-slide-system/assets/equations/symbol-g.svg`; PNG `.agent/lecture-slide-system/assets/equations/symbol-g.png`; foreground `#C98A16`; target `110 × 48 px`; fit/crop `contain`; alt `LaTeX-rendered symbol g`; QA `render-equations-diagrams, PNG scale 6, retained TeX/SVG`</a:t>
            </a:r>
          </a:p>
          <a:p xmlns:a="http://schemas.openxmlformats.org/drawingml/2006/main">
            <a:r>
              <a:t>- unitMs2: TeX `\mathrm{m\,s^{-2}}`; SVG `.agent/lecture-slide-system/assets/equations/unit-ms2.svg`; PNG `.agent/lecture-slide-system/assets/equations/unit-ms2.png`; foreground `#3F4B57`; target `160 × 26 px`; fit/crop `contain`; alt `LaTeX-rendered SI unit \mathrm{m\,s^{-2}}`;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comparison calculated for v0 = 20 m/s and 15 m/s</a:t>
            </a:r>
          </a:p>
          <a:p xmlns:a="http://schemas.openxmlformats.org/drawingml/2006/main">
            <a:r>
              <a:t>- MATLAB figure `assets/matlab-figures/launch_speed_comparison.png`, generated by `source/generate_master_matlab_figures.m` from retained `launch_speed_comparison_data.mat` and `.csv`; title, axes, legend, and all figure text use the LaTeX interpreter</a:t>
            </a:r>
          </a:p>
          <a:p xmlns:a="http://schemas.openxmlformats.org/drawingml/2006/main">
            <a:r>
              <a:t>- LaTeX display assets: `comparison-v0.tex` and `comparison-g-y0.tex`; rendered by `render-equations-diagrams`; transparent PNGs inserted for the changed/fixed parameter labels;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comparisonV0: TeX `v_0`; SVG `.agent/lecture-slide-system/assets/equations/comparison-v0.svg`; PNG `.agent/lecture-slide-system/assets/equations/comparison-v0.png`; foreground `#2F6DB2`; target `58 × 34 px`; fit/crop `contain`; alt `LaTeX-rendered symbol v subscript zero`; QA `render-equations-diagrams, PNG scale 6, retained TeX/SVG`</a:t>
            </a:r>
          </a:p>
          <a:p xmlns:a="http://schemas.openxmlformats.org/drawingml/2006/main">
            <a:r>
              <a:t>- comparisonGY0: TeX `g,\;y_0`; SVG `.agent/lecture-slide-system/assets/equations/comparison-g-y0.svg`; PNG `.agent/lecture-slide-system/assets/equations/comparison-g-y0.png`; foreground `#697684`; target `130 × 34 px`; fit/crop `contain`; alt `LaTeX-rendered expression g and y subscript zero`;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editable master proof review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4c2cc0df749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b186155c7e41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1d03c521aa4a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3637281fdd46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477e620e4d4c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/>
          <p:cNvSpPr/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80839a7a74346" /><Relationship Type="http://schemas.openxmlformats.org/officeDocument/2006/relationships/slideLayout" Target="/ppt/slideLayouts/slideLayout1.xml" Id="Rb8ee8e6a99594e8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63f8e569e4e4305" /><Relationship Type="http://schemas.openxmlformats.org/officeDocument/2006/relationships/slideLayout" Target="/ppt/slideLayouts/slideLayout2.xml" Id="Rdf0cbb7456c84f9b" /><Relationship Type="http://schemas.openxmlformats.org/officeDocument/2006/relationships/slideLayout" Target="/ppt/slideLayouts/slideLayout3.xml" Id="R65074857acbc4845" /><Relationship Type="http://schemas.openxmlformats.org/officeDocument/2006/relationships/slideLayout" Target="/ppt/slideLayouts/slideLayout4.xml" Id="R0775d1706fa94cbc" /><Relationship Type="http://schemas.openxmlformats.org/officeDocument/2006/relationships/slideLayout" Target="/ppt/slideLayouts/slideLayout5.xml" Id="Rd07d706a6c15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e8e6a9959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f0cbb7456c84f9b"/>
    <p:sldLayoutId xmlns:r="http://schemas.openxmlformats.org/officeDocument/2006/relationships" id="2147483652" r:id="R65074857acbc4845"/>
    <p:sldLayoutId xmlns:r="http://schemas.openxmlformats.org/officeDocument/2006/relationships" id="2147483653" r:id="R0775d1706fa94cbc"/>
    <p:sldLayoutId xmlns:r="http://schemas.openxmlformats.org/officeDocument/2006/relationships" id="2147483654" r:id="Rd07d706a6c154865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7d76ece53a49e0" /><Relationship Type="http://schemas.openxmlformats.org/officeDocument/2006/relationships/image" Target="/ppt/media/image.png" Id="R2164c454efae4fae" /><Relationship Type="http://schemas.openxmlformats.org/officeDocument/2006/relationships/notesSlide" Target="/ppt/notesSlides/notesSlide1.xml" Id="R655c969b5c4a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e2d469697f446e" /><Relationship Type="http://schemas.openxmlformats.org/officeDocument/2006/relationships/image" Target="/ppt/media/image2.png" Id="Rb95c309005494756" /><Relationship Type="http://schemas.openxmlformats.org/officeDocument/2006/relationships/image" Target="/ppt/media/image3.png" Id="R49fbd20e6f544e3d" /><Relationship Type="http://schemas.openxmlformats.org/officeDocument/2006/relationships/image" Target="/ppt/media/image4.png" Id="R612650c231764ab0" /><Relationship Type="http://schemas.openxmlformats.org/officeDocument/2006/relationships/image" Target="/ppt/media/image5.png" Id="Rb8c9c9d76805474c" /><Relationship Type="http://schemas.openxmlformats.org/officeDocument/2006/relationships/notesSlide" Target="/ppt/notesSlides/notesSlide2.xml" Id="R7268fd42648446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030483d03e848bc" /><Relationship Type="http://schemas.openxmlformats.org/officeDocument/2006/relationships/image" Target="/ppt/media/image6.png" Id="R6af40ee71bcc40bd" /><Relationship Type="http://schemas.openxmlformats.org/officeDocument/2006/relationships/image" Target="/ppt/media/image7.png" Id="R362a4f14649f447e" /><Relationship Type="http://schemas.openxmlformats.org/officeDocument/2006/relationships/image" Target="/ppt/media/image8.png" Id="R9a93962bbe2d423e" /><Relationship Type="http://schemas.openxmlformats.org/officeDocument/2006/relationships/notesSlide" Target="/ppt/notesSlides/notesSlide3.xml" Id="Rf2ad625d9ac3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c3d25f468214c6b" /><Relationship Type="http://schemas.openxmlformats.org/officeDocument/2006/relationships/image" Target="/ppt/media/image9.png" Id="Ra0b9cd33cdc34c7a" /><Relationship Type="http://schemas.openxmlformats.org/officeDocument/2006/relationships/image" Target="/ppt/media/image10.png" Id="R3815dabd60034339" /><Relationship Type="http://schemas.openxmlformats.org/officeDocument/2006/relationships/image" Target="/ppt/media/image11.png" Id="R1095a38d54444802" /><Relationship Type="http://schemas.openxmlformats.org/officeDocument/2006/relationships/image" Target="/ppt/media/image12.png" Id="Rdd92143cdcec4265" /><Relationship Type="http://schemas.openxmlformats.org/officeDocument/2006/relationships/notesSlide" Target="/ppt/notesSlides/notesSlide4.xml" Id="R4759448e24d943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d04cd2cb5c44f6" /><Relationship Type="http://schemas.openxmlformats.org/officeDocument/2006/relationships/image" Target="/ppt/media/image13.png" Id="R4a089d3079af4728" /><Relationship Type="http://schemas.openxmlformats.org/officeDocument/2006/relationships/image" Target="/ppt/media/image14.png" Id="Reeea93ebdeab4e2e" /><Relationship Type="http://schemas.openxmlformats.org/officeDocument/2006/relationships/image" Target="/ppt/media/image15.png" Id="Rbc0a5ba3f8f2426a" /><Relationship Type="http://schemas.openxmlformats.org/officeDocument/2006/relationships/image" Target="/ppt/media/image16.png" Id="Rb9527e82e0c54237" /><Relationship Type="http://schemas.openxmlformats.org/officeDocument/2006/relationships/image" Target="/ppt/media/image17.png" Id="R0de8e97d79b5404d" /><Relationship Type="http://schemas.openxmlformats.org/officeDocument/2006/relationships/image" Target="/ppt/media/image18.png" Id="Re1edf14c4dd04148" /><Relationship Type="http://schemas.openxmlformats.org/officeDocument/2006/relationships/image" Target="/ppt/media/image19.png" Id="R6faba367bcc44f26" /><Relationship Type="http://schemas.openxmlformats.org/officeDocument/2006/relationships/image" Target="/ppt/media/image20.png" Id="R4e6e38d0f4964b1a" /><Relationship Type="http://schemas.openxmlformats.org/officeDocument/2006/relationships/notesSlide" Target="/ppt/notesSlides/notesSlide5.xml" Id="R9800ff6647a94b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aa5565b74849a0" /><Relationship Type="http://schemas.openxmlformats.org/officeDocument/2006/relationships/notesSlide" Target="/ppt/notesSlides/notesSlide6.xml" Id="R463ddab195164a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594b78542f4171" /><Relationship Type="http://schemas.openxmlformats.org/officeDocument/2006/relationships/image" Target="/ppt/media/image21.png" Id="R890cbf695a694f27" /><Relationship Type="http://schemas.openxmlformats.org/officeDocument/2006/relationships/image" Target="/ppt/media/image22.png" Id="R5b3e3a6a1589449a" /><Relationship Type="http://schemas.openxmlformats.org/officeDocument/2006/relationships/image" Target="/ppt/media/image23.png" Id="R0a104a9a7f184571" /><Relationship Type="http://schemas.openxmlformats.org/officeDocument/2006/relationships/image" Target="/ppt/media/image24.png" Id="Rd14fef03863d4f12" /><Relationship Type="http://schemas.openxmlformats.org/officeDocument/2006/relationships/image" Target="/ppt/media/image25.png" Id="Rf7b91d95976545ac" /><Relationship Type="http://schemas.openxmlformats.org/officeDocument/2006/relationships/image" Target="/ppt/media/image26.png" Id="R64320bac1d5f4426" /><Relationship Type="http://schemas.openxmlformats.org/officeDocument/2006/relationships/notesSlide" Target="/ppt/notesSlides/notesSlide7.xml" Id="Rdcfd8bf9049c44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368f0c89e94749" /><Relationship Type="http://schemas.openxmlformats.org/officeDocument/2006/relationships/image" Target="/ppt/media/image27.png" Id="Rec4b4b9c78b24881" /><Relationship Type="http://schemas.openxmlformats.org/officeDocument/2006/relationships/image" Target="/ppt/media/image28.png" Id="R6174091a8f874aa2" /><Relationship Type="http://schemas.openxmlformats.org/officeDocument/2006/relationships/image" Target="/ppt/media/image29.png" Id="Rb8d323b342f34cad" /><Relationship Type="http://schemas.openxmlformats.org/officeDocument/2006/relationships/notesSlide" Target="/ppt/notesSlides/notesSlide8.xml" Id="R82432572f09949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21cff8998f4f9a" /><Relationship Type="http://schemas.openxmlformats.org/officeDocument/2006/relationships/notesSlide" Target="/ppt/notesSlides/notesSlide9.xml" Id="R05b17ff47af4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urse-tag">
            <a:extLst xmlns:a="http://schemas.openxmlformats.org/drawingml/2006/main">
              <a:ext uri="{FF2B5EF4-FFF2-40B4-BE49-F238E27FC236}">
                <a16:creationId xmlns:a16="http://schemas.microsoft.com/office/drawing/2014/main" id="{CE6400EB-6D84-4ACA-88E5-6A8FD48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F52E7AD9-F9AA-4EEB-9723-3B92262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6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3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18A01F8F-BE0E-415B-9D55-7CFC6DF2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1 | From Motion to MATLAB</a:t>
            </a:r>
          </a:p>
        </p:txBody>
      </p:sp>
      <p:pic>
        <p:nvPicPr>
          <p:cNvPr id="21" name="visual-projectile" descr="A ball at launch, at its highest point, and on return along one vertical dashed pa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4c454efae4fae"/>
          <a:stretch xmlns:a="http://schemas.openxmlformats.org/drawingml/2006/main"/>
        </p:blipFill>
        <p:spPr>
          <a:xfrm xmlns:a="http://schemas.openxmlformats.org/drawingml/2006/main">
            <a:off x="12747625" y="190500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C9355-D5C6-40D4-A775-668446B0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733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highest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6CEFB-C3EA-435D-BE74-D71F7922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57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02463-DCF5-4469-8DDA-6B7F8BC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57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40E2B-E407-4E21-AC30-27CBAF3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809875"/>
            <a:ext cx="152400" cy="2286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4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5C17C-D3D5-40D0-A781-56911BA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62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B756C-0B34-4A58-A6CF-E2F5751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E0E6E-103C-4C89-923E-B2BB6B5B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AE32E-C253-4C80-9D66-8D8E27A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072E1-F07C-4679-A2E9-013AD94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589DD-B3C1-403C-98C5-CA5B4B1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EA117-6BBB-4024-96CF-D1A3580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97E97-BCCA-46C5-87D2-A7CCF1B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D31EB-364E-42E8-975E-1B0E482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20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Editable PowerPoint master proof</a:t>
            </a:r>
          </a:p>
        </p:txBody>
      </p:sp>
    </p:spTree>
    <p:extLst>
      <p:ext uri="{BB962C8B-B14F-4D97-AF65-F5344CB8AC3E}">
        <p14:creationId xmlns:p14="http://schemas.microsoft.com/office/powerpoint/2010/main" val="540047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T1">
            <a:extLst xmlns:a="http://schemas.openxmlformats.org/drawingml/2006/main">
              <a:ext uri="{FF2B5EF4-FFF2-40B4-BE49-F238E27FC236}">
                <a16:creationId xmlns:a16="http://schemas.microsoft.com/office/drawing/2014/main" id="{CA975157-4D34-4BC0-B602-B4AADDA8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 store physical moments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B78CBCFF-68D3-44BA-95DE-E5B43B5D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index identifies one measurement time</a:t>
            </a:r>
          </a:p>
        </p:txBody>
      </p:sp>
      <p:pic>
        <p:nvPicPr>
          <p:cNvPr id="54" name="visual-array-motion" descr="Eleven evenly spaced snapshots of one ball: launch, rise, highest point, descent, and retu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309005494756"/>
          <a:stretch xmlns:a="http://schemas.openxmlformats.org/drawingml/2006/main"/>
        </p:blipFill>
        <p:spPr>
          <a:xfrm xmlns:a="http://schemas.openxmlformats.org/drawingml/2006/main">
            <a:off x="4653199" y="2047875"/>
            <a:ext cx="89816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7D4D9-AFAF-43D0-B622-4F31BA4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87010-1340-47D2-8266-539C54A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C9803-B830-4F65-9C5E-65FBF882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77615-49E9-484D-8CCF-F130DC2D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B2063-91A1-4E69-8592-D276D22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12DA9-DD4F-4444-9627-C4CCC1AC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644D9-D567-4838-896C-B690C1FF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4DA58-D71E-49BB-8BC3-239B25F0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85913-B71D-4B48-9659-073C0B6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A3D02-E7E2-43D4-A175-F0A8AB7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B9187-A95F-49FF-8966-A570484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13A3B-B201-4696-B191-55904AB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3F1A0-8595-46E6-86D0-3C1B4B64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F29B3-5CE9-4C04-95D5-3D9FDB8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6BB6D-30A7-4A74-9688-DFE90588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6C58F-3C9A-4EC0-A66A-44F56262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BC841-2F30-445B-B960-BCD9F777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5628F-E983-4C41-8E03-59C7C85C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33986-F382-4F4F-9550-0675759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82074-BCB0-4EE8-84C9-0EAD00CD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1E1C5-C703-41FC-8E88-E426BF02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96D5C-D928-4105-A37E-099D966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21DC2-2412-4435-9A7C-BE9CA28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F3CF8-6B71-42C6-BBE1-B7957CB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23D17-8574-4FFB-902F-5CC5720E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C4367-9741-4A52-9B83-86CBE282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3AB71-752F-407C-A4BF-DBA3A76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7962F-FCF3-45A4-B1CD-AFAAAE4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DB297-3DEE-4483-99A9-D853B9DF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06D51-BC91-43A4-9290-B22176A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3358F1-1838-4292-A00A-7D3A04AD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DACA5-5227-4A7E-B080-288C47B7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6D0E2C-E4A3-4DB1-8754-D5F6E39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BB79F2-FAC7-4CA2-A832-332EF42A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8DC0D3-FA72-432C-B9DD-AA7C3D7F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1F6132-8975-4F1D-ADE6-E36A85A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pic>
        <p:nvPicPr>
          <p:cNvPr id="91" name="equation-arrayStart" descr="LaTeX-rendered expression t(1) equals 0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bd20e6f544e3d"/>
          <a:stretch xmlns:a="http://schemas.openxmlformats.org/drawingml/2006/main"/>
        </p:blipFill>
        <p:spPr>
          <a:xfrm xmlns:a="http://schemas.openxmlformats.org/drawingml/2006/main">
            <a:off x="402307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6DD88-1F57-4B5C-887E-A206EEB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condition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D00B7-98C7-4005-AFEB-DFC78C7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42CC56-E5D4-41F9-8CD6-75D1AD6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middle</a:t>
            </a:r>
          </a:p>
        </p:txBody>
      </p:sp>
      <p:pic>
        <p:nvPicPr>
          <p:cNvPr id="95" name="equation-arrayPeak" descr="LaTeX-rendered expression t(6) equals 2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650c231764ab0"/>
          <a:stretch xmlns:a="http://schemas.openxmlformats.org/drawingml/2006/main"/>
        </p:blipFill>
        <p:spPr>
          <a:xfrm xmlns:a="http://schemas.openxmlformats.org/drawingml/2006/main">
            <a:off x="811882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3C11B9-6AEC-4743-9894-2D4F1C5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the peak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6B3966-088C-47F6-8BCE-20195160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EF1B92-8F02-4703-B3BF-3AFAA00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end</a:t>
            </a:r>
          </a:p>
        </p:txBody>
      </p:sp>
      <p:pic>
        <p:nvPicPr>
          <p:cNvPr id="99" name="equation-arrayEnd" descr="LaTeX-rendered expression t(11) equals 4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9c9d76805474c"/>
          <a:stretch xmlns:a="http://schemas.openxmlformats.org/drawingml/2006/main"/>
        </p:blipFill>
        <p:spPr>
          <a:xfrm xmlns:a="http://schemas.openxmlformats.org/drawingml/2006/main">
            <a:off x="12113331" y="6953250"/>
            <a:ext cx="2138539" cy="4000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3834B9-0CCF-4664-A255-20153251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near return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7F945C-4070-40B8-813C-2A9E9122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number in parentheses selects one physical moment from the array</a:t>
            </a:r>
          </a:p>
        </p:txBody>
      </p:sp>
      <p:sp>
        <p:nvSpPr>
          <p:cNvPr id="5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FA22432-6DEC-49B6-8E73-7629A7BD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9557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T2">
            <a:extLst xmlns:a="http://schemas.openxmlformats.org/drawingml/2006/main">
              <a:ext uri="{FF2B5EF4-FFF2-40B4-BE49-F238E27FC236}">
                <a16:creationId xmlns:a16="http://schemas.microsoft.com/office/drawing/2014/main" id="{8C0DF0C3-9B54-41C4-8151-E664591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turns values into evidence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376D9BD3-AF88-46A4-BCAA-0D31F76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Axes, units, and shape must agree with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8FDDF-BC46-4115-A444-20DF56B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5429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566CE-03DD-464E-8BE7-9E60D4A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Before plotting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D4FF3-2C57-4454-A2EF-8AD27A88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starts at</a:t>
            </a:r>
          </a:p>
        </p:txBody>
      </p:sp>
      <p:pic>
        <p:nvPicPr>
          <p:cNvPr id="20" name="equation-prediction-1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40ee71bcc40bd"/>
          <a:stretch xmlns:a="http://schemas.openxmlformats.org/drawingml/2006/main"/>
        </p:blipFill>
        <p:spPr>
          <a:xfrm xmlns:a="http://schemas.openxmlformats.org/drawingml/2006/main">
            <a:off x="1994481" y="4076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9109E-AB98-4BFC-8C18-9E9A92C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38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rises 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42906-20AC-437E-8086-EB5802B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3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one maximum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D4D0F-E1F9-4868-AA46-66D2A7FF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62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returns to</a:t>
            </a:r>
          </a:p>
        </p:txBody>
      </p:sp>
      <p:pic>
        <p:nvPicPr>
          <p:cNvPr id="24" name="equation-prediction-3" descr="LaTeX-rendered expression y is approximately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a4f14649f447e"/>
          <a:stretch xmlns:a="http://schemas.openxmlformats.org/drawingml/2006/main"/>
        </p:blipFill>
        <p:spPr>
          <a:xfrm xmlns:a="http://schemas.openxmlformats.org/drawingml/2006/main">
            <a:off x="1997701" y="6324600"/>
            <a:ext cx="1738648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1E696-C2BD-4991-BEB5-E5A1BF15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2381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prediction first</a:t>
            </a:r>
          </a:p>
        </p:txBody>
      </p:sp>
      <p:pic>
        <p:nvPicPr>
          <p:cNvPr id="26" name="matlab-height-time-figure" descr="MATLAB-generated height-versus-time plot for vertical motion with LaTeX-interpreted lab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3962bbe2d423e"/>
          <a:stretch xmlns:a="http://schemas.openxmlformats.org/drawingml/2006/main"/>
        </p:blipFill>
        <p:spPr>
          <a:xfrm xmlns:a="http://schemas.openxmlformats.org/drawingml/2006/main">
            <a:off x="6475992" y="2381250"/>
            <a:ext cx="9336515" cy="581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23741-4562-4401-9F1E-FBEDCC8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05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Does the curve match all three predictions?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35A5AC4-4ACB-4FD8-8E83-890307F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192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FCFE3C73-35F2-436E-B6BD-EE8BEF47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F4BA773C-B81F-4215-B888-0799880B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70234-2869-49D8-B224-E3C6F15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1" name="visual-launch-boundary" descr="A ball on the ground at launch with an upward initial-velocity arrow and downward gravity arro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9cd33cdc34c7a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41C1B-E1EE-4EEB-B45F-37612E07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96FB0-92B1-45AB-AECE-82FB01A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4" name="equation-launch-time" descr="LaTeX-rendered expression t equals 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5dabd60034339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1F051-7416-4B0E-B3AA-C1DDA32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26" name="equation-launch-height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5a38d54444802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29626-82D6-4DF3-9195-40D0CD0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3E5D5-5DFF-447D-BDF1-7DFF456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29" name="equation-computed-first-value" descr="LaTeX-rendered validation result y(1) equals 0.00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2143cdcec4265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34DBA-32E9-4A22-BAFF-C9795AD2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074BF-B18C-46CC-9362-9B80E77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7A044-C5E6-469E-9F83-E64B0E8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396BC-94B5-4606-A6F5-1B1911A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729497F-F63C-4330-B20E-36C5EEA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733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T1">
            <a:extLst xmlns:a="http://schemas.openxmlformats.org/drawingml/2006/main">
              <a:ext uri="{FF2B5EF4-FFF2-40B4-BE49-F238E27FC236}">
                <a16:creationId xmlns:a16="http://schemas.microsoft.com/office/drawing/2014/main" id="{913D7782-85D1-41B0-890F-F17436C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Names and units keep the model readable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BC451CB8-7EC5-4311-A1F3-5E262B6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Translate each physical quantity before writing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AD2C8-898E-4F52-811C-CCA47F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physics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72571-EF06-4CA7-8E5C-1C0020B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60D49-B926-4BBE-8D4E-5A33649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MATLAB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9D3B5-04CD-493D-84C2-BD62E093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C3ACD-C00D-47BF-B8A1-51556698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6" name="equation-symbol-1" descr="LaTeX-rendered symbol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89d3079af4728"/>
          <a:stretch xmlns:a="http://schemas.openxmlformats.org/drawingml/2006/main"/>
        </p:blipFill>
        <p:spPr>
          <a:xfrm xmlns:a="http://schemas.openxmlformats.org/drawingml/2006/main">
            <a:off x="1872762" y="3352800"/>
            <a:ext cx="254977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75179-89F5-4219-BAED-70385CF5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9D611-7406-4F8E-A18B-C749976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</a:t>
            </a:r>
          </a:p>
        </p:txBody>
      </p:sp>
      <p:pic>
        <p:nvPicPr>
          <p:cNvPr id="39" name="equation-unit-1" descr="LaTeX-rendered SI unit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a93ebdeab4e2e"/>
          <a:stretch xmlns:a="http://schemas.openxmlformats.org/drawingml/2006/main"/>
        </p:blipFill>
        <p:spPr>
          <a:xfrm xmlns:a="http://schemas.openxmlformats.org/drawingml/2006/main">
            <a:off x="13179253" y="3533775"/>
            <a:ext cx="140043" cy="1619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EB549-FEDF-4DB8-8592-7B50D0CA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pic>
        <p:nvPicPr>
          <p:cNvPr id="41" name="equation-symbol-2" descr="LaTeX-rendered symbol 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a5ba3f8f2426a"/>
          <a:stretch xmlns:a="http://schemas.openxmlformats.org/drawingml/2006/main"/>
        </p:blipFill>
        <p:spPr>
          <a:xfrm xmlns:a="http://schemas.openxmlformats.org/drawingml/2006/main">
            <a:off x="1827722" y="4572000"/>
            <a:ext cx="345057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D0152-9C9E-473C-BD2B-8166D48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00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vertical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E1191-71A6-48FE-A742-2815444F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</a:t>
            </a:r>
          </a:p>
        </p:txBody>
      </p:sp>
      <p:pic>
        <p:nvPicPr>
          <p:cNvPr id="44" name="equation-unit-2" descr="LaTeX-rendered SI unit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27e82e0c54237"/>
          <a:stretch xmlns:a="http://schemas.openxmlformats.org/drawingml/2006/main"/>
        </p:blipFill>
        <p:spPr>
          <a:xfrm xmlns:a="http://schemas.openxmlformats.org/drawingml/2006/main">
            <a:off x="13096346" y="4752975"/>
            <a:ext cx="305858" cy="161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0E2C-FBDB-4521-BEA4-D4B0523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46" name="equation-symbol-3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8e97d79b5404d"/>
          <a:stretch xmlns:a="http://schemas.openxmlformats.org/drawingml/2006/main"/>
        </p:blipFill>
        <p:spPr>
          <a:xfrm xmlns:a="http://schemas.openxmlformats.org/drawingml/2006/main">
            <a:off x="1657350" y="5791200"/>
            <a:ext cx="6858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20658-6CAB-42D4-9757-E0A65EA8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97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4F767-89A2-4EAA-B3B1-ED3E42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</a:t>
            </a:r>
          </a:p>
        </p:txBody>
      </p:sp>
      <p:pic>
        <p:nvPicPr>
          <p:cNvPr id="49" name="equation-unit-3" descr="LaTeX-rendered SI unit metres per sec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df14c4dd04148"/>
          <a:stretch xmlns:a="http://schemas.openxmlformats.org/drawingml/2006/main"/>
        </p:blipFill>
        <p:spPr>
          <a:xfrm xmlns:a="http://schemas.openxmlformats.org/drawingml/2006/main">
            <a:off x="13482181" y="59245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5AA46-B5E1-47AE-9221-150F6701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008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51" name="equation-symbol-4" descr="LaTeX-rendered symbol 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ba367bcc44f26"/>
          <a:stretch xmlns:a="http://schemas.openxmlformats.org/drawingml/2006/main"/>
        </p:blipFill>
        <p:spPr>
          <a:xfrm xmlns:a="http://schemas.openxmlformats.org/drawingml/2006/main">
            <a:off x="1832035" y="7010400"/>
            <a:ext cx="33643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CD1F3-2F91-4B71-B18D-424E4042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3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gravitational acceleration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CC2AD-C3A4-4A16-B584-9F2B0EC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1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</a:t>
            </a:r>
          </a:p>
        </p:txBody>
      </p:sp>
      <p:pic>
        <p:nvPicPr>
          <p:cNvPr id="54" name="equation-unit-4" descr="LaTeX-rendered SI unit metres per second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e38d0f4964b1a"/>
          <a:stretch xmlns:a="http://schemas.openxmlformats.org/drawingml/2006/main"/>
        </p:blipFill>
        <p:spPr>
          <a:xfrm xmlns:a="http://schemas.openxmlformats.org/drawingml/2006/main">
            <a:off x="13482181" y="71437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81425-36A1-4A2C-AFC4-3BACE39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Readable names reduce syntax mistakes and make unit checks easier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B1EEF48-844C-4702-BCE5-721B0700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6741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9DD4F7A1-75FF-43B1-BA23-84B43B3A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3D151053-B497-41A5-B0BF-5FA28282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33BE6-B850-47DC-8177-4519C594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1F809-A4AA-4716-A33B-BE1C6F24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311CD-569F-42F1-887D-843B067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D429C-B514-49D9-B660-EDE06CD2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32C4B-B9CD-4FB1-B9E4-9E604DF3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F6590-4371-4427-86B8-5B3DAA5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8AF0A-FEB1-47AB-9013-53581D00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8CE17-FCFD-40DE-9334-B698ABF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01742-EF66-4E34-A3D9-D7DD6E0B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88420-9D35-4BB1-8D4B-C96CDF6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73F60-30C1-4D0A-94BE-306F2AA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C9DD4-73E4-4A1B-B66D-8399CBC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107C6-D575-4A95-AE4C-FB07E73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10C3F-338C-47FD-9144-7F7C1AB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34D9C-5071-4598-BD06-88B6549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7B43A-41DE-4849-A56C-19FA24E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9AFEB-DDFF-41B9-9E16-5E24E11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F8CBFD02-941F-45B8-8F68-F537303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E14AA-63AB-454B-817A-1EDB46E2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689C40B6-B05C-4683-9FBC-146F4141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82924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2C0FE512-4CA8-4977-8D29-5E43ABE7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93510B22-EB05-4B15-ACD8-7505B61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2" name="equation-position-model" descr="LaTeX-rendered equation y of t equals y subscript 0 plus v subscript 0 t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cbf695a694f27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23" name="visual-equation-motion" descr="Five time snapshots of one ball at vertical positions: launch, rise, peak, descent, and return; each position has a vertical gu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e3a6a1589449a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AE792-E3DC-4B24-96BF-6AEE40E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25" name="equation-term-termY0" descr="LaTeX-rendered equation term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04a9a7f184571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C1C4F-4125-42C1-8FFE-F057C5B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5EB37-2639-4A74-AA45-BF1714A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28" name="equation-term-termV0t" descr="LaTeX-rendered equation term v subscript 0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fef03863d4f12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BFC65-988A-472F-AF71-02BB5BA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EF6BC-3714-41DD-81A2-C2CA42A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1" name="equation-term-termGravity" descr="LaTeX-rendered equation term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91d95976545ac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AC03-9E9C-41E6-9854-7DEB6AB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CE808-44DC-404A-9679-D539855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term-termPosition" descr="LaTeX-rendered equation term y of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20bac1d5f4426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5D459-9C66-44C3-8302-036F5646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74A14-22A8-45CF-B707-818E782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2E27C-5D90-46B5-84DB-DDFD29F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7AD6C311-9F7A-4229-BD5C-89CB342D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36382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2">
            <a:extLst xmlns:a="http://schemas.openxmlformats.org/drawingml/2006/main">
              <a:ext uri="{FF2B5EF4-FFF2-40B4-BE49-F238E27FC236}">
                <a16:creationId xmlns:a16="http://schemas.microsoft.com/office/drawing/2014/main" id="{94EDF3DF-0C6F-4803-AB51-CBE8EB4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Changing one parameter reveals the trend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3003063E-E41A-4323-8CE4-99B4B18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model fixed and change only the initial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186A0-C020-4936-ACBA-E3B32B6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89CCF-4C14-447C-A30F-57948447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25D25-7322-46B6-A893-FBAEF23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Ask one focused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EF8B9-3F84-4B4A-8C40-D4ECAAE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changes when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launch speed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CE0C1-6D91-4D14-BCD5-3548AC7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43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Keep gravity and starting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height fixed.</a:t>
            </a:r>
          </a:p>
        </p:txBody>
      </p:sp>
      <p:pic>
        <p:nvPicPr>
          <p:cNvPr id="23" name="matlab-launch-speed-figure" descr="MATLAB-generated comparison of two launch speeds with LaTeX-interpreted labels and leg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b4b9c78b24881"/>
          <a:stretch xmlns:a="http://schemas.openxmlformats.org/drawingml/2006/main"/>
        </p:blipFill>
        <p:spPr>
          <a:xfrm xmlns:a="http://schemas.openxmlformats.org/drawingml/2006/main">
            <a:off x="5779807" y="2381250"/>
            <a:ext cx="10538386" cy="590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4D352-C4D6-40F8-8C77-E3A3FD65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Higher initial speed → higher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4B097-73A6-4162-A58E-FA7F057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629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changed:</a:t>
            </a:r>
          </a:p>
        </p:txBody>
      </p:sp>
      <p:pic>
        <p:nvPicPr>
          <p:cNvPr id="26" name="equation-comparison-v0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4091a8f874aa2"/>
          <a:stretch xmlns:a="http://schemas.openxmlformats.org/drawingml/2006/main"/>
        </p:blipFill>
        <p:spPr>
          <a:xfrm xmlns:a="http://schemas.openxmlformats.org/drawingml/2006/main">
            <a:off x="2271713" y="7943850"/>
            <a:ext cx="485775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28252-9F79-46C0-AAEE-0302D613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9629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fixed:</a:t>
            </a:r>
          </a:p>
        </p:txBody>
      </p:sp>
      <p:pic>
        <p:nvPicPr>
          <p:cNvPr id="28" name="equation-comparison-fixed" descr="LaTeX-rendered expression g and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323b342f34cad"/>
          <a:stretch xmlns:a="http://schemas.openxmlformats.org/drawingml/2006/main"/>
        </p:blipFill>
        <p:spPr>
          <a:xfrm xmlns:a="http://schemas.openxmlformats.org/drawingml/2006/main">
            <a:off x="3900577" y="7943850"/>
            <a:ext cx="1057095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9DDA0-F297-439E-90C8-1BFC1EC9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6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Observed: the blue curve reaches the higher peak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1D2A6123-6CAF-4B05-B62B-6D40F0A7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6573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T2">
            <a:extLst xmlns:a="http://schemas.openxmlformats.org/drawingml/2006/main">
              <a:ext uri="{FF2B5EF4-FFF2-40B4-BE49-F238E27FC236}">
                <a16:creationId xmlns:a16="http://schemas.microsoft.com/office/drawing/2014/main" id="{8CBBB8C2-9538-48BB-9A92-259F90E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design system keeps every week coherent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9014E539-755F-433A-AA35-844D3DA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 this proof before the Week 1 teaching deck is rebuilt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EE279-FB40-453E-B283-317415C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2A404-F88A-48E7-94A0-6A73475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90C4-BED7-4893-BFE9-CBF31C5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64D39-30CE-419A-B5FE-E64EEBD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38C60-BCD8-43D2-BA17-5FDFBEB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095A6-0111-4224-A3B5-6D7927D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Typography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DACC-1F8E-4A32-83A0-7635CD48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Nunito titles and body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IBM Plex Mono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67DA1-F84F-4BAF-A2BE-99A1152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EC939-7F9B-4DA4-A19F-4928EF1C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B5A48-FD2D-4639-A039-BDA0DAC4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3D340-4C7A-4763-9197-F14DC08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T1, T2, and T3 title rules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locked content zones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5E067-D70B-4083-8870-5F7DBA48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FFF3C-B2DE-43A0-9E75-D0C928EE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005DC-20A4-4B29-932C-E7E72024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Visuals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B6DE6-4534-4B28-8629-1E3CD668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editable scientific graphics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approved generated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14AA1-ECB4-4B39-92F4-08342C9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E5078-0CD3-4A58-B894-04B4E23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F061B-0FB7-44AD-AF89-9CD22E65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A29A0-E17E-43EB-B815-2C0BB07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render, inspect, and 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fonts, titles, and overflow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AECE1-526E-4654-8C09-F885341F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15001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D0374-C51B-40F8-B691-A3B46556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72350"/>
            <a:ext cx="1414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Review focus: title character, spacing, component shapes, chart treatment, and visual balance</a:t>
            </a:r>
          </a:p>
        </p:txBody>
      </p:sp>
      <p:sp>
        <p:nvSpPr>
          <p:cNvPr id="2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F19EC554-2F7F-47C7-B09D-06FE1D04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16725033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2026-09-01T03:39:31.0070000Z</dcterms:created>
  <dcterms:modified xsi:type="dcterms:W3CDTF">2026-09-01T03:39:31.0070000Z</dcterms:modified>
</coreProperties>
</file>
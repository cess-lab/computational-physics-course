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da95677fc74e22" /><Relationship Type="http://schemas.openxmlformats.org/officeDocument/2006/relationships/extended-properties" Target="/docProps/app.xml" Id="Rbed0a4a636ea4135" /><Relationship Type="http://schemas.openxmlformats.org/officeDocument/2006/relationships/officeDocument" Target="/ppt/presentation.xml" Id="Rd737bf62482245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5793db681c42c8"/>
    <p:sldMasterId xmlns:r="http://schemas.openxmlformats.org/officeDocument/2006/relationships" id="2147483650" r:id="R5639f0578fe54361"/>
  </p:sldMasterIdLst>
  <p:notesMasterIdLst>
    <p:notesMasterId xmlns:r="http://schemas.openxmlformats.org/officeDocument/2006/relationships" r:id="R171cc1f3564248af"/>
  </p:notesMasterIdLst>
  <p:sldIdLst>
    <p:sldId xmlns:r="http://schemas.openxmlformats.org/officeDocument/2006/relationships" id="256" r:id="R9f1a724024c04f60"/>
    <p:sldId xmlns:r="http://schemas.openxmlformats.org/officeDocument/2006/relationships" id="257" r:id="R14635daf0a304fb8"/>
    <p:sldId xmlns:r="http://schemas.openxmlformats.org/officeDocument/2006/relationships" id="258" r:id="R106aec5db09d4b65"/>
    <p:sldId xmlns:r="http://schemas.openxmlformats.org/officeDocument/2006/relationships" id="259" r:id="R407935f467654be9"/>
    <p:sldId xmlns:r="http://schemas.openxmlformats.org/officeDocument/2006/relationships" id="260" r:id="Ra1379fa6671e4b37"/>
    <p:sldId xmlns:r="http://schemas.openxmlformats.org/officeDocument/2006/relationships" id="261" r:id="Rb94c507458d3432d"/>
    <p:sldId xmlns:r="http://schemas.openxmlformats.org/officeDocument/2006/relationships" id="262" r:id="R2074f99f852640e5"/>
    <p:sldId xmlns:r="http://schemas.openxmlformats.org/officeDocument/2006/relationships" id="263" r:id="Rd2888fe3689d41f2"/>
    <p:sldId xmlns:r="http://schemas.openxmlformats.org/officeDocument/2006/relationships" id="264" r:id="R57ba494c791541e0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97a3823f2749ce" /><Relationship Type="http://schemas.openxmlformats.org/officeDocument/2006/relationships/slideMaster" Target="/ppt/slideMasters/slideMaster1.xml" Id="Rb25793db681c42c8" /><Relationship Type="http://schemas.openxmlformats.org/officeDocument/2006/relationships/slideMaster" Target="/ppt/slideMasters/slideMaster2.xml" Id="R5639f0578fe54361" /><Relationship Type="http://schemas.openxmlformats.org/officeDocument/2006/relationships/notesMaster" Target="/ppt/notesMasters/notesMaster1.xml" Id="R171cc1f3564248af" /><Relationship Type="http://schemas.openxmlformats.org/officeDocument/2006/relationships/presProps" Target="/ppt/presProps.xml" Id="R769885cc78164d86" /><Relationship Type="http://schemas.openxmlformats.org/officeDocument/2006/relationships/tableStyles" Target="/ppt/tableStyles.xml" Id="R938f8192b8ff4cca" /><Relationship Type="http://schemas.openxmlformats.org/officeDocument/2006/relationships/slide" Target="/ppt/slides/slide1.xml" Id="R9f1a724024c04f60" /><Relationship Type="http://schemas.openxmlformats.org/officeDocument/2006/relationships/slide" Target="/ppt/slides/slide2.xml" Id="R14635daf0a304fb8" /><Relationship Type="http://schemas.openxmlformats.org/officeDocument/2006/relationships/slide" Target="/ppt/slides/slide3.xml" Id="R106aec5db09d4b65" /><Relationship Type="http://schemas.openxmlformats.org/officeDocument/2006/relationships/slide" Target="/ppt/slides/slide4.xml" Id="R407935f467654be9" /><Relationship Type="http://schemas.openxmlformats.org/officeDocument/2006/relationships/slide" Target="/ppt/slides/slide5.xml" Id="Ra1379fa6671e4b37" /><Relationship Type="http://schemas.openxmlformats.org/officeDocument/2006/relationships/slide" Target="/ppt/slides/slide6.xml" Id="Rb94c507458d3432d" /><Relationship Type="http://schemas.openxmlformats.org/officeDocument/2006/relationships/slide" Target="/ppt/slides/slide7.xml" Id="R2074f99f852640e5" /><Relationship Type="http://schemas.openxmlformats.org/officeDocument/2006/relationships/slide" Target="/ppt/slides/slide8.xml" Id="Rd2888fe3689d41f2" /><Relationship Type="http://schemas.openxmlformats.org/officeDocument/2006/relationships/slide" Target="/ppt/slides/slide9.xml" Id="R57ba494c791541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b86ba04ef15548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PHY4605">
      <a:dk1>
        <a:srgbClr val="0B2B4C"/>
      </a:dk1>
      <a:lt1>
        <a:srgbClr val="FFFFFF"/>
      </a:lt1>
      <a:dk2>
        <a:srgbClr val="3F4B57"/>
      </a:dk2>
      <a:lt2>
        <a:srgbClr val="F7F9FB"/>
      </a:lt2>
      <a:accent1>
        <a:srgbClr val="2F6DB2"/>
      </a:accent1>
      <a:accent2>
        <a:srgbClr val="2A9D9F"/>
      </a:accent2>
      <a:accent3>
        <a:srgbClr val="C98A16"/>
      </a:accent3>
      <a:accent4>
        <a:srgbClr val="6F4B9B"/>
      </a:accent4>
      <a:accent5>
        <a:srgbClr val="3E8E45"/>
      </a:accent5>
      <a:accent6>
        <a:srgbClr val="B3262E"/>
      </a:accent6>
      <a:hlink>
        <a:srgbClr val="2F6DB2"/>
      </a:hlink>
      <a:folHlink>
        <a:srgbClr val="6F4B9B"/>
      </a:folHlink>
    </a:clrScheme>
    <a:fontScheme name="Office">
      <a:majorFont>
        <a:latin typeface="Nunito"/>
        <a:ea typeface="Nunito"/>
        <a:cs typeface="Nunito"/>
      </a:majorFont>
      <a:minorFont>
        <a:latin typeface="Nunito"/>
        <a:ea typeface="Nunito"/>
        <a:cs typeface="Nunito"/>
      </a:minorFont>
    </a:fontScheme>
    <a:fmtScheme name="PHY4605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b46fb414484030" /><Relationship Type="http://schemas.openxmlformats.org/officeDocument/2006/relationships/notesMaster" Target="/ppt/notesMasters/notesMaster1.xml" Id="R7460b3af268342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b923e9cc2749b4" /><Relationship Type="http://schemas.openxmlformats.org/officeDocument/2006/relationships/notesMaster" Target="/ppt/notesMasters/notesMaster1.xml" Id="Rae001815fffb4d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fa0ae696a94265" /><Relationship Type="http://schemas.openxmlformats.org/officeDocument/2006/relationships/notesMaster" Target="/ppt/notesMasters/notesMaster1.xml" Id="R0356ac1ab9944f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dc6292c3b54fd1" /><Relationship Type="http://schemas.openxmlformats.org/officeDocument/2006/relationships/notesMaster" Target="/ppt/notesMasters/notesMaster1.xml" Id="R5e90a170d0e844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5c9a075f1544bd" /><Relationship Type="http://schemas.openxmlformats.org/officeDocument/2006/relationships/notesMaster" Target="/ppt/notesMasters/notesMaster1.xml" Id="Rdcc2296f6d4a43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04f07160350411a" /><Relationship Type="http://schemas.openxmlformats.org/officeDocument/2006/relationships/notesMaster" Target="/ppt/notesMasters/notesMaster1.xml" Id="R120bd3aea9ba482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4302b30f9c7492d" /><Relationship Type="http://schemas.openxmlformats.org/officeDocument/2006/relationships/notesMaster" Target="/ppt/notesMasters/notesMaster1.xml" Id="R91fe1956c8c844b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597318292074f74" /><Relationship Type="http://schemas.openxmlformats.org/officeDocument/2006/relationships/notesMaster" Target="/ppt/notesMasters/notesMaster1.xml" Id="Ra5081ef361fd4eb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55f22b528a24709" /><Relationship Type="http://schemas.openxmlformats.org/officeDocument/2006/relationships/notesMaster" Target="/ppt/notesMasters/notesMaster1.xml" Id="R61742360f2cb49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Lecture Slide Deck Design Specification</a:t>
            </a:r>
          </a:p>
          <a:p xmlns:a="http://schemas.openxmlformats.org/drawingml/2006/main">
            <a:r>
              <a:t>- OpenAI ImageGen; PHY4605 Matte Scientific Cutaway visual-only projectile illustration; generated 2026-08-31</a:t>
            </a:r>
          </a:p>
          <a:p xmlns:a="http://schemas.openxmlformats.org/drawingml/2006/main">
            <a:r>
              <a:t>- Standard constant-acceleration kinematics; lecturer-authored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Lecture Slide Deck Design Specification</a:t>
            </a:r>
          </a:p>
          <a:p xmlns:a="http://schemas.openxmlformats.org/drawingml/2006/main">
            <a:r>
              <a:t>- PHY4605 Course Topic and Difficulty Blueprint</a:t>
            </a:r>
          </a:p>
          <a:p xmlns:a="http://schemas.openxmlformats.org/drawingml/2006/main">
            <a:r>
              <a:t>- OpenAI ImageGen; PHY4605 Matte Scientific Cutaway visual-only eleven-sample motion illustration aligned with the editable index rail; generated 2026-08-31</a:t>
            </a:r>
          </a:p>
          <a:p xmlns:a="http://schemas.openxmlformats.org/drawingml/2006/main">
            <a:r>
              <a:t>- LaTeX array-moment assets: `array-moment-start.tex`, `array-moment-peak.tex`, and `array-moment-end.tex`; rendered by `render-equations-diagrams`; transparent PNGs inserted in the three editable callout cards; matching SVG and TeX retained in `.agent/lecture-slide-system/assets/equations`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provenance]</a:t>
            </a:r>
          </a:p>
          <a:p xmlns:a="http://schemas.openxmlformats.org/drawingml/2006/main">
            <a:r>
              <a:t>- arrayStart: TeX `t(1)=0.0\,\mathrm{s}`; SVG `.agent/lecture-slide-system/assets/equations/array-moment-start.svg`; PNG `.agent/lecture-slide-system/assets/equations/array-moment-start.png`; foreground `#2F6DB2`; target `258 × 42 px`; fit/crop `contain`; alt `LaTeX-rendered expression t(1)=0.0\,\mathrm{s}`; QA `render-equations-diagrams, PNG scale 6, retained TeX/SVG`</a:t>
            </a:r>
          </a:p>
          <a:p xmlns:a="http://schemas.openxmlformats.org/drawingml/2006/main">
            <a:r>
              <a:t>- arrayPeak: TeX `t(6)=2.0\,\mathrm{s}`; SVG `.agent/lecture-slide-system/assets/equations/array-moment-peak.svg`; PNG `.agent/lecture-slide-system/assets/equations/array-moment-peak.png`; foreground `#C98A16`; target `258 × 42 px`; fit/crop `contain`; alt `LaTeX-rendered expression t(6)=2.0\,\mathrm{s}`; QA `render-equations-diagrams, PNG scale 6, retained TeX/SVG`</a:t>
            </a:r>
          </a:p>
          <a:p xmlns:a="http://schemas.openxmlformats.org/drawingml/2006/main">
            <a:r>
              <a:t>- arrayEnd: TeX `t(11)=4.0\,\mathrm{s}`; SVG `.agent/lecture-slide-system/assets/equations/array-moment-end.svg`; PNG `.agent/lecture-slide-system/assets/equations/array-moment-end.png`; foreground `#3E8E45`; target `258 × 42 px`; fit/crop `contain`; alt `LaTeX-rendered expression t(11)=4.0\,\mathrm{s}`; QA `render-equations-diagrams, PNG scale 6, retained TeX/SVG`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Lecture Slide Deck Design Specification</a:t>
            </a:r>
          </a:p>
          <a:p xmlns:a="http://schemas.openxmlformats.org/drawingml/2006/main">
            <a:r>
              <a:t>- Standard constant-acceleration kinematics; y(t) = 20t - 4.905t^2</a:t>
            </a:r>
          </a:p>
          <a:p xmlns:a="http://schemas.openxmlformats.org/drawingml/2006/main">
            <a:r>
              <a:t>- MATLAB figure `assets/matlab-figures/height_time_evidence.png`, generated by `source/generate_master_matlab_figures.m` from retained `height_time_evidence_data.mat` and `.csv`; title, axes, and all figure text use the LaTeX interpreter</a:t>
            </a:r>
          </a:p>
          <a:p xmlns:a="http://schemas.openxmlformats.org/drawingml/2006/main">
            <a:r>
              <a:t>- LaTeX equation assets: `height-zero.tex` and `height-near-zero.tex`; rendered by `render-equations-diagrams`; transparent PNGs inserted with editable explanatory labels; asset directory `.agent/lecture-slide-system/assets/equations`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provenance]</a:t>
            </a:r>
          </a:p>
          <a:p xmlns:a="http://schemas.openxmlformats.org/drawingml/2006/main">
            <a:r>
              <a:t>- heightZero: TeX `y=0\,\mathrm{m}`; SVG `.agent/lecture-slide-system/assets/equations/height-zero.svg`; PNG `.agent/lecture-slide-system/assets/equations/height-zero.png`; foreground `#2F6DB2`; target `300 × 48 px`; fit/crop `contain`; alt `LaTeX-rendered expression y equals zero metres`; QA `render-equations-diagrams, PNG scale 6, retained TeX/SVG`</a:t>
            </a:r>
          </a:p>
          <a:p xmlns:a="http://schemas.openxmlformats.org/drawingml/2006/main">
            <a:r>
              <a:t>- heightNearZero: TeX `y\approx 0\,\mathrm{m}`; SVG `.agent/lecture-slide-system/assets/equations/height-near-zero.svg`; PNG `.agent/lecture-slide-system/assets/equations/height-near-zero.png`; foreground `#2F6DB2`; target `300 × 48 px`; fit/crop `contain`; alt `LaTeX-rendered expression y is approximately zero metres`; QA `render-equations-diagrams, PNG scale 6, retained TeX/SVG`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Lecture Slide Deck Design Specification</a:t>
            </a:r>
          </a:p>
          <a:p xmlns:a="http://schemas.openxmlformats.org/drawingml/2006/main">
            <a:r>
              <a:t>- Standard initial-condition validation for vertical motion</a:t>
            </a:r>
          </a:p>
          <a:p xmlns:a="http://schemas.openxmlformats.org/drawingml/2006/main">
            <a:r>
              <a:t>- LaTeX display assets: `launch-time.tex`, `height-zero.tex`, and `computed-first-value.tex`; rendered by `render-equations-diagrams`; transparent PNGs inserted with alt text and matching SVG/TeX retained in `.agent/lecture-slide-system/assets/equations`</a:t>
            </a:r>
          </a:p>
          <a:p xmlns:a="http://schemas.openxmlformats.org/drawingml/2006/main">
            <a:r>
              <a:t>- OpenAI ImageGen; PHY4605 Matte Scientific Cutaway visual-only launch-boundary illustration; generated 2026-08-31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provenance]</a:t>
            </a:r>
          </a:p>
          <a:p xmlns:a="http://schemas.openxmlformats.org/drawingml/2006/main">
            <a:r>
              <a:t>- launchTime: TeX `t=0\,\mathrm{s}`; SVG `.agent/lecture-slide-system/assets/equations/launch-time.svg`; PNG `.agent/lecture-slide-system/assets/equations/launch-time.png`; foreground `#0B2B4C`; target `255 × 42 px`; fit/crop `contain`; alt `LaTeX-rendered expression t equals zero seconds`; QA `render-equations-diagrams, PNG scale 6, retained TeX/SVG`</a:t>
            </a:r>
          </a:p>
          <a:p xmlns:a="http://schemas.openxmlformats.org/drawingml/2006/main">
            <a:r>
              <a:t>- heightZero: TeX `y=0\,\mathrm{m}`; SVG `.agent/lecture-slide-system/assets/equations/height-zero.svg`; PNG `.agent/lecture-slide-system/assets/equations/height-zero.png`; foreground `#0B2B4C`; target `255 × 48 px`; fit/crop `contain`; alt `LaTeX-rendered expression y equals zero metres`; QA `render-equations-diagrams, PNG scale 6, retained TeX/SVG`</a:t>
            </a:r>
          </a:p>
          <a:p xmlns:a="http://schemas.openxmlformats.org/drawingml/2006/main">
            <a:r>
              <a:t>- computedFirstValue: TeX `y(1)=0.000\,\mathrm{m}`; SVG `.agent/lecture-slide-system/assets/equations/computed-first-value.svg`; PNG `.agent/lecture-slide-system/assets/equations/computed-first-value.png`; foreground `#3E8E45`; target `520 × 48 px`; fit/crop `contain`; alt `LaTeX-rendered validation result y of one equals zero point zero zero zero metres`; QA `render-equations-diagrams, PNG scale 6, retained TeX/SVG`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Lecture Slide Deck Design Specification</a:t>
            </a:r>
          </a:p>
          <a:p xmlns:a="http://schemas.openxmlformats.org/drawingml/2006/main">
            <a:r>
              <a:t>- SI units for one-dimensional vertical motion</a:t>
            </a:r>
          </a:p>
          <a:p xmlns:a="http://schemas.openxmlformats.org/drawingml/2006/main">
            <a:r>
              <a:t>- LaTeX symbol/unit assets: `symbol-*.tex` and `unit-*.tex`; rendered by `render-equations-diagrams`; transparent PNGs inserted as display-math assets; SVG and TeX retained in `.agent/lecture-slide-system/assets/equations`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provenance]</a:t>
            </a:r>
          </a:p>
          <a:p xmlns:a="http://schemas.openxmlformats.org/drawingml/2006/main">
            <a:r>
              <a:t>- symbolT: TeX `t`; SVG `.agent/lecture-slide-system/assets/equations/symbol-t.svg`; PNG `.agent/lecture-slide-system/assets/equations/symbol-t.png`; foreground `#2F6DB2`; target `110 × 48 px`; fit/crop `contain`; alt `LaTeX-rendered symbol t`; QA `render-equations-diagrams, PNG scale 6, retained TeX/SVG`</a:t>
            </a:r>
          </a:p>
          <a:p xmlns:a="http://schemas.openxmlformats.org/drawingml/2006/main">
            <a:r>
              <a:t>- unitS: TeX `\mathrm{s}`; SVG `.agent/lecture-slide-system/assets/equations/unit-s.svg`; PNG `.agent/lecture-slide-system/assets/equations/unit-s.png`; foreground `#3F4B57`; target `42 × 17 px`; fit/crop `contain`; alt `LaTeX-rendered SI unit \mathrm{s}`; QA `render-equations-diagrams, PNG scale 6, retained TeX/SVG`</a:t>
            </a:r>
          </a:p>
          <a:p xmlns:a="http://schemas.openxmlformats.org/drawingml/2006/main">
            <a:r>
              <a:t>- symbolY: TeX `y`; SVG `.agent/lecture-slide-system/assets/equations/symbol-y.svg`; PNG `.agent/lecture-slide-system/assets/equations/symbol-y.png`; foreground `#2A9D9F`; target `110 × 48 px`; fit/crop `contain`; alt `LaTeX-rendered symbol y`; QA `render-equations-diagrams, PNG scale 6, retained TeX/SVG`</a:t>
            </a:r>
          </a:p>
          <a:p xmlns:a="http://schemas.openxmlformats.org/drawingml/2006/main">
            <a:r>
              <a:t>- unitM: TeX `\mathrm{m}`; SVG `.agent/lecture-slide-system/assets/equations/unit-m.svg`; PNG `.agent/lecture-slide-system/assets/equations/unit-m.png`; foreground `#3F4B57`; target `42 × 17 px`; fit/crop `contain`; alt `LaTeX-rendered SI unit \mathrm{m}`; QA `render-equations-diagrams, PNG scale 6, retained TeX/SVG`</a:t>
            </a:r>
          </a:p>
          <a:p xmlns:a="http://schemas.openxmlformats.org/drawingml/2006/main">
            <a:r>
              <a:t>- symbolV0: TeX `v_0`; SVG `.agent/lecture-slide-system/assets/equations/symbol-v0.svg`; PNG `.agent/lecture-slide-system/assets/equations/symbol-v0.png`; foreground `#C98A16`; target `110 × 48 px`; fit/crop `contain`; alt `LaTeX-rendered symbol v_0`; QA `render-equations-diagrams, PNG scale 6, retained TeX/SVG`</a:t>
            </a:r>
          </a:p>
          <a:p xmlns:a="http://schemas.openxmlformats.org/drawingml/2006/main">
            <a:r>
              <a:t>- unitMs1: TeX `\mathrm{m\,s^{-1}}`; SVG `.agent/lecture-slide-system/assets/equations/unit-ms1.svg`; PNG `.agent/lecture-slide-system/assets/equations/unit-ms1.png`; foreground `#3F4B57`; target `160 × 26 px`; fit/crop `contain`; alt `LaTeX-rendered SI unit \mathrm{m\,s^{-1}}`; QA `render-equations-diagrams, PNG scale 6, retained TeX/SVG`</a:t>
            </a:r>
          </a:p>
          <a:p xmlns:a="http://schemas.openxmlformats.org/drawingml/2006/main">
            <a:r>
              <a:t>- symbolG: TeX `g`; SVG `.agent/lecture-slide-system/assets/equations/symbol-g.svg`; PNG `.agent/lecture-slide-system/assets/equations/symbol-g.png`; foreground `#6F4B9B`; target `110 × 48 px`; fit/crop `contain`; alt `LaTeX-rendered symbol g`; QA `render-equations-diagrams, PNG scale 6, retained TeX/SVG`</a:t>
            </a:r>
          </a:p>
          <a:p xmlns:a="http://schemas.openxmlformats.org/drawingml/2006/main">
            <a:r>
              <a:t>- unitMs2: TeX `\mathrm{m\,s^{-2}}`; SVG `.agent/lecture-slide-system/assets/equations/unit-ms2.svg`; PNG `.agent/lecture-slide-system/assets/equations/unit-ms2.png`; foreground `#3F4B57`; target `160 × 26 px`; fit/crop `contain`; alt `LaTeX-rendered SI unit \mathrm{m\,s^{-2}}`; QA `render-equations-diagrams, PNG scale 6, retained TeX/SVG`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Lecture Slide Deck Design Specification</a:t>
            </a:r>
          </a:p>
          <a:p xmlns:a="http://schemas.openxmlformats.org/drawingml/2006/main">
            <a:r>
              <a:t>- MATLAB documentation: array operators and plot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Lecture Slide Deck Design Specification</a:t>
            </a:r>
          </a:p>
          <a:p xmlns:a="http://schemas.openxmlformats.org/drawingml/2006/main">
            <a:r>
              <a:t>- Standard constant-acceleration kinematics equation</a:t>
            </a:r>
          </a:p>
          <a:p xmlns:a="http://schemas.openxmlformats.org/drawingml/2006/main">
            <a:r>
              <a:t>- LaTeX equation assets: `vertical-motion-position-equation.tex`, `term-y0.tex`, `term-v0t.tex`, `term-gravity.tex`, and `term-position.tex`; renderer `render-equations-diagrams`; transparent PNG fallback inserted after retaining matching SVG; foreground colours are encoded by semantic term role; target boxes use fit-contain; alt text attached; asset directory `.agent/lecture-slide-system/assets/equations`</a:t>
            </a:r>
          </a:p>
          <a:p xmlns:a="http://schemas.openxmlformats.org/drawingml/2006/main">
            <a:r>
              <a:t>- OpenAI ImageGen; PHY4605 Matte Scientific Cutaway visual-only strictly vertical y(t) time-sequence illustration, with no horizontal projectile path; generated 2026-08-31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provenance]</a:t>
            </a:r>
          </a:p>
          <a:p xmlns:a="http://schemas.openxmlformats.org/drawingml/2006/main">
            <a:r>
              <a:t>- position: TeX `y(t)=y_0+v_0t-\frac{1}{2}gt^2`; SVG `.agent/lecture-slide-system/assets/equations/vertical-motion-position-equation.svg`; PNG `.agent/lecture-slide-system/assets/equations/vertical-motion-position-equation.png`; foreground `#0B2B4C`; target `700 × 144 px`; fit/crop `contain`; alt `LaTeX-rendered equation: y of t equals y subscript zero plus v subscript zero t minus one half g t squared`; QA `render-equations-diagrams, PNG scale 6, retained TeX/SVG`</a:t>
            </a:r>
          </a:p>
          <a:p xmlns:a="http://schemas.openxmlformats.org/drawingml/2006/main">
            <a:r>
              <a:t>- termY0: TeX `y_0`; SVG `.agent/lecture-slide-system/assets/equations/term-y0.svg`; PNG `.agent/lecture-slide-system/assets/equations/term-y0.png`; foreground `#0B2B4C`; target `302 × 48 px`; fit/crop `contain`; alt `LaTeX-rendered equation term y_0`; QA `render-equations-diagrams, PNG scale 6, retained TeX/SVG`</a:t>
            </a:r>
          </a:p>
          <a:p xmlns:a="http://schemas.openxmlformats.org/drawingml/2006/main">
            <a:r>
              <a:t>- termV0t: TeX `v_0t`; SVG `.agent/lecture-slide-system/assets/equations/term-v0t.svg`; PNG `.agent/lecture-slide-system/assets/equations/term-v0t.png`; foreground `#2F6DB2`; target `302 × 48 px`; fit/crop `contain`; alt `LaTeX-rendered equation term v_0t`; QA `render-equations-diagrams, PNG scale 6, retained TeX/SVG`</a:t>
            </a:r>
          </a:p>
          <a:p xmlns:a="http://schemas.openxmlformats.org/drawingml/2006/main">
            <a:r>
              <a:t>- termGravity: TeX `-\frac{1}{2}gt^2`; SVG `.agent/lecture-slide-system/assets/equations/term-gravity.svg`; PNG `.agent/lecture-slide-system/assets/equations/term-gravity.png`; foreground `#C98A16`; target `302 × 90 px`; fit/crop `contain`; alt `LaTeX-rendered equation term -\frac{1}{2}gt^2`; QA `render-equations-diagrams, PNG scale 6, retained TeX/SVG`</a:t>
            </a:r>
          </a:p>
          <a:p xmlns:a="http://schemas.openxmlformats.org/drawingml/2006/main">
            <a:r>
              <a:t>- termPosition: TeX `y(t)`; SVG `.agent/lecture-slide-system/assets/equations/term-position.svg`; PNG `.agent/lecture-slide-system/assets/equations/term-position.png`; foreground `#3E8E45`; target `302 × 48 px`; fit/crop `contain`; alt `LaTeX-rendered equation term y(t)`; QA `render-equations-diagrams, PNG scale 6, retained TeX/SVG`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Lecture Slide Deck Design Specification</a:t>
            </a:r>
          </a:p>
          <a:p xmlns:a="http://schemas.openxmlformats.org/drawingml/2006/main">
            <a:r>
              <a:t>- Standard constant-acceleration kinematics; comparison calculated for v0 = 20 m/s and 15 m/s</a:t>
            </a:r>
          </a:p>
          <a:p xmlns:a="http://schemas.openxmlformats.org/drawingml/2006/main">
            <a:r>
              <a:t>- MATLAB figure `assets/matlab-figures/launch_speed_comparison.png`, generated by `source/generate_master_matlab_figures.m` from retained `launch_speed_comparison_data.mat` and `.csv`; title, axes, legend, and all figure text use the LaTeX interpreter</a:t>
            </a:r>
          </a:p>
          <a:p xmlns:a="http://schemas.openxmlformats.org/drawingml/2006/main">
            <a:r>
              <a:t>- LaTeX display assets: `comparison-v0.tex` and `comparison-g-y0.tex`; rendered by `render-equations-diagrams`; transparent PNGs inserted for the changed/fixed parameter labels; matching SVG and TeX retained in `.agent/lecture-slide-system/assets/equations`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provenance]</a:t>
            </a:r>
          </a:p>
          <a:p xmlns:a="http://schemas.openxmlformats.org/drawingml/2006/main">
            <a:r>
              <a:t>- comparisonV0: TeX `v_0`; SVG `.agent/lecture-slide-system/assets/equations/comparison-v0.svg`; PNG `.agent/lecture-slide-system/assets/equations/comparison-v0.png`; foreground `#2F6DB2`; target `58 × 34 px`; fit/crop `contain`; alt `LaTeX-rendered symbol v subscript zero`; QA `render-equations-diagrams, PNG scale 6, retained TeX/SVG`</a:t>
            </a:r>
          </a:p>
          <a:p xmlns:a="http://schemas.openxmlformats.org/drawingml/2006/main">
            <a:r>
              <a:t>- comparisonGY0: TeX `g,\;y_0`; SVG `.agent/lecture-slide-system/assets/equations/comparison-g-y0.svg`; PNG `.agent/lecture-slide-system/assets/equations/comparison-g-y0.png`; foreground `#697684`; target `130 × 34 px`; fit/crop `contain`; alt `LaTeX-rendered expression g and y subscript zero`; QA `render-equations-diagrams, PNG scale 6, retained TeX/SVG`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Lecture Slide Deck Design Specification</a:t>
            </a:r>
          </a:p>
          <a:p xmlns:a="http://schemas.openxmlformats.org/drawingml/2006/main">
            <a:r>
              <a:t>- PHY4605 editable master proof review checkpoint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7c6ac5930f4fb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b81c63c436246c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f6e39925ad44cb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cc25a78912047a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b85ee58230843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Y4605 inherited title treatment"/>
          <p:cNvSpPr/>
          <p:nvPr>
            <p:ph type="title"/>
          </p:nvPr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endParaRPr sz="510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1" name="PHY4605 inherited subtitle treatment"/>
          <p:cNvSpPr/>
          <p:nvPr>
            <p:ph type="subTitle"/>
          </p:nvPr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endParaRPr sz="22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2" name="PHY4605 inherited slide-number treatment"/>
          <p:cNvSpPr/>
          <p:nvPr>
            <p:ph type="sldNum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endParaRPr sz="1650">
              <a:solidFill>
                <a:srgbClr val="697684"/>
              </a:solidFill>
              <a:latin typeface="Nunito"/>
              <a:ea typeface="Nunito"/>
              <a:cs typeface="Nunito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Opening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Y4605 inherited course tag treatment"/>
          <p:cNvSpPr/>
          <p:nvPr>
            <p:ph type="body" idx="10"/>
          </p:nvPr>
        </p:nvSpPr>
        <p:spPr>
          <a:xfrm xmlns:a="http://schemas.openxmlformats.org/drawingml/2006/main">
            <a:off x="1095375" y="12001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endParaRPr sz="1950" b="1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1" name="PHY4605 inherited title treatment"/>
          <p:cNvSpPr/>
          <p:nvPr>
            <p:ph type="title"/>
          </p:nvPr>
        </p:nvSpPr>
        <p:spPr>
          <a:xfrm xmlns:a="http://schemas.openxmlformats.org/drawingml/2006/main">
            <a:off x="1095375" y="2333625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61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endParaRPr sz="615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2" name="PHY4605 inherited subtitle treatment"/>
          <p:cNvSpPr/>
          <p:nvPr>
            <p:ph type="subTitle"/>
          </p:nvPr>
        </p:nvSpPr>
        <p:spPr>
          <a:xfrm xmlns:a="http://schemas.openxmlformats.org/drawingml/2006/main">
            <a:off x="1095375" y="4524375"/>
            <a:ext cx="1123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25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endParaRPr sz="25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Content T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Y4605 inherited title treatment"/>
          <p:cNvSpPr/>
          <p:nvPr>
            <p:ph type="title"/>
          </p:nvPr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endParaRPr sz="510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1" name="PHY4605 inherited subtitle treatment"/>
          <p:cNvSpPr/>
          <p:nvPr>
            <p:ph type="subTitle"/>
          </p:nvPr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endParaRPr sz="22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2" name="PHY4605 inherited slide-number treatment"/>
          <p:cNvSpPr/>
          <p:nvPr>
            <p:ph type="sldNum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endParaRPr sz="1650">
              <a:solidFill>
                <a:srgbClr val="697684"/>
              </a:solidFill>
              <a:latin typeface="Nunito"/>
              <a:ea typeface="Nunito"/>
              <a:cs typeface="Nunito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Content T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Y4605 inherited title treatment"/>
          <p:cNvSpPr/>
          <p:nvPr>
            <p:ph type="title"/>
          </p:nvPr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endParaRPr sz="465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1" name="PHY4605 inherited subtitle treatment"/>
          <p:cNvSpPr/>
          <p:nvPr>
            <p:ph type="subTitle"/>
          </p:nvPr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endParaRPr sz="22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2" name="PHY4605 inherited slide-number treatment"/>
          <p:cNvSpPr/>
          <p:nvPr>
            <p:ph type="sldNum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endParaRPr sz="1650">
              <a:solidFill>
                <a:srgbClr val="697684"/>
              </a:solidFill>
              <a:latin typeface="Nunito"/>
              <a:ea typeface="Nunito"/>
              <a:cs typeface="Nunito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Content T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Y4605 inherited title treatment"/>
          <p:cNvSpPr/>
          <p:nvPr>
            <p:ph type="title"/>
          </p:nvPr>
        </p:nvSpPr>
        <p:spPr>
          <a:xfrm xmlns:a="http://schemas.openxmlformats.org/drawingml/2006/main">
            <a:off x="1095375" y="571500"/>
            <a:ext cx="15049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endParaRPr sz="420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1" name="PHY4605 inherited subtitle treatment"/>
          <p:cNvSpPr/>
          <p:nvPr>
            <p:ph type="subTitle"/>
          </p:nvPr>
        </p:nvSpPr>
        <p:spPr>
          <a:xfrm xmlns:a="http://schemas.openxmlformats.org/drawingml/2006/main">
            <a:off x="1095375" y="1952625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endParaRPr sz="22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2" name="PHY4605 inherited slide-number treatment"/>
          <p:cNvSpPr/>
          <p:nvPr>
            <p:ph type="sldNum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endParaRPr sz="1650">
              <a:solidFill>
                <a:srgbClr val="697684"/>
              </a:solidFill>
              <a:latin typeface="Nunito"/>
              <a:ea typeface="Nunito"/>
              <a:cs typeface="Nunito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aa8bc7544d4ad6" /><Relationship Type="http://schemas.openxmlformats.org/officeDocument/2006/relationships/slideLayout" Target="/ppt/slideLayouts/slideLayout1.xml" Id="R144cbd86bf4e4fa4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eafbd1cc65234c0c" /><Relationship Type="http://schemas.openxmlformats.org/officeDocument/2006/relationships/slideLayout" Target="/ppt/slideLayouts/slideLayout2.xml" Id="Rb387210603ea415f" /><Relationship Type="http://schemas.openxmlformats.org/officeDocument/2006/relationships/slideLayout" Target="/ppt/slideLayouts/slideLayout3.xml" Id="R7d08c8750ee244c7" /><Relationship Type="http://schemas.openxmlformats.org/officeDocument/2006/relationships/slideLayout" Target="/ppt/slideLayouts/slideLayout4.xml" Id="R1311270d782b48c3" /><Relationship Type="http://schemas.openxmlformats.org/officeDocument/2006/relationships/slideLayout" Target="/ppt/slideLayouts/slideLayout5.xml" Id="R7917041c06be47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Y4605 inherited title treatment"/>
          <p:cNvSpPr/>
          <p:nvPr>
            <p:ph type="title"/>
          </p:nvPr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endParaRPr sz="510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1" name="PHY4605 inherited subtitle treatment"/>
          <p:cNvSpPr/>
          <p:nvPr>
            <p:ph type="subTitle"/>
          </p:nvPr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endParaRPr sz="22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2" name="PHY4605 inherited slide-number treatment"/>
          <p:cNvSpPr/>
          <p:nvPr>
            <p:ph type="sldNum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endParaRPr sz="1650">
              <a:solidFill>
                <a:srgbClr val="697684"/>
              </a:solidFill>
              <a:latin typeface="Nunito"/>
              <a:ea typeface="Nunito"/>
              <a:cs typeface="Nunito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4cbd86bf4e4f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PHY4605 Borderless White Mast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Y4605 inherited title treatment"/>
          <p:cNvSpPr/>
          <p:nvPr>
            <p:ph type="title"/>
          </p:nvPr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endParaRPr sz="510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1" name="PHY4605 inherited subtitle treatment"/>
          <p:cNvSpPr/>
          <p:nvPr>
            <p:ph type="subTitle"/>
          </p:nvPr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endParaRPr sz="22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2" name="PHY4605 inherited slide-number treatment"/>
          <p:cNvSpPr/>
          <p:nvPr>
            <p:ph type="sldNum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endParaRPr sz="1650">
              <a:solidFill>
                <a:srgbClr val="697684"/>
              </a:solidFill>
              <a:latin typeface="Nunito"/>
              <a:ea typeface="Nunito"/>
              <a:cs typeface="Nunito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b387210603ea415f"/>
    <p:sldLayoutId xmlns:r="http://schemas.openxmlformats.org/officeDocument/2006/relationships" id="2147483652" r:id="R7d08c8750ee244c7"/>
    <p:sldLayoutId xmlns:r="http://schemas.openxmlformats.org/officeDocument/2006/relationships" id="2147483653" r:id="R1311270d782b48c3"/>
    <p:sldLayoutId xmlns:r="http://schemas.openxmlformats.org/officeDocument/2006/relationships" id="2147483654" r:id="R7917041c06be47cc"/>
  </p:sldLayoutIdLst>
</p:sldMaster>
</file>

<file path=ppt/slideMasters/theme/theme2.xml><?xml version="1.0" encoding="utf-8"?>
<a:theme xmlns:a="http://schemas.openxmlformats.org/drawingml/2006/main" name="ChatGPT">
  <a:themeElements>
    <a:clrScheme name="PHY4605">
      <a:dk1>
        <a:srgbClr val="0B2B4C"/>
      </a:dk1>
      <a:lt1>
        <a:srgbClr val="FFFFFF"/>
      </a:lt1>
      <a:dk2>
        <a:srgbClr val="3F4B57"/>
      </a:dk2>
      <a:lt2>
        <a:srgbClr val="F7F9FB"/>
      </a:lt2>
      <a:accent1>
        <a:srgbClr val="2F6DB2"/>
      </a:accent1>
      <a:accent2>
        <a:srgbClr val="2A9D9F"/>
      </a:accent2>
      <a:accent3>
        <a:srgbClr val="C98A16"/>
      </a:accent3>
      <a:accent4>
        <a:srgbClr val="6F4B9B"/>
      </a:accent4>
      <a:accent5>
        <a:srgbClr val="3E8E45"/>
      </a:accent5>
      <a:accent6>
        <a:srgbClr val="B3262E"/>
      </a:accent6>
      <a:hlink>
        <a:srgbClr val="2F6DB2"/>
      </a:hlink>
      <a:folHlink>
        <a:srgbClr val="6F4B9B"/>
      </a:folHlink>
    </a:clrScheme>
    <a:fontScheme name="Office">
      <a:majorFont>
        <a:latin typeface="Nunito"/>
        <a:ea typeface="Nunito"/>
        <a:cs typeface="Nunito"/>
      </a:majorFont>
      <a:minorFont>
        <a:latin typeface="Nunito"/>
        <a:ea typeface="Nunito"/>
        <a:cs typeface="Nunito"/>
      </a:minorFont>
    </a:fontScheme>
    <a:fmtScheme name="PHY4605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PHY4605">
      <a:dk1>
        <a:srgbClr val="0B2B4C"/>
      </a:dk1>
      <a:lt1>
        <a:srgbClr val="FFFFFF"/>
      </a:lt1>
      <a:dk2>
        <a:srgbClr val="3F4B57"/>
      </a:dk2>
      <a:lt2>
        <a:srgbClr val="F7F9FB"/>
      </a:lt2>
      <a:accent1>
        <a:srgbClr val="2F6DB2"/>
      </a:accent1>
      <a:accent2>
        <a:srgbClr val="2A9D9F"/>
      </a:accent2>
      <a:accent3>
        <a:srgbClr val="C98A16"/>
      </a:accent3>
      <a:accent4>
        <a:srgbClr val="6F4B9B"/>
      </a:accent4>
      <a:accent5>
        <a:srgbClr val="3E8E45"/>
      </a:accent5>
      <a:accent6>
        <a:srgbClr val="B3262E"/>
      </a:accent6>
      <a:hlink>
        <a:srgbClr val="2F6DB2"/>
      </a:hlink>
      <a:folHlink>
        <a:srgbClr val="6F4B9B"/>
      </a:folHlink>
    </a:clrScheme>
    <a:fontScheme name="Office">
      <a:majorFont>
        <a:latin typeface="Nunito"/>
        <a:ea typeface="Nunito"/>
        <a:cs typeface="Nunito"/>
      </a:majorFont>
      <a:minorFont>
        <a:latin typeface="Nunito"/>
        <a:ea typeface="Nunito"/>
        <a:cs typeface="Nunito"/>
      </a:minorFont>
    </a:fontScheme>
    <a:fmtScheme name="PHY4605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b1cfd6c2b34a01" /><Relationship Type="http://schemas.openxmlformats.org/officeDocument/2006/relationships/image" Target="/ppt/media/image.png" Id="Rc5056658848f4414" /><Relationship Type="http://schemas.openxmlformats.org/officeDocument/2006/relationships/notesSlide" Target="/ppt/notesSlides/notesSlide1.xml" Id="R23e5c8a3d15e47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04403ac353249ad" /><Relationship Type="http://schemas.openxmlformats.org/officeDocument/2006/relationships/image" Target="/ppt/media/image2.png" Id="R3b1568038d8a40fd" /><Relationship Type="http://schemas.openxmlformats.org/officeDocument/2006/relationships/image" Target="/ppt/media/image3.png" Id="R63fb34e20ead4068" /><Relationship Type="http://schemas.openxmlformats.org/officeDocument/2006/relationships/image" Target="/ppt/media/image4.png" Id="R012b4033ffc44518" /><Relationship Type="http://schemas.openxmlformats.org/officeDocument/2006/relationships/image" Target="/ppt/media/image5.png" Id="Rf88b60d6db4d4ee6" /><Relationship Type="http://schemas.openxmlformats.org/officeDocument/2006/relationships/notesSlide" Target="/ppt/notesSlides/notesSlide2.xml" Id="R0bc38a8239144f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bb6c6e7af1374738" /><Relationship Type="http://schemas.openxmlformats.org/officeDocument/2006/relationships/image" Target="/ppt/media/image6.png" Id="Rb97d6dd8ede44d98" /><Relationship Type="http://schemas.openxmlformats.org/officeDocument/2006/relationships/image" Target="/ppt/media/image7.png" Id="Rbb3a12eb46db4136" /><Relationship Type="http://schemas.openxmlformats.org/officeDocument/2006/relationships/image" Target="/ppt/media/image8.png" Id="Rf80205d1853148d7" /><Relationship Type="http://schemas.openxmlformats.org/officeDocument/2006/relationships/notesSlide" Target="/ppt/notesSlides/notesSlide3.xml" Id="R9ff30c83162146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66236e2ef58430d" /><Relationship Type="http://schemas.openxmlformats.org/officeDocument/2006/relationships/image" Target="/ppt/media/image9.png" Id="R979dc0ad5dd44d42" /><Relationship Type="http://schemas.openxmlformats.org/officeDocument/2006/relationships/image" Target="/ppt/media/image10.png" Id="Raf3313667eb644e0" /><Relationship Type="http://schemas.openxmlformats.org/officeDocument/2006/relationships/image" Target="/ppt/media/image11.png" Id="Ra957333ef93848b8" /><Relationship Type="http://schemas.openxmlformats.org/officeDocument/2006/relationships/image" Target="/ppt/media/image12.png" Id="Rd394fe7687784313" /><Relationship Type="http://schemas.openxmlformats.org/officeDocument/2006/relationships/notesSlide" Target="/ppt/notesSlides/notesSlide4.xml" Id="R4e5a159a514c42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68b1dad99d64ac3" /><Relationship Type="http://schemas.openxmlformats.org/officeDocument/2006/relationships/image" Target="/ppt/media/image13.png" Id="Rb810344c4e7e4a44" /><Relationship Type="http://schemas.openxmlformats.org/officeDocument/2006/relationships/image" Target="/ppt/media/image14.png" Id="R7876a0152fe948bc" /><Relationship Type="http://schemas.openxmlformats.org/officeDocument/2006/relationships/image" Target="/ppt/media/image15.png" Id="R109c588d334045ee" /><Relationship Type="http://schemas.openxmlformats.org/officeDocument/2006/relationships/image" Target="/ppt/media/image16.png" Id="Rf2fe4153ccd9425a" /><Relationship Type="http://schemas.openxmlformats.org/officeDocument/2006/relationships/image" Target="/ppt/media/image17.png" Id="Ra6df39aad3fe474e" /><Relationship Type="http://schemas.openxmlformats.org/officeDocument/2006/relationships/image" Target="/ppt/media/image18.png" Id="Read0ee643d754d4b" /><Relationship Type="http://schemas.openxmlformats.org/officeDocument/2006/relationships/image" Target="/ppt/media/image19.png" Id="Rc1b7cd9c1ba64243" /><Relationship Type="http://schemas.openxmlformats.org/officeDocument/2006/relationships/image" Target="/ppt/media/image20.png" Id="R381c6d8354c9444f" /><Relationship Type="http://schemas.openxmlformats.org/officeDocument/2006/relationships/notesSlide" Target="/ppt/notesSlides/notesSlide5.xml" Id="Rf165878a82944e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65000995dfb4748" /><Relationship Type="http://schemas.openxmlformats.org/officeDocument/2006/relationships/notesSlide" Target="/ppt/notesSlides/notesSlide6.xml" Id="Ra739d36fd47b4a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bbb25068fcf4c5c" /><Relationship Type="http://schemas.openxmlformats.org/officeDocument/2006/relationships/image" Target="/ppt/media/image21.png" Id="R8e778c9451984feb" /><Relationship Type="http://schemas.openxmlformats.org/officeDocument/2006/relationships/image" Target="/ppt/media/image22.png" Id="R001dabd067764fc1" /><Relationship Type="http://schemas.openxmlformats.org/officeDocument/2006/relationships/image" Target="/ppt/media/image23.png" Id="R677c166cd4334059" /><Relationship Type="http://schemas.openxmlformats.org/officeDocument/2006/relationships/image" Target="/ppt/media/image24.png" Id="R654102ad34644061" /><Relationship Type="http://schemas.openxmlformats.org/officeDocument/2006/relationships/image" Target="/ppt/media/image25.png" Id="Re8730780ebc5468a" /><Relationship Type="http://schemas.openxmlformats.org/officeDocument/2006/relationships/image" Target="/ppt/media/image26.png" Id="R732500a285bf48a1" /><Relationship Type="http://schemas.openxmlformats.org/officeDocument/2006/relationships/notesSlide" Target="/ppt/notesSlides/notesSlide7.xml" Id="Rc6571399483043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602d455d2ab455d" /><Relationship Type="http://schemas.openxmlformats.org/officeDocument/2006/relationships/image" Target="/ppt/media/image27.png" Id="R9cba43a09b96449f" /><Relationship Type="http://schemas.openxmlformats.org/officeDocument/2006/relationships/image" Target="/ppt/media/image28.png" Id="R113ea2ce157b42c0" /><Relationship Type="http://schemas.openxmlformats.org/officeDocument/2006/relationships/image" Target="/ppt/media/image29.png" Id="R18c99afa2f524335" /><Relationship Type="http://schemas.openxmlformats.org/officeDocument/2006/relationships/notesSlide" Target="/ppt/notesSlides/notesSlide8.xml" Id="Ra435e3a8914c4ba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4e019c8dc6943f9" /><Relationship Type="http://schemas.openxmlformats.org/officeDocument/2006/relationships/notesSlide" Target="/ppt/notesSlides/notesSlide9.xml" Id="Rba22ab59df1148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course-tag">
            <a:extLst xmlns:a="http://schemas.openxmlformats.org/drawingml/2006/main">
              <a:ext uri="{FF2B5EF4-FFF2-40B4-BE49-F238E27FC236}">
                <a16:creationId xmlns:a16="http://schemas.microsoft.com/office/drawing/2014/main" id="{F6DEE757-0BCB-4DDC-A149-3DF07AE0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2001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950" b="1">
                <a:solidFill>
                  <a:srgbClr val="3F4B57"/>
                </a:solidFill>
                <a:latin typeface="Nunito"/>
                <a:ea typeface="Nunito"/>
                <a:cs typeface="Nunito"/>
              </a:rPr>
              <a:t>PHY4605 Computational Methods in Physics</a:t>
            </a:r>
          </a:p>
        </p:txBody>
      </p:sp>
      <p:sp>
        <p:nvSpPr>
          <p:cNvPr id="2" name="opening-title">
            <a:extLst xmlns:a="http://schemas.openxmlformats.org/drawingml/2006/main">
              <a:ext uri="{FF2B5EF4-FFF2-40B4-BE49-F238E27FC236}">
                <a16:creationId xmlns:a16="http://schemas.microsoft.com/office/drawing/2014/main" id="{97C39C58-07E7-44C3-A883-76F2F480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33625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61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61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Physics to Arrays and Plots</a:t>
            </a:r>
          </a:p>
        </p:txBody>
      </p:sp>
      <p:sp>
        <p:nvSpPr>
          <p:cNvPr id="3" name="opening-subtitle">
            <a:extLst xmlns:a="http://schemas.openxmlformats.org/drawingml/2006/main">
              <a:ext uri="{FF2B5EF4-FFF2-40B4-BE49-F238E27FC236}">
                <a16:creationId xmlns:a16="http://schemas.microsoft.com/office/drawing/2014/main" id="{D05C0FEF-0090-401E-9062-2A107DD4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524375"/>
            <a:ext cx="1123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5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Week 1 | From Motion to MATLAB</a:t>
            </a:r>
          </a:p>
        </p:txBody>
      </p:sp>
      <p:pic>
        <p:nvPicPr>
          <p:cNvPr id="21" name="visual-projectile" descr="A ball at launch, at its highest point, and on return along one vertical dashed path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056658848f4414"/>
          <a:stretch xmlns:a="http://schemas.openxmlformats.org/drawingml/2006/main"/>
        </p:blipFill>
        <p:spPr>
          <a:xfrm xmlns:a="http://schemas.openxmlformats.org/drawingml/2006/main">
            <a:off x="12747625" y="1905000"/>
            <a:ext cx="3365500" cy="5048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379047-42E6-44D1-B70B-EE90586C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17335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C98A16"/>
                </a:solidFill>
                <a:latin typeface="Nunito"/>
                <a:ea typeface="Nunito"/>
                <a:cs typeface="Nunito"/>
              </a:rPr>
              <a:t>highest point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0994E9-5EFD-4AE4-902C-2837CF4C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45720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return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A77797-5AFC-4B56-9380-7C078BCE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1875" y="65722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launch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D2D9A4-7761-428D-B1AB-D31F7712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8175" y="2809875"/>
            <a:ext cx="152400" cy="22860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F4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233D84-61FC-4D6D-BFE5-E1685B63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6237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3F4B57"/>
                </a:solidFill>
                <a:latin typeface="Nunito"/>
                <a:ea typeface="Nunito"/>
                <a:cs typeface="Nunito"/>
              </a:rPr>
              <a:t>gravity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C4593B-613C-4E8D-BD6D-C2A846F6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858125"/>
            <a:ext cx="20002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physical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695021-5DDC-4E3B-B9BD-A382924F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8058150"/>
            <a:ext cx="2857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924852-5FB0-450B-A5B3-6C3584A8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7858125"/>
            <a:ext cx="20002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arrays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70C20D-7A89-46C0-95F7-C020DFCC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8058150"/>
            <a:ext cx="2857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2045D1-C586-402B-B7DF-D32A6886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7858125"/>
            <a:ext cx="20002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C98A16"/>
                </a:solidFill>
                <a:latin typeface="Nunito"/>
                <a:ea typeface="Nunito"/>
                <a:cs typeface="Nunito"/>
              </a:rPr>
              <a:t>plot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D0215D-48D7-472F-80E5-3D64CEF1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8058150"/>
            <a:ext cx="2857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2B0ECA-21C3-44EB-B33C-360FE18D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7858125"/>
            <a:ext cx="20002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3E8E45"/>
                </a:solidFill>
                <a:latin typeface="Nunito"/>
                <a:ea typeface="Nunito"/>
                <a:cs typeface="Nunito"/>
              </a:rPr>
              <a:t>validation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00AF0B-4DFE-4169-92E8-442DA7A7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862012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80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Editable PowerPoint master proof</a:t>
            </a:r>
          </a:p>
        </p:txBody>
      </p:sp>
    </p:spTree>
    <p:extLst>
      <p:ext uri="{BB962C8B-B14F-4D97-AF65-F5344CB8AC3E}">
        <p14:creationId xmlns:p14="http://schemas.microsoft.com/office/powerpoint/2010/main" val="15949950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title-T1">
            <a:extLst xmlns:a="http://schemas.openxmlformats.org/drawingml/2006/main">
              <a:ext uri="{FF2B5EF4-FFF2-40B4-BE49-F238E27FC236}">
                <a16:creationId xmlns:a16="http://schemas.microsoft.com/office/drawing/2014/main" id="{BB593B5A-0F05-4188-A590-0AD5A0C1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Arrays store physical moments</a:t>
            </a:r>
          </a:p>
        </p:txBody>
      </p:sp>
      <p:sp>
        <p:nvSpPr>
          <p:cNvPr id="2" name="subtitle-T1">
            <a:extLst xmlns:a="http://schemas.openxmlformats.org/drawingml/2006/main">
              <a:ext uri="{FF2B5EF4-FFF2-40B4-BE49-F238E27FC236}">
                <a16:creationId xmlns:a16="http://schemas.microsoft.com/office/drawing/2014/main" id="{C9983D9D-7E6C-44BB-9310-7549D1605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Each index identifies one measurement time</a:t>
            </a:r>
          </a:p>
        </p:txBody>
      </p:sp>
      <p:pic>
        <p:nvPicPr>
          <p:cNvPr id="54" name="visual-array-motion" descr="Eleven evenly spaced snapshots of one ball: launch, rise, highest point, descent, and retur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1568038d8a40fd"/>
          <a:stretch xmlns:a="http://schemas.openxmlformats.org/drawingml/2006/main"/>
        </p:blipFill>
        <p:spPr>
          <a:xfrm xmlns:a="http://schemas.openxmlformats.org/drawingml/2006/main">
            <a:off x="4653199" y="2047875"/>
            <a:ext cx="8981603" cy="3905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8D43EB-01AA-4F24-94F6-D8292AE8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476875"/>
            <a:ext cx="819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AB4B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2DE747-0669-43AF-895F-1A7A2EEF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1720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EF5F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5457D1-41F8-4AA6-973E-FEF3F059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3054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2"/>
          </a:solidFill>
          <a:ln xmlns:a="http://schemas.openxmlformats.org/drawingml/2006/main" w="28575">
            <a:solidFill>
              <a:srgbClr val="2F6DB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7EC19F-1316-4BB3-990C-7FB4B43C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8388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6CD317-C9D4-4105-A147-85A3DC5C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720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EF5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4EA819-FFF2-45E7-A86A-6BA75EE3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381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FE04C7-8E5B-453D-90D7-483A68AA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8388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697684"/>
                </a:solidFill>
                <a:latin typeface="Nunito"/>
                <a:ea typeface="Nunito"/>
                <a:cs typeface="Nunito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3ED37C-04B4-4941-9C82-3020724C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1720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EF5F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466040-6D5A-4384-B50F-32D1C2D0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381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AE23CD-AB86-4D7F-A2A5-FF589E2E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8388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697684"/>
                </a:solidFill>
                <a:latin typeface="Nunito"/>
                <a:ea typeface="Nunito"/>
                <a:cs typeface="Nunito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60AC9D-A1AE-4EA5-BC76-A0ABA52A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1720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EF5F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C1AFF2-F2A2-4252-B6D2-F213F7C8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381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F9D8FC-848B-47A7-BB22-E3695C90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8388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697684"/>
                </a:solidFill>
                <a:latin typeface="Nunito"/>
                <a:ea typeface="Nunito"/>
                <a:cs typeface="Nunito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DD0404-BADC-4C82-B3D3-DBD6038E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1720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EF5F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24E6E6-AE2C-43A2-913B-33643A11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381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A5ECA6-B1AA-4D25-AA4B-CC4AE97B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8388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697684"/>
                </a:solidFill>
                <a:latin typeface="Nunito"/>
                <a:ea typeface="Nunito"/>
                <a:cs typeface="Nunito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11E6AF-CB3C-4952-B9B3-D428F0DA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1720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EF5F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C36A11-BB6A-4855-8908-842CDD6C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3054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2"/>
          </a:solidFill>
          <a:ln xmlns:a="http://schemas.openxmlformats.org/drawingml/2006/main" w="28575">
            <a:solidFill>
              <a:srgbClr val="2F6DB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0FA0E9-F935-41F4-BD4C-FDC9DA5F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8388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AE96B6-A868-4003-BEC0-0C7ED6B5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720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EF5F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FB2A96-1D14-48BC-A057-C360A09C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381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8FBA5D-682D-4C82-BAC3-9876A309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8388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697684"/>
                </a:solidFill>
                <a:latin typeface="Nunito"/>
                <a:ea typeface="Nunito"/>
                <a:cs typeface="Nunito"/>
              </a:rPr>
              <a:t>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E33A42-0950-4A3F-9FE8-19A8057C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51720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EF5F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1BC53C-4BCF-4271-9958-720A95D1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5381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FDF911-4DB8-4515-A5F2-15F28AE3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8388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697684"/>
                </a:solidFill>
                <a:latin typeface="Nunito"/>
                <a:ea typeface="Nunito"/>
                <a:cs typeface="Nunito"/>
              </a:rPr>
              <a:t>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84CFF8-F1BA-4597-B65F-1CC68991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51720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EF5F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8FCFFE-41E9-4AF8-8A19-67E694CF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5381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F2660E-797F-49BC-AAD0-4CF6492B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58388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697684"/>
                </a:solidFill>
                <a:latin typeface="Nunito"/>
                <a:ea typeface="Nunito"/>
                <a:cs typeface="Nunito"/>
              </a:rPr>
              <a:t>9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0C7352-5AA7-4E2C-B8FC-BB4617EE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51720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EF5F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766686-2329-4B98-8597-7675AA08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5381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A8BD6B-617C-4A52-ABEB-5C8EC26F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8388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697684"/>
                </a:solidFill>
                <a:latin typeface="Nunito"/>
                <a:ea typeface="Nunito"/>
                <a:cs typeface="Nunito"/>
              </a:rPr>
              <a:t>10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19CCCA-08AA-46BD-9E1B-B01B532E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51720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EF5F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DAF6EE-DE75-49C0-9F45-0589839B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150" y="53054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2"/>
          </a:solidFill>
          <a:ln xmlns:a="http://schemas.openxmlformats.org/drawingml/2006/main" w="28575">
            <a:solidFill>
              <a:srgbClr val="2F6DB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8395C0-A61D-45BF-B536-A73F9361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58388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11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CD7EF1B-1327-41EF-BD15-410DEB22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6286500"/>
            <a:ext cx="29527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26F1CBD-CFC6-45D2-B77C-5917656D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6496050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launch</a:t>
            </a:r>
          </a:p>
        </p:txBody>
      </p:sp>
      <p:pic>
        <p:nvPicPr>
          <p:cNvPr id="91" name="equation-arrayStart" descr="LaTeX-rendered expression t(1) equals 0.0 second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fb34e20ead4068"/>
          <a:stretch xmlns:a="http://schemas.openxmlformats.org/drawingml/2006/main"/>
        </p:blipFill>
        <p:spPr>
          <a:xfrm xmlns:a="http://schemas.openxmlformats.org/drawingml/2006/main">
            <a:off x="4023078" y="6953250"/>
            <a:ext cx="1936044" cy="40005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2E6C616-E7D8-4C9C-8A18-33B6611A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7448550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initial condition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006C5C9-8910-4F80-A429-E7CE0C79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6286500"/>
            <a:ext cx="29527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9050">
            <a:solidFill>
              <a:srgbClr val="C98A1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A810CD8-0177-457D-882F-11F00427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6496050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C98A16"/>
                </a:solidFill>
                <a:latin typeface="Nunito"/>
                <a:ea typeface="Nunito"/>
                <a:cs typeface="Nunito"/>
              </a:rPr>
              <a:t>middle</a:t>
            </a:r>
          </a:p>
        </p:txBody>
      </p:sp>
      <p:pic>
        <p:nvPicPr>
          <p:cNvPr id="95" name="equation-arrayPeak" descr="LaTeX-rendered expression t(6) equals 2.0 second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2b4033ffc44518"/>
          <a:stretch xmlns:a="http://schemas.openxmlformats.org/drawingml/2006/main"/>
        </p:blipFill>
        <p:spPr>
          <a:xfrm xmlns:a="http://schemas.openxmlformats.org/drawingml/2006/main">
            <a:off x="8118828" y="6953250"/>
            <a:ext cx="1936044" cy="400050"/>
          </a:xfrm>
          <a:prstGeom xmlns:a="http://schemas.openxmlformats.org/drawingml/2006/main" prst="rect">
            <a:avLst/>
          </a:prstGeom>
        </p:spPr>
      </p:pic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42980F8-8523-41E2-857C-2FC2BD9E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7448550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at the peak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1B6F3DE-FB92-42E6-AA0F-866C28B9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6225" y="6286500"/>
            <a:ext cx="29527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19050">
            <a:solidFill>
              <a:srgbClr val="3E8E4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5870DB9-C351-4370-A374-1B2C8796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6496050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3E8E45"/>
                </a:solidFill>
                <a:latin typeface="Nunito"/>
                <a:ea typeface="Nunito"/>
                <a:cs typeface="Nunito"/>
              </a:rPr>
              <a:t>end</a:t>
            </a:r>
          </a:p>
        </p:txBody>
      </p:sp>
      <p:pic>
        <p:nvPicPr>
          <p:cNvPr id="99" name="equation-arrayEnd" descr="LaTeX-rendered expression t(11) equals 4.0 second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8b60d6db4d4ee6"/>
          <a:stretch xmlns:a="http://schemas.openxmlformats.org/drawingml/2006/main"/>
        </p:blipFill>
        <p:spPr>
          <a:xfrm xmlns:a="http://schemas.openxmlformats.org/drawingml/2006/main">
            <a:off x="12113331" y="6953250"/>
            <a:ext cx="2138539" cy="400050"/>
          </a:xfrm>
          <a:prstGeom xmlns:a="http://schemas.openxmlformats.org/drawingml/2006/main" prst="rect">
            <a:avLst/>
          </a:prstGeom>
        </p:spPr>
      </p:pic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C000621-1AB5-425C-AC36-97F6E244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7448550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near return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EFE54BD-1401-4DF8-957D-B6E4712B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8305800"/>
            <a:ext cx="1428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The number in parentheses selects one physical moment from the array</a:t>
            </a:r>
          </a:p>
        </p:txBody>
      </p:sp>
      <p:sp>
        <p:nvSpPr>
          <p:cNvPr id="51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FDA11671-9C8E-401D-86B9-37422B89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99806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T2">
            <a:extLst xmlns:a="http://schemas.openxmlformats.org/drawingml/2006/main">
              <a:ext uri="{FF2B5EF4-FFF2-40B4-BE49-F238E27FC236}">
                <a16:creationId xmlns:a16="http://schemas.microsoft.com/office/drawing/2014/main" id="{1E6F3FFC-3BB1-4B19-9449-BB398594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6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46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A labelled plot turns values into evidence</a:t>
            </a:r>
          </a:p>
        </p:txBody>
      </p:sp>
      <p:sp>
        <p:nvSpPr>
          <p:cNvPr id="2" name="subtitle-T2">
            <a:extLst xmlns:a="http://schemas.openxmlformats.org/drawingml/2006/main">
              <a:ext uri="{FF2B5EF4-FFF2-40B4-BE49-F238E27FC236}">
                <a16:creationId xmlns:a16="http://schemas.microsoft.com/office/drawing/2014/main" id="{D618E7E2-4E45-47EB-A3BA-00CD4F03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Axes, units, and shape must agree with the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26DA71-4C9F-4507-B05F-3E944E06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76500"/>
            <a:ext cx="4000500" cy="5429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FBCF20-887B-40A8-8F6B-B1007CC9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83845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5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Before plotting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9D741B-6682-4D1A-9C65-97B29A1B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7147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9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starts at</a:t>
            </a:r>
          </a:p>
        </p:txBody>
      </p:sp>
      <p:pic>
        <p:nvPicPr>
          <p:cNvPr id="20" name="equation-prediction-1" descr="LaTeX-rendered expression y equals 0 metre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7d6dd8ede44d98"/>
          <a:stretch xmlns:a="http://schemas.openxmlformats.org/drawingml/2006/main"/>
        </p:blipFill>
        <p:spPr>
          <a:xfrm xmlns:a="http://schemas.openxmlformats.org/drawingml/2006/main">
            <a:off x="1994481" y="4076700"/>
            <a:ext cx="1745087" cy="4572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32A8CB-472F-4A14-B2FE-5AA7D801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8387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9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rises 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213A9F-7EB6-419D-9E39-74F11AE7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2387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2400" b="1">
                <a:solidFill>
                  <a:srgbClr val="C98A16"/>
                </a:solidFill>
                <a:latin typeface="Nunito"/>
                <a:ea typeface="Nunito"/>
                <a:cs typeface="Nunito"/>
              </a:rPr>
              <a:t>one maximum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2F3D1B-4077-4B31-907A-89312249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9626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9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returns to</a:t>
            </a:r>
          </a:p>
        </p:txBody>
      </p:sp>
      <p:pic>
        <p:nvPicPr>
          <p:cNvPr id="24" name="equation-prediction-3" descr="LaTeX-rendered expression y is approximately 0 metre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3a12eb46db4136"/>
          <a:stretch xmlns:a="http://schemas.openxmlformats.org/drawingml/2006/main"/>
        </p:blipFill>
        <p:spPr>
          <a:xfrm xmlns:a="http://schemas.openxmlformats.org/drawingml/2006/main">
            <a:off x="1997701" y="6324600"/>
            <a:ext cx="1738648" cy="4572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027D01-CA9F-4284-B7E3-8817D59E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7067550"/>
            <a:ext cx="2381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prediction first</a:t>
            </a:r>
          </a:p>
        </p:txBody>
      </p:sp>
      <p:pic>
        <p:nvPicPr>
          <p:cNvPr id="26" name="matlab-height-time-figure" descr="MATLAB-generated height-versus-time plot for vertical motion with LaTeX-interpreted label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0205d1853148d7"/>
          <a:stretch xmlns:a="http://schemas.openxmlformats.org/drawingml/2006/main"/>
        </p:blipFill>
        <p:spPr>
          <a:xfrm xmlns:a="http://schemas.openxmlformats.org/drawingml/2006/main">
            <a:off x="6475992" y="2381250"/>
            <a:ext cx="9336515" cy="58102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0CDB1B-B810-47A9-83D9-0CC0D73E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83058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Does the curve match all three predictions?</a:t>
            </a:r>
          </a:p>
        </p:txBody>
      </p:sp>
      <p:sp>
        <p:nvSpPr>
          <p:cNvPr id="14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1A75AF0E-228A-4296-8AAD-BC2C4DEF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776263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T3">
            <a:extLst xmlns:a="http://schemas.openxmlformats.org/drawingml/2006/main">
              <a:ext uri="{FF2B5EF4-FFF2-40B4-BE49-F238E27FC236}">
                <a16:creationId xmlns:a16="http://schemas.microsoft.com/office/drawing/2014/main" id="{626D4692-587E-46D7-A738-BAC0EDDA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2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42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A boundary check can reveal an error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42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42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that a smooth curve hides</a:t>
            </a:r>
          </a:p>
        </p:txBody>
      </p:sp>
      <p:sp>
        <p:nvSpPr>
          <p:cNvPr id="2" name="subtitle-T3">
            <a:extLst xmlns:a="http://schemas.openxmlformats.org/drawingml/2006/main">
              <a:ext uri="{FF2B5EF4-FFF2-40B4-BE49-F238E27FC236}">
                <a16:creationId xmlns:a16="http://schemas.microsoft.com/office/drawing/2014/main" id="{A4C51AAB-71DD-4F63-9231-D4CF0845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952625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Use a known condition before trusting the full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130175-720F-4FF7-A398-582A1545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480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5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Known condition</a:t>
            </a:r>
          </a:p>
        </p:txBody>
      </p:sp>
      <p:pic>
        <p:nvPicPr>
          <p:cNvPr id="21" name="visual-launch-boundary" descr="A ball on the ground at launch with an upward initial-velocity arrow and downward gravity arrow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9dc0ad5dd44d42"/>
          <a:stretch xmlns:a="http://schemas.openxmlformats.org/drawingml/2006/main"/>
        </p:blipFill>
        <p:spPr>
          <a:xfrm xmlns:a="http://schemas.openxmlformats.org/drawingml/2006/main">
            <a:off x="1539875" y="3571875"/>
            <a:ext cx="2254250" cy="33813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A320FE-3EE3-41BC-BE8F-3900D85E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14750"/>
            <a:ext cx="3095625" cy="3143250"/>
          </a:xfrm>
          <a:prstGeom xmlns:a="http://schemas.openxmlformats.org/drawingml/2006/main" prst="roundRect">
            <a:avLst>
              <a:gd name="adj" fmla="val 3692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2EDE8E-1500-49D3-82EC-6D4835F8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11480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40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At launch</a:t>
            </a:r>
          </a:p>
        </p:txBody>
      </p:sp>
      <p:pic>
        <p:nvPicPr>
          <p:cNvPr id="24" name="equation-launch-time" descr="LaTeX-rendered expression t equals 0 second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3313667eb644e0"/>
          <a:stretch xmlns:a="http://schemas.openxmlformats.org/drawingml/2006/main"/>
        </p:blipFill>
        <p:spPr>
          <a:xfrm xmlns:a="http://schemas.openxmlformats.org/drawingml/2006/main">
            <a:off x="5319713" y="4810125"/>
            <a:ext cx="1600200" cy="4000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BD01C5-3553-4AA7-BFA4-04C5B3F7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553075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9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must give</a:t>
            </a:r>
          </a:p>
        </p:txBody>
      </p:sp>
      <p:pic>
        <p:nvPicPr>
          <p:cNvPr id="26" name="equation-launch-height" descr="LaTeX-rendered expression y equals 0 metre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57333ef93848b8"/>
          <a:stretch xmlns:a="http://schemas.openxmlformats.org/drawingml/2006/main"/>
        </p:blipFill>
        <p:spPr>
          <a:xfrm xmlns:a="http://schemas.openxmlformats.org/drawingml/2006/main">
            <a:off x="5247269" y="5981700"/>
            <a:ext cx="1745087" cy="4572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FF1276-2AC0-473F-BC87-6A187431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480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5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Computed result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13BDEA-EBFB-464C-8332-38DE8021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0"/>
            <a:ext cx="7239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19050">
            <a:solidFill>
              <a:srgbClr val="3E8E45"/>
            </a:solidFill>
            <a:prstDash val="solid"/>
          </a:ln>
        </p:spPr>
      </p:sp>
      <p:pic>
        <p:nvPicPr>
          <p:cNvPr id="29" name="equation-computed-first-value" descr="LaTeX-rendered validation result y(1) equals 0.000 metre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94fe7687784313"/>
          <a:stretch xmlns:a="http://schemas.openxmlformats.org/drawingml/2006/main"/>
        </p:blipFill>
        <p:spPr>
          <a:xfrm xmlns:a="http://schemas.openxmlformats.org/drawingml/2006/main">
            <a:off x="10295819" y="4305300"/>
            <a:ext cx="2935111" cy="4572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36D82C-D7AA-4BF4-BE29-A822F3C9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4286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E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1905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FFFFFF"/>
                </a:solidFill>
                <a:latin typeface="Nunito"/>
                <a:ea typeface="Nunito"/>
                <a:cs typeface="Nunito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17DB9A-D8DF-4FAE-9B5E-DA2BBD4F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524500"/>
            <a:ext cx="609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The first array value satisfies the launch condition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24BDFF-55E8-4D38-AACA-3AB23AE7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524750"/>
            <a:ext cx="15001875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9050">
            <a:solidFill>
              <a:srgbClr val="C98A1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245717-616D-496D-A4AD-FA200375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829550"/>
            <a:ext cx="1409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4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A smooth graph is not enough: test at least one value that physics already tells you</a:t>
            </a:r>
          </a:p>
        </p:txBody>
      </p:sp>
      <p:sp>
        <p:nvSpPr>
          <p:cNvPr id="17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3A132826-6039-42C7-B945-7CACC58F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348158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itle-T1">
            <a:extLst xmlns:a="http://schemas.openxmlformats.org/drawingml/2006/main">
              <a:ext uri="{FF2B5EF4-FFF2-40B4-BE49-F238E27FC236}">
                <a16:creationId xmlns:a16="http://schemas.microsoft.com/office/drawing/2014/main" id="{E98F86A9-39B1-4A12-8F30-E3A13AB9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Names and units keep the model readable</a:t>
            </a:r>
          </a:p>
        </p:txBody>
      </p:sp>
      <p:sp>
        <p:nvSpPr>
          <p:cNvPr id="2" name="subtitle-T1">
            <a:extLst xmlns:a="http://schemas.openxmlformats.org/drawingml/2006/main">
              <a:ext uri="{FF2B5EF4-FFF2-40B4-BE49-F238E27FC236}">
                <a16:creationId xmlns:a16="http://schemas.microsoft.com/office/drawing/2014/main" id="{D5E1EF17-B814-4278-946E-16EDB75D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Translate each physical quantity before writing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F1ADA1-C5A2-4D7A-93DB-EC1ECA81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336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800" b="1">
                <a:solidFill>
                  <a:srgbClr val="697684"/>
                </a:solidFill>
                <a:latin typeface="Nunito"/>
                <a:ea typeface="Nunito"/>
                <a:cs typeface="Nunito"/>
              </a:rPr>
              <a:t>physics symbol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58989B-D2B4-4CA8-913A-18153574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5336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800" b="1">
                <a:solidFill>
                  <a:srgbClr val="697684"/>
                </a:solidFill>
                <a:latin typeface="Nunito"/>
                <a:ea typeface="Nunito"/>
                <a:cs typeface="Nunito"/>
              </a:rPr>
              <a:t>meaning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089432-8E1A-4597-AB07-CD64382A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336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800" b="1">
                <a:solidFill>
                  <a:srgbClr val="697684"/>
                </a:solidFill>
                <a:latin typeface="Nunito"/>
                <a:ea typeface="Nunito"/>
                <a:cs typeface="Nunito"/>
              </a:rPr>
              <a:t>MATLAB name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CC3D8A-6BE7-48E9-BE52-7A25E462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5336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800" b="1">
                <a:solidFill>
                  <a:srgbClr val="697684"/>
                </a:solidFill>
                <a:latin typeface="Nunito"/>
                <a:ea typeface="Nunito"/>
                <a:cs typeface="Nunito"/>
              </a:rPr>
              <a:t>unit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FFCC6C-AEC8-4D19-9E86-79DF8BA5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143250"/>
            <a:ext cx="15001875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pic>
        <p:nvPicPr>
          <p:cNvPr id="36" name="equation-symbol-1" descr="LaTeX-rendered symbol 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10344c4e7e4a44"/>
          <a:stretch xmlns:a="http://schemas.openxmlformats.org/drawingml/2006/main"/>
        </p:blipFill>
        <p:spPr>
          <a:xfrm xmlns:a="http://schemas.openxmlformats.org/drawingml/2006/main">
            <a:off x="1872762" y="3352800"/>
            <a:ext cx="254977" cy="4572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C52D3A-666E-458E-9F0F-7D03B513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381375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time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8CB5A2-C43D-481A-BBB4-73F1E69F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623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2250" b="1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t</a:t>
            </a:r>
          </a:p>
        </p:txBody>
      </p:sp>
      <p:pic>
        <p:nvPicPr>
          <p:cNvPr id="39" name="equation-unit-1" descr="LaTeX-rendered SI unit second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76a0152fe948bc"/>
          <a:stretch xmlns:a="http://schemas.openxmlformats.org/drawingml/2006/main"/>
        </p:blipFill>
        <p:spPr>
          <a:xfrm xmlns:a="http://schemas.openxmlformats.org/drawingml/2006/main">
            <a:off x="13179253" y="3533775"/>
            <a:ext cx="140043" cy="16192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6E0CE9-699F-40E3-8263-04889488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362450"/>
            <a:ext cx="15001875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19050">
            <a:solidFill>
              <a:srgbClr val="2A9D9F"/>
            </a:solidFill>
            <a:prstDash val="solid"/>
          </a:ln>
        </p:spPr>
      </p:sp>
      <p:pic>
        <p:nvPicPr>
          <p:cNvPr id="41" name="equation-symbol-2" descr="LaTeX-rendered symbol y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9c588d334045ee"/>
          <a:stretch xmlns:a="http://schemas.openxmlformats.org/drawingml/2006/main"/>
        </p:blipFill>
        <p:spPr>
          <a:xfrm xmlns:a="http://schemas.openxmlformats.org/drawingml/2006/main">
            <a:off x="1827722" y="4572000"/>
            <a:ext cx="345057" cy="4572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578822-E5DA-4D5C-A8E1-2BDC7E3C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600575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vertical position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D38C02-072A-426F-BE97-E61F2C0A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815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2250" b="1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y</a:t>
            </a:r>
          </a:p>
        </p:txBody>
      </p:sp>
      <p:pic>
        <p:nvPicPr>
          <p:cNvPr id="44" name="equation-unit-2" descr="LaTeX-rendered SI unit metre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fe4153ccd9425a"/>
          <a:stretch xmlns:a="http://schemas.openxmlformats.org/drawingml/2006/main"/>
        </p:blipFill>
        <p:spPr>
          <a:xfrm xmlns:a="http://schemas.openxmlformats.org/drawingml/2006/main">
            <a:off x="13096346" y="4752975"/>
            <a:ext cx="305858" cy="161925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6EE614-E43A-4598-AA21-BEB33E32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81650"/>
            <a:ext cx="15001875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9050">
            <a:solidFill>
              <a:srgbClr val="C98A16"/>
            </a:solidFill>
            <a:prstDash val="solid"/>
          </a:ln>
        </p:spPr>
      </p:sp>
      <p:pic>
        <p:nvPicPr>
          <p:cNvPr id="46" name="equation-symbol-3" descr="LaTeX-rendered symbol v subscript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df39aad3fe474e"/>
          <a:stretch xmlns:a="http://schemas.openxmlformats.org/drawingml/2006/main"/>
        </p:blipFill>
        <p:spPr>
          <a:xfrm xmlns:a="http://schemas.openxmlformats.org/drawingml/2006/main">
            <a:off x="1657350" y="5791200"/>
            <a:ext cx="685800" cy="4572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DAA79B-C3B5-4ABA-B41B-06DFBCFC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819775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initial velocity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B4A4A7-CEDD-4D65-86DC-A4158D7C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8007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2250" b="1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v0</a:t>
            </a:r>
          </a:p>
        </p:txBody>
      </p:sp>
      <p:pic>
        <p:nvPicPr>
          <p:cNvPr id="49" name="equation-unit-3" descr="LaTeX-rendered SI unit metres per secon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d0ee643d754d4b"/>
          <a:stretch xmlns:a="http://schemas.openxmlformats.org/drawingml/2006/main"/>
        </p:blipFill>
        <p:spPr>
          <a:xfrm xmlns:a="http://schemas.openxmlformats.org/drawingml/2006/main">
            <a:off x="13482181" y="5924550"/>
            <a:ext cx="658138" cy="2476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BC684C-1C8F-41B8-B2B2-A913ED36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800850"/>
            <a:ext cx="15001875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5F1FB"/>
          </a:solidFill>
          <a:ln xmlns:a="http://schemas.openxmlformats.org/drawingml/2006/main" w="19050">
            <a:solidFill>
              <a:srgbClr val="6F4B9B"/>
            </a:solidFill>
            <a:prstDash val="solid"/>
          </a:ln>
        </p:spPr>
      </p:sp>
      <p:pic>
        <p:nvPicPr>
          <p:cNvPr id="51" name="equation-symbol-4" descr="LaTeX-rendered symbol 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b7cd9c1ba64243"/>
          <a:stretch xmlns:a="http://schemas.openxmlformats.org/drawingml/2006/main"/>
        </p:blipFill>
        <p:spPr>
          <a:xfrm xmlns:a="http://schemas.openxmlformats.org/drawingml/2006/main">
            <a:off x="1832035" y="7010400"/>
            <a:ext cx="336430" cy="45720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8145DB-F98D-45A2-AD82-DAFF3723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7038975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gravitational acceleration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4FC67B-11B5-4AE8-AA6B-397D368E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0199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2250" b="1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g</a:t>
            </a:r>
          </a:p>
        </p:txBody>
      </p:sp>
      <p:pic>
        <p:nvPicPr>
          <p:cNvPr id="54" name="equation-unit-4" descr="LaTeX-rendered SI unit metres per second square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1c6d8354c9444f"/>
          <a:stretch xmlns:a="http://schemas.openxmlformats.org/drawingml/2006/main"/>
        </p:blipFill>
        <p:spPr>
          <a:xfrm xmlns:a="http://schemas.openxmlformats.org/drawingml/2006/main">
            <a:off x="13482181" y="7143750"/>
            <a:ext cx="658138" cy="24765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18136D-EAD9-43D6-9418-3E7B5BF6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8305800"/>
            <a:ext cx="1428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Readable names reduce syntax mistakes and make unit checks easier</a:t>
            </a:r>
          </a:p>
        </p:txBody>
      </p:sp>
      <p:sp>
        <p:nvSpPr>
          <p:cNvPr id="28" name="slide-number-5">
            <a:extLst xmlns:a="http://schemas.openxmlformats.org/drawingml/2006/main">
              <a:ext uri="{FF2B5EF4-FFF2-40B4-BE49-F238E27FC236}">
                <a16:creationId xmlns:a16="http://schemas.microsoft.com/office/drawing/2014/main" id="{16EE2E2D-DF71-4650-9C47-47148C0F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813581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T1">
            <a:extLst xmlns:a="http://schemas.openxmlformats.org/drawingml/2006/main">
              <a:ext uri="{FF2B5EF4-FFF2-40B4-BE49-F238E27FC236}">
                <a16:creationId xmlns:a16="http://schemas.microsoft.com/office/drawing/2014/main" id="{2087FB78-736C-4348-AC5B-F4D93351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Short code should expose the physics</a:t>
            </a:r>
          </a:p>
        </p:txBody>
      </p:sp>
      <p:sp>
        <p:nvSpPr>
          <p:cNvPr id="2" name="subtitle-T1-slide6">
            <a:extLst xmlns:a="http://schemas.openxmlformats.org/drawingml/2006/main">
              <a:ext uri="{FF2B5EF4-FFF2-40B4-BE49-F238E27FC236}">
                <a16:creationId xmlns:a16="http://schemas.microsoft.com/office/drawing/2014/main" id="{01FD7C05-8F1C-4356-B191-83858483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571625"/>
            <a:ext cx="1504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The algorithm appears before the MATLAB syntax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A8B700-FCBE-4D7B-B193-42983B59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76500"/>
            <a:ext cx="628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5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Plain-language algorithm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A5E51F-8125-403B-88EF-90E4C438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385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BD2272-0769-453E-B725-7C514030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314700"/>
            <a:ext cx="561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0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Choose the model parameters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E3304C-F944-4934-875A-0E2D55C3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0950"/>
            <a:ext cx="11430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0EEBCA-18C3-4640-BC11-7A2A22C3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910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EEA90D-552A-4CB4-B4F9-37394F73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67200"/>
            <a:ext cx="561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0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Create an array of times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27A6E3-388C-47E6-B6A9-147FA098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43450"/>
            <a:ext cx="11430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87217C-80F1-42B9-8770-B655CF5F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1435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1241D2-5EA1-4E2A-B374-A64A6592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219700"/>
            <a:ext cx="561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0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Calculate height at every 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0EB676-9777-42E4-A40F-B9322ADE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95950"/>
            <a:ext cx="11430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C9C495-A0C4-41B7-8D8F-957509A2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0960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D4D7C7-C1EC-4A74-8C0A-C3A2087C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172200"/>
            <a:ext cx="561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0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Plot height against time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E9B295-D533-496F-BC2E-F335EA06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648450"/>
            <a:ext cx="11430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D0C7DC-38B2-40D8-B0E0-27C365A1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0485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3E8E45"/>
                </a:solidFill>
                <a:latin typeface="Nunito"/>
                <a:ea typeface="Nunito"/>
                <a:cs typeface="Nunito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9D7AA6-956E-4988-9068-4B946AEF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7124700"/>
            <a:ext cx="561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0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Check the launch value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CD45BD-582B-4F67-90DD-5BA2DDA3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7524750" cy="54292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EB59E5-E258-4EEB-B3A2-427C2FA8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00350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MATLAB</a:t>
            </a:r>
          </a:p>
        </p:txBody>
      </p:sp>
      <p:sp>
        <p:nvSpPr>
          <p:cNvPr id="20" name="code-sample">
            <a:extLst xmlns:a="http://schemas.openxmlformats.org/drawingml/2006/main">
              <a:ext uri="{FF2B5EF4-FFF2-40B4-BE49-F238E27FC236}">
                <a16:creationId xmlns:a16="http://schemas.microsoft.com/office/drawing/2014/main" id="{B25BDA36-206B-4736-AFE3-44C5EBED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90900"/>
            <a:ext cx="657225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% model parameters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v0 = 20;       % m/s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g  = 9.81;     % m/s^2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% array of times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t = linspace(0,4,11);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% height at every time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y = v0.*t - 0.5*g.*t.^2;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plot(t,y,'LineWidth',2)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y(1)            % boundary check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1BF321-33ED-4247-AC0B-0CEF8D9C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8305800"/>
            <a:ext cx="1428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.* and .^ apply the operation to every array element</a:t>
            </a:r>
          </a:p>
        </p:txBody>
      </p:sp>
      <p:sp>
        <p:nvSpPr>
          <p:cNvPr id="22" name="slide-number-6">
            <a:extLst xmlns:a="http://schemas.openxmlformats.org/drawingml/2006/main">
              <a:ext uri="{FF2B5EF4-FFF2-40B4-BE49-F238E27FC236}">
                <a16:creationId xmlns:a16="http://schemas.microsoft.com/office/drawing/2014/main" id="{7E1BB72D-EC00-4835-A035-D4CA47E9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427382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-T1">
            <a:extLst xmlns:a="http://schemas.openxmlformats.org/drawingml/2006/main">
              <a:ext uri="{FF2B5EF4-FFF2-40B4-BE49-F238E27FC236}">
                <a16:creationId xmlns:a16="http://schemas.microsoft.com/office/drawing/2014/main" id="{03552553-81A1-4CB9-A78E-72FB8C64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The equation links each term to motion</a:t>
            </a:r>
          </a:p>
        </p:txBody>
      </p:sp>
      <p:sp>
        <p:nvSpPr>
          <p:cNvPr id="2" name="subtitle-T1">
            <a:extLst xmlns:a="http://schemas.openxmlformats.org/drawingml/2006/main">
              <a:ext uri="{FF2B5EF4-FFF2-40B4-BE49-F238E27FC236}">
                <a16:creationId xmlns:a16="http://schemas.microsoft.com/office/drawing/2014/main" id="{8F0BA65A-A136-4AB3-A6BF-E96D7C90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Read the model from left to right before evaluating it</a:t>
            </a:r>
          </a:p>
        </p:txBody>
      </p:sp>
      <p:pic>
        <p:nvPicPr>
          <p:cNvPr id="22" name="equation-position-model" descr="LaTeX-rendered equation y of t equals y subscript 0 plus v subscript 0 t minus one half g t square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778c9451984feb"/>
          <a:stretch xmlns:a="http://schemas.openxmlformats.org/drawingml/2006/main"/>
        </p:blipFill>
        <p:spPr>
          <a:xfrm xmlns:a="http://schemas.openxmlformats.org/drawingml/2006/main">
            <a:off x="5814753" y="2095500"/>
            <a:ext cx="6658495" cy="1371600"/>
          </a:xfrm>
          <a:prstGeom xmlns:a="http://schemas.openxmlformats.org/drawingml/2006/main" prst="rect">
            <a:avLst/>
          </a:prstGeom>
        </p:spPr>
      </p:pic>
      <p:pic>
        <p:nvPicPr>
          <p:cNvPr id="23" name="visual-equation-motion" descr="Five time snapshots of one ball at vertical positions: launch, rise, peak, descent, and return; each position has a vertical guid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1dabd067764fc1"/>
          <a:stretch xmlns:a="http://schemas.openxmlformats.org/drawingml/2006/main"/>
        </p:blipFill>
        <p:spPr>
          <a:xfrm xmlns:a="http://schemas.openxmlformats.org/drawingml/2006/main">
            <a:off x="5905500" y="3524250"/>
            <a:ext cx="5334000" cy="3048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EBE892-BFCE-4512-B667-29D3293D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477000"/>
            <a:ext cx="33337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0B2B4C"/>
            </a:solidFill>
            <a:prstDash val="solid"/>
          </a:ln>
        </p:spPr>
      </p:sp>
      <p:pic>
        <p:nvPicPr>
          <p:cNvPr id="25" name="equation-term-termY0" descr="LaTeX-rendered equation term y subscript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7c166cd4334059"/>
          <a:stretch xmlns:a="http://schemas.openxmlformats.org/drawingml/2006/main"/>
        </p:blipFill>
        <p:spPr>
          <a:xfrm xmlns:a="http://schemas.openxmlformats.org/drawingml/2006/main">
            <a:off x="2438759" y="6781800"/>
            <a:ext cx="646981" cy="4572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22AA3C-D669-4DED-9FBD-468EC36A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742950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8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starting position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D37D97-AB72-49E2-A076-FF2AD683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6477000"/>
            <a:ext cx="33337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pic>
        <p:nvPicPr>
          <p:cNvPr id="28" name="equation-term-termV0t" descr="LaTeX-rendered equation term v subscript 0 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4102ad34644061"/>
          <a:stretch xmlns:a="http://schemas.openxmlformats.org/drawingml/2006/main"/>
        </p:blipFill>
        <p:spPr>
          <a:xfrm xmlns:a="http://schemas.openxmlformats.org/drawingml/2006/main">
            <a:off x="6296025" y="6781800"/>
            <a:ext cx="742950" cy="4572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E06A77-7343-4E7E-AA8C-9009C33D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742950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8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upward contribution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5D9929-8CE6-4BF7-8109-79DD74D8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6477000"/>
            <a:ext cx="33337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9050">
            <a:solidFill>
              <a:srgbClr val="C98A16"/>
            </a:solidFill>
            <a:prstDash val="solid"/>
          </a:ln>
        </p:spPr>
      </p:sp>
      <p:pic>
        <p:nvPicPr>
          <p:cNvPr id="31" name="equation-term-termGravity" descr="LaTeX-rendered equation term minus one half g t square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730780ebc5468a"/>
          <a:stretch xmlns:a="http://schemas.openxmlformats.org/drawingml/2006/main"/>
        </p:blipFill>
        <p:spPr>
          <a:xfrm xmlns:a="http://schemas.openxmlformats.org/drawingml/2006/main">
            <a:off x="9938905" y="6553200"/>
            <a:ext cx="1267691" cy="8572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7F71B1-19ED-4D16-AFF9-F1BC4858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742950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8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gravity contribution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A680E0-631E-4DD1-9BD0-727B1C4D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1125" y="6477000"/>
            <a:ext cx="33337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19050">
            <a:solidFill>
              <a:srgbClr val="3E8E45"/>
            </a:solidFill>
            <a:prstDash val="solid"/>
          </a:ln>
        </p:spPr>
      </p:sp>
      <p:pic>
        <p:nvPicPr>
          <p:cNvPr id="34" name="equation-term-termPosition" descr="LaTeX-rendered equation term y of 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2500a285bf48a1"/>
          <a:stretch xmlns:a="http://schemas.openxmlformats.org/drawingml/2006/main"/>
        </p:blipFill>
        <p:spPr>
          <a:xfrm xmlns:a="http://schemas.openxmlformats.org/drawingml/2006/main">
            <a:off x="14102644" y="6781800"/>
            <a:ext cx="750711" cy="4572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7D14B2-5C2D-465F-8BA7-6359E469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9725" y="742950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8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predicted position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955FE2-B657-400A-9750-033FB683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8096250"/>
            <a:ext cx="12001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19050">
            <a:solidFill>
              <a:srgbClr val="B3262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EFA7A5-8CC6-4558-9A9C-0AA73BCD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8277225"/>
            <a:ext cx="1114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3262E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B3262E"/>
                </a:solidFill>
                <a:latin typeface="Nunito"/>
                <a:ea typeface="Nunito"/>
                <a:cs typeface="Nunito"/>
              </a:rPr>
              <a:t>Unit check: every term on the right must have units of metres</a:t>
            </a:r>
          </a:p>
        </p:txBody>
      </p:sp>
      <p:sp>
        <p:nvSpPr>
          <p:cNvPr id="19" name="slide-number-7">
            <a:extLst xmlns:a="http://schemas.openxmlformats.org/drawingml/2006/main">
              <a:ext uri="{FF2B5EF4-FFF2-40B4-BE49-F238E27FC236}">
                <a16:creationId xmlns:a16="http://schemas.microsoft.com/office/drawing/2014/main" id="{D933E66C-55FB-4418-8FFC-E703A2A7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4088702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T2">
            <a:extLst xmlns:a="http://schemas.openxmlformats.org/drawingml/2006/main">
              <a:ext uri="{FF2B5EF4-FFF2-40B4-BE49-F238E27FC236}">
                <a16:creationId xmlns:a16="http://schemas.microsoft.com/office/drawing/2014/main" id="{9C19115B-C5C3-4617-93DE-A9E4B990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6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46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Changing one parameter reveals the trend</a:t>
            </a:r>
          </a:p>
        </p:txBody>
      </p:sp>
      <p:sp>
        <p:nvSpPr>
          <p:cNvPr id="2" name="subtitle-T2">
            <a:extLst xmlns:a="http://schemas.openxmlformats.org/drawingml/2006/main">
              <a:ext uri="{FF2B5EF4-FFF2-40B4-BE49-F238E27FC236}">
                <a16:creationId xmlns:a16="http://schemas.microsoft.com/office/drawing/2014/main" id="{9712B8C4-98F3-4FF5-8AB2-622FF9CE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Keep the model fixed and change only the initial velocity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4846BF-4B63-48A6-817C-3404BB6B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57450"/>
            <a:ext cx="28575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controlled comparison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CDC7CE-AE31-4331-9EAB-3A3BDDB8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38500"/>
            <a:ext cx="40005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9050">
            <a:solidFill>
              <a:srgbClr val="C98A1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F85933-8D90-4042-9CAD-EBF4AD85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6004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4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Ask one focused 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9A8DCD-F8B6-484A-9D73-9477C0D4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362450"/>
            <a:ext cx="314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What changes when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launch speed changes?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48DA2F-2C15-4579-B33B-0EBF7426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54355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2025" b="1">
                <a:solidFill>
                  <a:srgbClr val="C98A16"/>
                </a:solidFill>
                <a:latin typeface="Nunito"/>
                <a:ea typeface="Nunito"/>
                <a:cs typeface="Nunito"/>
              </a:rPr>
              <a:t>Keep gravity and starting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2025" b="1">
                <a:solidFill>
                  <a:srgbClr val="C98A16"/>
                </a:solidFill>
                <a:latin typeface="Nunito"/>
                <a:ea typeface="Nunito"/>
                <a:cs typeface="Nunito"/>
              </a:rPr>
              <a:t>height fixed.</a:t>
            </a:r>
          </a:p>
        </p:txBody>
      </p:sp>
      <p:pic>
        <p:nvPicPr>
          <p:cNvPr id="23" name="matlab-launch-speed-figure" descr="MATLAB-generated comparison of two launch speeds with LaTeX-interpreted labels and legen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ba43a09b96449f"/>
          <a:stretch xmlns:a="http://schemas.openxmlformats.org/drawingml/2006/main"/>
        </p:blipFill>
        <p:spPr>
          <a:xfrm xmlns:a="http://schemas.openxmlformats.org/drawingml/2006/main">
            <a:off x="5779807" y="2381250"/>
            <a:ext cx="10538386" cy="5905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2559E2-5A91-48EE-8286-993B3473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048500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Higher initial speed → higher peak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A99A1C-92AB-430F-9168-6B197F7E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962900"/>
            <a:ext cx="1095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80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changed:</a:t>
            </a:r>
          </a:p>
        </p:txBody>
      </p:sp>
      <p:pic>
        <p:nvPicPr>
          <p:cNvPr id="26" name="equation-comparison-v0" descr="LaTeX-rendered symbol v subscript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3ea2ce157b42c0"/>
          <a:stretch xmlns:a="http://schemas.openxmlformats.org/drawingml/2006/main"/>
        </p:blipFill>
        <p:spPr>
          <a:xfrm xmlns:a="http://schemas.openxmlformats.org/drawingml/2006/main">
            <a:off x="2271713" y="7943850"/>
            <a:ext cx="485775" cy="3238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10764F-F7DC-458C-84CE-A57FD829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7962900"/>
            <a:ext cx="742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800" b="1">
                <a:solidFill>
                  <a:srgbClr val="697684"/>
                </a:solidFill>
                <a:latin typeface="Nunito"/>
                <a:ea typeface="Nunito"/>
                <a:cs typeface="Nunito"/>
              </a:rPr>
              <a:t>fixed:</a:t>
            </a:r>
          </a:p>
        </p:txBody>
      </p:sp>
      <p:pic>
        <p:nvPicPr>
          <p:cNvPr id="28" name="equation-comparison-fixed" descr="LaTeX-rendered expression g and y subscript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c99afa2f524335"/>
          <a:stretch xmlns:a="http://schemas.openxmlformats.org/drawingml/2006/main"/>
        </p:blipFill>
        <p:spPr>
          <a:xfrm xmlns:a="http://schemas.openxmlformats.org/drawingml/2006/main">
            <a:off x="3900577" y="7943850"/>
            <a:ext cx="1057095" cy="3238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7CF5F4-EE80-48C5-ADBA-19EEC5DF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3629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Observed: the blue curve reaches the higher peak</a:t>
            </a:r>
          </a:p>
        </p:txBody>
      </p:sp>
      <p:sp>
        <p:nvSpPr>
          <p:cNvPr id="15" name="slide-number-8">
            <a:extLst xmlns:a="http://schemas.openxmlformats.org/drawingml/2006/main">
              <a:ext uri="{FF2B5EF4-FFF2-40B4-BE49-F238E27FC236}">
                <a16:creationId xmlns:a16="http://schemas.microsoft.com/office/drawing/2014/main" id="{60785F8A-3507-41CD-B826-5EC45577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2598421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itle-T2">
            <a:extLst xmlns:a="http://schemas.openxmlformats.org/drawingml/2006/main">
              <a:ext uri="{FF2B5EF4-FFF2-40B4-BE49-F238E27FC236}">
                <a16:creationId xmlns:a16="http://schemas.microsoft.com/office/drawing/2014/main" id="{EFE6516B-B2BC-4EE5-A7C1-23524AEF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6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46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The design system keeps every week coherent</a:t>
            </a:r>
          </a:p>
        </p:txBody>
      </p:sp>
      <p:sp>
        <p:nvSpPr>
          <p:cNvPr id="2" name="subtitle-T2">
            <a:extLst xmlns:a="http://schemas.openxmlformats.org/drawingml/2006/main">
              <a:ext uri="{FF2B5EF4-FFF2-40B4-BE49-F238E27FC236}">
                <a16:creationId xmlns:a16="http://schemas.microsoft.com/office/drawing/2014/main" id="{BD3BFA6F-77F9-485D-97DA-337005AD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Approve this proof before the Week 1 teaching deck is rebuilt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83A50B-88FF-4FD6-9549-BB8AC645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181475"/>
            <a:ext cx="7620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345EDB-7AAE-4FF6-981B-98DA18E6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81475"/>
            <a:ext cx="7620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098E4E-6527-4973-A6A9-9AA52FE5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181475"/>
            <a:ext cx="7620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54A21B-8754-4385-8054-7D12500D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71750"/>
            <a:ext cx="3143250" cy="3810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F15C0F-62AE-4217-95C3-4C87891B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857500"/>
            <a:ext cx="6096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4B1DCA-AFBE-4BE4-BE41-BD58BC4E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600450"/>
            <a:ext cx="2619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5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Typography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4C4298-B8AD-4CFB-9098-994FC68C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429125"/>
            <a:ext cx="2619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75">
                <a:solidFill>
                  <a:srgbClr val="3F4B57"/>
                </a:solidFill>
                <a:latin typeface="Nunito"/>
                <a:ea typeface="Nunito"/>
                <a:cs typeface="Nunito"/>
              </a:rPr>
              <a:t>Nunito titles and body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75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75">
                <a:solidFill>
                  <a:srgbClr val="3F4B57"/>
                </a:solidFill>
                <a:latin typeface="Nunito"/>
                <a:ea typeface="Nunito"/>
                <a:cs typeface="Nunito"/>
              </a:rPr>
              <a:t>IBM Plex Mono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DFA2FA-ED11-49DB-9FFC-E5A2AA3D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71750"/>
            <a:ext cx="3143250" cy="3810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0B2B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7AC6CD-EF28-4482-8432-1852C9A6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57500"/>
            <a:ext cx="6096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F7DC72-E8AD-440C-91D8-55A36558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600450"/>
            <a:ext cx="2619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5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Structure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3D4C36-2055-4AA2-93F5-6CD19867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429125"/>
            <a:ext cx="2619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75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T1, T2, and T3 title rules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75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75">
                <a:solidFill>
                  <a:srgbClr val="3F4B57"/>
                </a:solidFill>
                <a:latin typeface="Nunito"/>
                <a:ea typeface="Nunito"/>
                <a:cs typeface="Nunito"/>
              </a:rPr>
              <a:t>locked content zones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F580B5-A168-4DBF-9C63-8D51637A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571750"/>
            <a:ext cx="3143250" cy="3810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9050">
            <a:solidFill>
              <a:srgbClr val="C98A1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DACC82-FE40-40A8-8E78-EA79C3AC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857500"/>
            <a:ext cx="6096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C98A16"/>
                </a:solidFill>
                <a:latin typeface="Nunito"/>
                <a:ea typeface="Nunito"/>
                <a:cs typeface="Nunit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FE2B35-D62E-4872-B43C-5B58FFFC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600450"/>
            <a:ext cx="2619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2550" b="1">
                <a:solidFill>
                  <a:srgbClr val="C98A16"/>
                </a:solidFill>
                <a:latin typeface="Nunito"/>
                <a:ea typeface="Nunito"/>
                <a:cs typeface="Nunito"/>
              </a:rPr>
              <a:t>Visuals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10084C-0E0B-404D-968F-CB64B443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429125"/>
            <a:ext cx="2619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75">
                <a:solidFill>
                  <a:srgbClr val="3F4B57"/>
                </a:solidFill>
                <a:latin typeface="Nunito"/>
                <a:ea typeface="Nunito"/>
                <a:cs typeface="Nunito"/>
              </a:rPr>
              <a:t>editable scientific graphics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75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75">
                <a:solidFill>
                  <a:srgbClr val="3F4B57"/>
                </a:solidFill>
                <a:latin typeface="Nunito"/>
                <a:ea typeface="Nunito"/>
                <a:cs typeface="Nunito"/>
              </a:rPr>
              <a:t>approved generated assets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27374B-B8DE-4987-89F8-346558C6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2571750"/>
            <a:ext cx="3143250" cy="3810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19050">
            <a:solidFill>
              <a:srgbClr val="3E8E4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BFDD7B-8E97-46B8-BE98-B7729D71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2857500"/>
            <a:ext cx="6096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3E8E45"/>
                </a:solidFill>
                <a:latin typeface="Nunito"/>
                <a:ea typeface="Nunito"/>
                <a:cs typeface="Nunito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222F9D-A868-4019-963A-595D4C73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3600450"/>
            <a:ext cx="2619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2550" b="1">
                <a:solidFill>
                  <a:srgbClr val="3E8E45"/>
                </a:solidFill>
                <a:latin typeface="Nunito"/>
                <a:ea typeface="Nunito"/>
                <a:cs typeface="Nunito"/>
              </a:rPr>
              <a:t>QA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7F3703-AE7E-44B5-A486-E5DEF564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4429125"/>
            <a:ext cx="2619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75">
                <a:solidFill>
                  <a:srgbClr val="3F4B57"/>
                </a:solidFill>
                <a:latin typeface="Nunito"/>
                <a:ea typeface="Nunito"/>
                <a:cs typeface="Nunito"/>
              </a:rPr>
              <a:t>render, inspect, and check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75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75">
                <a:solidFill>
                  <a:srgbClr val="3F4B57"/>
                </a:solidFill>
                <a:latin typeface="Nunito"/>
                <a:ea typeface="Nunito"/>
                <a:cs typeface="Nunito"/>
              </a:rPr>
              <a:t>fonts, titles, and overflow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C27A5C-E3DA-461D-8837-0ED8E3BF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048500"/>
            <a:ext cx="15001875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0B2B4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06DC2E-9D4D-4BEC-990E-781BFAAC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372350"/>
            <a:ext cx="1414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4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Review focus: title character, spacing, component shapes, chart treatment, and visual balance</a:t>
            </a:r>
          </a:p>
        </p:txBody>
      </p:sp>
      <p:sp>
        <p:nvSpPr>
          <p:cNvPr id="24" name="slide-number-9">
            <a:extLst xmlns:a="http://schemas.openxmlformats.org/drawingml/2006/main">
              <a:ext uri="{FF2B5EF4-FFF2-40B4-BE49-F238E27FC236}">
                <a16:creationId xmlns:a16="http://schemas.microsoft.com/office/drawing/2014/main" id="{9673857F-EEFA-40FA-B9EB-CEDD6082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504528141"/>
      </p:ext>
    </p:extLst>
  </p:cSld>
</p:sld>
</file>

<file path=ppt/theme/theme1.xml><?xml version="1.0" encoding="utf-8"?>
<a:theme xmlns:a="http://schemas.openxmlformats.org/drawingml/2006/main" name="ChatGPT">
  <a:themeElements>
    <a:clrScheme name="PHY4605">
      <a:dk1>
        <a:srgbClr val="0B2B4C"/>
      </a:dk1>
      <a:lt1>
        <a:srgbClr val="FFFFFF"/>
      </a:lt1>
      <a:dk2>
        <a:srgbClr val="3F4B57"/>
      </a:dk2>
      <a:lt2>
        <a:srgbClr val="F7F9FB"/>
      </a:lt2>
      <a:accent1>
        <a:srgbClr val="2F6DB2"/>
      </a:accent1>
      <a:accent2>
        <a:srgbClr val="2A9D9F"/>
      </a:accent2>
      <a:accent3>
        <a:srgbClr val="C98A16"/>
      </a:accent3>
      <a:accent4>
        <a:srgbClr val="6F4B9B"/>
      </a:accent4>
      <a:accent5>
        <a:srgbClr val="3E8E45"/>
      </a:accent5>
      <a:accent6>
        <a:srgbClr val="B3262E"/>
      </a:accent6>
      <a:hlink>
        <a:srgbClr val="2F6DB2"/>
      </a:hlink>
      <a:folHlink>
        <a:srgbClr val="6F4B9B"/>
      </a:folHlink>
    </a:clrScheme>
    <a:fontScheme name="Office">
      <a:majorFont>
        <a:latin typeface="Nunito"/>
        <a:ea typeface="Nunito"/>
        <a:cs typeface="Nunito"/>
      </a:majorFont>
      <a:minorFont>
        <a:latin typeface="Nunito"/>
        <a:ea typeface="Nunito"/>
        <a:cs typeface="Nunito"/>
      </a:minorFont>
    </a:fontScheme>
    <a:fmtScheme name="PHY4605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2026-08-31T15:52:54.5800000Z</dcterms:created>
  <dcterms:modified xsi:type="dcterms:W3CDTF">2026-08-31T15:52:54.5800000Z</dcterms:modified>
</coreProperties>
</file>
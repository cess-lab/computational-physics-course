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3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4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94e0b205a14026" /><Relationship Type="http://schemas.openxmlformats.org/officeDocument/2006/relationships/extended-properties" Target="/docProps/app.xml" Id="Rbb449b5061824fc4" /><Relationship Type="http://schemas.openxmlformats.org/officeDocument/2006/relationships/officeDocument" Target="/ppt/presentation.xml" Id="Rb0d19555b8814c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a0d4fe44084df0"/>
  </p:sldMasterIdLst>
  <p:notesMasterIdLst>
    <p:notesMasterId xmlns:r="http://schemas.openxmlformats.org/officeDocument/2006/relationships" r:id="R1648413d3c9d49ab"/>
  </p:notesMasterIdLst>
  <p:sldIdLst>
    <p:sldId xmlns:r="http://schemas.openxmlformats.org/officeDocument/2006/relationships" id="256" r:id="Rbe46f33d120e42da"/>
    <p:sldId xmlns:r="http://schemas.openxmlformats.org/officeDocument/2006/relationships" id="257" r:id="R67e14ab9fab14f3b"/>
    <p:sldId xmlns:r="http://schemas.openxmlformats.org/officeDocument/2006/relationships" id="258" r:id="R49de9ee836ee4ffb"/>
    <p:sldId xmlns:r="http://schemas.openxmlformats.org/officeDocument/2006/relationships" id="259" r:id="R85f39a0f588743a9"/>
    <p:sldId xmlns:r="http://schemas.openxmlformats.org/officeDocument/2006/relationships" id="260" r:id="Rc181697ce83d420c"/>
    <p:sldId xmlns:r="http://schemas.openxmlformats.org/officeDocument/2006/relationships" id="261" r:id="R0736ad3e8eaa42d2"/>
    <p:sldId xmlns:r="http://schemas.openxmlformats.org/officeDocument/2006/relationships" id="262" r:id="R8e2452fda3c3472c"/>
    <p:sldId xmlns:r="http://schemas.openxmlformats.org/officeDocument/2006/relationships" id="263" r:id="Re39cdb0d3b5f438d"/>
    <p:sldId xmlns:r="http://schemas.openxmlformats.org/officeDocument/2006/relationships" id="264" r:id="Rb7dfe1f82c904be8"/>
    <p:sldId xmlns:r="http://schemas.openxmlformats.org/officeDocument/2006/relationships" id="265" r:id="R4e78a3cd914f498d"/>
    <p:sldId xmlns:r="http://schemas.openxmlformats.org/officeDocument/2006/relationships" id="266" r:id="Red85679451724c69"/>
    <p:sldId xmlns:r="http://schemas.openxmlformats.org/officeDocument/2006/relationships" id="267" r:id="R66cd9ca9b814433d"/>
    <p:sldId xmlns:r="http://schemas.openxmlformats.org/officeDocument/2006/relationships" id="268" r:id="R4eda147413264e9c"/>
    <p:sldId xmlns:r="http://schemas.openxmlformats.org/officeDocument/2006/relationships" id="269" r:id="R5694813ac3894868"/>
    <p:sldId xmlns:r="http://schemas.openxmlformats.org/officeDocument/2006/relationships" id="270" r:id="Rc8db5bc151bb498f"/>
    <p:sldId xmlns:r="http://schemas.openxmlformats.org/officeDocument/2006/relationships" id="271" r:id="R118083e98dad4eed"/>
    <p:sldId xmlns:r="http://schemas.openxmlformats.org/officeDocument/2006/relationships" id="272" r:id="R5c67776b6c4a4f63"/>
    <p:sldId xmlns:r="http://schemas.openxmlformats.org/officeDocument/2006/relationships" id="273" r:id="R123b1b2850b04519"/>
    <p:sldId xmlns:r="http://schemas.openxmlformats.org/officeDocument/2006/relationships" id="274" r:id="Rb15fc6466d7e40c4"/>
    <p:sldId xmlns:r="http://schemas.openxmlformats.org/officeDocument/2006/relationships" id="275" r:id="Rc229bb2e7d6a41ee"/>
    <p:sldId xmlns:r="http://schemas.openxmlformats.org/officeDocument/2006/relationships" id="276" r:id="Rf9118417398e4850"/>
    <p:sldId xmlns:r="http://schemas.openxmlformats.org/officeDocument/2006/relationships" id="277" r:id="R5ade6210c5e84ade"/>
    <p:sldId xmlns:r="http://schemas.openxmlformats.org/officeDocument/2006/relationships" id="278" r:id="R50328d3db39b4629"/>
    <p:sldId xmlns:r="http://schemas.openxmlformats.org/officeDocument/2006/relationships" id="279" r:id="R21bee0143b514184"/>
    <p:sldId xmlns:r="http://schemas.openxmlformats.org/officeDocument/2006/relationships" id="280" r:id="R655607b5221d4c34"/>
    <p:sldId xmlns:r="http://schemas.openxmlformats.org/officeDocument/2006/relationships" id="281" r:id="Ra46a0ac87fb34833"/>
    <p:sldId xmlns:r="http://schemas.openxmlformats.org/officeDocument/2006/relationships" id="282" r:id="R4d3a1cd421b540ac"/>
    <p:sldId xmlns:r="http://schemas.openxmlformats.org/officeDocument/2006/relationships" id="283" r:id="R18519a9b53ba4c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981ec10e064567" /><Relationship Type="http://schemas.openxmlformats.org/officeDocument/2006/relationships/slideMaster" Target="/ppt/slideMasters/slideMaster1.xml" Id="R8fa0d4fe44084df0" /><Relationship Type="http://schemas.openxmlformats.org/officeDocument/2006/relationships/notesMaster" Target="/ppt/notesMasters/notesMaster1.xml" Id="R1648413d3c9d49ab" /><Relationship Type="http://schemas.openxmlformats.org/officeDocument/2006/relationships/presProps" Target="/ppt/presProps.xml" Id="R975e0c460e1d4912" /><Relationship Type="http://schemas.openxmlformats.org/officeDocument/2006/relationships/tableStyles" Target="/ppt/tableStyles.xml" Id="Rab5bc05e4b384c5f" /><Relationship Type="http://schemas.openxmlformats.org/officeDocument/2006/relationships/slide" Target="/ppt/slides/slide1.xml" Id="Rbe46f33d120e42da" /><Relationship Type="http://schemas.openxmlformats.org/officeDocument/2006/relationships/slide" Target="/ppt/slides/slide2.xml" Id="R67e14ab9fab14f3b" /><Relationship Type="http://schemas.openxmlformats.org/officeDocument/2006/relationships/slide" Target="/ppt/slides/slide3.xml" Id="R49de9ee836ee4ffb" /><Relationship Type="http://schemas.openxmlformats.org/officeDocument/2006/relationships/slide" Target="/ppt/slides/slide4.xml" Id="R85f39a0f588743a9" /><Relationship Type="http://schemas.openxmlformats.org/officeDocument/2006/relationships/slide" Target="/ppt/slides/slide5.xml" Id="Rc181697ce83d420c" /><Relationship Type="http://schemas.openxmlformats.org/officeDocument/2006/relationships/slide" Target="/ppt/slides/slide6.xml" Id="R0736ad3e8eaa42d2" /><Relationship Type="http://schemas.openxmlformats.org/officeDocument/2006/relationships/slide" Target="/ppt/slides/slide7.xml" Id="R8e2452fda3c3472c" /><Relationship Type="http://schemas.openxmlformats.org/officeDocument/2006/relationships/slide" Target="/ppt/slides/slide8.xml" Id="Re39cdb0d3b5f438d" /><Relationship Type="http://schemas.openxmlformats.org/officeDocument/2006/relationships/slide" Target="/ppt/slides/slide9.xml" Id="Rb7dfe1f82c904be8" /><Relationship Type="http://schemas.openxmlformats.org/officeDocument/2006/relationships/slide" Target="/ppt/slides/slide10.xml" Id="R4e78a3cd914f498d" /><Relationship Type="http://schemas.openxmlformats.org/officeDocument/2006/relationships/slide" Target="/ppt/slides/slide11.xml" Id="Red85679451724c69" /><Relationship Type="http://schemas.openxmlformats.org/officeDocument/2006/relationships/slide" Target="/ppt/slides/slide12.xml" Id="R66cd9ca9b814433d" /><Relationship Type="http://schemas.openxmlformats.org/officeDocument/2006/relationships/slide" Target="/ppt/slides/slide13.xml" Id="R4eda147413264e9c" /><Relationship Type="http://schemas.openxmlformats.org/officeDocument/2006/relationships/slide" Target="/ppt/slides/slide14.xml" Id="R5694813ac3894868" /><Relationship Type="http://schemas.openxmlformats.org/officeDocument/2006/relationships/slide" Target="/ppt/slides/slide15.xml" Id="Rc8db5bc151bb498f" /><Relationship Type="http://schemas.openxmlformats.org/officeDocument/2006/relationships/slide" Target="/ppt/slides/slide16.xml" Id="R118083e98dad4eed" /><Relationship Type="http://schemas.openxmlformats.org/officeDocument/2006/relationships/slide" Target="/ppt/slides/slide17.xml" Id="R5c67776b6c4a4f63" /><Relationship Type="http://schemas.openxmlformats.org/officeDocument/2006/relationships/slide" Target="/ppt/slides/slide18.xml" Id="R123b1b2850b04519" /><Relationship Type="http://schemas.openxmlformats.org/officeDocument/2006/relationships/slide" Target="/ppt/slides/slide19.xml" Id="Rb15fc6466d7e40c4" /><Relationship Type="http://schemas.openxmlformats.org/officeDocument/2006/relationships/slide" Target="/ppt/slides/slide20.xml" Id="Rc229bb2e7d6a41ee" /><Relationship Type="http://schemas.openxmlformats.org/officeDocument/2006/relationships/slide" Target="/ppt/slides/slide21.xml" Id="Rf9118417398e4850" /><Relationship Type="http://schemas.openxmlformats.org/officeDocument/2006/relationships/slide" Target="/ppt/slides/slide22.xml" Id="R5ade6210c5e84ade" /><Relationship Type="http://schemas.openxmlformats.org/officeDocument/2006/relationships/slide" Target="/ppt/slides/slide23.xml" Id="R50328d3db39b4629" /><Relationship Type="http://schemas.openxmlformats.org/officeDocument/2006/relationships/slide" Target="/ppt/slides/slide24.xml" Id="R21bee0143b514184" /><Relationship Type="http://schemas.openxmlformats.org/officeDocument/2006/relationships/slide" Target="/ppt/slides/slide25.xml" Id="R655607b5221d4c34" /><Relationship Type="http://schemas.openxmlformats.org/officeDocument/2006/relationships/slide" Target="/ppt/slides/slide26.xml" Id="Ra46a0ac87fb34833" /><Relationship Type="http://schemas.openxmlformats.org/officeDocument/2006/relationships/slide" Target="/ppt/slides/slide27.xml" Id="R4d3a1cd421b540ac" /><Relationship Type="http://schemas.openxmlformats.org/officeDocument/2006/relationships/slide" Target="/ppt/slides/slide28.xml" Id="R18519a9b53ba4c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e8b8603bb94b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f83bd603dc4ce2" /><Relationship Type="http://schemas.openxmlformats.org/officeDocument/2006/relationships/notesMaster" Target="/ppt/notesMasters/notesMaster1.xml" Id="R6cc3968e090c46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6bd6257b26443a" /><Relationship Type="http://schemas.openxmlformats.org/officeDocument/2006/relationships/notesMaster" Target="/ppt/notesMasters/notesMaster1.xml" Id="R01a50ecb4aff40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95c9e64c44457f" /><Relationship Type="http://schemas.openxmlformats.org/officeDocument/2006/relationships/notesMaster" Target="/ppt/notesMasters/notesMaster1.xml" Id="R5d8a0d571ad740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89972e7eed4331" /><Relationship Type="http://schemas.openxmlformats.org/officeDocument/2006/relationships/notesMaster" Target="/ppt/notesMasters/notesMaster1.xml" Id="R51793682fcf540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195ab842a6485f" /><Relationship Type="http://schemas.openxmlformats.org/officeDocument/2006/relationships/notesMaster" Target="/ppt/notesMasters/notesMaster1.xml" Id="Rffc3fed2da2b4d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3c7a823f714eae" /><Relationship Type="http://schemas.openxmlformats.org/officeDocument/2006/relationships/notesMaster" Target="/ppt/notesMasters/notesMaster1.xml" Id="R7122b1b695fa47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843f33807144a5" /><Relationship Type="http://schemas.openxmlformats.org/officeDocument/2006/relationships/notesMaster" Target="/ppt/notesMasters/notesMaster1.xml" Id="Rbb44033864fa41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d07c19a4694c90" /><Relationship Type="http://schemas.openxmlformats.org/officeDocument/2006/relationships/notesMaster" Target="/ppt/notesMasters/notesMaster1.xml" Id="R7fafce83e21b40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b23d7cf0c145be" /><Relationship Type="http://schemas.openxmlformats.org/officeDocument/2006/relationships/notesMaster" Target="/ppt/notesMasters/notesMaster1.xml" Id="R02fec85cf7e946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0320b85a72475f" /><Relationship Type="http://schemas.openxmlformats.org/officeDocument/2006/relationships/notesMaster" Target="/ppt/notesMasters/notesMaster1.xml" Id="Ra509e5a5c0924f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936d2742d64925" /><Relationship Type="http://schemas.openxmlformats.org/officeDocument/2006/relationships/notesMaster" Target="/ppt/notesMasters/notesMaster1.xml" Id="R27c5c9fae6144a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66823700864dc1" /><Relationship Type="http://schemas.openxmlformats.org/officeDocument/2006/relationships/notesMaster" Target="/ppt/notesMasters/notesMaster1.xml" Id="Rc5a0bec26cae44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18e87466db46ce" /><Relationship Type="http://schemas.openxmlformats.org/officeDocument/2006/relationships/notesMaster" Target="/ppt/notesMasters/notesMaster1.xml" Id="R709d9f83032345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9c32b122274c39" /><Relationship Type="http://schemas.openxmlformats.org/officeDocument/2006/relationships/notesMaster" Target="/ppt/notesMasters/notesMaster1.xml" Id="Rfee8aca638e94b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05ae286d3f4f98" /><Relationship Type="http://schemas.openxmlformats.org/officeDocument/2006/relationships/notesMaster" Target="/ppt/notesMasters/notesMaster1.xml" Id="Ra0a73102a5c340d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993e48ccb83486e" /><Relationship Type="http://schemas.openxmlformats.org/officeDocument/2006/relationships/notesMaster" Target="/ppt/notesMasters/notesMaster1.xml" Id="R5fd43da57bab457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b041853d0242da" /><Relationship Type="http://schemas.openxmlformats.org/officeDocument/2006/relationships/notesMaster" Target="/ppt/notesMasters/notesMaster1.xml" Id="R00de56e58a0f47e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8ad225c0794772" /><Relationship Type="http://schemas.openxmlformats.org/officeDocument/2006/relationships/notesMaster" Target="/ppt/notesMasters/notesMaster1.xml" Id="R76ed14cbc64148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33b2f78d29944e2" /><Relationship Type="http://schemas.openxmlformats.org/officeDocument/2006/relationships/notesMaster" Target="/ppt/notesMasters/notesMaster1.xml" Id="Rbdb1adee7160484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7be83ce16e4767" /><Relationship Type="http://schemas.openxmlformats.org/officeDocument/2006/relationships/notesMaster" Target="/ppt/notesMasters/notesMaster1.xml" Id="R353bc326f4ee46a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acc869b7ec24b84" /><Relationship Type="http://schemas.openxmlformats.org/officeDocument/2006/relationships/notesMaster" Target="/ppt/notesMasters/notesMaster1.xml" Id="R7cd1691661894a7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24def2486684cd7" /><Relationship Type="http://schemas.openxmlformats.org/officeDocument/2006/relationships/notesMaster" Target="/ppt/notesMasters/notesMaster1.xml" Id="R6ac20abcc8c046d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88635b235934b15" /><Relationship Type="http://schemas.openxmlformats.org/officeDocument/2006/relationships/notesMaster" Target="/ppt/notesMasters/notesMaster1.xml" Id="R3b3d4435504745f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6d1ab43f9cf4bfc" /><Relationship Type="http://schemas.openxmlformats.org/officeDocument/2006/relationships/notesMaster" Target="/ppt/notesMasters/notesMaster1.xml" Id="R55c967d736c44ed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b90dc0d245d4ef4" /><Relationship Type="http://schemas.openxmlformats.org/officeDocument/2006/relationships/notesMaster" Target="/ppt/notesMasters/notesMaster1.xml" Id="Rca1afcfe5167448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f164384c854aed" /><Relationship Type="http://schemas.openxmlformats.org/officeDocument/2006/relationships/notesMaster" Target="/ppt/notesMasters/notesMaster1.xml" Id="R2be0ced4c78441a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fc42676d3af4464" /><Relationship Type="http://schemas.openxmlformats.org/officeDocument/2006/relationships/notesMaster" Target="/ppt/notesMasters/notesMaster1.xml" Id="R3739334f8c37490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42c1a83f8e640d4" /><Relationship Type="http://schemas.openxmlformats.org/officeDocument/2006/relationships/notesMaster" Target="/ppt/notesMasters/notesMaster1.xml" Id="R9629c6d6202c40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three questions: Where does a model cross a threshold? How much accumulates? How fast does it change? Ask students to identify the root, area, and slope cues in the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before revealing the labels. Ask students to match each mathematical operation to a physical question. Examples: equilibrium position, total work, instantaneous velocity.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method-choice outcome explicit: students are not learning recipes only. They should justify assumptions, stopping criteria, and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navigation slide. The deck is designed for a two-hour lecture with short predict/discuss/run pauses.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one physical example of a root. Good answers include net force equals zero, charge balance, or an event time defined implicitly.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geometric construction: evaluate the curve, estimate local slope, project the tangent to the axis. Emphasize that the tangent is only a local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residual and relative step. A tiny step can occur near numerical stagnation; a small residual directly checks the equation.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run the code, then change x0. Point out the slow-looking early stage and rapid final convergence. The displayed values are rounded.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Ask: what information would make Newton safer? Expected answers: plot, bracket, derivative check, maximum iteration count, or a hybrid solver.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continuity assumption matters. Demonstrate the sign test physically with thumbs up/down at the endpoints.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how many steps are needed to reduce a width of 1 to below 1e-6. Answer: ceil(log2(1e6)) =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frame one method as universally superior. The choice depends on available information and failure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distinction: fzero seeks a real zero of a general function; roots solves a polynomial represented by coefficients and can return complex roots.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Hide the right-hand answers if presenting interactively, or ask students to cover them. Require a one-sentence justification.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area to displacement, work, charge, probability, and total radiated power.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orange polyline is the approximation. The integral of each straight segment is a trapezoid. Mention O(h²) global error without deriving it fully.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say the weights aloud: 1, 4, 2, 4, 2, …, 4, 1. Explicitly correct the n=5 example in the original live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table is illustrative and rounded. Ask why agreement between two successive approximations is useful but not a proof of correctness.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function-based quadrature from integrating measured data. Mention tolerances as part of the numerical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black-body example conceptually: the numerator is energy in the visible band; the denominator is total radiated energy. The live-script expression combines constants into a percentage formula.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deliberately improves the original example. Ask students to predict how visible efficiency changes with temperature before experimenting.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derivatives to velocity, acceleration, gradients, flux, and sensitivity.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Taylor-series language lightly: central difference cancels the first-order error. At boundaries, forward or backward formulas may be necessary.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live script plots the forward difference at x(2:end); this slide uses midpoint coordinates to make the approximation location explicit.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whether MATLAB producing a finite number at one grid point proves differentiability. It does not; the result depends on the stencil and sampling.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original x^2 example through h = 10^0 to 10^-19. Ask students to predict whether the smallest h gives the best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think-pair-share or exit ticket. Require students to specify validation, not only a MATLAB function name.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students for one failure mode they will now check routinely. Bridge to Topic 12: ODE solvers repeatedly use ideas of local slope and accumulated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a3113b03e4b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3a7ff7756f45b3" /><Relationship Type="http://schemas.openxmlformats.org/officeDocument/2006/relationships/slideLayout" Target="/ppt/slideLayouts/slideLayout1.xml" Id="Rf59f91fcf0214f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9f91fcf0214f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4f1902c45493c" /><Relationship Type="http://schemas.openxmlformats.org/officeDocument/2006/relationships/image" Target="/ppt/media/image.png" Id="R1e167b687cd240d4" /><Relationship Type="http://schemas.openxmlformats.org/officeDocument/2006/relationships/notesSlide" Target="/ppt/notesSlides/notesSlide1.xml" Id="R50b37d0899c34b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1a7f2e0c449bf" /><Relationship Type="http://schemas.openxmlformats.org/officeDocument/2006/relationships/notesSlide" Target="/ppt/notesSlides/notesSlide2.xml" Id="Ra4aa5543942b48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05cec1f1c41c2" /><Relationship Type="http://schemas.openxmlformats.org/officeDocument/2006/relationships/notesSlide" Target="/ppt/notesSlides/notesSlide3.xml" Id="Rfee31eb2fdbe47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e7a165e404a15" /><Relationship Type="http://schemas.openxmlformats.org/officeDocument/2006/relationships/notesSlide" Target="/ppt/notesSlides/notesSlide4.xml" Id="Raa6a3c94f3994f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b480fc7834dcf" /><Relationship Type="http://schemas.openxmlformats.org/officeDocument/2006/relationships/notesSlide" Target="/ppt/notesSlides/notesSlide5.xml" Id="Rd9c068da5e5b45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f5fd6f5784870" /><Relationship Type="http://schemas.openxmlformats.org/officeDocument/2006/relationships/chart" Target="/ppt/slides/charts/chart1.xml" Id="R3b4c37b8736f4a07" /><Relationship Type="http://schemas.openxmlformats.org/officeDocument/2006/relationships/notesSlide" Target="/ppt/notesSlides/notesSlide6.xml" Id="Re460e730b57b48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a71b70b9143e5" /><Relationship Type="http://schemas.openxmlformats.org/officeDocument/2006/relationships/notesSlide" Target="/ppt/notesSlides/notesSlide7.xml" Id="R7ad964fe9a4b47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67c9371174cfb" /><Relationship Type="http://schemas.openxmlformats.org/officeDocument/2006/relationships/notesSlide" Target="/ppt/notesSlides/notesSlide8.xml" Id="R4c78c9fbc79b4c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2d6e47c23401a" /><Relationship Type="http://schemas.openxmlformats.org/officeDocument/2006/relationships/notesSlide" Target="/ppt/notesSlides/notesSlide9.xml" Id="R792c3370d1f844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2b6d846df4de0" /><Relationship Type="http://schemas.openxmlformats.org/officeDocument/2006/relationships/notesSlide" Target="/ppt/notesSlides/notesSlide10.xml" Id="Ra8b9251817d047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a3842c8ef4238" /><Relationship Type="http://schemas.openxmlformats.org/officeDocument/2006/relationships/notesSlide" Target="/ppt/notesSlides/notesSlide11.xml" Id="Rc992b916a1c142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a49e8364142c0" /><Relationship Type="http://schemas.openxmlformats.org/officeDocument/2006/relationships/notesSlide" Target="/ppt/notesSlides/notesSlide12.xml" Id="R47e322aeda1b4f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6ba74bc624334" /><Relationship Type="http://schemas.openxmlformats.org/officeDocument/2006/relationships/notesSlide" Target="/ppt/notesSlides/notesSlide13.xml" Id="R91d278ba65f340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f36c57ced43c3" /><Relationship Type="http://schemas.openxmlformats.org/officeDocument/2006/relationships/notesSlide" Target="/ppt/notesSlides/notesSlide14.xml" Id="R8ca44d64050d46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f5b4eb8984b8d" /><Relationship Type="http://schemas.openxmlformats.org/officeDocument/2006/relationships/notesSlide" Target="/ppt/notesSlides/notesSlide15.xml" Id="R0694a438d784407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276e31d524fe8" /><Relationship Type="http://schemas.openxmlformats.org/officeDocument/2006/relationships/chart" Target="/ppt/slides/charts/chart2.xml" Id="R9afadee85f2a42cf" /><Relationship Type="http://schemas.openxmlformats.org/officeDocument/2006/relationships/notesSlide" Target="/ppt/notesSlides/notesSlide16.xml" Id="Rff7a104a6910487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e9429056b4d9a" /><Relationship Type="http://schemas.openxmlformats.org/officeDocument/2006/relationships/notesSlide" Target="/ppt/notesSlides/notesSlide17.xml" Id="R22c44ac119694b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2ba5f6741487d" /><Relationship Type="http://schemas.openxmlformats.org/officeDocument/2006/relationships/notesSlide" Target="/ppt/notesSlides/notesSlide18.xml" Id="R5783f3664e6846d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1a7459fff44e9" /><Relationship Type="http://schemas.openxmlformats.org/officeDocument/2006/relationships/notesSlide" Target="/ppt/notesSlides/notesSlide19.xml" Id="Rf5a6042d3f8f4b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c5e2ce6ca4ac4" /><Relationship Type="http://schemas.openxmlformats.org/officeDocument/2006/relationships/image" Target="/ppt/media/image2.png" Id="R0114dd493b264fd2" /><Relationship Type="http://schemas.openxmlformats.org/officeDocument/2006/relationships/notesSlide" Target="/ppt/notesSlides/notesSlide20.xml" Id="R30c37a3e02084f1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4ab7b46f74af3" /><Relationship Type="http://schemas.openxmlformats.org/officeDocument/2006/relationships/notesSlide" Target="/ppt/notesSlides/notesSlide21.xml" Id="Rf7d1da2dc4274fd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8b17635fc43f6" /><Relationship Type="http://schemas.openxmlformats.org/officeDocument/2006/relationships/notesSlide" Target="/ppt/notesSlides/notesSlide22.xml" Id="R7a902ded3ae54b8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b8d8f3a3f4e74" /><Relationship Type="http://schemas.openxmlformats.org/officeDocument/2006/relationships/notesSlide" Target="/ppt/notesSlides/notesSlide23.xml" Id="R33e77f9fc5294e5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3995020bc45b4" /><Relationship Type="http://schemas.openxmlformats.org/officeDocument/2006/relationships/notesSlide" Target="/ppt/notesSlides/notesSlide24.xml" Id="R7f240a3af44e466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5ed8a185641b3" /><Relationship Type="http://schemas.openxmlformats.org/officeDocument/2006/relationships/chart" Target="/ppt/slides/charts/chart3.xml" Id="Rae035ba0f6524b3f" /><Relationship Type="http://schemas.openxmlformats.org/officeDocument/2006/relationships/notesSlide" Target="/ppt/notesSlides/notesSlide25.xml" Id="R317b027de37540b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3d648ea8d46aa" /><Relationship Type="http://schemas.openxmlformats.org/officeDocument/2006/relationships/chart" Target="/ppt/slides/charts/chart4.xml" Id="R8a8fb057041d4436" /><Relationship Type="http://schemas.openxmlformats.org/officeDocument/2006/relationships/notesSlide" Target="/ppt/notesSlides/notesSlide26.xml" Id="R84e0f89beca946c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473fd2cb844c6" /><Relationship Type="http://schemas.openxmlformats.org/officeDocument/2006/relationships/notesSlide" Target="/ppt/notesSlides/notesSlide27.xml" Id="Rd6eb3cc4a73c494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3e9b7802b40e0" /><Relationship Type="http://schemas.openxmlformats.org/officeDocument/2006/relationships/notesSlide" Target="/ppt/notesSlides/notesSlide28.xml" Id="Rd5a089d40ce34ae3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scatterChart>
        <c:scatterStyle val="smooth"/>
        <c:ser>
          <c:idx val="0"/>
          <c:order val="0"/>
          <c:tx>
            <c:v>f(x)</c:v>
          </c:tx>
          <c:spPr>
            <a:ln xmlns:a="http://schemas.openxmlformats.org/drawingml/2006/main" w="28575">
              <a:solidFill>
                <a:srgbClr val="00A8C6"/>
              </a:solidFill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71"/>
              <c:pt idx="0">
                <c:v>0.5</c:v>
              </c:pt>
              <c:pt idx="1">
                <c:v>0.54</c:v>
              </c:pt>
              <c:pt idx="2">
                <c:v>0.58</c:v>
              </c:pt>
              <c:pt idx="3">
                <c:v>0.62</c:v>
              </c:pt>
              <c:pt idx="4">
                <c:v>0.66</c:v>
              </c:pt>
              <c:pt idx="5">
                <c:v>0.7</c:v>
              </c:pt>
              <c:pt idx="6">
                <c:v>0.74</c:v>
              </c:pt>
              <c:pt idx="7">
                <c:v>0.78</c:v>
              </c:pt>
              <c:pt idx="8">
                <c:v>0.8200000000000001</c:v>
              </c:pt>
              <c:pt idx="9">
                <c:v>0.86</c:v>
              </c:pt>
              <c:pt idx="10">
                <c:v>0.9</c:v>
              </c:pt>
              <c:pt idx="11">
                <c:v>0.94</c:v>
              </c:pt>
              <c:pt idx="12">
                <c:v>0.98</c:v>
              </c:pt>
              <c:pt idx="13">
                <c:v>1.02</c:v>
              </c:pt>
              <c:pt idx="14">
                <c:v>1.06</c:v>
              </c:pt>
              <c:pt idx="15">
                <c:v>1.1</c:v>
              </c:pt>
              <c:pt idx="16">
                <c:v>1.1400000000000001</c:v>
              </c:pt>
              <c:pt idx="17">
                <c:v>1.1800000000000002</c:v>
              </c:pt>
              <c:pt idx="18">
                <c:v>1.22</c:v>
              </c:pt>
              <c:pt idx="19">
                <c:v>1.26</c:v>
              </c:pt>
              <c:pt idx="20">
                <c:v>1.3</c:v>
              </c:pt>
              <c:pt idx="21">
                <c:v>1.3399999999999999</c:v>
              </c:pt>
              <c:pt idx="22">
                <c:v>1.38</c:v>
              </c:pt>
              <c:pt idx="23">
                <c:v>1.42</c:v>
              </c:pt>
              <c:pt idx="24">
                <c:v>1.46</c:v>
              </c:pt>
              <c:pt idx="25">
                <c:v>1.5</c:v>
              </c:pt>
              <c:pt idx="26">
                <c:v>1.54</c:v>
              </c:pt>
              <c:pt idx="27">
                <c:v>1.58</c:v>
              </c:pt>
              <c:pt idx="28">
                <c:v>1.62</c:v>
              </c:pt>
              <c:pt idx="29">
                <c:v>1.66</c:v>
              </c:pt>
              <c:pt idx="30">
                <c:v>1.7</c:v>
              </c:pt>
              <c:pt idx="31">
                <c:v>1.74</c:v>
              </c:pt>
              <c:pt idx="32">
                <c:v>1.78</c:v>
              </c:pt>
              <c:pt idx="33">
                <c:v>1.82</c:v>
              </c:pt>
              <c:pt idx="34">
                <c:v>1.86</c:v>
              </c:pt>
              <c:pt idx="35">
                <c:v>1.9000000000000001</c:v>
              </c:pt>
              <c:pt idx="36">
                <c:v>1.94</c:v>
              </c:pt>
              <c:pt idx="37">
                <c:v>1.98</c:v>
              </c:pt>
              <c:pt idx="38">
                <c:v>2.02</c:v>
              </c:pt>
              <c:pt idx="39">
                <c:v>2.06</c:v>
              </c:pt>
              <c:pt idx="40">
                <c:v>2.1</c:v>
              </c:pt>
              <c:pt idx="41">
                <c:v>2.14</c:v>
              </c:pt>
              <c:pt idx="42">
                <c:v>2.1799999999999997</c:v>
              </c:pt>
              <c:pt idx="43">
                <c:v>2.2199999999999998</c:v>
              </c:pt>
              <c:pt idx="44">
                <c:v>2.26</c:v>
              </c:pt>
              <c:pt idx="45">
                <c:v>2.3</c:v>
              </c:pt>
              <c:pt idx="46">
                <c:v>2.34</c:v>
              </c:pt>
              <c:pt idx="47">
                <c:v>2.38</c:v>
              </c:pt>
              <c:pt idx="48">
                <c:v>2.42</c:v>
              </c:pt>
              <c:pt idx="49">
                <c:v>2.46</c:v>
              </c:pt>
              <c:pt idx="50">
                <c:v>2.5</c:v>
              </c:pt>
              <c:pt idx="51">
                <c:v>2.54</c:v>
              </c:pt>
              <c:pt idx="52">
                <c:v>2.58</c:v>
              </c:pt>
              <c:pt idx="53">
                <c:v>2.62</c:v>
              </c:pt>
              <c:pt idx="54">
                <c:v>2.66</c:v>
              </c:pt>
              <c:pt idx="55">
                <c:v>2.7</c:v>
              </c:pt>
              <c:pt idx="56">
                <c:v>2.74</c:v>
              </c:pt>
              <c:pt idx="57">
                <c:v>2.7800000000000002</c:v>
              </c:pt>
              <c:pt idx="58">
                <c:v>2.82</c:v>
              </c:pt>
              <c:pt idx="59">
                <c:v>2.86</c:v>
              </c:pt>
              <c:pt idx="60">
                <c:v>2.9</c:v>
              </c:pt>
              <c:pt idx="61">
                <c:v>2.94</c:v>
              </c:pt>
              <c:pt idx="62">
                <c:v>2.98</c:v>
              </c:pt>
              <c:pt idx="63">
                <c:v>3.02</c:v>
              </c:pt>
              <c:pt idx="64">
                <c:v>3.06</c:v>
              </c:pt>
              <c:pt idx="65">
                <c:v>3.1</c:v>
              </c:pt>
              <c:pt idx="66">
                <c:v>3.14</c:v>
              </c:pt>
              <c:pt idx="67">
                <c:v>3.18</c:v>
              </c:pt>
              <c:pt idx="68">
                <c:v>3.22</c:v>
              </c:pt>
              <c:pt idx="69">
                <c:v>3.2600000000000002</c:v>
              </c:pt>
              <c:pt idx="70">
                <c:v>3.3000000000000003</c:v>
              </c:pt>
            </c:numLit>
          </c:xVal>
          <c:yVal>
            <c:numLit>
              <c:formatCode>0.0</c:formatCode>
              <c:ptCount val="71"/>
              <c:pt idx="0">
                <c:v>-5.875</c:v>
              </c:pt>
              <c:pt idx="1">
                <c:v>-5.922536</c:v>
              </c:pt>
              <c:pt idx="2">
                <c:v>-5.964888</c:v>
              </c:pt>
              <c:pt idx="3">
                <c:v>-6.001672</c:v>
              </c:pt>
              <c:pt idx="4">
                <c:v>-6.032504</c:v>
              </c:pt>
              <c:pt idx="5">
                <c:v>-6.057</c:v>
              </c:pt>
              <c:pt idx="6">
                <c:v>-6.074776</c:v>
              </c:pt>
              <c:pt idx="7">
                <c:v>-6.0854479999999995</c:v>
              </c:pt>
              <c:pt idx="8">
                <c:v>-6.0886320000000005</c:v>
              </c:pt>
              <c:pt idx="9">
                <c:v>-6.083944</c:v>
              </c:pt>
              <c:pt idx="10">
                <c:v>-6.071</c:v>
              </c:pt>
              <c:pt idx="11">
                <c:v>-6.049416</c:v>
              </c:pt>
              <c:pt idx="12">
                <c:v>-6.018808</c:v>
              </c:pt>
              <c:pt idx="13">
                <c:v>-5.978792</c:v>
              </c:pt>
              <c:pt idx="14">
                <c:v>-5.928984</c:v>
              </c:pt>
              <c:pt idx="15">
                <c:v>-5.869</c:v>
              </c:pt>
              <c:pt idx="16">
                <c:v>-5.798456</c:v>
              </c:pt>
              <c:pt idx="17">
                <c:v>-5.716968</c:v>
              </c:pt>
              <c:pt idx="18">
                <c:v>-5.6241520000000005</c:v>
              </c:pt>
              <c:pt idx="19">
                <c:v>-5.519624</c:v>
              </c:pt>
              <c:pt idx="20">
                <c:v>-5.4030000000000005</c:v>
              </c:pt>
              <c:pt idx="21">
                <c:v>-5.273896000000001</c:v>
              </c:pt>
              <c:pt idx="22">
                <c:v>-5.131928</c:v>
              </c:pt>
              <c:pt idx="23">
                <c:v>-4.976712000000001</c:v>
              </c:pt>
              <c:pt idx="24">
                <c:v>-4.807864</c:v>
              </c:pt>
              <c:pt idx="25">
                <c:v>-4.625</c:v>
              </c:pt>
              <c:pt idx="26">
                <c:v>-4.4277359999999994</c:v>
              </c:pt>
              <c:pt idx="27">
                <c:v>-4.215688</c:v>
              </c:pt>
              <c:pt idx="28">
                <c:v>-3.988472</c:v>
              </c:pt>
              <c:pt idx="29">
                <c:v>-3.7457040000000004</c:v>
              </c:pt>
              <c:pt idx="30">
                <c:v>-3.4870000000000005</c:v>
              </c:pt>
              <c:pt idx="31">
                <c:v>-3.2119760000000004</c:v>
              </c:pt>
              <c:pt idx="32">
                <c:v>-2.9202479999999995</c:v>
              </c:pt>
              <c:pt idx="33">
                <c:v>-2.6114319999999993</c:v>
              </c:pt>
              <c:pt idx="34">
                <c:v>-2.2851439999999994</c:v>
              </c:pt>
              <c:pt idx="35">
                <c:v>-1.9409999999999985</c:v>
              </c:pt>
              <c:pt idx="36">
                <c:v>-1.5786160000000002</c:v>
              </c:pt>
              <c:pt idx="37">
                <c:v>-1.1976079999999998</c:v>
              </c:pt>
              <c:pt idx="38">
                <c:v>-0.797591999999999</c:v>
              </c:pt>
              <c:pt idx="39">
                <c:v>-0.3781840000000001</c:v>
              </c:pt>
              <c:pt idx="40">
                <c:v>0.06100000000000083</c:v>
              </c:pt>
              <c:pt idx="41">
                <c:v>0.5203440000000006</c:v>
              </c:pt>
              <c:pt idx="42">
                <c:v>1.000231999999997</c:v>
              </c:pt>
              <c:pt idx="43">
                <c:v>1.5010479999999973</c:v>
              </c:pt>
              <c:pt idx="44">
                <c:v>2.0231759999999976</c:v>
              </c:pt>
              <c:pt idx="45">
                <c:v>2.5669999999999984</c:v>
              </c:pt>
              <c:pt idx="46">
                <c:v>3.132903999999998</c:v>
              </c:pt>
              <c:pt idx="47">
                <c:v>3.721271999999999</c:v>
              </c:pt>
              <c:pt idx="48">
                <c:v>4.332488</c:v>
              </c:pt>
              <c:pt idx="49">
                <c:v>4.966935999999999</c:v>
              </c:pt>
              <c:pt idx="50">
                <c:v>5.625</c:v>
              </c:pt>
              <c:pt idx="51">
                <c:v>6.307064000000002</c:v>
              </c:pt>
              <c:pt idx="52">
                <c:v>7.013512000000002</c:v>
              </c:pt>
              <c:pt idx="53">
                <c:v>7.744728</c:v>
              </c:pt>
              <c:pt idx="54">
                <c:v>8.501096000000004</c:v>
              </c:pt>
              <c:pt idx="55">
                <c:v>9.283000000000003</c:v>
              </c:pt>
              <c:pt idx="56">
                <c:v>10.090824000000005</c:v>
              </c:pt>
              <c:pt idx="57">
                <c:v>10.924952000000006</c:v>
              </c:pt>
              <c:pt idx="58">
                <c:v>11.785767999999997</c:v>
              </c:pt>
              <c:pt idx="59">
                <c:v>12.673655999999998</c:v>
              </c:pt>
              <c:pt idx="60">
                <c:v>13.588999999999999</c:v>
              </c:pt>
              <c:pt idx="61">
                <c:v>14.532184</c:v>
              </c:pt>
              <c:pt idx="62">
                <c:v>15.503591999999998</c:v>
              </c:pt>
              <c:pt idx="63">
                <c:v>16.503608</c:v>
              </c:pt>
              <c:pt idx="64">
                <c:v>17.532616</c:v>
              </c:pt>
              <c:pt idx="65">
                <c:v>18.591000000000005</c:v>
              </c:pt>
              <c:pt idx="66">
                <c:v>19.679144</c:v>
              </c:pt>
              <c:pt idx="67">
                <c:v>20.797432000000008</c:v>
              </c:pt>
              <c:pt idx="68">
                <c:v>21.946248000000008</c:v>
              </c:pt>
              <c:pt idx="69">
                <c:v>23.125976000000005</c:v>
              </c:pt>
              <c:pt idx="70">
                <c:v>24.33700000000001</c:v>
              </c:pt>
            </c:numLit>
          </c:yVal>
        </c:ser>
        <c:ser>
          <c:idx val="1"/>
          <c:order val="1"/>
          <c:tx>
            <c:v>tangent</c:v>
          </c:tx>
          <c:spPr>
            <a:ln xmlns:a="http://schemas.openxmlformats.org/drawingml/2006/main" w="19050">
              <a:solidFill>
                <a:srgbClr val="F4A340"/>
              </a:solidFill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71"/>
              <c:pt idx="0">
                <c:v>0.5</c:v>
              </c:pt>
              <c:pt idx="1">
                <c:v>0.54</c:v>
              </c:pt>
              <c:pt idx="2">
                <c:v>0.58</c:v>
              </c:pt>
              <c:pt idx="3">
                <c:v>0.62</c:v>
              </c:pt>
              <c:pt idx="4">
                <c:v>0.66</c:v>
              </c:pt>
              <c:pt idx="5">
                <c:v>0.7</c:v>
              </c:pt>
              <c:pt idx="6">
                <c:v>0.74</c:v>
              </c:pt>
              <c:pt idx="7">
                <c:v>0.78</c:v>
              </c:pt>
              <c:pt idx="8">
                <c:v>0.8200000000000001</c:v>
              </c:pt>
              <c:pt idx="9">
                <c:v>0.86</c:v>
              </c:pt>
              <c:pt idx="10">
                <c:v>0.9</c:v>
              </c:pt>
              <c:pt idx="11">
                <c:v>0.94</c:v>
              </c:pt>
              <c:pt idx="12">
                <c:v>0.98</c:v>
              </c:pt>
              <c:pt idx="13">
                <c:v>1.02</c:v>
              </c:pt>
              <c:pt idx="14">
                <c:v>1.06</c:v>
              </c:pt>
              <c:pt idx="15">
                <c:v>1.1</c:v>
              </c:pt>
              <c:pt idx="16">
                <c:v>1.1400000000000001</c:v>
              </c:pt>
              <c:pt idx="17">
                <c:v>1.1800000000000002</c:v>
              </c:pt>
              <c:pt idx="18">
                <c:v>1.22</c:v>
              </c:pt>
              <c:pt idx="19">
                <c:v>1.26</c:v>
              </c:pt>
              <c:pt idx="20">
                <c:v>1.3</c:v>
              </c:pt>
              <c:pt idx="21">
                <c:v>1.3399999999999999</c:v>
              </c:pt>
              <c:pt idx="22">
                <c:v>1.38</c:v>
              </c:pt>
              <c:pt idx="23">
                <c:v>1.42</c:v>
              </c:pt>
              <c:pt idx="24">
                <c:v>1.46</c:v>
              </c:pt>
              <c:pt idx="25">
                <c:v>1.5</c:v>
              </c:pt>
              <c:pt idx="26">
                <c:v>1.54</c:v>
              </c:pt>
              <c:pt idx="27">
                <c:v>1.58</c:v>
              </c:pt>
              <c:pt idx="28">
                <c:v>1.62</c:v>
              </c:pt>
              <c:pt idx="29">
                <c:v>1.66</c:v>
              </c:pt>
              <c:pt idx="30">
                <c:v>1.7</c:v>
              </c:pt>
              <c:pt idx="31">
                <c:v>1.74</c:v>
              </c:pt>
              <c:pt idx="32">
                <c:v>1.78</c:v>
              </c:pt>
              <c:pt idx="33">
                <c:v>1.82</c:v>
              </c:pt>
              <c:pt idx="34">
                <c:v>1.86</c:v>
              </c:pt>
              <c:pt idx="35">
                <c:v>1.9000000000000001</c:v>
              </c:pt>
              <c:pt idx="36">
                <c:v>1.94</c:v>
              </c:pt>
              <c:pt idx="37">
                <c:v>1.98</c:v>
              </c:pt>
              <c:pt idx="38">
                <c:v>2.02</c:v>
              </c:pt>
              <c:pt idx="39">
                <c:v>2.06</c:v>
              </c:pt>
              <c:pt idx="40">
                <c:v>2.1</c:v>
              </c:pt>
              <c:pt idx="41">
                <c:v>2.14</c:v>
              </c:pt>
              <c:pt idx="42">
                <c:v>2.1799999999999997</c:v>
              </c:pt>
              <c:pt idx="43">
                <c:v>2.2199999999999998</c:v>
              </c:pt>
              <c:pt idx="44">
                <c:v>2.26</c:v>
              </c:pt>
              <c:pt idx="45">
                <c:v>2.3</c:v>
              </c:pt>
              <c:pt idx="46">
                <c:v>2.34</c:v>
              </c:pt>
              <c:pt idx="47">
                <c:v>2.38</c:v>
              </c:pt>
              <c:pt idx="48">
                <c:v>2.42</c:v>
              </c:pt>
              <c:pt idx="49">
                <c:v>2.46</c:v>
              </c:pt>
              <c:pt idx="50">
                <c:v>2.5</c:v>
              </c:pt>
              <c:pt idx="51">
                <c:v>2.54</c:v>
              </c:pt>
              <c:pt idx="52">
                <c:v>2.58</c:v>
              </c:pt>
              <c:pt idx="53">
                <c:v>2.62</c:v>
              </c:pt>
              <c:pt idx="54">
                <c:v>2.66</c:v>
              </c:pt>
              <c:pt idx="55">
                <c:v>2.7</c:v>
              </c:pt>
              <c:pt idx="56">
                <c:v>2.74</c:v>
              </c:pt>
              <c:pt idx="57">
                <c:v>2.7800000000000002</c:v>
              </c:pt>
              <c:pt idx="58">
                <c:v>2.82</c:v>
              </c:pt>
              <c:pt idx="59">
                <c:v>2.86</c:v>
              </c:pt>
              <c:pt idx="60">
                <c:v>2.9</c:v>
              </c:pt>
              <c:pt idx="61">
                <c:v>2.94</c:v>
              </c:pt>
              <c:pt idx="62">
                <c:v>2.98</c:v>
              </c:pt>
              <c:pt idx="63">
                <c:v>3.02</c:v>
              </c:pt>
              <c:pt idx="64">
                <c:v>3.06</c:v>
              </c:pt>
              <c:pt idx="65">
                <c:v>3.1</c:v>
              </c:pt>
              <c:pt idx="66">
                <c:v>3.14</c:v>
              </c:pt>
              <c:pt idx="67">
                <c:v>3.18</c:v>
              </c:pt>
              <c:pt idx="68">
                <c:v>3.22</c:v>
              </c:pt>
              <c:pt idx="69">
                <c:v>3.2600000000000002</c:v>
              </c:pt>
              <c:pt idx="70">
                <c:v>3.3000000000000003</c:v>
              </c:pt>
            </c:numLit>
          </c:xVal>
          <c:yVal>
            <c:numLit>
              <c:formatCode>0.0</c:formatCode>
              <c:ptCount val="71"/>
              <c:pt idx="0">
                <c:v>-46.5</c:v>
              </c:pt>
              <c:pt idx="1">
                <c:v>-45.5</c:v>
              </c:pt>
              <c:pt idx="2">
                <c:v>-44.5</c:v>
              </c:pt>
              <c:pt idx="3">
                <c:v>-43.5</c:v>
              </c:pt>
              <c:pt idx="4">
                <c:v>-42.5</c:v>
              </c:pt>
              <c:pt idx="5">
                <c:v>-41.49999999999999</c:v>
              </c:pt>
              <c:pt idx="6">
                <c:v>-40.49999999999999</c:v>
              </c:pt>
              <c:pt idx="7">
                <c:v>-39.49999999999999</c:v>
              </c:pt>
              <c:pt idx="8">
                <c:v>-38.49999999999999</c:v>
              </c:pt>
              <c:pt idx="9">
                <c:v>-37.5</c:v>
              </c:pt>
              <c:pt idx="10">
                <c:v>-36.5</c:v>
              </c:pt>
              <c:pt idx="11">
                <c:v>-35.5</c:v>
              </c:pt>
              <c:pt idx="12">
                <c:v>-34.5</c:v>
              </c:pt>
              <c:pt idx="13">
                <c:v>-33.5</c:v>
              </c:pt>
              <c:pt idx="14">
                <c:v>-32.5</c:v>
              </c:pt>
              <c:pt idx="15">
                <c:v>-31.5</c:v>
              </c:pt>
              <c:pt idx="16">
                <c:v>-30.5</c:v>
              </c:pt>
              <c:pt idx="17">
                <c:v>-29.499999999999993</c:v>
              </c:pt>
              <c:pt idx="18">
                <c:v>-28.5</c:v>
              </c:pt>
              <c:pt idx="19">
                <c:v>-27.5</c:v>
              </c:pt>
              <c:pt idx="20">
                <c:v>-26.5</c:v>
              </c:pt>
              <c:pt idx="21">
                <c:v>-25.5</c:v>
              </c:pt>
              <c:pt idx="22">
                <c:v>-24.5</c:v>
              </c:pt>
              <c:pt idx="23">
                <c:v>-23.5</c:v>
              </c:pt>
              <c:pt idx="24">
                <c:v>-22.5</c:v>
              </c:pt>
              <c:pt idx="25">
                <c:v>-21.5</c:v>
              </c:pt>
              <c:pt idx="26">
                <c:v>-20.5</c:v>
              </c:pt>
              <c:pt idx="27">
                <c:v>-19.5</c:v>
              </c:pt>
              <c:pt idx="28">
                <c:v>-18.5</c:v>
              </c:pt>
              <c:pt idx="29">
                <c:v>-17.5</c:v>
              </c:pt>
              <c:pt idx="30">
                <c:v>-16.5</c:v>
              </c:pt>
              <c:pt idx="31">
                <c:v>-15.5</c:v>
              </c:pt>
              <c:pt idx="32">
                <c:v>-14.5</c:v>
              </c:pt>
              <c:pt idx="33">
                <c:v>-13.5</c:v>
              </c:pt>
              <c:pt idx="34">
                <c:v>-12.499999999999996</c:v>
              </c:pt>
              <c:pt idx="35">
                <c:v>-11.499999999999996</c:v>
              </c:pt>
              <c:pt idx="36">
                <c:v>-10.5</c:v>
              </c:pt>
              <c:pt idx="37">
                <c:v>-9.5</c:v>
              </c:pt>
              <c:pt idx="38">
                <c:v>-8.5</c:v>
              </c:pt>
              <c:pt idx="39">
                <c:v>-7.5</c:v>
              </c:pt>
              <c:pt idx="40">
                <c:v>-6.4999999999999964</c:v>
              </c:pt>
              <c:pt idx="41">
                <c:v>-5.4999999999999964</c:v>
              </c:pt>
              <c:pt idx="42">
                <c:v>-4.500000000000007</c:v>
              </c:pt>
              <c:pt idx="43">
                <c:v>-3.500000000000007</c:v>
              </c:pt>
              <c:pt idx="44">
                <c:v>-2.500000000000007</c:v>
              </c:pt>
              <c:pt idx="45">
                <c:v>-1.5000000000000036</c:v>
              </c:pt>
              <c:pt idx="46">
                <c:v>-0.5000000000000036</c:v>
              </c:pt>
              <c:pt idx="47">
                <c:v>0.49999999999999645</c:v>
              </c:pt>
              <c:pt idx="48">
                <c:v>1.4999999999999982</c:v>
              </c:pt>
              <c:pt idx="49">
                <c:v>2.5</c:v>
              </c:pt>
              <c:pt idx="50">
                <c:v>3.5</c:v>
              </c:pt>
              <c:pt idx="51">
                <c:v>4.5</c:v>
              </c:pt>
              <c:pt idx="52">
                <c:v>5.500000000000002</c:v>
              </c:pt>
              <c:pt idx="53">
                <c:v>6.5000000000000036</c:v>
              </c:pt>
              <c:pt idx="54">
                <c:v>7.5000000000000036</c:v>
              </c:pt>
              <c:pt idx="55">
                <c:v>8.500000000000004</c:v>
              </c:pt>
              <c:pt idx="56">
                <c:v>9.500000000000005</c:v>
              </c:pt>
              <c:pt idx="57">
                <c:v>10.500000000000007</c:v>
              </c:pt>
              <c:pt idx="58">
                <c:v>11.499999999999996</c:v>
              </c:pt>
              <c:pt idx="59">
                <c:v>12.499999999999996</c:v>
              </c:pt>
              <c:pt idx="60">
                <c:v>13.499999999999998</c:v>
              </c:pt>
              <c:pt idx="61">
                <c:v>14.499999999999998</c:v>
              </c:pt>
              <c:pt idx="62">
                <c:v>15.5</c:v>
              </c:pt>
              <c:pt idx="63">
                <c:v>16.5</c:v>
              </c:pt>
              <c:pt idx="64">
                <c:v>17.5</c:v>
              </c:pt>
              <c:pt idx="65">
                <c:v>18.500000000000004</c:v>
              </c:pt>
              <c:pt idx="66">
                <c:v>19.500000000000004</c:v>
              </c:pt>
              <c:pt idx="67">
                <c:v>20.500000000000004</c:v>
              </c:pt>
              <c:pt idx="68">
                <c:v>21.500000000000007</c:v>
              </c:pt>
              <c:pt idx="69">
                <c:v>22.500000000000007</c:v>
              </c:pt>
              <c:pt idx="70">
                <c:v>23.500000000000007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DE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f(x)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470"/>
                </a:solidFill>
              </a:defRPr>
            </a:pPr>
          </a:p>
        </c:txPr>
        <c:crossAx val="48650112"/>
        <c:crosses val="autoZero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DE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x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470"/>
                </a:solidFill>
              </a:defRPr>
            </a:pPr>
          </a:p>
        </c:txPr>
        <c:crossAx val="48672768"/>
        <c:crosses val="autoZero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8DDE5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D647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scatterChart>
        <c:scatterStyle val="lineMarker"/>
        <c:ser>
          <c:idx val="0"/>
          <c:order val="0"/>
          <c:tx>
            <c:v>f(x)</c:v>
          </c:tx>
          <c:spPr>
            <a:ln xmlns:a="http://schemas.openxmlformats.org/drawingml/2006/main" w="28575">
              <a:solidFill>
                <a:srgbClr val="6E56CF"/>
              </a:solidFill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41"/>
              <c:pt idx="0">
                <c:v>0</c:v>
              </c:pt>
              <c:pt idx="1">
                <c:v>0.1</c:v>
              </c:pt>
              <c:pt idx="2">
                <c:v>0.2</c:v>
              </c:pt>
              <c:pt idx="3">
                <c:v>0.30000000000000004</c:v>
              </c:pt>
              <c:pt idx="4">
                <c:v>0.4</c:v>
              </c:pt>
              <c:pt idx="5">
                <c:v>0.5</c:v>
              </c:pt>
              <c:pt idx="6">
                <c:v>0.6000000000000001</c:v>
              </c:pt>
              <c:pt idx="7">
                <c:v>0.7000000000000001</c:v>
              </c:pt>
              <c:pt idx="8">
                <c:v>0.8</c:v>
              </c:pt>
              <c:pt idx="9">
                <c:v>0.9</c:v>
              </c:pt>
              <c:pt idx="10">
                <c:v>1</c:v>
              </c:pt>
              <c:pt idx="11">
                <c:v>1.1</c:v>
              </c:pt>
              <c:pt idx="12">
                <c:v>1.2000000000000002</c:v>
              </c:pt>
              <c:pt idx="13">
                <c:v>1.3</c:v>
              </c:pt>
              <c:pt idx="14">
                <c:v>1.4000000000000001</c:v>
              </c:pt>
              <c:pt idx="15">
                <c:v>1.5</c:v>
              </c:pt>
              <c:pt idx="16">
                <c:v>1.6</c:v>
              </c:pt>
              <c:pt idx="17">
                <c:v>1.7000000000000002</c:v>
              </c:pt>
              <c:pt idx="18">
                <c:v>1.8</c:v>
              </c:pt>
              <c:pt idx="19">
                <c:v>1.9000000000000001</c:v>
              </c:pt>
              <c:pt idx="20">
                <c:v>2</c:v>
              </c:pt>
              <c:pt idx="21">
                <c:v>2.1</c:v>
              </c:pt>
              <c:pt idx="22">
                <c:v>2.2</c:v>
              </c:pt>
              <c:pt idx="23">
                <c:v>2.3000000000000003</c:v>
              </c:pt>
              <c:pt idx="24">
                <c:v>2.4000000000000004</c:v>
              </c:pt>
              <c:pt idx="25">
                <c:v>2.5</c:v>
              </c:pt>
              <c:pt idx="26">
                <c:v>2.6</c:v>
              </c:pt>
              <c:pt idx="27">
                <c:v>2.7</c:v>
              </c:pt>
              <c:pt idx="28">
                <c:v>2.8000000000000003</c:v>
              </c:pt>
              <c:pt idx="29">
                <c:v>2.9000000000000004</c:v>
              </c:pt>
              <c:pt idx="30">
                <c:v>3</c:v>
              </c:pt>
              <c:pt idx="31">
                <c:v>3.1</c:v>
              </c:pt>
              <c:pt idx="32">
                <c:v>3.2</c:v>
              </c:pt>
              <c:pt idx="33">
                <c:v>3.3000000000000003</c:v>
              </c:pt>
              <c:pt idx="34">
                <c:v>3.4000000000000004</c:v>
              </c:pt>
              <c:pt idx="35">
                <c:v>3.5</c:v>
              </c:pt>
              <c:pt idx="36">
                <c:v>3.6</c:v>
              </c:pt>
              <c:pt idx="37">
                <c:v>3.7</c:v>
              </c:pt>
              <c:pt idx="38">
                <c:v>3.8000000000000003</c:v>
              </c:pt>
              <c:pt idx="39">
                <c:v>3.9000000000000004</c:v>
              </c:pt>
              <c:pt idx="40">
                <c:v>4</c:v>
              </c:pt>
            </c:numLit>
          </c:xVal>
          <c:yVal>
            <c:numLit>
              <c:formatCode>0.0</c:formatCode>
              <c:ptCount val="41"/>
              <c:pt idx="0">
                <c:v>1</c:v>
              </c:pt>
              <c:pt idx="1">
                <c:v>0.9900498337491681</c:v>
              </c:pt>
              <c:pt idx="2">
                <c:v>0.9607894391523232</c:v>
              </c:pt>
              <c:pt idx="3">
                <c:v>0.9139311852712282</c:v>
              </c:pt>
              <c:pt idx="4">
                <c:v>0.8521437889662113</c:v>
              </c:pt>
              <c:pt idx="5">
                <c:v>0.7788007830714049</c:v>
              </c:pt>
              <c:pt idx="6">
                <c:v>0.697676326071031</c:v>
              </c:pt>
              <c:pt idx="7">
                <c:v>0.612626394184416</c:v>
              </c:pt>
              <c:pt idx="8">
                <c:v>0.5272924240430485</c:v>
              </c:pt>
              <c:pt idx="9">
                <c:v>0.4448580662229411</c:v>
              </c:pt>
              <c:pt idx="10">
                <c:v>0.36787944117144233</c:v>
              </c:pt>
              <c:pt idx="11">
                <c:v>0.29819727942988733</c:v>
              </c:pt>
              <c:pt idx="12">
                <c:v>0.23692775868212165</c:v>
              </c:pt>
              <c:pt idx="13">
                <c:v>0.18451952399298924</c:v>
              </c:pt>
              <c:pt idx="14">
                <c:v>0.14085842092104495</c:v>
              </c:pt>
              <c:pt idx="15">
                <c:v>0.10539922456186433</c:v>
              </c:pt>
              <c:pt idx="16">
                <c:v>0.07730474044329971</c:v>
              </c:pt>
              <c:pt idx="17">
                <c:v>0.05557621261148304</c:v>
              </c:pt>
              <c:pt idx="18">
                <c:v>0.039163895098987066</c:v>
              </c:pt>
              <c:pt idx="19">
                <c:v>0.027051846866350402</c:v>
              </c:pt>
              <c:pt idx="20">
                <c:v>0.01831563888873418</c:v>
              </c:pt>
              <c:pt idx="21">
                <c:v>0.012155178329914935</c:v>
              </c:pt>
              <c:pt idx="22">
                <c:v>0.007907054051593435</c:v>
              </c:pt>
              <c:pt idx="23">
                <c:v>0.005041760259690975</c:v>
              </c:pt>
              <c:pt idx="24">
                <c:v>0.0031511115984444353</c:v>
              </c:pt>
              <c:pt idx="25">
                <c:v>0.0019304541362277093</c:v>
              </c:pt>
              <c:pt idx="26">
                <c:v>0.0011592291739045903</c:v>
              </c:pt>
              <c:pt idx="27">
                <c:v>0.0006823280527563759</c:v>
              </c:pt>
              <c:pt idx="28">
                <c:v>0.0003936690406550776</c:v>
              </c:pt>
              <c:pt idx="29">
                <c:v>0.0002226298569188886</c:v>
              </c:pt>
              <c:pt idx="30">
                <c:v>0.00012340980408667956</c:v>
              </c:pt>
              <c:pt idx="31">
                <c:v>6.705482430281101E-05</c:v>
              </c:pt>
              <c:pt idx="32">
                <c:v>3.5712849641635144E-05</c:v>
              </c:pt>
              <c:pt idx="33">
                <c:v>1.8643742331516787E-05</c:v>
              </c:pt>
              <c:pt idx="34">
                <c:v>9.540162873079214E-06</c:v>
              </c:pt>
              <c:pt idx="35">
                <c:v>4.78511739212901E-06</c:v>
              </c:pt>
              <c:pt idx="36">
                <c:v>2.352575200009771E-06</c:v>
              </c:pt>
              <c:pt idx="37">
                <c:v>1.1337271387479642E-06</c:v>
              </c:pt>
              <c:pt idx="38">
                <c:v>5.355347802793099E-07</c:v>
              </c:pt>
              <c:pt idx="39">
                <c:v>2.479596018045023E-07</c:v>
              </c:pt>
              <c:pt idx="40">
                <c:v>1.1253517471925912E-07</c:v>
              </c:pt>
            </c:numLit>
          </c:yVal>
        </c:ser>
        <c:ser>
          <c:idx val="1"/>
          <c:order val="1"/>
          <c:tx>
            <c:v>linear panels</c:v>
          </c:tx>
          <c:spPr>
            <a:ln xmlns:a="http://schemas.openxmlformats.org/drawingml/2006/main" w="19050">
              <a:solidFill>
                <a:srgbClr val="F4A340"/>
              </a:solidFill>
            </a:ln>
          </c:spPr>
          <c:marker>
            <c:symbol val="circle"/>
            <c:size val="7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5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</c:numLit>
          </c:xVal>
          <c:yVal>
            <c:numLit>
              <c:formatCode>0.0</c:formatCode>
              <c:ptCount val="5"/>
              <c:pt idx="0">
                <c:v>1</c:v>
              </c:pt>
              <c:pt idx="1">
                <c:v>0.36787944117144233</c:v>
              </c:pt>
              <c:pt idx="2">
                <c:v>0.01831563888873418</c:v>
              </c:pt>
              <c:pt idx="3">
                <c:v>0.00012340980408667956</c:v>
              </c:pt>
              <c:pt idx="4">
                <c:v>1.1253517471925912E-07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DE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f(x)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470"/>
                </a:solidFill>
              </a:defRPr>
            </a:pPr>
          </a:p>
        </c:txPr>
        <c:crossAx val="48650112"/>
        <c:crosses val="autoZero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DE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x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470"/>
                </a:solidFill>
              </a:defRPr>
            </a:pPr>
          </a:p>
        </c:txPr>
        <c:crossAx val="48672768"/>
        <c:crosses val="autoZero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8DDE5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D647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scatterChart>
        <c:scatterStyle val="smooth"/>
        <c:ser>
          <c:idx val="0"/>
          <c:order val="0"/>
          <c:tx>
            <c:v>|x|</c:v>
          </c:tx>
          <c:spPr>
            <a:ln xmlns:a="http://schemas.openxmlformats.org/drawingml/2006/main" w="28575">
              <a:solidFill>
                <a:srgbClr val="6E56CF"/>
              </a:solidFill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81"/>
              <c:pt idx="0">
                <c:v>-2</c:v>
              </c:pt>
              <c:pt idx="1">
                <c:v>-1.95</c:v>
              </c:pt>
              <c:pt idx="2">
                <c:v>-1.9</c:v>
              </c:pt>
              <c:pt idx="3">
                <c:v>-1.85</c:v>
              </c:pt>
              <c:pt idx="4">
                <c:v>-1.8</c:v>
              </c:pt>
              <c:pt idx="5">
                <c:v>-1.75</c:v>
              </c:pt>
              <c:pt idx="6">
                <c:v>-1.7</c:v>
              </c:pt>
              <c:pt idx="7">
                <c:v>-1.65</c:v>
              </c:pt>
              <c:pt idx="8">
                <c:v>-1.6</c:v>
              </c:pt>
              <c:pt idx="9">
                <c:v>-1.55</c:v>
              </c:pt>
              <c:pt idx="10">
                <c:v>-1.5</c:v>
              </c:pt>
              <c:pt idx="11">
                <c:v>-1.45</c:v>
              </c:pt>
              <c:pt idx="12">
                <c:v>-1.4</c:v>
              </c:pt>
              <c:pt idx="13">
                <c:v>-1.35</c:v>
              </c:pt>
              <c:pt idx="14">
                <c:v>-1.2999999999999998</c:v>
              </c:pt>
              <c:pt idx="15">
                <c:v>-1.25</c:v>
              </c:pt>
              <c:pt idx="16">
                <c:v>-1.2</c:v>
              </c:pt>
              <c:pt idx="17">
                <c:v>-1.15</c:v>
              </c:pt>
              <c:pt idx="18">
                <c:v>-1.1</c:v>
              </c:pt>
              <c:pt idx="19">
                <c:v>-1.0499999999999998</c:v>
              </c:pt>
              <c:pt idx="20">
                <c:v>-1</c:v>
              </c:pt>
              <c:pt idx="21">
                <c:v>-0.95</c:v>
              </c:pt>
              <c:pt idx="22">
                <c:v>-0.8999999999999999</c:v>
              </c:pt>
              <c:pt idx="23">
                <c:v>-0.8499999999999999</c:v>
              </c:pt>
              <c:pt idx="24">
                <c:v>-0.7999999999999998</c:v>
              </c:pt>
              <c:pt idx="25">
                <c:v>-0.75</c:v>
              </c:pt>
              <c:pt idx="26">
                <c:v>-0.7</c:v>
              </c:pt>
              <c:pt idx="27">
                <c:v>-0.6499999999999999</c:v>
              </c:pt>
              <c:pt idx="28">
                <c:v>-0.5999999999999999</c:v>
              </c:pt>
              <c:pt idx="29">
                <c:v>-0.5499999999999998</c:v>
              </c:pt>
              <c:pt idx="30">
                <c:v>-0.5</c:v>
              </c:pt>
              <c:pt idx="31">
                <c:v>-0.44999999999999996</c:v>
              </c:pt>
              <c:pt idx="32">
                <c:v>-0.3999999999999999</c:v>
              </c:pt>
              <c:pt idx="33">
                <c:v>-0.34999999999999987</c:v>
              </c:pt>
              <c:pt idx="34">
                <c:v>-0.2999999999999998</c:v>
              </c:pt>
              <c:pt idx="35">
                <c:v>-0.25</c:v>
              </c:pt>
              <c:pt idx="36">
                <c:v>-0.19999999999999996</c:v>
              </c:pt>
              <c:pt idx="37">
                <c:v>-0.1499999999999999</c:v>
              </c:pt>
              <c:pt idx="38">
                <c:v>-0.09999999999999987</c:v>
              </c:pt>
              <c:pt idx="39">
                <c:v>-0.04999999999999982</c:v>
              </c:pt>
              <c:pt idx="40">
                <c:v>0</c:v>
              </c:pt>
              <c:pt idx="41">
                <c:v>0.050000000000000266</c:v>
              </c:pt>
              <c:pt idx="42">
                <c:v>0.10000000000000009</c:v>
              </c:pt>
              <c:pt idx="43">
                <c:v>0.1499999999999999</c:v>
              </c:pt>
              <c:pt idx="44">
                <c:v>0.20000000000000018</c:v>
              </c:pt>
              <c:pt idx="45">
                <c:v>0.25</c:v>
              </c:pt>
              <c:pt idx="46">
                <c:v>0.30000000000000027</c:v>
              </c:pt>
              <c:pt idx="47">
                <c:v>0.3500000000000001</c:v>
              </c:pt>
              <c:pt idx="48">
                <c:v>0.40000000000000036</c:v>
              </c:pt>
              <c:pt idx="49">
                <c:v>0.4500000000000002</c:v>
              </c:pt>
              <c:pt idx="50">
                <c:v>0.5</c:v>
              </c:pt>
              <c:pt idx="51">
                <c:v>0.5500000000000003</c:v>
              </c:pt>
              <c:pt idx="52">
                <c:v>0.6000000000000001</c:v>
              </c:pt>
              <c:pt idx="53">
                <c:v>0.6500000000000004</c:v>
              </c:pt>
              <c:pt idx="54">
                <c:v>0.7000000000000002</c:v>
              </c:pt>
              <c:pt idx="55">
                <c:v>0.75</c:v>
              </c:pt>
              <c:pt idx="56">
                <c:v>0.8000000000000003</c:v>
              </c:pt>
              <c:pt idx="57">
                <c:v>0.8500000000000001</c:v>
              </c:pt>
              <c:pt idx="58">
                <c:v>0.9000000000000004</c:v>
              </c:pt>
              <c:pt idx="59">
                <c:v>0.9500000000000002</c:v>
              </c:pt>
              <c:pt idx="60">
                <c:v>1</c:v>
              </c:pt>
              <c:pt idx="61">
                <c:v>1.0500000000000003</c:v>
              </c:pt>
              <c:pt idx="62">
                <c:v>1.1</c:v>
              </c:pt>
              <c:pt idx="63">
                <c:v>1.1500000000000004</c:v>
              </c:pt>
              <c:pt idx="64">
                <c:v>1.2000000000000002</c:v>
              </c:pt>
              <c:pt idx="65">
                <c:v>1.25</c:v>
              </c:pt>
              <c:pt idx="66">
                <c:v>1.3000000000000003</c:v>
              </c:pt>
              <c:pt idx="67">
                <c:v>1.35</c:v>
              </c:pt>
              <c:pt idx="68">
                <c:v>1.4000000000000004</c:v>
              </c:pt>
              <c:pt idx="69">
                <c:v>1.4500000000000002</c:v>
              </c:pt>
              <c:pt idx="70">
                <c:v>1.5</c:v>
              </c:pt>
              <c:pt idx="71">
                <c:v>1.5500000000000003</c:v>
              </c:pt>
              <c:pt idx="72">
                <c:v>1.6</c:v>
              </c:pt>
              <c:pt idx="73">
                <c:v>1.6500000000000004</c:v>
              </c:pt>
              <c:pt idx="74">
                <c:v>1.7000000000000002</c:v>
              </c:pt>
              <c:pt idx="75">
                <c:v>1.75</c:v>
              </c:pt>
              <c:pt idx="76">
                <c:v>1.8000000000000003</c:v>
              </c:pt>
              <c:pt idx="77">
                <c:v>1.85</c:v>
              </c:pt>
              <c:pt idx="78">
                <c:v>1.9000000000000004</c:v>
              </c:pt>
              <c:pt idx="79">
                <c:v>1.9500000000000002</c:v>
              </c:pt>
              <c:pt idx="80">
                <c:v>2</c:v>
              </c:pt>
            </c:numLit>
          </c:xVal>
          <c:yVal>
            <c:numLit>
              <c:formatCode>0.0</c:formatCode>
              <c:ptCount val="81"/>
              <c:pt idx="0">
                <c:v>2</c:v>
              </c:pt>
              <c:pt idx="1">
                <c:v>1.95</c:v>
              </c:pt>
              <c:pt idx="2">
                <c:v>1.9</c:v>
              </c:pt>
              <c:pt idx="3">
                <c:v>1.85</c:v>
              </c:pt>
              <c:pt idx="4">
                <c:v>1.8</c:v>
              </c:pt>
              <c:pt idx="5">
                <c:v>1.75</c:v>
              </c:pt>
              <c:pt idx="6">
                <c:v>1.7</c:v>
              </c:pt>
              <c:pt idx="7">
                <c:v>1.65</c:v>
              </c:pt>
              <c:pt idx="8">
                <c:v>1.6</c:v>
              </c:pt>
              <c:pt idx="9">
                <c:v>1.55</c:v>
              </c:pt>
              <c:pt idx="10">
                <c:v>1.5</c:v>
              </c:pt>
              <c:pt idx="11">
                <c:v>1.45</c:v>
              </c:pt>
              <c:pt idx="12">
                <c:v>1.4</c:v>
              </c:pt>
              <c:pt idx="13">
                <c:v>1.35</c:v>
              </c:pt>
              <c:pt idx="14">
                <c:v>1.2999999999999998</c:v>
              </c:pt>
              <c:pt idx="15">
                <c:v>1.25</c:v>
              </c:pt>
              <c:pt idx="16">
                <c:v>1.2</c:v>
              </c:pt>
              <c:pt idx="17">
                <c:v>1.15</c:v>
              </c:pt>
              <c:pt idx="18">
                <c:v>1.1</c:v>
              </c:pt>
              <c:pt idx="19">
                <c:v>1.0499999999999998</c:v>
              </c:pt>
              <c:pt idx="20">
                <c:v>1</c:v>
              </c:pt>
              <c:pt idx="21">
                <c:v>0.95</c:v>
              </c:pt>
              <c:pt idx="22">
                <c:v>0.8999999999999999</c:v>
              </c:pt>
              <c:pt idx="23">
                <c:v>0.8499999999999999</c:v>
              </c:pt>
              <c:pt idx="24">
                <c:v>0.7999999999999998</c:v>
              </c:pt>
              <c:pt idx="25">
                <c:v>0.75</c:v>
              </c:pt>
              <c:pt idx="26">
                <c:v>0.7</c:v>
              </c:pt>
              <c:pt idx="27">
                <c:v>0.6499999999999999</c:v>
              </c:pt>
              <c:pt idx="28">
                <c:v>0.5999999999999999</c:v>
              </c:pt>
              <c:pt idx="29">
                <c:v>0.5499999999999998</c:v>
              </c:pt>
              <c:pt idx="30">
                <c:v>0.5</c:v>
              </c:pt>
              <c:pt idx="31">
                <c:v>0.44999999999999996</c:v>
              </c:pt>
              <c:pt idx="32">
                <c:v>0.3999999999999999</c:v>
              </c:pt>
              <c:pt idx="33">
                <c:v>0.34999999999999987</c:v>
              </c:pt>
              <c:pt idx="34">
                <c:v>0.2999999999999998</c:v>
              </c:pt>
              <c:pt idx="35">
                <c:v>0.25</c:v>
              </c:pt>
              <c:pt idx="36">
                <c:v>0.19999999999999996</c:v>
              </c:pt>
              <c:pt idx="37">
                <c:v>0.1499999999999999</c:v>
              </c:pt>
              <c:pt idx="38">
                <c:v>0.09999999999999987</c:v>
              </c:pt>
              <c:pt idx="39">
                <c:v>0.04999999999999982</c:v>
              </c:pt>
              <c:pt idx="40">
                <c:v>0</c:v>
              </c:pt>
              <c:pt idx="41">
                <c:v>0.050000000000000266</c:v>
              </c:pt>
              <c:pt idx="42">
                <c:v>0.10000000000000009</c:v>
              </c:pt>
              <c:pt idx="43">
                <c:v>0.1499999999999999</c:v>
              </c:pt>
              <c:pt idx="44">
                <c:v>0.20000000000000018</c:v>
              </c:pt>
              <c:pt idx="45">
                <c:v>0.25</c:v>
              </c:pt>
              <c:pt idx="46">
                <c:v>0.30000000000000027</c:v>
              </c:pt>
              <c:pt idx="47">
                <c:v>0.3500000000000001</c:v>
              </c:pt>
              <c:pt idx="48">
                <c:v>0.40000000000000036</c:v>
              </c:pt>
              <c:pt idx="49">
                <c:v>0.4500000000000002</c:v>
              </c:pt>
              <c:pt idx="50">
                <c:v>0.5</c:v>
              </c:pt>
              <c:pt idx="51">
                <c:v>0.5500000000000003</c:v>
              </c:pt>
              <c:pt idx="52">
                <c:v>0.6000000000000001</c:v>
              </c:pt>
              <c:pt idx="53">
                <c:v>0.6500000000000004</c:v>
              </c:pt>
              <c:pt idx="54">
                <c:v>0.7000000000000002</c:v>
              </c:pt>
              <c:pt idx="55">
                <c:v>0.75</c:v>
              </c:pt>
              <c:pt idx="56">
                <c:v>0.8000000000000003</c:v>
              </c:pt>
              <c:pt idx="57">
                <c:v>0.8500000000000001</c:v>
              </c:pt>
              <c:pt idx="58">
                <c:v>0.9000000000000004</c:v>
              </c:pt>
              <c:pt idx="59">
                <c:v>0.9500000000000002</c:v>
              </c:pt>
              <c:pt idx="60">
                <c:v>1</c:v>
              </c:pt>
              <c:pt idx="61">
                <c:v>1.0500000000000003</c:v>
              </c:pt>
              <c:pt idx="62">
                <c:v>1.1</c:v>
              </c:pt>
              <c:pt idx="63">
                <c:v>1.1500000000000004</c:v>
              </c:pt>
              <c:pt idx="64">
                <c:v>1.2000000000000002</c:v>
              </c:pt>
              <c:pt idx="65">
                <c:v>1.25</c:v>
              </c:pt>
              <c:pt idx="66">
                <c:v>1.3000000000000003</c:v>
              </c:pt>
              <c:pt idx="67">
                <c:v>1.35</c:v>
              </c:pt>
              <c:pt idx="68">
                <c:v>1.4000000000000004</c:v>
              </c:pt>
              <c:pt idx="69">
                <c:v>1.4500000000000002</c:v>
              </c:pt>
              <c:pt idx="70">
                <c:v>1.5</c:v>
              </c:pt>
              <c:pt idx="71">
                <c:v>1.5500000000000003</c:v>
              </c:pt>
              <c:pt idx="72">
                <c:v>1.6</c:v>
              </c:pt>
              <c:pt idx="73">
                <c:v>1.6500000000000004</c:v>
              </c:pt>
              <c:pt idx="74">
                <c:v>1.7000000000000002</c:v>
              </c:pt>
              <c:pt idx="75">
                <c:v>1.75</c:v>
              </c:pt>
              <c:pt idx="76">
                <c:v>1.8000000000000003</c:v>
              </c:pt>
              <c:pt idx="77">
                <c:v>1.85</c:v>
              </c:pt>
              <c:pt idx="78">
                <c:v>1.9000000000000004</c:v>
              </c:pt>
              <c:pt idx="79">
                <c:v>1.9500000000000002</c:v>
              </c:pt>
              <c:pt idx="80">
                <c:v>2</c:v>
              </c:pt>
            </c:numLit>
          </c:yVal>
        </c:ser>
        <c:ser>
          <c:idx val="1"/>
          <c:order val="1"/>
          <c:tx>
            <c:v>one-sided slopes</c:v>
          </c:tx>
          <c:spPr>
            <a:ln xmlns:a="http://schemas.openxmlformats.org/drawingml/2006/main" w="19050">
              <a:solidFill>
                <a:srgbClr val="F4A340"/>
              </a:solidFill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81"/>
              <c:pt idx="0">
                <c:v>-2</c:v>
              </c:pt>
              <c:pt idx="1">
                <c:v>-1.95</c:v>
              </c:pt>
              <c:pt idx="2">
                <c:v>-1.9</c:v>
              </c:pt>
              <c:pt idx="3">
                <c:v>-1.85</c:v>
              </c:pt>
              <c:pt idx="4">
                <c:v>-1.8</c:v>
              </c:pt>
              <c:pt idx="5">
                <c:v>-1.75</c:v>
              </c:pt>
              <c:pt idx="6">
                <c:v>-1.7</c:v>
              </c:pt>
              <c:pt idx="7">
                <c:v>-1.65</c:v>
              </c:pt>
              <c:pt idx="8">
                <c:v>-1.6</c:v>
              </c:pt>
              <c:pt idx="9">
                <c:v>-1.55</c:v>
              </c:pt>
              <c:pt idx="10">
                <c:v>-1.5</c:v>
              </c:pt>
              <c:pt idx="11">
                <c:v>-1.45</c:v>
              </c:pt>
              <c:pt idx="12">
                <c:v>-1.4</c:v>
              </c:pt>
              <c:pt idx="13">
                <c:v>-1.35</c:v>
              </c:pt>
              <c:pt idx="14">
                <c:v>-1.2999999999999998</c:v>
              </c:pt>
              <c:pt idx="15">
                <c:v>-1.25</c:v>
              </c:pt>
              <c:pt idx="16">
                <c:v>-1.2</c:v>
              </c:pt>
              <c:pt idx="17">
                <c:v>-1.15</c:v>
              </c:pt>
              <c:pt idx="18">
                <c:v>-1.1</c:v>
              </c:pt>
              <c:pt idx="19">
                <c:v>-1.0499999999999998</c:v>
              </c:pt>
              <c:pt idx="20">
                <c:v>-1</c:v>
              </c:pt>
              <c:pt idx="21">
                <c:v>-0.95</c:v>
              </c:pt>
              <c:pt idx="22">
                <c:v>-0.8999999999999999</c:v>
              </c:pt>
              <c:pt idx="23">
                <c:v>-0.8499999999999999</c:v>
              </c:pt>
              <c:pt idx="24">
                <c:v>-0.7999999999999998</c:v>
              </c:pt>
              <c:pt idx="25">
                <c:v>-0.75</c:v>
              </c:pt>
              <c:pt idx="26">
                <c:v>-0.7</c:v>
              </c:pt>
              <c:pt idx="27">
                <c:v>-0.6499999999999999</c:v>
              </c:pt>
              <c:pt idx="28">
                <c:v>-0.5999999999999999</c:v>
              </c:pt>
              <c:pt idx="29">
                <c:v>-0.5499999999999998</c:v>
              </c:pt>
              <c:pt idx="30">
                <c:v>-0.5</c:v>
              </c:pt>
              <c:pt idx="31">
                <c:v>-0.44999999999999996</c:v>
              </c:pt>
              <c:pt idx="32">
                <c:v>-0.3999999999999999</c:v>
              </c:pt>
              <c:pt idx="33">
                <c:v>-0.34999999999999987</c:v>
              </c:pt>
              <c:pt idx="34">
                <c:v>-0.2999999999999998</c:v>
              </c:pt>
              <c:pt idx="35">
                <c:v>-0.25</c:v>
              </c:pt>
              <c:pt idx="36">
                <c:v>-0.19999999999999996</c:v>
              </c:pt>
              <c:pt idx="37">
                <c:v>-0.1499999999999999</c:v>
              </c:pt>
              <c:pt idx="38">
                <c:v>-0.09999999999999987</c:v>
              </c:pt>
              <c:pt idx="39">
                <c:v>-0.04999999999999982</c:v>
              </c:pt>
              <c:pt idx="40">
                <c:v>0</c:v>
              </c:pt>
              <c:pt idx="41">
                <c:v>0.050000000000000266</c:v>
              </c:pt>
              <c:pt idx="42">
                <c:v>0.10000000000000009</c:v>
              </c:pt>
              <c:pt idx="43">
                <c:v>0.1499999999999999</c:v>
              </c:pt>
              <c:pt idx="44">
                <c:v>0.20000000000000018</c:v>
              </c:pt>
              <c:pt idx="45">
                <c:v>0.25</c:v>
              </c:pt>
              <c:pt idx="46">
                <c:v>0.30000000000000027</c:v>
              </c:pt>
              <c:pt idx="47">
                <c:v>0.3500000000000001</c:v>
              </c:pt>
              <c:pt idx="48">
                <c:v>0.40000000000000036</c:v>
              </c:pt>
              <c:pt idx="49">
                <c:v>0.4500000000000002</c:v>
              </c:pt>
              <c:pt idx="50">
                <c:v>0.5</c:v>
              </c:pt>
              <c:pt idx="51">
                <c:v>0.5500000000000003</c:v>
              </c:pt>
              <c:pt idx="52">
                <c:v>0.6000000000000001</c:v>
              </c:pt>
              <c:pt idx="53">
                <c:v>0.6500000000000004</c:v>
              </c:pt>
              <c:pt idx="54">
                <c:v>0.7000000000000002</c:v>
              </c:pt>
              <c:pt idx="55">
                <c:v>0.75</c:v>
              </c:pt>
              <c:pt idx="56">
                <c:v>0.8000000000000003</c:v>
              </c:pt>
              <c:pt idx="57">
                <c:v>0.8500000000000001</c:v>
              </c:pt>
              <c:pt idx="58">
                <c:v>0.9000000000000004</c:v>
              </c:pt>
              <c:pt idx="59">
                <c:v>0.9500000000000002</c:v>
              </c:pt>
              <c:pt idx="60">
                <c:v>1</c:v>
              </c:pt>
              <c:pt idx="61">
                <c:v>1.0500000000000003</c:v>
              </c:pt>
              <c:pt idx="62">
                <c:v>1.1</c:v>
              </c:pt>
              <c:pt idx="63">
                <c:v>1.1500000000000004</c:v>
              </c:pt>
              <c:pt idx="64">
                <c:v>1.2000000000000002</c:v>
              </c:pt>
              <c:pt idx="65">
                <c:v>1.25</c:v>
              </c:pt>
              <c:pt idx="66">
                <c:v>1.3000000000000003</c:v>
              </c:pt>
              <c:pt idx="67">
                <c:v>1.35</c:v>
              </c:pt>
              <c:pt idx="68">
                <c:v>1.4000000000000004</c:v>
              </c:pt>
              <c:pt idx="69">
                <c:v>1.4500000000000002</c:v>
              </c:pt>
              <c:pt idx="70">
                <c:v>1.5</c:v>
              </c:pt>
              <c:pt idx="71">
                <c:v>1.5500000000000003</c:v>
              </c:pt>
              <c:pt idx="72">
                <c:v>1.6</c:v>
              </c:pt>
              <c:pt idx="73">
                <c:v>1.6500000000000004</c:v>
              </c:pt>
              <c:pt idx="74">
                <c:v>1.7000000000000002</c:v>
              </c:pt>
              <c:pt idx="75">
                <c:v>1.75</c:v>
              </c:pt>
              <c:pt idx="76">
                <c:v>1.8000000000000003</c:v>
              </c:pt>
              <c:pt idx="77">
                <c:v>1.85</c:v>
              </c:pt>
              <c:pt idx="78">
                <c:v>1.9000000000000004</c:v>
              </c:pt>
              <c:pt idx="79">
                <c:v>1.9500000000000002</c:v>
              </c:pt>
              <c:pt idx="80">
                <c:v>2</c:v>
              </c:pt>
            </c:numLit>
          </c:xVal>
          <c:yVal>
            <c:numLit>
              <c:formatCode>0.0</c:formatCode>
              <c:ptCount val="81"/>
              <c:pt idx="0">
                <c:v>-1</c:v>
              </c:pt>
              <c:pt idx="1">
                <c:v>-1</c:v>
              </c:pt>
              <c:pt idx="2">
                <c:v>-1</c:v>
              </c:pt>
              <c:pt idx="3">
                <c:v>-1</c:v>
              </c:pt>
              <c:pt idx="4">
                <c:v>-1</c:v>
              </c:pt>
              <c:pt idx="5">
                <c:v>-1</c:v>
              </c:pt>
              <c:pt idx="6">
                <c:v>-1</c:v>
              </c:pt>
              <c:pt idx="7">
                <c:v>-1</c:v>
              </c:pt>
              <c:pt idx="8">
                <c:v>-1</c:v>
              </c:pt>
              <c:pt idx="9">
                <c:v>-1</c:v>
              </c:pt>
              <c:pt idx="10">
                <c:v>-1</c:v>
              </c:pt>
              <c:pt idx="11">
                <c:v>-1</c:v>
              </c:pt>
              <c:pt idx="12">
                <c:v>-1</c:v>
              </c:pt>
              <c:pt idx="13">
                <c:v>-1</c:v>
              </c:pt>
              <c:pt idx="14">
                <c:v>-1</c:v>
              </c:pt>
              <c:pt idx="15">
                <c:v>-1</c:v>
              </c:pt>
              <c:pt idx="16">
                <c:v>-1</c:v>
              </c:pt>
              <c:pt idx="17">
                <c:v>-1</c:v>
              </c:pt>
              <c:pt idx="18">
                <c:v>-1</c:v>
              </c:pt>
              <c:pt idx="19">
                <c:v>-1</c:v>
              </c:pt>
              <c:pt idx="20">
                <c:v>-1</c:v>
              </c:pt>
              <c:pt idx="21">
                <c:v>-1</c:v>
              </c:pt>
              <c:pt idx="22">
                <c:v>-1</c:v>
              </c:pt>
              <c:pt idx="23">
                <c:v>-1</c:v>
              </c:pt>
              <c:pt idx="24">
                <c:v>-1</c:v>
              </c:pt>
              <c:pt idx="25">
                <c:v>-1</c:v>
              </c:pt>
              <c:pt idx="26">
                <c:v>-1</c:v>
              </c:pt>
              <c:pt idx="27">
                <c:v>-1</c:v>
              </c:pt>
              <c:pt idx="28">
                <c:v>-1</c:v>
              </c:pt>
              <c:pt idx="29">
                <c:v>-1</c:v>
              </c:pt>
              <c:pt idx="30">
                <c:v>-1</c:v>
              </c:pt>
              <c:pt idx="31">
                <c:v>-1</c:v>
              </c:pt>
              <c:pt idx="32">
                <c:v>-1</c:v>
              </c:pt>
              <c:pt idx="33">
                <c:v>-1</c:v>
              </c:pt>
              <c:pt idx="34">
                <c:v>-1</c:v>
              </c:pt>
              <c:pt idx="35">
                <c:v>-1</c:v>
              </c:pt>
              <c:pt idx="36">
                <c:v>-1</c:v>
              </c:pt>
              <c:pt idx="37">
                <c:v>-1</c:v>
              </c:pt>
              <c:pt idx="38">
                <c:v>-1</c:v>
              </c:pt>
              <c:pt idx="39">
                <c:v>-1</c:v>
              </c:pt>
              <c:pt idx="40">
                <c:v>0</c:v>
              </c:pt>
              <c:pt idx="41">
                <c:v>1</c:v>
              </c:pt>
              <c:pt idx="42">
                <c:v>1</c:v>
              </c:pt>
              <c:pt idx="43">
                <c:v>1</c:v>
              </c:pt>
              <c:pt idx="44">
                <c:v>1</c:v>
              </c:pt>
              <c:pt idx="45">
                <c:v>1</c:v>
              </c:pt>
              <c:pt idx="46">
                <c:v>1</c:v>
              </c:pt>
              <c:pt idx="47">
                <c:v>1</c:v>
              </c:pt>
              <c:pt idx="48">
                <c:v>1</c:v>
              </c:pt>
              <c:pt idx="49">
                <c:v>1</c:v>
              </c:pt>
              <c:pt idx="50">
                <c:v>1</c:v>
              </c:pt>
              <c:pt idx="51">
                <c:v>1</c:v>
              </c:pt>
              <c:pt idx="52">
                <c:v>1</c:v>
              </c:pt>
              <c:pt idx="53">
                <c:v>1</c:v>
              </c:pt>
              <c:pt idx="54">
                <c:v>1</c:v>
              </c:pt>
              <c:pt idx="55">
                <c:v>1</c:v>
              </c:pt>
              <c:pt idx="56">
                <c:v>1</c:v>
              </c:pt>
              <c:pt idx="57">
                <c:v>1</c:v>
              </c:pt>
              <c:pt idx="58">
                <c:v>1</c:v>
              </c:pt>
              <c:pt idx="59">
                <c:v>1</c:v>
              </c:pt>
              <c:pt idx="60">
                <c:v>1</c:v>
              </c:pt>
              <c:pt idx="61">
                <c:v>1</c:v>
              </c:pt>
              <c:pt idx="62">
                <c:v>1</c:v>
              </c:pt>
              <c:pt idx="63">
                <c:v>1</c:v>
              </c:pt>
              <c:pt idx="64">
                <c:v>1</c:v>
              </c:pt>
              <c:pt idx="65">
                <c:v>1</c:v>
              </c:pt>
              <c:pt idx="66">
                <c:v>1</c:v>
              </c:pt>
              <c:pt idx="67">
                <c:v>1</c:v>
              </c:pt>
              <c:pt idx="68">
                <c:v>1</c:v>
              </c:pt>
              <c:pt idx="69">
                <c:v>1</c:v>
              </c:pt>
              <c:pt idx="70">
                <c:v>1</c:v>
              </c:pt>
              <c:pt idx="71">
                <c:v>1</c:v>
              </c:pt>
              <c:pt idx="72">
                <c:v>1</c:v>
              </c:pt>
              <c:pt idx="73">
                <c:v>1</c:v>
              </c:pt>
              <c:pt idx="74">
                <c:v>1</c:v>
              </c:pt>
              <c:pt idx="75">
                <c:v>1</c:v>
              </c:pt>
              <c:pt idx="76">
                <c:v>1</c:v>
              </c:pt>
              <c:pt idx="77">
                <c:v>1</c:v>
              </c:pt>
              <c:pt idx="78">
                <c:v>1</c:v>
              </c:pt>
              <c:pt idx="79">
                <c:v>1</c:v>
              </c:pt>
              <c:pt idx="80">
                <c:v>1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DE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value / slope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470"/>
                </a:solidFill>
              </a:defRPr>
            </a:pPr>
          </a:p>
        </c:txPr>
        <c:crossAx val="48650112"/>
        <c:crosses val="autoZero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DE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x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470"/>
                </a:solidFill>
              </a:defRPr>
            </a:pPr>
          </a:p>
        </c:txPr>
        <c:crossAx val="48672768"/>
        <c:crosses val="autoZero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8DDE5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D647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roundedCorners val="0"/>
  <c:chart>
    <c:plotArea>
      <c:layout/>
      <c:scatterChart>
        <c:scatterStyle val="lineMarker"/>
        <c:ser>
          <c:idx val="0"/>
          <c:order val="0"/>
          <c:tx>
            <c:v>forward-difference error</c:v>
          </c:tx>
          <c:spPr>
            <a:ln xmlns:a="http://schemas.openxmlformats.org/drawingml/2006/main" w="28575">
              <a:solidFill>
                <a:srgbClr val="D94A52"/>
              </a:solidFill>
            </a:ln>
          </c:spPr>
          <c:marker>
            <c:symbol val="circle"/>
            <c:size val="5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17"/>
              <c:pt idx="0">
                <c:v>0</c:v>
              </c:pt>
              <c:pt idx="1">
                <c:v>-1</c:v>
              </c:pt>
              <c:pt idx="2">
                <c:v>-2</c:v>
              </c:pt>
              <c:pt idx="3">
                <c:v>-3</c:v>
              </c:pt>
              <c:pt idx="4">
                <c:v>-4</c:v>
              </c:pt>
              <c:pt idx="5">
                <c:v>-5</c:v>
              </c:pt>
              <c:pt idx="6">
                <c:v>-6</c:v>
              </c:pt>
              <c:pt idx="7">
                <c:v>-7</c:v>
              </c:pt>
              <c:pt idx="8">
                <c:v>-8</c:v>
              </c:pt>
              <c:pt idx="9">
                <c:v>-9</c:v>
              </c:pt>
              <c:pt idx="10">
                <c:v>-10</c:v>
              </c:pt>
              <c:pt idx="11">
                <c:v>-11</c:v>
              </c:pt>
              <c:pt idx="12">
                <c:v>-12</c:v>
              </c:pt>
              <c:pt idx="13">
                <c:v>-13</c:v>
              </c:pt>
              <c:pt idx="14">
                <c:v>-14</c:v>
              </c:pt>
              <c:pt idx="15">
                <c:v>-15</c:v>
              </c:pt>
              <c:pt idx="16">
                <c:v>-16</c:v>
              </c:pt>
            </c:numLit>
          </c:xVal>
          <c:yVal>
            <c:numLit>
              <c:formatCode>0</c:formatCode>
              <c:ptCount val="17"/>
              <c:pt idx="0">
                <c:v>0</c:v>
              </c:pt>
              <c:pt idx="1">
                <c:v>-0.9999999999999938</c:v>
              </c:pt>
              <c:pt idx="2">
                <c:v>-2.0000000000047153</c:v>
              </c:pt>
              <c:pt idx="3">
                <c:v>-3.0000000001306177</c:v>
              </c:pt>
              <c:pt idx="4">
                <c:v>-3.9999999659795407</c:v>
              </c:pt>
              <c:pt idx="5">
                <c:v>-4.9999988260071975</c:v>
              </c:pt>
              <c:pt idx="6">
                <c:v>-5.999718662913775</c:v>
              </c:pt>
              <c:pt idx="7">
                <c:v>-7.040227553198978</c:v>
              </c:pt>
              <c:pt idx="8">
                <c:v>-7.614217115562001</c:v>
              </c:pt>
              <c:pt idx="9">
                <c:v>-6.480222544777561</c:v>
              </c:pt>
              <c:pt idx="10">
                <c:v>-6.480222544777561</c:v>
              </c:pt>
              <c:pt idx="11">
                <c:v>-6.480222544777561</c:v>
              </c:pt>
              <c:pt idx="12">
                <c:v>-3.449035402857509</c:v>
              </c:pt>
              <c:pt idx="13">
                <c:v>-2.4952422377965986</c:v>
              </c:pt>
              <c:pt idx="14">
                <c:v>-1.0674210705553098</c:v>
              </c:pt>
              <c:pt idx="15">
                <c:v>-0.3494143831115212</c:v>
              </c:pt>
              <c:pt idx="16">
                <c:v>0.6020599913279624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DE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log10(|error|)</a:t>
                </a:r>
              </a:p>
            </c:rich>
          </c:tx>
          <c:overlay val="0"/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470"/>
                </a:solidFill>
              </a:defRPr>
            </a:pPr>
          </a:p>
        </c:txPr>
        <c:crossAx val="48650112"/>
        <c:crosses val="autoZero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DE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log10(h)</a:t>
                </a:r>
              </a:p>
            </c:rich>
          </c:tx>
          <c:overlay val="0"/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470"/>
                </a:solidFill>
              </a:defRPr>
            </a:pPr>
          </a:p>
        </c:txPr>
        <c:crossAx val="48672768"/>
        <c:crosses val="autoZero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8DDE5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67b687cd240d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9F46F-D29B-48D9-82F3-B0CAAB66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C352C-0248-43C7-94F5-E0DDB22B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EEAF3"/>
                </a:solidFill>
              </a:defRPr>
            </a:pPr>
            <a:r>
              <a:rPr sz="1125" b="1" i="0">
                <a:solidFill>
                  <a:srgbClr val="9EEAF3"/>
                </a:solidFill>
              </a:rPr>
              <a:t>PHY4605 · COMPUTATIONAL METHODS IN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F8748-27D3-4C0F-AECD-284E424A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571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Numerical Root-Finding</a:t>
            </a:r>
          </a:p>
          <a:p xmlns:a="http://schemas.openxmlformats.org/drawingml/2006/main">
            <a:pPr algn="l"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and Calculus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6673E-CE13-484B-930B-847AAA2A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6DCE5"/>
                </a:solidFill>
              </a:defRPr>
            </a:pPr>
            <a:r>
              <a:rPr sz="1800" b="0" i="0">
                <a:solidFill>
                  <a:srgbClr val="D6DCE5"/>
                </a:solidFill>
              </a:rPr>
              <a:t>From “where?” to “how much?” to “how fast?”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5172D-F10B-432A-ACB7-44B26263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Topic 11</a:t>
            </a:r>
          </a:p>
        </p:txBody>
      </p:sp>
    </p:spTree>
    <p:extLst>
      <p:ext uri="{BB962C8B-B14F-4D97-AF65-F5344CB8AC3E}">
        <p14:creationId xmlns:p14="http://schemas.microsoft.com/office/powerpoint/2010/main" val="428248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12A979-3705-4F14-ADF2-C5C0EDB9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3951F-D506-43E2-A2F3-18E6F87A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E56CF"/>
                </a:solidFill>
              </a:defRPr>
            </a:pPr>
            <a:r>
              <a:rPr sz="975" b="1" i="0">
                <a:solidFill>
                  <a:srgbClr val="6E56CF"/>
                </a:solidFill>
              </a:rPr>
              <a:t>PREDICT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23E6F-7CF2-4BE3-8BE4-4C8677CB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97E4E-1682-449C-A976-7FAD4528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One curve. Three numerical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D8BAB-1296-4DB8-B83B-C0C91615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3524250" cy="352425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DD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27A4A-38D6-4B0D-BF19-CA813366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8C6"/>
                </a:solidFill>
              </a:defRPr>
            </a:pPr>
            <a:r>
              <a:rPr sz="1125" b="1" i="0">
                <a:solidFill>
                  <a:srgbClr val="00A8C6"/>
                </a:solidFill>
              </a:rPr>
              <a:t>WHERE?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F9A49-71FD-4FD5-98A3-7BB85CFD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1318"/>
                </a:solidFill>
              </a:defRPr>
            </a:pPr>
            <a:r>
              <a:rPr sz="2400" b="1" i="0">
                <a:solidFill>
                  <a:srgbClr val="101318"/>
                </a:solidFill>
              </a:rPr>
              <a:t>Solve f(x) =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BA0CE-6741-4302-A0C9-CAE1278C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A8C6"/>
                </a:solidFill>
              </a:defRPr>
            </a:pPr>
            <a:r>
              <a:rPr sz="1650" b="1" i="0">
                <a:solidFill>
                  <a:srgbClr val="00A8C6"/>
                </a:solidFill>
              </a:rPr>
              <a:t>Root-finding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5A7E5-0D75-4983-B791-CA42C06C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33550"/>
            <a:ext cx="3524250" cy="352425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05878-847D-4B66-AEAF-2359D9A8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E56CF"/>
                </a:solidFill>
              </a:defRPr>
            </a:pPr>
            <a:r>
              <a:rPr sz="1125" b="1" i="0">
                <a:solidFill>
                  <a:srgbClr val="6E56CF"/>
                </a:solidFill>
              </a:rPr>
              <a:t>HOW MUCH?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0026C-19FC-4724-A993-29C5854A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289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1318"/>
                </a:solidFill>
              </a:defRPr>
            </a:pPr>
            <a:r>
              <a:rPr sz="2400" b="1" i="0">
                <a:solidFill>
                  <a:srgbClr val="101318"/>
                </a:solidFill>
              </a:rPr>
              <a:t>Estimate ∫ f(x) dx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C2A32-E6A4-491B-9949-350AD9D4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E56CF"/>
                </a:solidFill>
              </a:defRPr>
            </a:pPr>
            <a:r>
              <a:rPr sz="1650" b="1" i="0">
                <a:solidFill>
                  <a:srgbClr val="6E56CF"/>
                </a:solidFill>
              </a:rPr>
              <a:t>Integration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8BB6F-5A6F-4C37-96DE-8434B28F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33550"/>
            <a:ext cx="3524250" cy="352425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1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A5BE5-B13C-44EC-975E-D9C59E36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A340"/>
                </a:solidFill>
              </a:defRPr>
            </a:pPr>
            <a:r>
              <a:rPr sz="1125" b="1" i="0">
                <a:solidFill>
                  <a:srgbClr val="F4A340"/>
                </a:solidFill>
              </a:rPr>
              <a:t>HOW FAST?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34B60-B873-4AF2-8605-0BF285F5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289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1318"/>
                </a:solidFill>
              </a:defRPr>
            </a:pPr>
            <a:r>
              <a:rPr sz="2400" b="1" i="0">
                <a:solidFill>
                  <a:srgbClr val="101318"/>
                </a:solidFill>
              </a:rPr>
              <a:t>Estimate df/dx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369C2-5A1E-41C4-9ACD-16968FB2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A340"/>
                </a:solidFill>
              </a:defRPr>
            </a:pPr>
            <a:r>
              <a:rPr sz="1650" b="1" i="0">
                <a:solidFill>
                  <a:srgbClr val="F4A340"/>
                </a:solidFill>
              </a:rPr>
              <a:t>Differentiation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21530-FA70-464E-BA53-C10BA69D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36379-68E6-4E93-8C89-538BAC1A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7466806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4EA93E-CCD3-4542-92FC-F7A456CE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CA160-2000-4E12-8433-D3DA6ABC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WATCH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A4A95-B5AB-4892-B0A5-36417244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A6AB0-2216-4165-9BBD-487BA08E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By the end, you should be able to…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9C9C9-1EFB-41BE-A783-B2E1A28C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A8C6"/>
                </a:solidFill>
              </a:defRPr>
            </a:pPr>
            <a:r>
              <a:rPr sz="1800" b="1" i="0">
                <a:solidFill>
                  <a:srgbClr val="00A8C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E8E2C-454C-499A-A559-6533E276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57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318"/>
                </a:solidFill>
              </a:defRPr>
            </a:pPr>
            <a:r>
              <a:rPr sz="1875" b="1" i="0">
                <a:solidFill>
                  <a:srgbClr val="101318"/>
                </a:solidFill>
              </a:rPr>
              <a:t>Explain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EE90E-BD54-4EE1-85E5-2C69C9E9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764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470"/>
                </a:solidFill>
              </a:defRPr>
            </a:pPr>
            <a:r>
              <a:rPr sz="1575" b="0" i="0">
                <a:solidFill>
                  <a:srgbClr val="5D6470"/>
                </a:solidFill>
              </a:rPr>
              <a:t>the geometric idea behind each method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86643-45E7-4987-A90E-0CA94CEA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9E819-0D1B-4A57-A8F9-C5581F63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43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A8C6"/>
                </a:solidFill>
              </a:defRPr>
            </a:pPr>
            <a:r>
              <a:rPr sz="1800" b="1" i="0">
                <a:solidFill>
                  <a:srgbClr val="00A8C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3FC07-46A0-448C-B0DF-57EC0A9E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318"/>
                </a:solidFill>
              </a:defRPr>
            </a:pPr>
            <a:r>
              <a:rPr sz="1875" b="1" i="0">
                <a:solidFill>
                  <a:srgbClr val="101318"/>
                </a:solidFill>
              </a:rPr>
              <a:t>Implement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82C57-695C-4967-B469-6C584816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432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470"/>
                </a:solidFill>
              </a:defRPr>
            </a:pPr>
            <a:r>
              <a:rPr sz="1575" b="0" i="0">
                <a:solidFill>
                  <a:srgbClr val="5D6470"/>
                </a:solidFill>
              </a:rPr>
              <a:t>Newton, bisection, trapezoidal, Simpson, and finite differences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90BD3-D973-41F9-BD62-926F6639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86C36-DC34-4262-9D79-92D4DE02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E56CF"/>
                </a:solidFill>
              </a:defRPr>
            </a:pPr>
            <a:r>
              <a:rPr sz="1800" b="1" i="0">
                <a:solidFill>
                  <a:srgbClr val="6E56C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921D6-7BB2-42D2-BA02-760FBCC5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318"/>
                </a:solidFill>
              </a:defRPr>
            </a:pPr>
            <a:r>
              <a:rPr sz="1875" b="1" i="0">
                <a:solidFill>
                  <a:srgbClr val="101318"/>
                </a:solidFill>
              </a:rPr>
              <a:t>Diagnose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6AC53-F518-44EE-8CC1-F20E908A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10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470"/>
                </a:solidFill>
              </a:defRPr>
            </a:pPr>
            <a:r>
              <a:rPr sz="1575" b="0" i="0">
                <a:solidFill>
                  <a:srgbClr val="5D6470"/>
                </a:solidFill>
              </a:rPr>
              <a:t>convergence, truncation, and round-off problems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612EE-F6FA-4807-8DDE-595847E4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FBBED-D61B-4B87-9DEA-E128A867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E56CF"/>
                </a:solidFill>
              </a:defRPr>
            </a:pPr>
            <a:r>
              <a:rPr sz="1800" b="1" i="0">
                <a:solidFill>
                  <a:srgbClr val="6E56C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6DC19-C572-4D9D-9047-408E213E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318"/>
                </a:solidFill>
              </a:defRPr>
            </a:pPr>
            <a:r>
              <a:rPr sz="1875" b="1" i="0">
                <a:solidFill>
                  <a:srgbClr val="101318"/>
                </a:solidFill>
              </a:rPr>
              <a:t>Choose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AAC779-00A8-453D-A23C-44F89334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768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470"/>
                </a:solidFill>
              </a:defRPr>
            </a:pPr>
            <a:r>
              <a:rPr sz="1575" b="0" i="0">
                <a:solidFill>
                  <a:srgbClr val="5D6470"/>
                </a:solidFill>
              </a:rPr>
              <a:t>a method and verify it with MATLAB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BD2E5-D183-4EC8-8A4F-7E076DCC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4E58C-1549-4BA1-A939-C910B729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13814140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784129-5960-4348-8043-6F880D2B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02366-D59E-4406-9D83-01BD4B53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WATCH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1C910-C8F4-4754-B8D4-61C0E8DF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8CA28-EC01-4CF1-BBD4-BF655B9B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Today’s route: intuition → algorithm → MATLAB → judgement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A1ED5-73B2-40D6-B868-9B45E582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5275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ACD1A-25AA-404E-961A-EE49AA2C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838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242C5-B5AD-4F42-98D7-41FE5C54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01318"/>
                </a:solidFill>
              </a:defRPr>
            </a:pPr>
            <a:r>
              <a:rPr sz="2025" b="1" i="0">
                <a:solidFill>
                  <a:srgbClr val="101318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C55D7-4374-47FD-A2CB-A90C098F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733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A8C6"/>
                </a:solidFill>
              </a:defRPr>
            </a:pPr>
            <a:r>
              <a:rPr sz="1200" b="1" i="0">
                <a:solidFill>
                  <a:srgbClr val="00A8C6"/>
                </a:solidFill>
              </a:rPr>
              <a:t>ROOTS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794E2-3572-40AA-AC92-524A23DE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41719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D6470"/>
                </a:solidFill>
              </a:defRPr>
            </a:pPr>
            <a:r>
              <a:rPr sz="1275" b="0" i="0">
                <a:solidFill>
                  <a:srgbClr val="5D6470"/>
                </a:solidFill>
              </a:rPr>
              <a:t>Newton · Bisection · fzero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C3C0B-4BF6-422C-ACE4-4B8051DB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838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0227B-5BA4-4974-8A21-015B96F4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5272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01318"/>
                </a:solidFill>
              </a:defRPr>
            </a:pPr>
            <a:r>
              <a:rPr sz="2025" b="1" i="0">
                <a:solidFill>
                  <a:srgbClr val="101318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D3C3D-5648-4414-B7E0-D21AB49B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33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E56CF"/>
                </a:solidFill>
              </a:defRPr>
            </a:pPr>
            <a:r>
              <a:rPr sz="1200" b="1" i="0">
                <a:solidFill>
                  <a:srgbClr val="6E56CF"/>
                </a:solidFill>
              </a:rPr>
              <a:t>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B2B69-6957-4BEC-92D3-12CBA811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1719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D6470"/>
                </a:solidFill>
              </a:defRPr>
            </a:pPr>
            <a:r>
              <a:rPr sz="1275" b="0" i="0">
                <a:solidFill>
                  <a:srgbClr val="5D6470"/>
                </a:solidFill>
              </a:rPr>
              <a:t>Trapezoidal · Simpson · integral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AF672-EFEE-450D-B664-ED6FB781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71750"/>
            <a:ext cx="838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5BDF9-6A06-493C-A5F4-95134566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5272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01318"/>
                </a:solidFill>
              </a:defRPr>
            </a:pPr>
            <a:r>
              <a:rPr sz="2025" b="1" i="0">
                <a:solidFill>
                  <a:srgbClr val="101318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06E93-43C9-483C-8145-67BFF103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33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4A340"/>
                </a:solidFill>
              </a:defRPr>
            </a:pPr>
            <a:r>
              <a:rPr sz="1200" b="1" i="0">
                <a:solidFill>
                  <a:srgbClr val="F4A340"/>
                </a:solidFill>
              </a:rPr>
              <a:t>SLOPE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317B1-EAEB-4B4A-9C8F-F9E83412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719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D6470"/>
                </a:solidFill>
              </a:defRPr>
            </a:pPr>
            <a:r>
              <a:rPr sz="1275" b="0" i="0">
                <a:solidFill>
                  <a:srgbClr val="5D6470"/>
                </a:solidFill>
              </a:rPr>
              <a:t>Finite differences · diff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9C659-E8CD-4E01-BB23-6BFFCC8B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71750"/>
            <a:ext cx="838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9525">
            <a:solidFill>
              <a:srgbClr val="10131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CF829E-2DC9-47B9-AC89-9A417DD6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5272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8312D-F7D4-4105-A92E-493EDD64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33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1318"/>
                </a:solidFill>
              </a:defRPr>
            </a:pPr>
            <a:r>
              <a:rPr sz="1200" b="1" i="0">
                <a:solidFill>
                  <a:srgbClr val="101318"/>
                </a:solidFill>
              </a:rPr>
              <a:t>DECIDE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618F5-3C75-41C7-8DFE-838002CA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719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D6470"/>
                </a:solidFill>
              </a:defRPr>
            </a:pPr>
            <a:r>
              <a:rPr sz="1275" b="0" i="0">
                <a:solidFill>
                  <a:srgbClr val="5D6470"/>
                </a:solidFill>
              </a:rPr>
              <a:t>Accuracy · failure · verification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5B9E55-05A3-4DFF-BAF1-9D8ACEA8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E7F3A6-ABF5-4CC3-99E9-21D94B87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20801769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CC8C9A-C15B-4759-84D8-5DAD919F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8C6"/>
                </a:solidFill>
              </a:defRPr>
            </a:pPr>
            <a:r>
              <a:rPr sz="1125" b="1" i="0">
                <a:solidFill>
                  <a:srgbClr val="00A8C6"/>
                </a:solidFill>
              </a:rPr>
              <a:t>PART 1 · ROOT-FINDING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48D3A-A308-4D57-8B48-9C3A816A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Where does the model equal zero?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86BF1-D371-4170-ADDE-DDBB2A50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57600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088D1-8F05-4CFA-A3E0-397AAECB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838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7CED8"/>
                </a:solidFill>
              </a:defRPr>
            </a:pPr>
            <a:r>
              <a:rPr sz="1800" b="0" i="0">
                <a:solidFill>
                  <a:srgbClr val="C7CED8"/>
                </a:solidFill>
              </a:rPr>
              <a:t>A root is not merely an x-intercept—it may represent equilibrium, resonance, a threshold, or a boundary between regimes.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99D42-1E8A-4026-87DD-C913CFD0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F98A5"/>
                </a:solidFill>
              </a:defRPr>
            </a:pPr>
            <a:r>
              <a:rPr sz="1050" b="0" i="0">
                <a:solidFill>
                  <a:srgbClr val="8F98A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92867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6D6725-439A-4CA7-86CA-3450D05A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2F1C9-803A-452C-A042-50CF1645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WATCH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5E0E8-A0A3-43B4-B99D-9817EE4D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3FF48-8559-43CC-9B9C-B2AAD90C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Newton’s method follows the tangent to the axis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6667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4c37b8736f4a0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8B5C7-3837-4D41-B9E9-4C5AC535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1318"/>
                </a:solidFill>
              </a:defRPr>
            </a:pPr>
            <a:r>
              <a:rPr sz="2325" b="1" i="0">
                <a:solidFill>
                  <a:srgbClr val="101318"/>
                </a:solidFill>
              </a:rPr>
              <a:t>xₖ₊₁ = xₖ − f(xₖ) / f′(xₖ)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A25A5-90B8-47E7-9B07-BD2A1774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3905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FD92A-DF49-475B-8075-CDCD0DFC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30AA3-5900-469E-9FEC-A34AAFBE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0995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A8C6"/>
                </a:solidFill>
              </a:defRPr>
            </a:pPr>
            <a:r>
              <a:rPr sz="1275" b="1" i="0">
                <a:solidFill>
                  <a:srgbClr val="00A8C6"/>
                </a:solidFill>
              </a:rPr>
              <a:t>GEOMETRIC MOVE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07420-F9A6-4B2F-BB68-68499760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33800"/>
            <a:ext cx="35052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At xₖ, replace the curve locally by its tangent. Where that tangent crosses y = 0 becomes the next estimate.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8C086-D549-4C3B-BFB8-8FE3DCC3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550D0-9744-43D1-9908-14B5CAED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968712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5D0FEC-1F60-4F78-A365-01B3FC6A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2AC79-AA3C-4495-A18D-9347A6B5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WATCH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E2FC6-7D30-4073-BE76-E465CC1F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88431-214C-484C-BA59-83D5FA2F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Newton’s algorithm needs two safeguards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207A9-ABA2-45A5-A5EA-70B582B9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5336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1B955-148C-4E4F-93C2-AC298B59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A8C6"/>
                </a:solidFill>
              </a:defRPr>
            </a:pPr>
            <a:r>
              <a:rPr sz="1800" b="1" i="0">
                <a:solidFill>
                  <a:srgbClr val="00A8C6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2D989-6135-4454-A2C7-FDB39234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318"/>
                </a:solidFill>
              </a:defRPr>
            </a:pPr>
            <a:r>
              <a:rPr sz="1800" b="1" i="0">
                <a:solidFill>
                  <a:srgbClr val="101318"/>
                </a:solidFill>
              </a:rPr>
              <a:t>Choose x₀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25D4E-76F0-4B76-8AF9-8D3B873B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470"/>
                </a:solidFill>
              </a:defRPr>
            </a:pPr>
            <a:r>
              <a:rPr sz="1350" b="0" i="0">
                <a:solidFill>
                  <a:srgbClr val="5D6470"/>
                </a:solidFill>
              </a:rPr>
              <a:t>Use a plot or physical estimate.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ED525-6322-4E33-975B-BD8BE68D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25336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DD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2F701-4891-4D8F-8BB3-84D58135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19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A8C6"/>
                </a:solidFill>
              </a:defRPr>
            </a:pPr>
            <a:r>
              <a:rPr sz="1800" b="1" i="0">
                <a:solidFill>
                  <a:srgbClr val="00A8C6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76306-B79F-4947-8D1B-26EDEDFB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318"/>
                </a:solidFill>
              </a:defRPr>
            </a:pPr>
            <a:r>
              <a:rPr sz="1800" b="1" i="0">
                <a:solidFill>
                  <a:srgbClr val="101318"/>
                </a:solidFill>
              </a:rPr>
              <a:t>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D95B8-8CE3-48BB-9DDF-73813B8F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470"/>
                </a:solidFill>
              </a:defRPr>
            </a:pPr>
            <a:r>
              <a:rPr sz="1350" b="0" i="0">
                <a:solidFill>
                  <a:srgbClr val="5D6470"/>
                </a:solidFill>
              </a:rPr>
              <a:t>x ← x − f(x)/f′(x)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6C261-DFE9-4AC6-9092-4206103D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5336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67C69-D989-4A9F-9B45-52EF0112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19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A8C6"/>
                </a:solidFill>
              </a:defRPr>
            </a:pPr>
            <a:r>
              <a:rPr sz="1800" b="1" i="0">
                <a:solidFill>
                  <a:srgbClr val="00A8C6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B87AF-408D-4B54-9A42-7EB52FA6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318"/>
                </a:solidFill>
              </a:defRPr>
            </a:pPr>
            <a:r>
              <a:rPr sz="1800" b="1" i="0">
                <a:solidFill>
                  <a:srgbClr val="101318"/>
                </a:solidFill>
              </a:rPr>
              <a:t>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FD34D-2074-4AB8-81D8-4ECBAE4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385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470"/>
                </a:solidFill>
              </a:defRPr>
            </a:pPr>
            <a:r>
              <a:rPr sz="1350" b="0" i="0">
                <a:solidFill>
                  <a:srgbClr val="5D6470"/>
                </a:solidFill>
              </a:rPr>
              <a:t>|f(x)| and the step size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7F1B9-AF85-4146-BA97-0A84A441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5336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89E42-5B89-42B5-8A2D-132C71B4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19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A8C6"/>
                </a:solidFill>
              </a:defRPr>
            </a:pPr>
            <a:r>
              <a:rPr sz="1800" b="1" i="0">
                <a:solidFill>
                  <a:srgbClr val="00A8C6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80810-13D4-4055-94C2-674E216F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24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318"/>
                </a:solidFill>
              </a:defRPr>
            </a:pPr>
            <a:r>
              <a:rPr sz="1800" b="1" i="0">
                <a:solidFill>
                  <a:srgbClr val="101318"/>
                </a:solidFill>
              </a:rPr>
              <a:t>Stop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87DD3-54E7-43C2-B907-FD56605F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385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470"/>
                </a:solidFill>
              </a:defRPr>
            </a:pPr>
            <a:r>
              <a:rPr sz="1350" b="0" i="0">
                <a:solidFill>
                  <a:srgbClr val="5D6470"/>
                </a:solidFill>
              </a:rPr>
              <a:t>Tolerance reached—or iteration limit.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C9F9C-CC96-4696-A3EE-626AACCB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57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89C6D-8C7B-40D0-8004-A49277D9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65A5C9-DB2B-47F2-9130-E1DAE754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33950"/>
            <a:ext cx="817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94A52"/>
                </a:solidFill>
              </a:defRPr>
            </a:pPr>
            <a:r>
              <a:rPr sz="1275" b="1" i="0">
                <a:solidFill>
                  <a:srgbClr val="D94A52"/>
                </a:solidFill>
              </a:rPr>
              <a:t>SAFEGUARDS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3B1443-E24F-4F91-8246-3A00B434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57800"/>
            <a:ext cx="817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Never loop forever. Stop when both the residual and the update are small, and detect f′(x) ≈ 0 before dividing.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B2D955-A53C-42EF-A597-850CAE74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FBB924-A66D-44EA-98DB-C026A546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911989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441AA6-D896-4EC2-AD29-A62036F6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8CEB2-2E90-4027-A328-3CA4DD59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0A8C6"/>
                </a:solidFill>
              </a:defRPr>
            </a:pPr>
            <a:r>
              <a:rPr sz="975" b="1" i="0">
                <a:solidFill>
                  <a:srgbClr val="00A8C6"/>
                </a:solidFill>
              </a:rPr>
              <a:t>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F1162-F61A-48FF-8FA1-F1BC8CC2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43B08-223D-4D36-AC21-0E3B157B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Worked example: x³ − 2x − 5 =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2D8FC-C179-4164-A32D-DDA0ACB7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0482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80B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57CD3-0CFE-46D2-9B35-302BB36E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470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3E5F2"/>
                </a:solidFill>
              </a:defRPr>
            </a:pPr>
            <a:r>
              <a:rPr sz="825" b="1" i="0">
                <a:solidFill>
                  <a:srgbClr val="83E5F2"/>
                </a:solidFill>
              </a:rPr>
              <a:t>MATLAB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31F18-F702-422D-A41E-50D91E4A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47053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f  = @(x) x.^3 - 2*x - 5;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df = @(x) 3*x.^2 - 2;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x = 5;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for k = 1:8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    dx = -f(x)/df(x);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    x  = x + dx;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    if abs(f(x)) &lt; 1e-10, break, end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1552B-7497-4970-AC02-0DA01E61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19250"/>
            <a:ext cx="5238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C970C-4E6F-41FC-9ECA-0743F95F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954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0EE9E-97F5-4B2B-BC68-6ABA64D7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95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xₖ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7A787-0C89-4F9F-8915-3EF1CF20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95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|f(xₖ)|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E0000-05FD-4491-843A-9DEDC04C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95500"/>
            <a:ext cx="523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1E0CA-10D9-4975-9CCA-2C0DB65A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717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1CF8F-3ACE-46B0-8794-FF727478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717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5.000000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2DFC7-5BED-49E7-8F4F-33142F6B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71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110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85F9E7-4A57-4E10-9C7B-47AEECFF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71750"/>
            <a:ext cx="523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18838-AFD1-41AA-B107-AB9B1C06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47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D37BF5-EF0E-40EC-93F7-9EB60BF9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47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3.493151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593B2F-063E-41A2-8F12-2DB7F5F0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47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30.64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CD394-5D99-41B1-830F-6A9032AC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48000"/>
            <a:ext cx="523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A83F8-21EF-49A5-BE89-8A37009C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24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50607E-F108-4041-8E57-30D1F7EF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24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2.607836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415BB6-293D-475C-A48E-C6F2A44B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24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7.52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4C16FF-418C-4170-9144-A8800986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24250"/>
            <a:ext cx="523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C5945D-751F-4BBB-8A1F-DE98EAFA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004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65D076-39D1-4F89-A384-03B9B93A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00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2.199209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134308-8579-430B-BCDD-0B2A31AB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1.24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66301B-519E-40E0-A312-3D8AE57A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00500"/>
            <a:ext cx="523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BFF1CC-17C1-4981-AC73-EC181939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767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475297-35FA-4C12-9175-75A912C8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767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2.100237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A56E45-3765-485E-BC7A-126322E8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76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0.0637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DE3C6F-3EEF-4E50-A8FB-A4ADD314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76750"/>
            <a:ext cx="523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12040A-96EF-499A-BD34-D6310E4F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52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0E9E4D-9935-44FF-864A-D14E0EC7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52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2.094570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3B45F1-98A9-47A5-87B8-3867F5A8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52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2.02×10⁻⁴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4F1150-2FAC-49C9-A718-9D512D7B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53000"/>
            <a:ext cx="523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A9815C-E618-4999-93AB-76C2F6BB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29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969685-40A0-4764-A857-30852AE2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29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2.094551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F1991E-8109-4F9F-A33C-4CD8614B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29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318"/>
                </a:solidFill>
              </a:defRPr>
            </a:pPr>
            <a:r>
              <a:rPr sz="1200" b="0" i="0">
                <a:solidFill>
                  <a:srgbClr val="101318"/>
                </a:solidFill>
              </a:rPr>
              <a:t>2.06×10⁻⁹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34E888-00CC-4231-9727-FCF4BA36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4768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A8C6"/>
                </a:solidFill>
              </a:defRPr>
            </a:pPr>
            <a:r>
              <a:rPr sz="1425" b="1" i="0">
                <a:solidFill>
                  <a:srgbClr val="00A8C6"/>
                </a:solidFill>
              </a:rPr>
              <a:t>Rapid near the root: error is approximately squared each iteration.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2A72A0-69EB-4388-98A4-8F470968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FE77A5-A65F-4F5F-9318-56EBC3E8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20915727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64010A-F993-4882-9492-C5BB2544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27126-30D5-40D7-B3D5-5A048794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4A340"/>
                </a:solidFill>
              </a:defRPr>
            </a:pPr>
            <a:r>
              <a:rPr sz="975" b="1" i="0">
                <a:solidFill>
                  <a:srgbClr val="F4A340"/>
                </a:solidFill>
              </a:rPr>
              <a:t>DISCUSS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0753A-0B2C-466C-BC0E-AAE3DE12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37AB8-6D0A-48B6-99A9-4260D1F6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Newton can be brilliant—and still fail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C9D1F-4E98-4DCF-82FB-F410AF73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381625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1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52F1D-80E8-4BB8-839E-C857C4EC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A340"/>
                </a:solidFill>
              </a:defRPr>
            </a:pPr>
            <a:r>
              <a:rPr sz="1125" b="1" i="0">
                <a:solidFill>
                  <a:srgbClr val="F4A340"/>
                </a:solidFill>
              </a:rPr>
              <a:t>POOR 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8F7B7-E99E-470D-8357-B9F86944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318"/>
                </a:solidFill>
              </a:defRPr>
            </a:pPr>
            <a:r>
              <a:rPr sz="1575" b="1" i="0">
                <a:solidFill>
                  <a:srgbClr val="101318"/>
                </a:solidFill>
              </a:rPr>
              <a:t>The tangent may jump to another root or diverge.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DF525F-799F-4912-8807-A5F20DD4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76400"/>
            <a:ext cx="5381625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1E19C-534E-4DCA-9BF3-CEFE4A1F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66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4A52"/>
                </a:solidFill>
              </a:defRPr>
            </a:pPr>
            <a:r>
              <a:rPr sz="1125" b="1" i="0">
                <a:solidFill>
                  <a:srgbClr val="D94A52"/>
                </a:solidFill>
              </a:rPr>
              <a:t>FLAT SLOPE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3F340-8D23-4F43-AF7C-1523FF67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2669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318"/>
                </a:solidFill>
              </a:defRPr>
            </a:pPr>
            <a:r>
              <a:rPr sz="1575" b="1" i="0">
                <a:solidFill>
                  <a:srgbClr val="101318"/>
                </a:solidFill>
              </a:rPr>
              <a:t>f′(x) ≈ 0 creates a huge update.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3E52F-6B7F-4030-8922-FE02ECA4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5381625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88212-5E93-4600-8458-DAE6DF6C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4A52"/>
                </a:solidFill>
              </a:defRPr>
            </a:pPr>
            <a:r>
              <a:rPr sz="1125" b="1" i="0">
                <a:solidFill>
                  <a:srgbClr val="D94A52"/>
                </a:solidFill>
              </a:rPr>
              <a:t>OSCILLATION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77148-8D89-47B4-98D4-EB2A0139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318"/>
                </a:solidFill>
              </a:defRPr>
            </a:pPr>
            <a:r>
              <a:rPr sz="1575" b="1" i="0">
                <a:solidFill>
                  <a:srgbClr val="101318"/>
                </a:solidFill>
              </a:rPr>
              <a:t>Updates can bounce between points.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1727C-43EC-48C3-B417-3D10B06E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86150"/>
            <a:ext cx="5381625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3195B-F966-430D-B4B6-0DC90DF3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76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4A52"/>
                </a:solidFill>
              </a:defRPr>
            </a:pPr>
            <a:r>
              <a:rPr sz="1125" b="1" i="0">
                <a:solidFill>
                  <a:srgbClr val="D94A52"/>
                </a:solidFill>
              </a:rPr>
              <a:t>DISCONTINUITY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385EB-AA8D-4745-9C9F-2B4692B4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7670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318"/>
                </a:solidFill>
              </a:defRPr>
            </a:pPr>
            <a:r>
              <a:rPr sz="1575" b="1" i="0">
                <a:solidFill>
                  <a:srgbClr val="101318"/>
                </a:solidFill>
              </a:rPr>
              <a:t>A tangent may cross an irrelevant branch.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90FB7-43BA-4FE0-B72C-A7E89B95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57825"/>
            <a:ext cx="7667625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5BFCBB-932C-4F0C-9755-D7666D55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57825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5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5EDC3-888C-401B-BFED-25A4AFB1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629275"/>
            <a:ext cx="7267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E56CF"/>
                </a:solidFill>
              </a:defRPr>
            </a:pPr>
            <a:r>
              <a:rPr sz="1275" b="1" i="0">
                <a:solidFill>
                  <a:srgbClr val="6E56CF"/>
                </a:solidFill>
              </a:rPr>
              <a:t>CASE TO 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3405FE-1E54-4020-8597-EF514050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953125"/>
            <a:ext cx="72675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For 2x = tan(x), plot first. Starting guesses near tangent asymptotes can produce surprising jumps.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55F58-5BCB-4D19-9D8A-CA30A99C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EE9747-AB68-47B5-9ADB-085519E8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12710090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462A53-9364-4549-8704-0B1F23F7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2DF87-4E1C-4B73-8BA4-23BA678C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WATCH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98865-A964-4190-8CC1-7FAD0418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565CF-CDA4-497B-AB47-C123CDAC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Bisection trades speed for certainty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EE24A-E86F-4F7A-903A-6D94F833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318"/>
                </a:solidFill>
              </a:defRPr>
            </a:pPr>
            <a:r>
              <a:rPr sz="1800" b="1" i="0">
                <a:solidFill>
                  <a:srgbClr val="101318"/>
                </a:solidFill>
              </a:rPr>
              <a:t>If f(xL) and f(xR) have opposite signs—and f is continuous—at least one root lies between them.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485A9-086A-4A81-8774-72FBEEAA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904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EF1B6-9FD5-435C-9946-2DCB3F7C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43250"/>
            <a:ext cx="114300" cy="419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A4E8F-A51A-45CD-A3A3-E5401E21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143250"/>
            <a:ext cx="114300" cy="419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E5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48AB8-60DF-49EB-BC7C-39F07AAC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143250"/>
            <a:ext cx="114300" cy="419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9C1AC-A62B-4702-B845-D7371498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A8C6"/>
                </a:solidFill>
              </a:defRPr>
            </a:pPr>
            <a:r>
              <a:rPr sz="1500" b="1" i="0">
                <a:solidFill>
                  <a:srgbClr val="00A8C6"/>
                </a:solidFill>
              </a:rPr>
              <a:t>xL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73872-57C0-4293-9284-64DAFBE5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714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6E56CF"/>
                </a:solidFill>
              </a:defRPr>
            </a:pPr>
            <a:r>
              <a:rPr sz="1500" b="1" i="0">
                <a:solidFill>
                  <a:srgbClr val="6E56CF"/>
                </a:solidFill>
              </a:rPr>
              <a:t>xM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B7002-C81C-405B-942E-FD6BD1C7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14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A8C6"/>
                </a:solidFill>
              </a:defRPr>
            </a:pPr>
            <a:r>
              <a:rPr sz="1500" b="1" i="0">
                <a:solidFill>
                  <a:srgbClr val="00A8C6"/>
                </a:solidFill>
              </a:rPr>
              <a:t>xR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1B3B2-85E6-4554-9692-1702E4CD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318"/>
                </a:solidFill>
              </a:defRPr>
            </a:pPr>
            <a:r>
              <a:rPr sz="1875" b="1" i="0">
                <a:solidFill>
                  <a:srgbClr val="101318"/>
                </a:solidFill>
              </a:rPr>
              <a:t>Discard the half that does not preserve the sign change.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5E293-024D-4684-A477-7E3AE28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86375"/>
            <a:ext cx="7715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D9F16-1B62-4F4D-87D5-E7C846D2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86375"/>
            <a:ext cx="762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DB8AA-1FFB-4ABF-864E-873A9E5F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457825"/>
            <a:ext cx="731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94A52"/>
                </a:solidFill>
              </a:defRPr>
            </a:pPr>
            <a:r>
              <a:rPr sz="1275" b="1" i="0">
                <a:solidFill>
                  <a:srgbClr val="D94A52"/>
                </a:solidFill>
              </a:rPr>
              <a:t>NON-NEGOTIABLE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5246E-9A01-4914-8D75-C26A3333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781675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Check f(xL)·f(xR) &lt; 0 before iterating. Bisection cannot detect an even-multiplicity root that merely touches the axis.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E199D-E045-4193-A8FB-F82514FA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923E7-0226-4B93-97A4-2D75E15E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17768181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77E7B4-2C26-4137-8D79-BC6F2D38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7565E-9D88-4DFE-9A14-8A8C3312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WATCH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40E5F-6E73-4BC7-9EF4-6AF5376B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A0D21-BEF8-4202-9E56-7630A215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Bisection shrinks the uncertainty by ½ each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C3131-9F56-4CC1-AAF3-2E4F1A95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25336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ABB00-368B-4FBE-8964-45762A48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56CF"/>
                </a:solidFill>
              </a:defRPr>
            </a:pPr>
            <a:r>
              <a:rPr sz="1050" b="1" i="0">
                <a:solidFill>
                  <a:srgbClr val="6E56CF"/>
                </a:solidFill>
              </a:rPr>
              <a:t>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1BAE2-E54F-45B4-B085-DAC1B5B1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318"/>
                </a:solidFill>
              </a:defRPr>
            </a:pPr>
            <a:r>
              <a:rPr sz="1650" b="1" i="0">
                <a:solidFill>
                  <a:srgbClr val="101318"/>
                </a:solidFill>
              </a:rPr>
              <a:t>Confirm sign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707F1-5A85-4E10-8F84-85D5654F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85950"/>
            <a:ext cx="25336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73CA0-0EBD-473A-BA18-CA1D08C5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56CF"/>
                </a:solidFill>
              </a:defRPr>
            </a:pPr>
            <a:r>
              <a:rPr sz="1050" b="1" i="0">
                <a:solidFill>
                  <a:srgbClr val="6E56CF"/>
                </a:solidFill>
              </a:rPr>
              <a:t>MIDPOINT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573D4-475B-4E3D-8AB7-173252C6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670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318"/>
                </a:solidFill>
              </a:defRPr>
            </a:pPr>
            <a:r>
              <a:rPr sz="1650" b="1" i="0">
                <a:solidFill>
                  <a:srgbClr val="101318"/>
                </a:solidFill>
              </a:rPr>
              <a:t>xM = (xL + xR)/2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16FE3-FAAD-4A83-9D8B-9F94E9E1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85950"/>
            <a:ext cx="25336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02D7F-F3B0-4584-95D0-FD6A088C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14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56CF"/>
                </a:solidFill>
              </a:defRPr>
            </a:pPr>
            <a:r>
              <a:rPr sz="1050" b="1" i="0">
                <a:solidFill>
                  <a:srgbClr val="6E56CF"/>
                </a:solidFill>
              </a:rPr>
              <a:t>KEEP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A4739-AA7F-49B6-9370-6963380F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318"/>
                </a:solidFill>
              </a:defRPr>
            </a:pPr>
            <a:r>
              <a:rPr sz="1650" b="1" i="0">
                <a:solidFill>
                  <a:srgbClr val="101318"/>
                </a:solidFill>
              </a:rPr>
              <a:t>Retain the sign-changing half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35A29-5B26-4FA2-9898-32560F04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85950"/>
            <a:ext cx="25336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635FB-FB17-4351-AEA9-39C4FFF4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56CF"/>
                </a:solidFill>
              </a:defRPr>
            </a:pPr>
            <a:r>
              <a:rPr sz="1050" b="1" i="0">
                <a:solidFill>
                  <a:srgbClr val="6E56CF"/>
                </a:solidFill>
              </a:rPr>
              <a:t>REPEAT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01549-E809-41FD-AF09-5B29C52B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318"/>
                </a:solidFill>
              </a:defRPr>
            </a:pPr>
            <a:r>
              <a:rPr sz="1650" b="1" i="0">
                <a:solidFill>
                  <a:srgbClr val="101318"/>
                </a:solidFill>
              </a:rPr>
              <a:t>Until width or residual is small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68489E-56E9-43DA-A11C-6B5B4588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91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470"/>
                </a:solidFill>
              </a:defRPr>
            </a:pPr>
            <a:r>
              <a:rPr sz="1575" b="0" i="0">
                <a:solidFill>
                  <a:srgbClr val="5D6470"/>
                </a:solidFill>
              </a:rPr>
              <a:t>After k iterations: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F6C38-0F9D-4A73-8168-0CB8371C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958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318"/>
                </a:solidFill>
              </a:defRPr>
            </a:pPr>
            <a:r>
              <a:rPr sz="2175" b="1" i="0">
                <a:solidFill>
                  <a:srgbClr val="101318"/>
                </a:solidFill>
              </a:rPr>
              <a:t>interval width = (xR − xL) / 2ᵏ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ADE7A-2ED1-47EF-A0AB-33600AB9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387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6E56CF"/>
                </a:solidFill>
              </a:defRPr>
            </a:pPr>
            <a:r>
              <a:rPr sz="1425" b="1" i="0">
                <a:solidFill>
                  <a:srgbClr val="6E56CF"/>
                </a:solidFill>
              </a:rPr>
              <a:t>This gives an error bound before you even run the code.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8C8E0F-8E35-4C89-AB96-18078B3B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D94E5D-C3BA-4FFF-9E32-FE1C279C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21170638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5BCBE8-EF90-4E4B-9721-606C3265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EA804-CB6D-41D3-886A-EA7C1F12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4A340"/>
                </a:solidFill>
              </a:defRPr>
            </a:pPr>
            <a:r>
              <a:rPr sz="975" b="1" i="0">
                <a:solidFill>
                  <a:srgbClr val="F4A340"/>
                </a:solidFill>
              </a:rPr>
              <a:t>DISCUSS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A4877-5EC2-4852-B9AE-8CC32779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26F7A-371D-4579-8971-9C596945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Newton or bisection? Choose from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94929-6DAD-4643-8778-A0D6CD39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906D6-3BD0-41A3-9FC9-53379FAA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Criterion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F7B9E-27D2-4FBE-87C4-9C6BF50C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907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Newton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91C5F-7341-46DE-A836-C1550516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907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Bisection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D3CE1-DE44-482D-960C-EE812395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E8BB3-AE52-4847-8830-6EFF6E4A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1318"/>
                </a:solidFill>
              </a:defRPr>
            </a:pPr>
            <a:r>
              <a:rPr sz="1275" b="0" i="0">
                <a:solidFill>
                  <a:srgbClr val="101318"/>
                </a:solidFill>
              </a:rPr>
              <a:t>Starting information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4F3AC-3E35-47AC-9D20-55E9D77F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03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1318"/>
                </a:solidFill>
              </a:defRPr>
            </a:pPr>
            <a:r>
              <a:rPr sz="1275" b="0" i="0">
                <a:solidFill>
                  <a:srgbClr val="101318"/>
                </a:solidFill>
              </a:rPr>
              <a:t>One guess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9FC97-FF05-4991-810F-0DBEB473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03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1318"/>
                </a:solidFill>
              </a:defRPr>
            </a:pPr>
            <a:r>
              <a:rPr sz="1275" b="0" i="0">
                <a:solidFill>
                  <a:srgbClr val="101318"/>
                </a:solidFill>
              </a:rPr>
              <a:t>A sign-changing bracket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3244D-7D93-4389-A140-F2DFE930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A0A03-5D79-484F-BD83-C1D807B2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1318"/>
                </a:solidFill>
              </a:defRPr>
            </a:pPr>
            <a:r>
              <a:rPr sz="1275" b="0" i="0">
                <a:solidFill>
                  <a:srgbClr val="101318"/>
                </a:solidFill>
              </a:rPr>
              <a:t>Derivative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C2903-F8D3-4501-ABA7-FF0CDA6F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1318"/>
                </a:solidFill>
              </a:defRPr>
            </a:pPr>
            <a:r>
              <a:rPr sz="1275" b="0" i="0">
                <a:solidFill>
                  <a:srgbClr val="101318"/>
                </a:solidFill>
              </a:rPr>
              <a:t>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97878-99EE-445F-A6B7-68C6F67A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1318"/>
                </a:solidFill>
              </a:defRPr>
            </a:pPr>
            <a:r>
              <a:rPr sz="1275" b="0" i="0">
                <a:solidFill>
                  <a:srgbClr val="101318"/>
                </a:solidFill>
              </a:rPr>
              <a:t>Not required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1245D-0746-4089-A1F0-7B2FBEE3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6ECD89-5CFF-4A57-B9B5-15D447D0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1318"/>
                </a:solidFill>
              </a:defRPr>
            </a:pPr>
            <a:r>
              <a:rPr sz="1275" b="0" i="0">
                <a:solidFill>
                  <a:srgbClr val="101318"/>
                </a:solidFill>
              </a:rPr>
              <a:t>Typical speed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FCBCDF-6AFD-4A88-AAE9-6D0E5800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1318"/>
                </a:solidFill>
              </a:defRPr>
            </a:pPr>
            <a:r>
              <a:rPr sz="1275" b="0" i="0">
                <a:solidFill>
                  <a:srgbClr val="101318"/>
                </a:solidFill>
              </a:rPr>
              <a:t>Very fast near a simple root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84038-1419-43F0-9663-4920C901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1318"/>
                </a:solidFill>
              </a:defRPr>
            </a:pPr>
            <a:r>
              <a:rPr sz="1275" b="0" i="0">
                <a:solidFill>
                  <a:srgbClr val="101318"/>
                </a:solidFill>
              </a:rPr>
              <a:t>Steady, linear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9291F5-CBB9-429E-B246-E5BCCD2F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CCE61-12EB-480D-953F-33E38DBD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1318"/>
                </a:solidFill>
              </a:defRPr>
            </a:pPr>
            <a:r>
              <a:rPr sz="1275" b="0" i="0">
                <a:solidFill>
                  <a:srgbClr val="101318"/>
                </a:solidFill>
              </a:rPr>
              <a:t>Guarantee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6C0F33-0FA4-4E35-8A8A-A76E744A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291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1318"/>
                </a:solidFill>
              </a:defRPr>
            </a:pPr>
            <a:r>
              <a:rPr sz="1275" b="0" i="0">
                <a:solidFill>
                  <a:srgbClr val="101318"/>
                </a:solidFill>
              </a:rPr>
              <a:t>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A78106-C6C9-4B53-B823-30DA8C73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91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1318"/>
                </a:solidFill>
              </a:defRPr>
            </a:pPr>
            <a:r>
              <a:rPr sz="1275" b="0" i="0">
                <a:solidFill>
                  <a:srgbClr val="101318"/>
                </a:solidFill>
              </a:rPr>
              <a:t>Yes, with continuity + bracket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D727A9-C1C0-44A2-AF2D-65859A46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8820E2-E8F6-41BD-B25D-DA0BE3F2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1318"/>
                </a:solidFill>
              </a:defRPr>
            </a:pPr>
            <a:r>
              <a:rPr sz="1275" b="0" i="0">
                <a:solidFill>
                  <a:srgbClr val="101318"/>
                </a:solidFill>
              </a:rPr>
              <a:t>Best use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BC5199-413E-4F44-8197-6C97BD1E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387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1318"/>
                </a:solidFill>
              </a:defRPr>
            </a:pPr>
            <a:r>
              <a:rPr sz="1275" b="0" i="0">
                <a:solidFill>
                  <a:srgbClr val="101318"/>
                </a:solidFill>
              </a:rPr>
              <a:t>Good model and initial estimate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B56FBE-733D-4B1A-A303-F511B4CC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387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1318"/>
                </a:solidFill>
              </a:defRPr>
            </a:pPr>
            <a:r>
              <a:rPr sz="1275" b="0" i="0">
                <a:solidFill>
                  <a:srgbClr val="101318"/>
                </a:solidFill>
              </a:rPr>
              <a:t>Reliability first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114C2F-B669-4A2F-8024-99FC6842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81625"/>
            <a:ext cx="7239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D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BC31F0-AA9B-496F-BF95-9DF1388A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81625"/>
            <a:ext cx="7620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8E8009-B9B7-499D-B08B-488A7FB2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553075"/>
            <a:ext cx="683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A8C6"/>
                </a:solidFill>
              </a:defRPr>
            </a:pPr>
            <a:r>
              <a:rPr sz="1275" b="1" i="0">
                <a:solidFill>
                  <a:srgbClr val="00A8C6"/>
                </a:solidFill>
              </a:rPr>
              <a:t>PRACTICAL ANSWER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B531E0-3253-41A5-95CA-80E1CDEA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876925"/>
            <a:ext cx="683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Use a hybrid strategy: bracket first, then accelerate safely. MATLAB’s fzero follows this philosophy.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A5273A-874D-458B-89AF-20CBF7D3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A2F56E-68C7-4C01-8A57-5DB6AF4C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20127866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B31761-935F-424E-8E09-809D131E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05F2F-6036-4E86-B8FD-FB82BA22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0A8C6"/>
                </a:solidFill>
              </a:defRPr>
            </a:pPr>
            <a:r>
              <a:rPr sz="975" b="1" i="0">
                <a:solidFill>
                  <a:srgbClr val="00A8C6"/>
                </a:solidFill>
              </a:rPr>
              <a:t>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D0ED2-CD53-4FF2-BE5F-49337F40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52BD8-44AF-42B9-9BEE-39AF69BE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MATLAB built-ins: verify, don’t surrender judgement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883D0-B7FD-4BE3-A2D4-AA528591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81025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80B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EB81D-6D44-4C0E-8C6D-7E27383E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46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3E5F2"/>
                </a:solidFill>
              </a:defRPr>
            </a:pPr>
            <a:r>
              <a:rPr sz="825" b="1" i="0">
                <a:solidFill>
                  <a:srgbClr val="83E5F2"/>
                </a:solidFill>
              </a:rPr>
              <a:t>MATLAB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2FC22-BCEB-453D-AB91-982FADCB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54673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f = @(x) x.^3 + x - 3;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r1 = fzero(f, [1 2]);   % bracketed real root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r2 = fzero(f, 2);       % search near a guess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p  = [1 -6 12];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r3 = roots(p);          % polynomial roots, complex allowed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3C1BB-2C46-4E2F-AB6C-BE4B1CEB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762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D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A34D7-E48A-4BE2-8359-E537DD3F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3B385-1188-4076-8602-A2BB0645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669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A8C6"/>
                </a:solidFill>
              </a:defRPr>
            </a:pPr>
            <a:r>
              <a:rPr sz="1275" b="1" i="0">
                <a:solidFill>
                  <a:srgbClr val="00A8C6"/>
                </a:solidFill>
              </a:rPr>
              <a:t>BEFORE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4BC00-7596-48A1-8897-2F802914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90750"/>
            <a:ext cx="4362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Plot or scan the function. Identify brackets, discontinuities, and likely root count.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3B240-5B0B-4D02-9373-18A11154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4762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0FFFA-35B2-4C80-BF1E-93A1975B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5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056CA-B00E-4B4F-A73B-BCCF130D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147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E56CF"/>
                </a:solidFill>
              </a:defRPr>
            </a:pPr>
            <a:r>
              <a:rPr sz="1275" b="1" i="0">
                <a:solidFill>
                  <a:srgbClr val="6E56CF"/>
                </a:solidFill>
              </a:rPr>
              <a:t>AFTER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B56EF-B024-4366-890E-CDF047D3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38550"/>
            <a:ext cx="4362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Check |f(r)|, units, physical domain, and whether other roots matter.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7384C-5036-439D-9F4B-08ABC283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76875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318"/>
                </a:solidFill>
              </a:defRPr>
            </a:pPr>
            <a:r>
              <a:rPr sz="1875" b="1" i="0">
                <a:solidFill>
                  <a:srgbClr val="101318"/>
                </a:solidFill>
              </a:rPr>
              <a:t>A solver returning a number is not the same as a trustworthy solution.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02938-90A4-40AA-A71F-2CB5C815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3F534-854A-46AA-AA1E-9DF307D6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18264360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C8F9DD-D5B2-429D-8747-620CB459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BFD5A-3D04-4401-BB97-B7B591F1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E56CF"/>
                </a:solidFill>
              </a:defRPr>
            </a:pPr>
            <a:r>
              <a:rPr sz="975" b="1" i="0">
                <a:solidFill>
                  <a:srgbClr val="6E56CF"/>
                </a:solidFill>
              </a:rPr>
              <a:t>PREDICT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0A1D4-E5CA-4851-A35D-D1397C86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ACDD2-2A65-4994-AEAD-1E42CE56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Checkpoint: which method would you trust?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AACB2-ECE8-4F2B-9D0E-ADD4FE61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3E8EE-5135-434B-94A5-5D04867A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95475"/>
            <a:ext cx="78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FF3DD-851A-4E9B-8772-C27223A3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7335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318"/>
                </a:solidFill>
              </a:defRPr>
            </a:pPr>
            <a:r>
              <a:rPr sz="1575" b="1" i="0">
                <a:solidFill>
                  <a:srgbClr val="101318"/>
                </a:solidFill>
              </a:rPr>
              <a:t>Continuous function; bracket found; derivative unavailable.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E134A-D07A-4A32-A0C9-36246948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669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0A8C6"/>
                </a:solidFill>
              </a:defRPr>
            </a:pPr>
            <a:r>
              <a:rPr sz="1350" b="1" i="0">
                <a:solidFill>
                  <a:srgbClr val="00A8C6"/>
                </a:solidFill>
              </a:rPr>
              <a:t>BISECTION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B854D-7F29-43DE-8B60-EA466AE3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5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565C1-065D-4573-A167-2A311090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48025"/>
            <a:ext cx="78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EF0AB-F7FF-484B-8B1E-EB7C2127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861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318"/>
                </a:solidFill>
              </a:defRPr>
            </a:pPr>
            <a:r>
              <a:rPr sz="1575" b="1" i="0">
                <a:solidFill>
                  <a:srgbClr val="101318"/>
                </a:solidFill>
              </a:rPr>
              <a:t>Smooth model; accurate initial estimate; derivative known.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B2954-0EA8-4E3A-8C30-70C8AF43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6E56CF"/>
                </a:solidFill>
              </a:defRPr>
            </a:pPr>
            <a:r>
              <a:rPr sz="1350" b="1" i="0">
                <a:solidFill>
                  <a:srgbClr val="6E56CF"/>
                </a:solidFill>
              </a:rPr>
              <a:t>NEWTON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8F2CB-0152-4C6B-BEA1-9475ABA6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BF3F2-73AB-454E-9E87-EF614FA7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00575"/>
            <a:ext cx="78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6EBEA1-485F-4B19-B1E4-E2408185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386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318"/>
                </a:solidFill>
              </a:defRPr>
            </a:pPr>
            <a:r>
              <a:rPr sz="1575" b="1" i="0">
                <a:solidFill>
                  <a:srgbClr val="101318"/>
                </a:solidFill>
              </a:rPr>
              <a:t>Polynomial; all real and complex roots are required.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855F4-BC21-4677-A7DC-23C87842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72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4A340"/>
                </a:solidFill>
              </a:defRPr>
            </a:pPr>
            <a:r>
              <a:rPr sz="1350" b="1" i="0">
                <a:solidFill>
                  <a:srgbClr val="F4A340"/>
                </a:solidFill>
              </a:rPr>
              <a:t>ROOTS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0223A-AFD8-4788-91E8-B10D1681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703CB-6A96-4224-A47D-E080CF83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7115234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A9DB59-79E2-450E-AF59-D3FF1D97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E56CF"/>
                </a:solidFill>
              </a:defRPr>
            </a:pPr>
            <a:r>
              <a:rPr sz="1125" b="1" i="0">
                <a:solidFill>
                  <a:srgbClr val="6E56CF"/>
                </a:solidFill>
              </a:rPr>
              <a:t>PART 2 · NUMERICAL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C69B0-69A4-433C-A692-F8392958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How much accumulates?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412D2-FFEA-44D8-A104-21311D6A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57600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7187F-73C9-4BE3-AB7D-DBEF6FDF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838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7CED8"/>
                </a:solidFill>
              </a:defRPr>
            </a:pPr>
            <a:r>
              <a:rPr sz="1800" b="0" i="0">
                <a:solidFill>
                  <a:srgbClr val="C7CED8"/>
                </a:solidFill>
              </a:rPr>
              <a:t>When an antiderivative is unavailable—or only sampled data exist—we estimate area from function values.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E939F-78FC-4EB6-BEBD-C7D9668A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F98A5"/>
                </a:solidFill>
              </a:defRPr>
            </a:pPr>
            <a:r>
              <a:rPr sz="1050" b="0" i="0">
                <a:solidFill>
                  <a:srgbClr val="8F98A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427143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16C7B8-811D-4543-B062-FAA78FCD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CD24E-2D67-4A1C-90E2-7332FFC4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WATCH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35485-222E-42DF-BF00-251402EA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CDC94-5563-4215-81FE-864D9F45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The trapezoidal rule replaces the curve by straight segments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647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fadee85f2a42c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0733E-8590-49DA-A7BF-FCCB9BFC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43125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318"/>
                </a:solidFill>
              </a:defRPr>
            </a:pPr>
            <a:r>
              <a:rPr sz="2175" b="1" i="0">
                <a:solidFill>
                  <a:srgbClr val="101318"/>
                </a:solidFill>
              </a:rPr>
              <a:t>Tₙ = h/2 [ f(a) + f(b) + 2Σf(xᵢ) 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7AF5B-3AD1-4FEC-8E69-829BD201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38500"/>
            <a:ext cx="4286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74F23-0EFE-4517-880F-A4A4C8D4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3850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5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0DE42-C147-40B3-8323-359209E0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40995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E56CF"/>
                </a:solidFill>
              </a:defRPr>
            </a:pPr>
            <a:r>
              <a:rPr sz="1275" b="1" i="0">
                <a:solidFill>
                  <a:srgbClr val="6E56CF"/>
                </a:solidFill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419C2-872C-4BE0-871E-82CCE01D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73380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Each panel assumes the curve is locally linear.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59E16-86F1-41DD-914F-30D6EE88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76750"/>
            <a:ext cx="4286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D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66F18-B01C-4E4F-91E1-0D9EAB24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7675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3BF91-7615-41AC-92D6-0712DF00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6482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A8C6"/>
                </a:solidFill>
              </a:defRPr>
            </a:pPr>
            <a:r>
              <a:rPr sz="1275" b="1" i="0">
                <a:solidFill>
                  <a:srgbClr val="00A8C6"/>
                </a:solidFill>
              </a:rPr>
              <a:t>ERROR TREND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553C3-A9C0-4F74-A90F-2B501EB8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97205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For smooth functions, halving h reduces the global error by about 4×.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4AACE-A961-46AE-94BE-6620DD37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C88DD-057C-41AA-B9AB-DEF50A3B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12238078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6B3BCE-C392-4375-BCBD-F5555D6E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49CB0-F01B-44A4-9A47-42EADEFE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WATCH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A4810-BD0B-48A8-9535-655428A3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4572D-D7BA-47C3-9ACE-2DBB8372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Simpson’s rule fits a parabola through three points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0EEC4-B2B3-4176-9FBC-BD9435F8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192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1318"/>
                </a:solidFill>
              </a:defRPr>
            </a:pPr>
            <a:r>
              <a:rPr sz="2325" b="1" i="0">
                <a:solidFill>
                  <a:srgbClr val="101318"/>
                </a:solidFill>
              </a:rPr>
              <a:t>Sₙ = h/3 [ f(a) + f(b) + 4Σ f(xodd) + 2Σ f(xeven) 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D3378-F435-49F1-B7AE-06992809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52750"/>
            <a:ext cx="123825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0D90A-3100-44F2-BBE3-3DAB8750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575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8A9CB-D93A-485C-91A3-7FFF05ED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endpoint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0C13F-B4B9-4571-B2F4-438E923E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0"/>
            <a:ext cx="123825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5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43B5D-5CE9-41E8-A2D4-59055643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A0F1E-2FC4-4498-AA8D-0E03827E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odd index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736C9-5A77-4170-AAA5-92956C21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123825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5A7F0-4D0C-444C-9260-DCD071FD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575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B6015-3979-4C72-B20F-F344C586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29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even index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0F23D-5ACE-4F98-92CA-A617615E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123825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5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F4453-7C49-4EC5-BA45-7BE2A180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4D379-5F2B-4096-B94B-C1E2F1CD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29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odd index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49E9B-62DA-46EE-BA9D-13B81AB7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23825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A8B8EC-0F0A-4752-9040-0F70D016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575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0F207-5FEE-405F-A37C-E65D482A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29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endpoint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AFDB5-20C3-48CB-B773-772E407B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86375"/>
            <a:ext cx="8001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3AAE7F-0BDD-4FF8-84A6-F18C440C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86375"/>
            <a:ext cx="7620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5B5C7-754E-4E07-9760-AD07B84F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57825"/>
            <a:ext cx="760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94A52"/>
                </a:solidFill>
              </a:defRPr>
            </a:pPr>
            <a:r>
              <a:rPr sz="1275" b="1" i="0">
                <a:solidFill>
                  <a:srgbClr val="D94A52"/>
                </a:solidFill>
              </a:rPr>
              <a:t>CRITICAL CONDITION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9A3870-5336-45D6-8835-FA8FFD09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81675"/>
            <a:ext cx="760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The number of panels n must be even. If n is odd, the standard composite Simpson formula is incomplete.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B51585-7065-4B2D-A3EC-E55D2F3D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D23313-5D32-45B5-9BA7-2F6964A2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17853975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524645-4E05-471E-ADFD-8B9E70ED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5AFC2-7319-45D1-93FA-7A89159B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0A8C6"/>
                </a:solidFill>
              </a:defRPr>
            </a:pPr>
            <a:r>
              <a:rPr sz="975" b="1" i="0">
                <a:solidFill>
                  <a:srgbClr val="00A8C6"/>
                </a:solidFill>
              </a:rPr>
              <a:t>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0CE12-3C74-451E-95A4-9F9A14FE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F20F9-B186-400C-996D-C55B46A7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Accuracy is a convergence question—not a single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51B09-C062-45D8-8562-CC5E772D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1047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40774-5C98-42E8-BC41-C6C852CA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90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Panels 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7642D-5D3A-47A1-B386-0B998098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7907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Trapezoidal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86CE3-43B5-41D6-837D-C850F592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907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Simpson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C4A43-83BA-479E-A8FE-95F80C8A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907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6ABDD-1DAB-4F27-A33B-BB9C9E54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397DD-086A-47F8-BBD7-8E950F73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574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E478A-2DE7-454D-851A-4E518187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574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0.8863185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3D3FC-9528-4948-8F96-1FBFF043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574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0.8362143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CC404-6474-4572-9F50-D679A564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574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0.8862269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D2EB9-A558-4BE1-83D0-D1CBD6FB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A380C-AB6F-4A75-BB18-FC2327BD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242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9EE69-7F04-494E-9E3A-97AE9042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242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0.8862269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D6E38-9854-475C-A0C8-D0086062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242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0.8861963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0927E-E9D2-4AD9-AAE0-187263F1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242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0.8862269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679130-6656-4807-8DF3-FB62B992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760F7E-5BFD-4791-BE77-0C4FD9A8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DFA15-E63A-4312-A519-AF3B300C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90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0.8862269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C4E2ED-031C-47AC-9ED1-1D9AC735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90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0.8862269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8B7EE-0465-4EEC-921E-31DB1A80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90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0.8862269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FC1548-FB9E-4441-94B5-41546A55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38625"/>
            <a:ext cx="8001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80B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E03DF8-D4BA-4F1E-A173-8B1A5CEC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52925"/>
            <a:ext cx="7658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3E5F2"/>
                </a:solidFill>
              </a:defRPr>
            </a:pPr>
            <a:r>
              <a:rPr sz="825" b="1" i="0">
                <a:solidFill>
                  <a:srgbClr val="83E5F2"/>
                </a:solidFill>
              </a:rPr>
              <a:t>MATLAB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C6FD9E-F429-48FC-A395-F137CD79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00575"/>
            <a:ext cx="7658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f = @(x) exp(-x.^2);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I = integral(f,0,4);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% Repeat your own rule with n = 4,8,16,...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% Compare abs(I_approx - I).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A2D0D9-4441-4CD7-A4AC-BD7EC1B1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055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6E56CF"/>
                </a:solidFill>
              </a:defRPr>
            </a:pPr>
            <a:r>
              <a:rPr sz="1425" b="1" i="0">
                <a:solidFill>
                  <a:srgbClr val="6E56CF"/>
                </a:solidFill>
              </a:rPr>
              <a:t>Refine n until the digits you report stop changing meaningfully.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8BAF9B-9D59-4ACB-AD33-453DFCE0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05EC84-D1F9-4D07-9D60-CCFDBCCC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20054826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4645E2-DF7B-4526-BCD4-1ABEF715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7AB54-9B27-4306-B92B-9C732A10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0A8C6"/>
                </a:solidFill>
              </a:defRPr>
            </a:pPr>
            <a:r>
              <a:rPr sz="975" b="1" i="0">
                <a:solidFill>
                  <a:srgbClr val="00A8C6"/>
                </a:solidFill>
              </a:rPr>
              <a:t>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35F0B-B1FA-4502-BCBD-DB4FED02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82F4C-12B2-4C11-B10C-2C5FBEA6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MATLAB’s integral is the benchmark—not the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49554-9CD0-4C6A-A7A1-23E45759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9055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80B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5CDFE-235C-4A6A-A472-E9FB051B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556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3E5F2"/>
                </a:solidFill>
              </a:defRPr>
            </a:pPr>
            <a:r>
              <a:rPr sz="825" b="1" i="0">
                <a:solidFill>
                  <a:srgbClr val="83E5F2"/>
                </a:solidFill>
              </a:rPr>
              <a:t>MATLAB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1EA12-68A9-4292-A02B-468C780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5626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f = @(x) exp(-x.^2);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I = integral(f, 0, 4, ...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    'AbsTol',1e-10, 'RelTol',1e-8);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% Sampled data instead of a function: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x = linspace(0,4,101);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I_data = trapz(x, f(x));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E79DD-6365-4558-830A-69760112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6E56CF"/>
                </a:solidFill>
              </a:defRPr>
            </a:pPr>
            <a:r>
              <a:rPr sz="1725" b="1" i="0">
                <a:solidFill>
                  <a:srgbClr val="6E56CF"/>
                </a:solidFill>
              </a:rPr>
              <a:t>integral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886F3-69F8-4456-87B3-825383FF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D6470"/>
                </a:solidFill>
              </a:defRPr>
            </a:pPr>
            <a:r>
              <a:rPr sz="1425" b="0" i="0">
                <a:solidFill>
                  <a:srgbClr val="5D6470"/>
                </a:solidFill>
              </a:rPr>
              <a:t>Adaptive quadrature for a function handle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5534D-59D2-4F5D-BD25-4A38B218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CDEA8-444A-45F2-941F-296BAE66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384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A8C6"/>
                </a:solidFill>
              </a:defRPr>
            </a:pPr>
            <a:r>
              <a:rPr sz="1725" b="1" i="0">
                <a:solidFill>
                  <a:srgbClr val="00A8C6"/>
                </a:solidFill>
              </a:rPr>
              <a:t>trapz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A6D00-3CA3-40F4-B256-09D863CC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384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D6470"/>
                </a:solidFill>
              </a:defRPr>
            </a:pPr>
            <a:r>
              <a:rPr sz="1425" b="0" i="0">
                <a:solidFill>
                  <a:srgbClr val="5D6470"/>
                </a:solidFill>
              </a:rPr>
              <a:t>Trapezoidal integration of sampled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53C18-95DF-4EE4-A916-FA4457BC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12EF3-02B2-4F7B-B7D9-5992A3A7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624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A8C6"/>
                </a:solidFill>
              </a:defRPr>
            </a:pPr>
            <a:r>
              <a:rPr sz="1725" b="1" i="0">
                <a:solidFill>
                  <a:srgbClr val="00A8C6"/>
                </a:solidFill>
              </a:rPr>
              <a:t>cumtrapz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3E42D-B4BF-4F09-B84C-C917320E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D6470"/>
                </a:solidFill>
              </a:defRPr>
            </a:pPr>
            <a:r>
              <a:rPr sz="1425" b="0" i="0">
                <a:solidFill>
                  <a:srgbClr val="5D6470"/>
                </a:solidFill>
              </a:rPr>
              <a:t>Running accumulated integral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29932-0CFB-40E4-99C2-57A42D6E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6672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58B49-0A8B-45EB-A90D-B22FC7F7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76200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431FC-F74A-4B8B-A094-9C793D1C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67325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94A52"/>
                </a:solidFill>
              </a:defRPr>
            </a:pPr>
            <a:r>
              <a:rPr sz="1275" b="1" i="0">
                <a:solidFill>
                  <a:srgbClr val="D94A52"/>
                </a:solidFill>
              </a:rPr>
              <a:t>VERIFY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E1EEB9-CDF8-42D2-A757-5B47F340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91175"/>
            <a:ext cx="426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Check units, bounds, singularities, oscillations, and tolerance sensitivity.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48E92-FE02-4D82-98EC-3A2FB1C8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5A2ED6-8CB3-4665-A23C-3D69D1D1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811244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0B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4dd493b264fd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43788-04AD-48D8-85DB-8A6C1D32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3FA53-35B2-42E1-8932-2B1B115F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D18C"/>
                </a:solidFill>
              </a:defRPr>
            </a:pPr>
            <a:r>
              <a:rPr sz="1125" b="1" i="0">
                <a:solidFill>
                  <a:srgbClr val="FFD18C"/>
                </a:solidFill>
              </a:rPr>
              <a:t>PHYSICS PINPOINT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F73AB-878B-4F0D-A271-06579348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FFFFF"/>
                </a:solidFill>
              </a:defRPr>
            </a:pPr>
            <a:r>
              <a:rPr sz="3375" b="1" i="0">
                <a:solidFill>
                  <a:srgbClr val="FFFFFF"/>
                </a:solidFill>
              </a:rPr>
              <a:t>What fraction of a hot object’s radiation is visible?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70E37-BABF-4F12-B2F5-663A411D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6DCE5"/>
                </a:solidFill>
              </a:defRPr>
            </a:pPr>
            <a:r>
              <a:rPr sz="1725" b="0" i="0">
                <a:solidFill>
                  <a:srgbClr val="D6DCE5"/>
                </a:solidFill>
              </a:rPr>
              <a:t>Numerical integration turns a spectrum into an efficiency.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76F85-884E-4CE5-8213-0450CA83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D6DCE5"/>
                </a:solidFill>
              </a:defRPr>
            </a:pPr>
            <a:r>
              <a:rPr sz="1050" b="0" i="0">
                <a:solidFill>
                  <a:srgbClr val="D6DCE5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701464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82D927-9EA7-423F-8502-E2F3973B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C147F-9082-4B56-80C1-20A95784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0A8C6"/>
                </a:solidFill>
              </a:defRPr>
            </a:pPr>
            <a:r>
              <a:rPr sz="975" b="1" i="0">
                <a:solidFill>
                  <a:srgbClr val="00A8C6"/>
                </a:solidFill>
              </a:rPr>
              <a:t>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BCD7F-163D-4B0B-A218-59C6CA3D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F0E9C-BBB4-4155-BADD-5647B59D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Black-body efficiency: make convergence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DE925-B894-4DC3-B3F5-077AC85D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61912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080B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28F39-FF82-466D-8858-22807F32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584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3E5F2"/>
                </a:solidFill>
              </a:defRPr>
            </a:pPr>
            <a:r>
              <a:rPr sz="825" b="1" i="0">
                <a:solidFill>
                  <a:srgbClr val="83E5F2"/>
                </a:solidFill>
              </a:rPr>
              <a:t>MATLAB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F8E91-B85C-49C0-B517-4C9489F8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58483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T = 3500;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f = @(x) x.^-5 ./ (exp(1.432./(T*x))-1);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for n = [4 10 20 40 80]   % n must be even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    I = intSimpson(f,4e-5,7e-5,n);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    E = 64.77*T^-4*I;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    fprintf('%4d  %.8f%%\n',n,E)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D11BB-FED7-4FCA-9E7B-D5C869FF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33550"/>
            <a:ext cx="44767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1047E-733B-4D00-B6E5-0399537A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33550"/>
            <a:ext cx="762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5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0168D-6CDB-4EEF-A26B-B4C6E345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05000"/>
            <a:ext cx="407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E56CF"/>
                </a:solidFill>
              </a:defRPr>
            </a:pPr>
            <a:r>
              <a:rPr sz="1275" b="1" i="0">
                <a:solidFill>
                  <a:srgbClr val="6E56CF"/>
                </a:solidFill>
              </a:rPr>
              <a:t>WHAT TO LOOK FOR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DFF5F-EA94-413B-8CCD-988D5542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28850"/>
            <a:ext cx="4076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Do the reported digits stabilize as n doubles? If not, refine further or compare against integral.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6E6D6-0100-4103-90DA-AE2B4E7E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44767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1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6B23F-6F85-41A2-9DD3-0C6E3D99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762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0B228-F794-44FD-BA88-77D40E5C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05200"/>
            <a:ext cx="407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A340"/>
                </a:solidFill>
              </a:defRPr>
            </a:pPr>
            <a:r>
              <a:rPr sz="1275" b="1" i="0">
                <a:solidFill>
                  <a:srgbClr val="F4A340"/>
                </a:solidFill>
              </a:rPr>
              <a:t>PHYSICS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22E74-8FB5-4A45-9B0F-56B727E2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29050"/>
            <a:ext cx="4076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Efficiency must lie between 0% and 100%, and the wavelength limits must use centimetres for this formula.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3026-FD63-4CE4-BA54-65917F74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95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94A52"/>
                </a:solidFill>
              </a:defRPr>
            </a:pPr>
            <a:r>
              <a:rPr sz="1425" b="1" i="0">
                <a:solidFill>
                  <a:srgbClr val="D94A52"/>
                </a:solidFill>
              </a:rPr>
              <a:t>Correction from the live script: use an even n, not n = 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E520A-CAEC-4BCF-B35D-5A9A5DD1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599E3-8FCA-472B-A349-6F5C9F14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10023588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F588B5-834D-4389-ACEC-EDED769B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A340"/>
                </a:solidFill>
              </a:defRPr>
            </a:pPr>
            <a:r>
              <a:rPr sz="1125" b="1" i="0">
                <a:solidFill>
                  <a:srgbClr val="F4A340"/>
                </a:solidFill>
              </a:rPr>
              <a:t>PART 3 · NUMERICAL DIFFERENTIATION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880AE-905B-49C5-8CAD-CD160A2E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How fast is the model changing?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5388B-B5EF-4FC6-A4DA-76E29E7B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57600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A1467-337F-405E-9718-F8BE7403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838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7CED8"/>
                </a:solidFill>
              </a:defRPr>
            </a:pPr>
            <a:r>
              <a:rPr sz="1800" b="0" i="0">
                <a:solidFill>
                  <a:srgbClr val="C7CED8"/>
                </a:solidFill>
              </a:rPr>
              <a:t>A derivative becomes a slope estimated from nearby samples—but “nearby” creates a numerical trade-off.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D7CC2-6D70-48CC-9662-77918816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F98A5"/>
                </a:solidFill>
              </a:defRPr>
            </a:pPr>
            <a:r>
              <a:rPr sz="1050" b="0" i="0">
                <a:solidFill>
                  <a:srgbClr val="8F98A5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996250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84381F-14D9-4AD4-945F-C5DBF4A8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93FFD-B378-45B5-B1F6-B401E4CE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WATCH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5F20A-9E80-408E-83E0-C63B3904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EED68-5698-413D-BF45-22C8F2DB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Three finite differences, three error behaviours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0AD5C-223D-4940-9D1A-25F1E7B2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352425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3C8BC-E8C8-41EF-B420-3BFCF248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8C6"/>
                </a:solidFill>
              </a:defRPr>
            </a:pPr>
            <a:r>
              <a:rPr sz="1125" b="1" i="0">
                <a:solidFill>
                  <a:srgbClr val="00A8C6"/>
                </a:solidFill>
              </a:rPr>
              <a:t>FORWARD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31FBA-C25E-4FAE-92AC-751EC01F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318"/>
                </a:solidFill>
              </a:defRPr>
            </a:pPr>
            <a:r>
              <a:rPr sz="1725" b="1" i="0">
                <a:solidFill>
                  <a:srgbClr val="101318"/>
                </a:solidFill>
              </a:rPr>
              <a:t>[f(x+h) − f(x)] / 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2A312-E677-414B-B3EF-343639C6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truncation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95295-803F-4807-BE42-718EAEA2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9575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025" b="1" i="0">
                <a:solidFill>
                  <a:srgbClr val="00A8C6"/>
                </a:solidFill>
              </a:defRPr>
            </a:pPr>
            <a:r>
              <a:rPr sz="2025" b="1" i="0">
                <a:solidFill>
                  <a:srgbClr val="00A8C6"/>
                </a:solidFill>
              </a:rPr>
              <a:t>O(h)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3A0F7-4D2B-4A40-9516-E117118A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62125"/>
            <a:ext cx="352425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B9CE9-1EA2-4979-B886-2554125C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318"/>
                </a:solidFill>
              </a:defRPr>
            </a:pPr>
            <a:r>
              <a:rPr sz="1125" b="1" i="0">
                <a:solidFill>
                  <a:srgbClr val="101318"/>
                </a:solidFill>
              </a:rPr>
              <a:t>BACKWARD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D7ED0-6701-4E0C-B38A-3B538486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14625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318"/>
                </a:solidFill>
              </a:defRPr>
            </a:pPr>
            <a:r>
              <a:rPr sz="1725" b="1" i="0">
                <a:solidFill>
                  <a:srgbClr val="101318"/>
                </a:solidFill>
              </a:rPr>
              <a:t>[f(x) − f(x−h)] / 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D03C0-DB1C-4486-8EE9-A5330F2C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10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truncation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B085A-635B-48F7-8D6E-66B082AB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025" b="1" i="0">
                <a:solidFill>
                  <a:srgbClr val="101318"/>
                </a:solidFill>
              </a:defRPr>
            </a:pPr>
            <a:r>
              <a:rPr sz="2025" b="1" i="0">
                <a:solidFill>
                  <a:srgbClr val="101318"/>
                </a:solidFill>
              </a:rPr>
              <a:t>O(h)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201C7-0438-4EDB-AAB9-505E1FD9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62125"/>
            <a:ext cx="352425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1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1FE43-B176-422C-8D30-A370E31E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19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A340"/>
                </a:solidFill>
              </a:defRPr>
            </a:pPr>
            <a:r>
              <a:rPr sz="1125" b="1" i="0">
                <a:solidFill>
                  <a:srgbClr val="F4A340"/>
                </a:solidFill>
              </a:rPr>
              <a:t>CENTRAL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8CC2D-36A0-4B78-A7E2-0EA1540A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14625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318"/>
                </a:solidFill>
              </a:defRPr>
            </a:pPr>
            <a:r>
              <a:rPr sz="1725" b="1" i="0">
                <a:solidFill>
                  <a:srgbClr val="101318"/>
                </a:solidFill>
              </a:rPr>
              <a:t>[f(x+h) − f(x−h)] / 2h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34BF51-C89E-47A9-A5EB-9EC26D92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truncation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7AA382-8014-4F3D-82A8-4CEDAC91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9575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025" b="1" i="0">
                <a:solidFill>
                  <a:srgbClr val="F4A340"/>
                </a:solidFill>
              </a:defRPr>
            </a:pPr>
            <a:r>
              <a:rPr sz="2025" b="1" i="0">
                <a:solidFill>
                  <a:srgbClr val="F4A340"/>
                </a:solidFill>
              </a:rPr>
              <a:t>O(h²)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B225A-C62B-4190-AF24-3F2139BA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318"/>
                </a:solidFill>
              </a:defRPr>
            </a:pPr>
            <a:r>
              <a:rPr sz="1650" b="1" i="0">
                <a:solidFill>
                  <a:srgbClr val="101318"/>
                </a:solidFill>
              </a:rPr>
              <a:t>When both sides are available, central difference is usually the better first choice.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00FDA-51DA-4A4A-A208-1FF3FB88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BD686D-EBCF-4A1A-8C7A-03BC2CC1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10152318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1955C-D3A2-49CC-8810-F185577A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6DCD7-FD00-4575-8336-88F11362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0A8C6"/>
                </a:solidFill>
              </a:defRPr>
            </a:pPr>
            <a:r>
              <a:rPr sz="975" b="1" i="0">
                <a:solidFill>
                  <a:srgbClr val="00A8C6"/>
                </a:solidFill>
              </a:rPr>
              <a:t>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AE2BE-FDEA-4F39-9DF4-C8B51F4C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6B499-8BD2-499D-8D58-B7461277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MATLAB diff returns differences—not derivative coordinates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DB0BD-A53C-41B1-B4EE-B93AB326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6197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80B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20CC7-5413-4DD8-A5E1-4B7C0471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527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3E5F2"/>
                </a:solidFill>
              </a:defRPr>
            </a:pPr>
            <a:r>
              <a:rPr sz="825" b="1" i="0">
                <a:solidFill>
                  <a:srgbClr val="83E5F2"/>
                </a:solidFill>
              </a:rPr>
              <a:t>MATLAB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503C1-3AF1-4CFE-899F-29A5B3B6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276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h = 0.01;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x = -2:h:2;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y = x.^2;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dy = diff(y)/h;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x_mid = x(1:end-1) + h/2;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plot(x_mid,dy,'o',x,2*x,'-')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</a:defRPr>
            </a:pPr>
            <a:r>
              <a:rPr sz="1200" b="0" i="0">
                <a:solidFill>
                  <a:srgbClr val="F4F7FB"/>
                </a:solidFill>
              </a:rPr>
              <a:t>legend('finite difference','exact')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B2C50-88AA-4697-B1FD-628391A5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3F8EB-0FCB-49A3-AE07-E5AA51FC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CB9DD-CB8E-4F70-B1D9-6A10563F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A8C6"/>
                </a:solidFill>
              </a:defRPr>
            </a:pPr>
            <a:r>
              <a:rPr sz="1275" b="1" i="0">
                <a:solidFill>
                  <a:srgbClr val="00A8C6"/>
                </a:solidFill>
              </a:rPr>
              <a:t>LENGTH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F1498-C985-4A00-BBE6-9EB1B142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0505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If y has N samples, diff(y) has N−1 differences.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98768-849F-45EB-BE90-9281FF68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4762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1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AE299-8559-4338-8825-F960A7E9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762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AF86A-28E4-497A-9FB3-F043424E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62325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A340"/>
                </a:solidFill>
              </a:defRPr>
            </a:pPr>
            <a:r>
              <a:rPr sz="1275" b="1" i="0">
                <a:solidFill>
                  <a:srgbClr val="F4A340"/>
                </a:solidFill>
              </a:rPr>
              <a:t>LOCATION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D7A5B-14CA-4CFA-B024-2F1F434B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86175"/>
            <a:ext cx="4362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A forward difference belongs naturally between its two samples, not exactly at the left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29583-B252-4144-BDA2-5E21CE7D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762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FAF45-72E0-4B17-82AA-AB109C75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39C8C-AFEE-43E8-8153-30A5D1BE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339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94A52"/>
                </a:solidFill>
              </a:defRPr>
            </a:pPr>
            <a:r>
              <a:rPr sz="1275" b="1" i="0">
                <a:solidFill>
                  <a:srgbClr val="D94A52"/>
                </a:solidFill>
              </a:rPr>
              <a:t>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E80ED-7C7A-40A6-B18A-6D6CDB9F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57800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Divide by the spacing h. diff(y) alone has units of y, not y per x.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BCCB0C-033C-453D-B954-E11434C8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5705E-3C3D-4D57-B3BD-3ACD9B79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64740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CAE3D7-C18E-42C5-A2B6-966E4C40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363E7-9E8B-4FB3-BB62-28D59362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4A340"/>
                </a:solidFill>
              </a:defRPr>
            </a:pPr>
            <a:r>
              <a:rPr sz="975" b="1" i="0">
                <a:solidFill>
                  <a:srgbClr val="F4A340"/>
                </a:solidFill>
              </a:rPr>
              <a:t>DISCUSS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B4779-1B7D-4D07-94BA-AA142789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9AADD-8B83-462A-82FC-15CF6EC2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At a corner, refinement reveals non-differentiability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647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035ba0f6524b3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19D09-04BD-4165-8738-3DE118D0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318"/>
                </a:solidFill>
              </a:defRPr>
            </a:pPr>
            <a:r>
              <a:rPr sz="2550" b="1" i="0">
                <a:solidFill>
                  <a:srgbClr val="101318"/>
                </a:solidFill>
              </a:rPr>
              <a:t>f(x) = |x|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87CB8-2D19-44CA-A2AB-5B68CA4C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810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D5A12-95D6-4F65-AB35-7F7AEE2E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76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5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47012-ED99-4C4C-AAE8-8522F020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71825"/>
            <a:ext cx="340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E56CF"/>
                </a:solidFill>
              </a:defRPr>
            </a:pPr>
            <a:r>
              <a:rPr sz="1275" b="1" i="0">
                <a:solidFill>
                  <a:srgbClr val="6E56CF"/>
                </a:solidFill>
              </a:rPr>
              <a:t>LEFT LIMIT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0B8BA-FC7A-4A2B-87F4-E3B5A953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95675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Slope approaches −1.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48BEF-5D9C-46FC-AA3B-996F418B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810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1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0B035-49A2-40F1-A25A-F5DA6A1C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76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CA983-355E-4B3E-B1DA-9661EFFA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67200"/>
            <a:ext cx="340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A340"/>
                </a:solidFill>
              </a:defRPr>
            </a:pPr>
            <a:r>
              <a:rPr sz="1275" b="1" i="0">
                <a:solidFill>
                  <a:srgbClr val="F4A340"/>
                </a:solidFill>
              </a:rPr>
              <a:t>RIGHT LIMIT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4F896-4DB7-46AA-B0EE-53A8719F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9105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Slope approaches +1.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62166-659C-423D-A349-2DC228E1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816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94A52"/>
                </a:solidFill>
              </a:defRPr>
            </a:pPr>
            <a:r>
              <a:rPr sz="1575" b="1" i="0">
                <a:solidFill>
                  <a:srgbClr val="D94A52"/>
                </a:solidFill>
              </a:rPr>
              <a:t>No single derivative exists at x = 0.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3989B-F420-4951-833D-269E3ADC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72A60-0460-4811-9006-70FFC12F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46819540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A1F15A-1D1D-43F6-89B4-CF7614C9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4A10D-76CD-482F-8DA9-0ED91B7D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E56CF"/>
                </a:solidFill>
              </a:defRPr>
            </a:pPr>
            <a:r>
              <a:rPr sz="975" b="1" i="0">
                <a:solidFill>
                  <a:srgbClr val="6E56CF"/>
                </a:solidFill>
              </a:rPr>
              <a:t>PREDICT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C68FB-9959-460D-ACE6-5871689D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D2362-539B-4837-BBA3-202C453C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Smaller h helps—until floating-point subtraction fights back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6667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8fb057041d443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47196-C3E8-4E85-8DD6-D2FF4C27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57375"/>
            <a:ext cx="3905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A3CD5-184D-4683-890B-2E500FA5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57375"/>
            <a:ext cx="762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90ACF-FF4D-41DA-A7B0-B5614385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28825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A8C6"/>
                </a:solidFill>
              </a:defRPr>
            </a:pPr>
            <a:r>
              <a:rPr sz="1275" b="1" i="0">
                <a:solidFill>
                  <a:srgbClr val="00A8C6"/>
                </a:solidFill>
              </a:rPr>
              <a:t>TRUNCATION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3E7B8-8A63-45ED-B7EE-AD0C8F17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52675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Large h: the secant is a poor local tangent.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CE4A1-3C40-4A95-8E17-D1A9A0EB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90875"/>
            <a:ext cx="3905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68A14-36B2-4C31-AE0E-E77EBD38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9087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80FE6-BF75-41A9-8D89-6E2993CC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62325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94A52"/>
                </a:solidFill>
              </a:defRPr>
            </a:pPr>
            <a:r>
              <a:rPr sz="1275" b="1" i="0">
                <a:solidFill>
                  <a:srgbClr val="D94A52"/>
                </a:solidFill>
              </a:rPr>
              <a:t>ROUND-OFF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79157-40AB-4337-92A4-A53879BE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86175"/>
            <a:ext cx="350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Tiny h: f(x+h) and f(x) become nearly equal, so subtraction loses significant digits.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5EA28A-C321-4ADF-97C9-845D89B5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4350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318"/>
                </a:solidFill>
              </a:defRPr>
            </a:pPr>
            <a:r>
              <a:rPr sz="1575" b="1" i="0">
                <a:solidFill>
                  <a:srgbClr val="101318"/>
                </a:solidFill>
              </a:rPr>
              <a:t>Best h lies near the bottom of the U-shaped error curve.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8A733-8B96-46A8-8123-762CE4D7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881C7-38E7-4E12-831D-770A015A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123615094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46A5A1-36D8-4A69-97F9-3B268E57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D6470"/>
                </a:solidFill>
              </a:defRPr>
            </a:pPr>
            <a:r>
              <a:rPr sz="975" b="1" i="0">
                <a:solidFill>
                  <a:srgbClr val="5D6470"/>
                </a:solidFill>
              </a:rPr>
              <a:t>PHY4605 · TOPIC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2AF99-F858-4083-864D-FE94FBDF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4A340"/>
                </a:solidFill>
              </a:defRPr>
            </a:pPr>
            <a:r>
              <a:rPr sz="975" b="1" i="0">
                <a:solidFill>
                  <a:srgbClr val="F4A340"/>
                </a:solidFill>
              </a:rPr>
              <a:t>DISCUSS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5D7CD-7B29-4796-B651-2CC0FB20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D6470"/>
                </a:solidFill>
              </a:defRPr>
            </a:pPr>
            <a:r>
              <a:rPr sz="975" b="0" i="0">
                <a:solidFill>
                  <a:srgbClr val="5D6470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B4209-DB78-43C1-A356-0ED00B29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318"/>
                </a:solidFill>
              </a:defRPr>
            </a:pPr>
            <a:r>
              <a:rPr sz="2700" b="1" i="0">
                <a:solidFill>
                  <a:srgbClr val="101318"/>
                </a:solidFill>
              </a:rPr>
              <a:t>Final challenge: design a trustworthy numerical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A691D-CF2B-4CED-B20E-09DE359A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A8C6"/>
                </a:solidFill>
              </a:defRPr>
            </a:pPr>
            <a:r>
              <a:rPr sz="1275" b="1" i="0">
                <a:solidFill>
                  <a:srgbClr val="00A8C6"/>
                </a:solidFill>
              </a:rPr>
              <a:t>ROOT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1FF3F-9F3D-434C-84F1-B0DE5C48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192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318"/>
                </a:solidFill>
              </a:defRPr>
            </a:pPr>
            <a:r>
              <a:rPr sz="1725" b="1" i="0">
                <a:solidFill>
                  <a:srgbClr val="101318"/>
                </a:solidFill>
              </a:rPr>
              <a:t>Find when a projectile returns to the ground.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17CEE-5824-459C-A7FE-F54B3412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470"/>
                </a:solidFill>
              </a:defRPr>
            </a:pPr>
            <a:r>
              <a:rPr sz="1350" b="0" i="0">
                <a:solidFill>
                  <a:srgbClr val="5D6470"/>
                </a:solidFill>
              </a:rPr>
              <a:t>Method + bracket/guess + residual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24956-A8D0-44F4-9B53-04C9A7B6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955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84BD0-4531-498E-A26D-FA93E465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384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E56CF"/>
                </a:solidFill>
              </a:defRPr>
            </a:pPr>
            <a:r>
              <a:rPr sz="1275" b="1" i="0">
                <a:solidFill>
                  <a:srgbClr val="6E56CF"/>
                </a:solidFill>
              </a:rPr>
              <a:t>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54001-6525-4E7E-9BBD-8F8B140A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0037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318"/>
                </a:solidFill>
              </a:defRPr>
            </a:pPr>
            <a:r>
              <a:rPr sz="1725" b="1" i="0">
                <a:solidFill>
                  <a:srgbClr val="101318"/>
                </a:solidFill>
              </a:rPr>
              <a:t>Compute work from sampled force–distance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690F9-C291-403B-A989-5BF2464F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3847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470"/>
                </a:solidFill>
              </a:defRPr>
            </a:pPr>
            <a:r>
              <a:rPr sz="1350" b="0" i="0">
                <a:solidFill>
                  <a:srgbClr val="5D6470"/>
                </a:solidFill>
              </a:rPr>
              <a:t>Rule + refinement + units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7DCDD-7DBF-4733-9D52-3D614477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76675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A209C-393D-49F8-9C41-183776DF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96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A340"/>
                </a:solidFill>
              </a:defRPr>
            </a:pPr>
            <a:r>
              <a:rPr sz="1275" b="1" i="0">
                <a:solidFill>
                  <a:srgbClr val="F4A340"/>
                </a:solidFill>
              </a:rPr>
              <a:t>SLOPE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D7314-9FFE-4F36-91A9-58820409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318"/>
                </a:solidFill>
              </a:defRPr>
            </a:pPr>
            <a:r>
              <a:rPr sz="1725" b="1" i="0">
                <a:solidFill>
                  <a:srgbClr val="101318"/>
                </a:solidFill>
              </a:rPr>
              <a:t>Estimate velocity from noisy position measurements.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9413B-BB75-4699-98C9-39BCBF40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96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470"/>
                </a:solidFill>
              </a:defRPr>
            </a:pPr>
            <a:r>
              <a:rPr sz="1350" b="0" i="0">
                <a:solidFill>
                  <a:srgbClr val="5D6470"/>
                </a:solidFill>
              </a:rPr>
              <a:t>Stencil + spacing + noise strategy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75132-4EDA-4B47-80FA-C4782D20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DDCBD-723A-42A5-AF9F-92B06868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762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3DDCF-B771-4A6A-BE8D-5A063283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43575"/>
            <a:ext cx="817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1318"/>
                </a:solidFill>
              </a:defRPr>
            </a:pPr>
            <a:r>
              <a:rPr sz="1275" b="1" i="0">
                <a:solidFill>
                  <a:srgbClr val="101318"/>
                </a:solidFill>
              </a:rPr>
              <a:t>YOUR ANSWER MUST INCLUDE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43B5E8-6FA7-4CDC-AE3F-22959DBA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067425"/>
            <a:ext cx="81724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assumptions · method · stopping/refinement rule · MATLAB check · physical sanity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D8FA0-D264-4808-8C84-AB8F0C36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FF68B3-1F63-43B5-9F12-9C2D5B02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470"/>
                </a:solidFill>
              </a:defRPr>
            </a:pPr>
            <a:r>
              <a:rPr sz="825" b="0" i="0">
                <a:solidFill>
                  <a:srgbClr val="5D6470"/>
                </a:solidFill>
              </a:rPr>
              <a:t>Numerical Root-Finding and Calculus</a:t>
            </a:r>
          </a:p>
        </p:txBody>
      </p:sp>
    </p:spTree>
    <p:extLst>
      <p:ext uri="{BB962C8B-B14F-4D97-AF65-F5344CB8AC3E}">
        <p14:creationId xmlns:p14="http://schemas.microsoft.com/office/powerpoint/2010/main" val="126114309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BB89CF-403C-413D-A85F-2F75ECD4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EEAF3"/>
                </a:solidFill>
              </a:defRPr>
            </a:pPr>
            <a:r>
              <a:rPr sz="1125" b="1" i="0">
                <a:solidFill>
                  <a:srgbClr val="9EEAF3"/>
                </a:solidFill>
              </a:rPr>
              <a:t>TOPIC 11 ·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7869B-BAC9-400A-A366-BB4A1C44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Numerical methods are controlled approximations.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A1ADD-6BBB-41A1-8542-C7C28CE2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FE738-E08B-48C5-A58E-45BC7CAC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8C6"/>
                </a:solidFill>
              </a:defRPr>
            </a:pPr>
            <a:r>
              <a:rPr sz="1125" b="1" i="0">
                <a:solidFill>
                  <a:srgbClr val="00A8C6"/>
                </a:solidFill>
              </a:rPr>
              <a:t>ROOTS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64E8B-9F31-4A92-8556-500660EB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57625"/>
            <a:ext cx="319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Bracket or initialize wisely. Check the residual.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E3738-E9F9-4AFF-BC22-92E9F256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DE98F-6C4E-4E53-B9BE-2BC2E5D1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A7FF"/>
                </a:solidFill>
              </a:defRPr>
            </a:pPr>
            <a:r>
              <a:rPr sz="1125" b="1" i="0">
                <a:solidFill>
                  <a:srgbClr val="B7A7FF"/>
                </a:solidFill>
              </a:rPr>
              <a:t>INTEGRALS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10BA4-F33B-4681-9F0F-1A4C47EC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57625"/>
            <a:ext cx="319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Refine the panels. Respect Simpson’s even-n rule.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A8C8A-5AC8-4E71-A888-77CBA755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48000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03758-5658-4617-97AD-3AAC8227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D18C"/>
                </a:solidFill>
              </a:defRPr>
            </a:pPr>
            <a:r>
              <a:rPr sz="1125" b="1" i="0">
                <a:solidFill>
                  <a:srgbClr val="FFD18C"/>
                </a:solidFill>
              </a:rPr>
              <a:t>DERIVATIVES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93A46-2DC9-4936-B259-EC057CB1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57625"/>
            <a:ext cx="319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Balance truncation against round-off and noise.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7B91F-4DB7-4907-B8D8-7A05D3D4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7CED8"/>
                </a:solidFill>
              </a:defRPr>
            </a:pPr>
            <a:r>
              <a:rPr sz="1500" b="0" i="0">
                <a:solidFill>
                  <a:srgbClr val="C7CED8"/>
                </a:solidFill>
              </a:rPr>
              <a:t>Next: numerical differential equations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5CDF2-08AB-4D40-B749-C62F4929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F98A5"/>
                </a:solidFill>
              </a:defRPr>
            </a:pPr>
            <a:r>
              <a:rPr sz="1050" b="0" i="0">
                <a:solidFill>
                  <a:srgbClr val="8F98A5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44565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2026-06-28T02:48:48.5280000Z</dcterms:created>
  <dcterms:modified xsi:type="dcterms:W3CDTF">2026-06-28T02:48:48.5280000Z</dcterms:modified>
</coreProperties>
</file>
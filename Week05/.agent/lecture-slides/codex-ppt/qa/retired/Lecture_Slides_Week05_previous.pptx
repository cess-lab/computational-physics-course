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2a728fbd1741f2" /><Relationship Type="http://schemas.openxmlformats.org/officeDocument/2006/relationships/extended-properties" Target="/docProps/app.xml" Id="Rb71afca151784c66" /><Relationship Type="http://schemas.openxmlformats.org/officeDocument/2006/relationships/officeDocument" Target="/ppt/presentation.xml" Id="R89743409ecb74f46" /></Relationships>
</file>

<file path=ppt/presentation.xml><?xml version="1.0" encoding="utf-8"?>
<p:presentation xmlns:p="http://schemas.openxmlformats.org/presentationml/2006/main">
  <p:sldMasterIdLst>
    <p:sldMasterId xmlns:r="http://schemas.openxmlformats.org/officeDocument/2006/relationships" id="2147483648" r:id="R072a83cfa3644650"/>
    <p:sldMasterId xmlns:r="http://schemas.openxmlformats.org/officeDocument/2006/relationships" id="2147483650" r:id="R08dfc575fff74ee4"/>
  </p:sldMasterIdLst>
  <p:notesMasterIdLst>
    <p:notesMasterId xmlns:r="http://schemas.openxmlformats.org/officeDocument/2006/relationships" r:id="R85318f606c0a4bd6"/>
  </p:notesMasterIdLst>
  <p:sldIdLst>
    <p:sldId xmlns:r="http://schemas.openxmlformats.org/officeDocument/2006/relationships" id="256" r:id="Rd78656b5f79f4337"/>
    <p:sldId xmlns:r="http://schemas.openxmlformats.org/officeDocument/2006/relationships" id="257" r:id="R926c9082f8c44458"/>
    <p:sldId xmlns:r="http://schemas.openxmlformats.org/officeDocument/2006/relationships" id="258" r:id="R890b9f521f8246e5"/>
    <p:sldId xmlns:r="http://schemas.openxmlformats.org/officeDocument/2006/relationships" id="259" r:id="R6977a166dfca4a0c"/>
    <p:sldId xmlns:r="http://schemas.openxmlformats.org/officeDocument/2006/relationships" id="260" r:id="R583a5ba218d54d05"/>
    <p:sldId xmlns:r="http://schemas.openxmlformats.org/officeDocument/2006/relationships" id="261" r:id="R17a4432d51954fc1"/>
    <p:sldId xmlns:r="http://schemas.openxmlformats.org/officeDocument/2006/relationships" id="262" r:id="Rddbe59a9ab5143a6"/>
    <p:sldId xmlns:r="http://schemas.openxmlformats.org/officeDocument/2006/relationships" id="263" r:id="R2735267996c34e6c"/>
    <p:sldId xmlns:r="http://schemas.openxmlformats.org/officeDocument/2006/relationships" id="264" r:id="R3d8571b2426d49b7"/>
    <p:sldId xmlns:r="http://schemas.openxmlformats.org/officeDocument/2006/relationships" id="265" r:id="Rab6ad9b6209140d9"/>
    <p:sldId xmlns:r="http://schemas.openxmlformats.org/officeDocument/2006/relationships" id="266" r:id="R9776303593cc409a"/>
    <p:sldId xmlns:r="http://schemas.openxmlformats.org/officeDocument/2006/relationships" id="267" r:id="R521ef2ba9c7947d6"/>
    <p:sldId xmlns:r="http://schemas.openxmlformats.org/officeDocument/2006/relationships" id="268" r:id="R5026a6ae59654011"/>
    <p:sldId xmlns:r="http://schemas.openxmlformats.org/officeDocument/2006/relationships" id="269" r:id="R2a6c764d8ef9491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9726e7ce0c46ba" /><Relationship Type="http://schemas.openxmlformats.org/officeDocument/2006/relationships/slideMaster" Target="/ppt/slideMasters/slideMaster1.xml" Id="R072a83cfa3644650" /><Relationship Type="http://schemas.openxmlformats.org/officeDocument/2006/relationships/slideMaster" Target="/ppt/slideMasters/slideMaster2.xml" Id="R08dfc575fff74ee4" /><Relationship Type="http://schemas.openxmlformats.org/officeDocument/2006/relationships/notesMaster" Target="/ppt/notesMasters/notesMaster1.xml" Id="R85318f606c0a4bd6" /><Relationship Type="http://schemas.openxmlformats.org/officeDocument/2006/relationships/presProps" Target="/ppt/presProps.xml" Id="Rea811af61c6440c3" /><Relationship Type="http://schemas.openxmlformats.org/officeDocument/2006/relationships/tableStyles" Target="/ppt/tableStyles.xml" Id="R61cfda74a4654cf9" /><Relationship Type="http://schemas.openxmlformats.org/officeDocument/2006/relationships/slide" Target="/ppt/slides/slide1.xml" Id="Rd78656b5f79f4337" /><Relationship Type="http://schemas.openxmlformats.org/officeDocument/2006/relationships/slide" Target="/ppt/slides/slide2.xml" Id="R926c9082f8c44458" /><Relationship Type="http://schemas.openxmlformats.org/officeDocument/2006/relationships/slide" Target="/ppt/slides/slide3.xml" Id="R890b9f521f8246e5" /><Relationship Type="http://schemas.openxmlformats.org/officeDocument/2006/relationships/slide" Target="/ppt/slides/slide4.xml" Id="R6977a166dfca4a0c" /><Relationship Type="http://schemas.openxmlformats.org/officeDocument/2006/relationships/slide" Target="/ppt/slides/slide5.xml" Id="R583a5ba218d54d05" /><Relationship Type="http://schemas.openxmlformats.org/officeDocument/2006/relationships/slide" Target="/ppt/slides/slide6.xml" Id="R17a4432d51954fc1" /><Relationship Type="http://schemas.openxmlformats.org/officeDocument/2006/relationships/slide" Target="/ppt/slides/slide7.xml" Id="Rddbe59a9ab5143a6" /><Relationship Type="http://schemas.openxmlformats.org/officeDocument/2006/relationships/slide" Target="/ppt/slides/slide8.xml" Id="R2735267996c34e6c" /><Relationship Type="http://schemas.openxmlformats.org/officeDocument/2006/relationships/slide" Target="/ppt/slides/slide9.xml" Id="R3d8571b2426d49b7" /><Relationship Type="http://schemas.openxmlformats.org/officeDocument/2006/relationships/slide" Target="/ppt/slides/slide10.xml" Id="Rab6ad9b6209140d9" /><Relationship Type="http://schemas.openxmlformats.org/officeDocument/2006/relationships/slide" Target="/ppt/slides/slide11.xml" Id="R9776303593cc409a" /><Relationship Type="http://schemas.openxmlformats.org/officeDocument/2006/relationships/slide" Target="/ppt/slides/slide12.xml" Id="R521ef2ba9c7947d6" /><Relationship Type="http://schemas.openxmlformats.org/officeDocument/2006/relationships/slide" Target="/ppt/slides/slide13.xml" Id="R5026a6ae59654011" /><Relationship Type="http://schemas.openxmlformats.org/officeDocument/2006/relationships/slide" Target="/ppt/slides/slide14.xml" Id="R2a6c764d8ef949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c1faa3cd3c14f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c155afc554a8d" /><Relationship Type="http://schemas.openxmlformats.org/officeDocument/2006/relationships/notesMaster" Target="/ppt/notesMasters/notesMaster1.xml" Id="R8a2be288e0fa4d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b2b11d32494b22" /><Relationship Type="http://schemas.openxmlformats.org/officeDocument/2006/relationships/notesMaster" Target="/ppt/notesMasters/notesMaster1.xml" Id="R3e27e37e55df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07eb59ffb42bc" /><Relationship Type="http://schemas.openxmlformats.org/officeDocument/2006/relationships/notesMaster" Target="/ppt/notesMasters/notesMaster1.xml" Id="Rb120c8cd863742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f6828776f84b72" /><Relationship Type="http://schemas.openxmlformats.org/officeDocument/2006/relationships/notesMaster" Target="/ppt/notesMasters/notesMaster1.xml" Id="Rc9e9b00cf5294c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e0a696adad4c85" /><Relationship Type="http://schemas.openxmlformats.org/officeDocument/2006/relationships/notesMaster" Target="/ppt/notesMasters/notesMaster1.xml" Id="Rf881d829cfbf47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e94a8612d94849" /><Relationship Type="http://schemas.openxmlformats.org/officeDocument/2006/relationships/notesMaster" Target="/ppt/notesMasters/notesMaster1.xml" Id="R5688e4b6f9844a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afc5a3a6354c76" /><Relationship Type="http://schemas.openxmlformats.org/officeDocument/2006/relationships/notesMaster" Target="/ppt/notesMasters/notesMaster1.xml" Id="Rd6a747fb34c147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fcd42108904eb2" /><Relationship Type="http://schemas.openxmlformats.org/officeDocument/2006/relationships/notesMaster" Target="/ppt/notesMasters/notesMaster1.xml" Id="R3a68e8fdd2f94b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be6699214a464d" /><Relationship Type="http://schemas.openxmlformats.org/officeDocument/2006/relationships/notesMaster" Target="/ppt/notesMasters/notesMaster1.xml" Id="R7cf1ce51e38a42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178c0f6d6840de" /><Relationship Type="http://schemas.openxmlformats.org/officeDocument/2006/relationships/notesMaster" Target="/ppt/notesMasters/notesMaster1.xml" Id="R467d5f52bb8e4c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7b4b48d29548aa" /><Relationship Type="http://schemas.openxmlformats.org/officeDocument/2006/relationships/notesMaster" Target="/ppt/notesMasters/notesMaster1.xml" Id="Ra587a6b7785344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23ef71b74c4517" /><Relationship Type="http://schemas.openxmlformats.org/officeDocument/2006/relationships/notesMaster" Target="/ppt/notesMasters/notesMaster1.xml" Id="Re6be289715fc4a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fa290c8e4e4dab" /><Relationship Type="http://schemas.openxmlformats.org/officeDocument/2006/relationships/notesMaster" Target="/ppt/notesMasters/notesMaster1.xml" Id="Ra2a55ec9c7064d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8e268a338444b0" /><Relationship Type="http://schemas.openxmlformats.org/officeDocument/2006/relationships/notesMaster" Target="/ppt/notesMasters/notesMaster1.xml" Id="R54cb5e1afd1446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From a physical target to a checkable root</a:t>
            </a:r>
          </a:p>
          <a:p xmlns:a="http://schemas.openxmlformats.org/drawingml/2006/main">
            <a:r>
              <a:t/>
            </a:r>
          </a:p>
          <a:p xmlns:a="http://schemas.openxmlformats.org/drawingml/2006/main">
            <a:r>
              <a:t>Start with the physical question rather than the numerical method. A projectile leaves level ground at 20 metres per second, and the target range is 35 metres. The unknown is a launch angle: we want an input that makes the model output meet a specified condition.</a:t>
            </a:r>
          </a:p>
          <a:p xmlns:a="http://schemas.openxmlformats.org/drawingml/2006/main">
            <a:r>
              <a:t/>
            </a:r>
          </a:p>
          <a:p xmlns:a="http://schemas.openxmlformats.org/drawingml/2006/main">
            <a:r>
              <a:t>Ask students to predict what a useful answer should look like. It should be an angle, not a distance, and it should be checked against the target range. The rest of the lecture turns that physical question into a computation we can inspect.</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Turn the target condition into a residual</a:t>
            </a:r>
          </a:p>
          <a:p xmlns:a="http://schemas.openxmlformats.org/drawingml/2006/main">
            <a:r>
              <a:t/>
            </a:r>
          </a:p>
          <a:p xmlns:a="http://schemas.openxmlformats.org/drawingml/2006/main">
            <a:r>
              <a:t>The projectile model gives the range as a function of launch angle. The target condition is that this range equals 35 metres. A numerical root finder works with the residual, which is the model output minus the target: `f(theta) = R(theta) - 35 m`.</a:t>
            </a:r>
          </a:p>
          <a:p xmlns:a="http://schemas.openxmlformats.org/drawingml/2006/main">
            <a:r>
              <a:t/>
            </a:r>
          </a:p>
          <a:p xmlns:a="http://schemas.openxmlformats.org/drawingml/2006/main">
            <a:r>
              <a:t>The key distinction is between the unknown and the mismatch. The root is an angle in degree. The residual is a distance in metres. At a root, the residual is zero because the model and target agree. Keep those two units separate as we move into the graph.</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3: Read the residual sign as physics</a:t>
            </a:r>
          </a:p>
          <a:p xmlns:a="http://schemas.openxmlformats.org/drawingml/2006/main">
            <a:r>
              <a:t/>
            </a:r>
          </a:p>
          <a:p xmlns:a="http://schemas.openxmlformats.org/drawingml/2006/main">
            <a:r>
              <a:t>Before iterating, make the sign meaningful. A negative residual means the model range is shorter than 35 metres, so the projectile undershoots. A positive residual means the model range is longer, so it overshoots. Zero means the target condition is met.</a:t>
            </a:r>
          </a:p>
          <a:p xmlns:a="http://schemas.openxmlformats.org/drawingml/2006/main">
            <a:r>
              <a:t/>
            </a:r>
          </a:p>
          <a:p xmlns:a="http://schemas.openxmlformats.org/drawingml/2006/main">
            <a:r>
              <a:t>This interpretation gives every later numerical value a physical meaning. When a bisection midpoint has a negative residual, we know which side of the target it lies on. The sign is not decoration attached to the output; it is the direction of the model error.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4: Find the zero crossing before coding</a:t>
            </a:r>
          </a:p>
          <a:p xmlns:a="http://schemas.openxmlformats.org/drawingml/2006/main">
            <a:r>
              <a:t/>
            </a:r>
          </a:p>
          <a:p xmlns:a="http://schemas.openxmlformats.org/drawingml/2006/main">
            <a:r>
              <a:t>The residual graph lets us see the root before we ask MATLAB to iterate. For the locked scan from 10 to 70 degrees, the low-angle residual is negative at 20 degrees and positive at 40 degrees: approximately -8.7905 metres and +5.1553 metres.</a:t>
            </a:r>
          </a:p>
          <a:p xmlns:a="http://schemas.openxmlformats.org/drawingml/2006/main">
            <a:r>
              <a:t/>
            </a:r>
          </a:p>
          <a:p xmlns:a="http://schemas.openxmlformats.org/drawingml/2006/main">
            <a:r>
              <a:t>That sign change selects the low-angle bracket `[20, 40]` degrees. The graph also contains a higher-angle crossing, but it is not part of today's Core route. Our immediate job is to choose and defend one bracket for one physical root.</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Bisection keeps a sign change alive</a:t>
            </a:r>
          </a:p>
          <a:p xmlns:a="http://schemas.openxmlformats.org/drawingml/2006/main">
            <a:r>
              <a:t/>
            </a:r>
          </a:p>
          <a:p xmlns:a="http://schemas.openxmlformats.org/drawingml/2006/main">
            <a:r>
              <a:t>Bisection uses the bracket as its safety structure. We calculate the midpoint of the current interval, evaluate its residual, and retain the half whose endpoints still have opposite signs. In the first step, the midpoint is 30 degrees and its residual is positive, so the valid sign-changing half is `[20, 30]` degrees.</a:t>
            </a:r>
          </a:p>
          <a:p xmlns:a="http://schemas.openxmlformats.org/drawingml/2006/main">
            <a:r>
              <a:t/>
            </a:r>
          </a:p>
          <a:p xmlns:a="http://schemas.openxmlformats.org/drawingml/2006/main">
            <a:r>
              <a:t>The midpoint alone is not the guarantee. The guarantee comes from keeping opposite endpoint signs alive after each update. That is the idea students should be able to say in plain language before reading the loop.</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6: Trace the first four bisection updates</a:t>
            </a:r>
          </a:p>
          <a:p xmlns:a="http://schemas.openxmlformats.org/drawingml/2006/main">
            <a:r>
              <a:t/>
            </a:r>
          </a:p>
          <a:p xmlns:a="http://schemas.openxmlformats.org/drawingml/2006/main">
            <a:r>
              <a:t>Read the table row by row. The first midpoint, 30 degrees, overshoots, so the right endpoint moves to 30. The next midpoint, 25 degrees, undershoots, so the left endpoint moves to 25. The third and fourth rows repeat the same sign decision.</a:t>
            </a:r>
          </a:p>
          <a:p xmlns:a="http://schemas.openxmlformats.org/drawingml/2006/main">
            <a:r>
              <a:t/>
            </a:r>
          </a:p>
          <a:p xmlns:a="http://schemas.openxmlformats.org/drawingml/2006/main">
            <a:r>
              <a:t>The important pattern is midpoint, residual, retained half. The interval becomes smaller because the sign-changing evidence is preserved, not because the midpoint is automatically close to the answer.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Week05/.agent/lecture-slides/codex-ppt/assets/strict/tables/bisection_first_four.tex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7: Read the bisection scaffold, line by line</a:t>
            </a:r>
          </a:p>
          <a:p xmlns:a="http://schemas.openxmlformats.org/drawingml/2006/main">
            <a:r>
              <a:t/>
            </a:r>
          </a:p>
          <a:p xmlns:a="http://schemas.openxmlformats.org/drawingml/2006/main">
            <a:r>
              <a:t>Now connect the code to the trace. `mid_deg` is the centre of the current bracket. `f_mid_m` evaluates the physical residual in metres. The condition `abs(f_mid_m) &lt; tolerance_m` is the one supplied Core stopping rule.</a:t>
            </a:r>
          </a:p>
          <a:p xmlns:a="http://schemas.openxmlformats.org/drawingml/2006/main">
            <a:r>
              <a:t/>
            </a:r>
          </a:p>
          <a:p xmlns:a="http://schemas.openxmlformats.org/drawingml/2006/main">
            <a:r>
              <a:t>The sign-product test is the branch that decides which endpoint changes. If the left residual and midpoint residual have opposite signs, the midpoint becomes the new right endpoint. Otherwise the midpoint becomes the new left endpoint. The code is simply the earlier reasoning written in MATLAB.</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Week05/.agent/lecture-slides/codex-ppt/assets/strict/code/bisection_scaffold.tex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8: Stop once, then substitute back</a:t>
            </a:r>
          </a:p>
          <a:p xmlns:a="http://schemas.openxmlformats.org/drawingml/2006/main">
            <a:r>
              <a:t/>
            </a:r>
          </a:p>
          <a:p xmlns:a="http://schemas.openxmlformats.org/drawingml/2006/main">
            <a:r>
              <a:t>The bisection scaffold stops when the residual magnitude is below `1e-3 m`. It reaches `29.5679 degree` after 13 recorded iterations, with residual `+4.1164e-4 m`.</a:t>
            </a:r>
          </a:p>
          <a:p xmlns:a="http://schemas.openxmlformats.org/drawingml/2006/main">
            <a:r>
              <a:t/>
            </a:r>
          </a:p>
          <a:p xmlns:a="http://schemas.openxmlformats.org/drawingml/2006/main">
            <a:r>
              <a:t>Do not accept the result because the loop stopped. Substitute the angle back into the original range model. The model returns `35.0004 m`, and the residual is below the supplied tolerance. The physical statement is that this low-angle launch makes the model range meet the 35 metre target within the stated check.</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9: Newton follows the local tangent</a:t>
            </a:r>
          </a:p>
          <a:p xmlns:a="http://schemas.openxmlformats.org/drawingml/2006/main">
            <a:r>
              <a:t/>
            </a:r>
          </a:p>
          <a:p xmlns:a="http://schemas.openxmlformats.org/drawingml/2006/main">
            <a:r>
              <a:t>Newton uses a different local picture. Instead of keeping a bracket, it uses the current angle, the residual there, and the local slope. The tangent predicts where the residual curve would cross zero, giving the update current angle minus residual divided by slope.</a:t>
            </a:r>
          </a:p>
          <a:p xmlns:a="http://schemas.openxmlformats.org/drawingml/2006/main">
            <a:r>
              <a:t/>
            </a:r>
          </a:p>
          <a:p xmlns:a="http://schemas.openxmlformats.org/drawingml/2006/main">
            <a:r>
              <a:t>Because the angle is stored in degrees, the derivative includes `2*pi/180`. That conversion makes the slope unit metres per degree, which must match the units used in the update. Newton can be efficient, but the physical residual and its units remain the anchor.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newton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10: Trace Newton from 25 degree</a:t>
            </a:r>
          </a:p>
          <a:p xmlns:a="http://schemas.openxmlformats.org/drawingml/2006/main">
            <a:r>
              <a:t/>
            </a:r>
          </a:p>
          <a:p xmlns:a="http://schemas.openxmlformats.org/drawingml/2006/main">
            <a:r>
              <a:t>Start at 25 degrees. The first residual is -3.7648 metres and the slope is 0.91488 metres per degree, so the next estimate is 29.115 degrees. The next evaluations move to 29.562 and then 29.567 degrees.</a:t>
            </a:r>
          </a:p>
          <a:p xmlns:a="http://schemas.openxmlformats.org/drawingml/2006/main">
            <a:r>
              <a:t/>
            </a:r>
          </a:p>
          <a:p xmlns:a="http://schemas.openxmlformats.org/drawingml/2006/main">
            <a:r>
              <a:t>At the fourth evaluation the residual is `-7.1308e-7 m`, so the same residual stopping rule is satisfied. Ask students to notice that the table records the quantities needed to explain each update: current angle, residual, slope, and next angle.</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Week05/.agent/lecture-slides/codex-ppt/assets/strict/code/newton_scaffold.tex</a:t>
            </a:r>
          </a:p>
          <a:p xmlns:a="http://schemas.openxmlformats.org/drawingml/2006/main">
            <a:r>
              <a:t>- Week05/.agent/lecture-slides/codex-ppt/assets/strict/tables/newton_trace.tex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11: Working exposure: same root, different route</a:t>
            </a:r>
          </a:p>
          <a:p xmlns:a="http://schemas.openxmlformats.org/drawingml/2006/main">
            <a:r>
              <a:t/>
            </a:r>
          </a:p>
          <a:p xmlns:a="http://schemas.openxmlformats.org/drawingml/2006/main">
            <a:r>
              <a:t>Both methods approach the same low-angle physical root, but they carry different evidence. Bisection takes 13 recorded iterations here and keeps a sign-changing bracket. Newton takes 4 recorded evaluations from the chosen start and uses a local slope.</a:t>
            </a:r>
          </a:p>
          <a:p xmlns:a="http://schemas.openxmlformats.org/drawingml/2006/main">
            <a:r>
              <a:t/>
            </a:r>
          </a:p>
          <a:p xmlns:a="http://schemas.openxmlformats.org/drawingml/2006/main">
            <a:r>
              <a:t>The iteration count is only a limited cost measure. It does not replace validation. The shared requirement is still to substitute the result into the residual and explain what the root means physically.</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Week05/.agent/lecture-slides/codex-ppt/assets/strict/tables/method_comparison.tex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12: A midpoint is not enough: the bracket must change sign</a:t>
            </a:r>
          </a:p>
          <a:p xmlns:a="http://schemas.openxmlformats.org/drawingml/2006/main">
            <a:r>
              <a:t/>
            </a:r>
          </a:p>
          <a:p xmlns:a="http://schemas.openxmlformats.org/drawingml/2006/main">
            <a:r>
              <a:t>A midpoint can be calculated for almost any pair of endpoints. That arithmetic alone does not justify bisection. The Core setup needs endpoint residuals with opposite signs, because that is the evidence that the interval contains a zero crossing for the method's update logic.</a:t>
            </a:r>
          </a:p>
          <a:p xmlns:a="http://schemas.openxmlformats.org/drawingml/2006/main">
            <a:r>
              <a:t/>
            </a:r>
          </a:p>
          <a:p xmlns:a="http://schemas.openxmlformats.org/drawingml/2006/main">
            <a:r>
              <a:t>Contrast the same-sign defective bracket with the valid `[20, 40]` degree bracket. The repair path is simple: inspect the graph, check the endpoint signs, and only then start the iteration. A same-sign interval does not prove that no root exists elsewhere; it simply does not provide the required bracket evidence.</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13: Transfer the residual pattern to new physics</a:t>
            </a:r>
          </a:p>
          <a:p xmlns:a="http://schemas.openxmlformats.org/drawingml/2006/main">
            <a:r>
              <a:t/>
            </a:r>
          </a:p>
          <a:p xmlns:a="http://schemas.openxmlformats.org/drawingml/2006/main">
            <a:r>
              <a:t>The equation changes in the practical, but the reasoning pattern stays stable. For a thin lens, the root is image distance `v` in metres and the residual is an inverse-length mismatch in `m^-1`. For RC charging, the root is threshold time `t` in seconds and the residual is a voltage mismatch in volts.</a:t>
            </a:r>
          </a:p>
          <a:p xmlns:a="http://schemas.openxmlformats.org/drawingml/2006/main">
            <a:r>
              <a:t/>
            </a:r>
          </a:p>
          <a:p xmlns:a="http://schemas.openxmlformats.org/drawingml/2006/main">
            <a:r>
              <a:t>For either context, state the model, define the residual, choose a bracket or starting value, apply the update, use the supplied residual stopping rule, substitute the result back, and interpret the physical root. The practical asks students to carry this structure into an analogous model without relying on the projectile answer.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14: Exit ticket — explain a root to a future you</a:t>
            </a:r>
          </a:p>
          <a:p xmlns:a="http://schemas.openxmlformats.org/drawingml/2006/main">
            <a:r>
              <a:t/>
            </a:r>
          </a:p>
          <a:p xmlns:a="http://schemas.openxmlformats.org/drawingml/2006/main">
            <a:r>
              <a:t>Close with four short explanations. Define the target and residual. Explain what opposite endpoint signs mean. Describe one midpoint or tangent update. Then perform the substitution check and state the unit of the root.</a:t>
            </a:r>
          </a:p>
          <a:p xmlns:a="http://schemas.openxmlformats.org/drawingml/2006/main">
            <a:r>
              <a:t/>
            </a:r>
          </a:p>
          <a:p xmlns:a="http://schemas.openxmlformats.org/drawingml/2006/main">
            <a:r>
              <a:t>The goal is not to recite function names. It is to show the reasoning chain from a physical condition to a checkable numerical result. The same chain will be used for projectile range, thin-lens image distance, and RC threshold time in the practical.</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a9df201dbc42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66d772e97044a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638c7314dcb4e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05bc64f1d09b4c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a537e4d41dbb4a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BDBB0BEC-3E91-494A-B912-37B17CD0CA62}"/>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8A2425A0-5C1A-452C-930E-B47B30789DF2}"/>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B43C965C-4C4B-4CF8-8887-B18D92FCEEB2}"/>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2.xml><?xml version="1.0" encoding="utf-8"?>
<p:sldLayout xmlns:p="http://schemas.openxmlformats.org/presentationml/2006/main">
  <p:cSld name="Opening">
    <p:spTree>
      <p:nvGrpSpPr>
        <p:cNvPr id="1" name=""/>
        <p:cNvGrpSpPr/>
        <p:nvPr/>
      </p:nvGrpSpPr>
      <p:grpSpPr>
        <a:xfrm xmlns:a="http://schemas.openxmlformats.org/drawingml/2006/main"/>
      </p:grpSpPr>
      <p:sp>
        <p:nvSpPr>
          <p:cNvPr id="10" name="PHY4605 inherited course tag treatment">
            <a:extLst xmlns:a="http://schemas.openxmlformats.org/drawingml/2006/main">
              <a:ext uri="{FF2B5EF4-FFF2-40B4-BE49-F238E27FC236}">
                <a16:creationId xmlns:a16="http://schemas.microsoft.com/office/drawing/2014/main" id="{BF7F33F0-4030-4287-B9FA-D05A01E2499A}"/>
              </a:ext>
            </a:extLst>
          </p:cNvPr>
          <p:cNvSpPr>
            <a:spLocks xmlns:a="http://schemas.openxmlformats.org/drawingml/2006/main" noGrp="1"/>
          </p:cNvSpPr>
          <p:nvPr>
            <p:ph type="body" idx="10"/>
          </p:nvPr>
        </p:nvSpPr>
        <p:spPr>
          <a:xfrm xmlns:a="http://schemas.openxmlformats.org/drawingml/2006/main">
            <a:off x="1095375" y="12001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1950" b="1">
                <a:solidFill>
                  <a:srgbClr val="3F4B57"/>
                </a:solidFill>
                <a:latin typeface="Nunito"/>
                <a:ea typeface="Nunito"/>
                <a:cs typeface="Nunito"/>
              </a:defRPr>
            </a:pPr>
            <a:endParaRPr sz="1950" b="1">
              <a:solidFill>
                <a:srgbClr val="3F4B57"/>
              </a:solidFill>
              <a:latin typeface="Nunito"/>
              <a:ea typeface="Nunito"/>
              <a:cs typeface="Nunito"/>
            </a:endParaRPr>
          </a:p>
        </p:txBody>
      </p:sp>
      <p:sp>
        <p:nvSpPr>
          <p:cNvPr id="11" name="PHY4605 inherited title treatment">
            <a:extLst xmlns:a="http://schemas.openxmlformats.org/drawingml/2006/main">
              <a:ext uri="{FF2B5EF4-FFF2-40B4-BE49-F238E27FC236}">
                <a16:creationId xmlns:a16="http://schemas.microsoft.com/office/drawing/2014/main" id="{6B3D178F-1E3C-441B-92BA-767302B691A2}"/>
              </a:ext>
            </a:extLst>
          </p:cNvPr>
          <p:cNvSpPr>
            <a:spLocks xmlns:a="http://schemas.openxmlformats.org/drawingml/2006/main" noGrp="1"/>
          </p:cNvSpPr>
          <p:nvPr>
            <p:ph type="title" idx="0"/>
          </p:nvPr>
        </p:nvSpPr>
        <p:spPr>
          <a:xfrm xmlns:a="http://schemas.openxmlformats.org/drawingml/2006/main">
            <a:off x="1095375" y="233362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6150" b="1">
                <a:solidFill>
                  <a:srgbClr val="0B2B4C"/>
                </a:solidFill>
                <a:latin typeface="Nunito"/>
                <a:ea typeface="Nunito"/>
                <a:cs typeface="Nunito"/>
              </a:defRPr>
            </a:pPr>
            <a:endParaRPr sz="6150" b="1">
              <a:solidFill>
                <a:srgbClr val="0B2B4C"/>
              </a:solidFill>
              <a:latin typeface="Nunito"/>
              <a:ea typeface="Nunito"/>
              <a:cs typeface="Nunito"/>
            </a:endParaRPr>
          </a:p>
        </p:txBody>
      </p:sp>
      <p:sp>
        <p:nvSpPr>
          <p:cNvPr id="12" name="PHY4605 inherited subtitle treatment">
            <a:extLst xmlns:a="http://schemas.openxmlformats.org/drawingml/2006/main">
              <a:ext uri="{FF2B5EF4-FFF2-40B4-BE49-F238E27FC236}">
                <a16:creationId xmlns:a16="http://schemas.microsoft.com/office/drawing/2014/main" id="{19BE5A24-45A9-44E5-B598-FD5366273017}"/>
              </a:ext>
            </a:extLst>
          </p:cNvPr>
          <p:cNvSpPr>
            <a:spLocks xmlns:a="http://schemas.openxmlformats.org/drawingml/2006/main" noGrp="1"/>
          </p:cNvSpPr>
          <p:nvPr>
            <p:ph type="subTitle" idx="0"/>
          </p:nvPr>
        </p:nvSpPr>
        <p:spPr>
          <a:xfrm xmlns:a="http://schemas.openxmlformats.org/drawingml/2006/main">
            <a:off x="1095375" y="4524375"/>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550">
                <a:solidFill>
                  <a:srgbClr val="3F4B57"/>
                </a:solidFill>
                <a:latin typeface="Nunito"/>
                <a:ea typeface="Nunito"/>
                <a:cs typeface="Nunito"/>
              </a:defRPr>
            </a:pPr>
            <a:endParaRPr sz="2550">
              <a:solidFill>
                <a:srgbClr val="3F4B57"/>
              </a:solidFill>
              <a:latin typeface="Nunito"/>
              <a:ea typeface="Nunito"/>
              <a:cs typeface="Nunito"/>
            </a:endParaRPr>
          </a:p>
        </p:txBody>
      </p:sp>
    </p:spTree>
  </p:cSld>
</p:sldLayout>
</file>

<file path=ppt/slideLayouts/slideLayout3.xml><?xml version="1.0" encoding="utf-8"?>
<p:sldLayout xmlns:p="http://schemas.openxmlformats.org/presentationml/2006/main">
  <p:cSld name="Content T1">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4.xml><?xml version="1.0" encoding="utf-8"?>
<p:sldLayout xmlns:p="http://schemas.openxmlformats.org/presentationml/2006/main">
  <p:cSld name="Content T2">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4650" b="1">
                <a:solidFill>
                  <a:srgbClr val="0B2B4C"/>
                </a:solidFill>
                <a:latin typeface="Nunito"/>
                <a:ea typeface="Nunito"/>
                <a:cs typeface="Nunito"/>
              </a:defRPr>
            </a:pPr>
            <a:endParaRPr sz="465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5.xml><?xml version="1.0" encoding="utf-8"?>
<p:sldLayout xmlns:p="http://schemas.openxmlformats.org/presentationml/2006/main">
  <p:cSld name="Content T3">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DE259483-B658-4C6E-889D-5742525759B1}"/>
              </a:ext>
            </a:extLst>
          </p:cNvPr>
          <p:cNvSpPr>
            <a:spLocks xmlns:a="http://schemas.openxmlformats.org/drawingml/2006/main" noGrp="1"/>
          </p:cNvSpPr>
          <p:nvPr>
            <p:ph type="title" idx="0"/>
          </p:nvPr>
        </p:nvSpPr>
        <p:spPr>
          <a:xfrm xmlns:a="http://schemas.openxmlformats.org/drawingml/2006/main">
            <a:off x="1095375" y="571500"/>
            <a:ext cx="1504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4200" b="1">
                <a:solidFill>
                  <a:srgbClr val="0B2B4C"/>
                </a:solidFill>
                <a:latin typeface="Nunito"/>
                <a:ea typeface="Nunito"/>
                <a:cs typeface="Nunito"/>
              </a:defRPr>
            </a:pPr>
            <a:endParaRPr sz="42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2900F6CA-310F-4E6B-9939-0BA7177A39C1}"/>
              </a:ext>
            </a:extLst>
          </p:cNvPr>
          <p:cNvSpPr>
            <a:spLocks xmlns:a="http://schemas.openxmlformats.org/drawingml/2006/main" noGrp="1"/>
          </p:cNvSpPr>
          <p:nvPr>
            <p:ph type="subTitle" idx="0"/>
          </p:nvPr>
        </p:nvSpPr>
        <p:spPr>
          <a:xfrm xmlns:a="http://schemas.openxmlformats.org/drawingml/2006/main">
            <a:off x="1095375" y="1952625"/>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73C08CB3-71C2-4FE0-983C-1A06999899D3}"/>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a432fc599c4af5" /><Relationship Type="http://schemas.openxmlformats.org/officeDocument/2006/relationships/slideLayout" Target="/ppt/slideLayouts/slideLayout1.xml" Id="R606333475102401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e14aacf89704165" /><Relationship Type="http://schemas.openxmlformats.org/officeDocument/2006/relationships/slideLayout" Target="/ppt/slideLayouts/slideLayout2.xml" Id="Re075f590e9134a4d" /><Relationship Type="http://schemas.openxmlformats.org/officeDocument/2006/relationships/slideLayout" Target="/ppt/slideLayouts/slideLayout3.xml" Id="R734473d3bff042b5" /><Relationship Type="http://schemas.openxmlformats.org/officeDocument/2006/relationships/slideLayout" Target="/ppt/slideLayouts/slideLayout4.xml" Id="R6cad225a049f4efa" /><Relationship Type="http://schemas.openxmlformats.org/officeDocument/2006/relationships/slideLayout" Target="/ppt/slideLayouts/slideLayout5.xml" Id="R4ec77e32526049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87DC67CB-0D88-414C-9415-092E38C2629F}"/>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81DEED07-E5EB-45E7-B38F-86ECC2BC13E1}"/>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284F62D9-9056-4F30-8D7A-C967D3C70ED0}"/>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6333475102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PHY4605 Borderless White Master">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B4FC3618-B803-422E-962C-619F0958CF0B}"/>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CF71298E-4129-4E78-887C-43885F05D54F}"/>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07BDA30F-DB82-4A96-8399-8B510607C03B}"/>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075f590e9134a4d"/>
    <p:sldLayoutId xmlns:r="http://schemas.openxmlformats.org/officeDocument/2006/relationships" id="2147483652" r:id="R734473d3bff042b5"/>
    <p:sldLayoutId xmlns:r="http://schemas.openxmlformats.org/officeDocument/2006/relationships" id="2147483653" r:id="R6cad225a049f4efa"/>
    <p:sldLayoutId xmlns:r="http://schemas.openxmlformats.org/officeDocument/2006/relationships" id="2147483654" r:id="R4ec77e32526049ea"/>
  </p:sldLayoutIdLst>
</p:sldMaster>
</file>

<file path=ppt/slideMasters/theme/theme2.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634998a52004c05" /><Relationship Type="http://schemas.openxmlformats.org/officeDocument/2006/relationships/image" Target="/ppt/media/image.png" Id="R3fc30909f92c4eaa" /><Relationship Type="http://schemas.openxmlformats.org/officeDocument/2006/relationships/notesSlide" Target="/ppt/notesSlides/notesSlide1.xml" Id="Re4a69f35eec04b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13b4787841ca4bac" /><Relationship Type="http://schemas.openxmlformats.org/officeDocument/2006/relationships/image" Target="/ppt/media/image2.png" Id="R6b58babda5ef40e6" /><Relationship Type="http://schemas.openxmlformats.org/officeDocument/2006/relationships/notesSlide" Target="/ppt/notesSlides/notesSlide2.xml" Id="R18f615efd1a04b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8119571d476e4664" /><Relationship Type="http://schemas.openxmlformats.org/officeDocument/2006/relationships/image" Target="/ppt/media/image3.png" Id="R4f6d07e9f5ed49b1" /><Relationship Type="http://schemas.openxmlformats.org/officeDocument/2006/relationships/notesSlide" Target="/ppt/notesSlides/notesSlide3.xml" Id="R5afc538506544a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74475c970194d6b" /><Relationship Type="http://schemas.openxmlformats.org/officeDocument/2006/relationships/image" Target="/ppt/media/image4.png" Id="Rab8f1a47814b4586" /><Relationship Type="http://schemas.openxmlformats.org/officeDocument/2006/relationships/notesSlide" Target="/ppt/notesSlides/notesSlide4.xml" Id="R4d30c79032ad47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774781eb6ff47c1" /><Relationship Type="http://schemas.openxmlformats.org/officeDocument/2006/relationships/notesSlide" Target="/ppt/notesSlides/notesSlide5.xml" Id="Re315085a769d4e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f9c0a0ba17c74d11" /><Relationship Type="http://schemas.openxmlformats.org/officeDocument/2006/relationships/notesSlide" Target="/ppt/notesSlides/notesSlide6.xml" Id="R143930c4ddd54e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fb1f5fa1e77044d8" /><Relationship Type="http://schemas.openxmlformats.org/officeDocument/2006/relationships/notesSlide" Target="/ppt/notesSlides/notesSlide7.xml" Id="R6a03447eab514d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a3b9405a6a8433d" /><Relationship Type="http://schemas.openxmlformats.org/officeDocument/2006/relationships/image" Target="/ppt/media/image5.png" Id="Re773d8dd6ca64536" /><Relationship Type="http://schemas.openxmlformats.org/officeDocument/2006/relationships/notesSlide" Target="/ppt/notesSlides/notesSlide8.xml" Id="Rc985206f382842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9d5b6cc5a354c7e" /><Relationship Type="http://schemas.openxmlformats.org/officeDocument/2006/relationships/image" Target="/ppt/media/image6.png" Id="Rf56d3ebe7c5c49b1" /><Relationship Type="http://schemas.openxmlformats.org/officeDocument/2006/relationships/notesSlide" Target="/ppt/notesSlides/notesSlide9.xml" Id="R82b5397fea2f4c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f198ea1a2ded4bc7" /><Relationship Type="http://schemas.openxmlformats.org/officeDocument/2006/relationships/notesSlide" Target="/ppt/notesSlides/notesSlide10.xml" Id="Raee8d7bb864648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20c2d051368f4b4a" /><Relationship Type="http://schemas.openxmlformats.org/officeDocument/2006/relationships/notesSlide" Target="/ppt/notesSlides/notesSlide11.xml" Id="Rc1352d8bc64e43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418b1c3c83d1424f" /><Relationship Type="http://schemas.openxmlformats.org/officeDocument/2006/relationships/notesSlide" Target="/ppt/notesSlides/notesSlide12.xml" Id="R3be2b3e05a7a4a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e3b03854fda34cb4" /><Relationship Type="http://schemas.openxmlformats.org/officeDocument/2006/relationships/image" Target="/ppt/media/image7.png" Id="Rcf98933cd71c4f3d" /><Relationship Type="http://schemas.openxmlformats.org/officeDocument/2006/relationships/notesSlide" Target="/ppt/notesSlides/notesSlide13.xml" Id="R8a894a6f941542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7f40811527294d6d" /><Relationship Type="http://schemas.openxmlformats.org/officeDocument/2006/relationships/notesSlide" Target="/ppt/notesSlides/notesSlide14.xml" Id="R13d85a129f874ce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PHY4605 inherited title treatment">
            <a:extLst xmlns:a="http://schemas.openxmlformats.org/drawingml/2006/main">
              <a:ext uri="{FF2B5EF4-FFF2-40B4-BE49-F238E27FC236}">
                <a16:creationId xmlns:a16="http://schemas.microsoft.com/office/drawing/2014/main" id="{6B3D178F-1E3C-441B-92BA-767302B691A2}"/>
              </a:ext>
            </a:extLst>
          </p:cNvPr>
          <p:cNvSpPr>
            <a:spLocks xmlns:a="http://schemas.openxmlformats.org/drawingml/2006/main" noGrp="1"/>
          </p:cNvSpPr>
          <p:nvPr>
            <p:ph type="title" idx="0"/>
          </p:nvPr>
        </p:nvSpPr>
        <p:spPr>
          <a:xfrm xmlns:a="http://schemas.openxmlformats.org/drawingml/2006/main">
            <a:off x="1095375" y="233362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5550" b="1">
                <a:solidFill>
                  <a:srgbClr val="0B2B4C"/>
                </a:solidFill>
                <a:latin typeface="Nunito"/>
                <a:ea typeface="Nunito"/>
                <a:cs typeface="Nunito"/>
              </a:defRPr>
            </a:pPr>
            <a:r>
              <a:rPr sz="5550" b="1">
                <a:solidFill>
                  <a:srgbClr val="0B2B4C"/>
                </a:solidFill>
                <a:latin typeface="Nunito"/>
                <a:ea typeface="Nunito"/>
                <a:cs typeface="Nunito"/>
              </a:rPr>
              <a:t>From a Physical Target</a:t>
            </a:r>
            <a:endParaRPr sz="6150" b="1">
              <a:solidFill>
                <a:srgbClr val="0B2B4C"/>
              </a:solidFill>
              <a:latin typeface="Nunito"/>
              <a:ea typeface="Nunito"/>
              <a:cs typeface="Nunito"/>
            </a:endParaRPr>
          </a:p>
          <a:p xmlns:a="http://schemas.openxmlformats.org/drawingml/2006/main">
            <a:pPr algn="l">
              <a:lnSpc>
                <a:spcPct val="94000"/>
              </a:lnSpc>
              <a:buNone/>
              <a:defRPr sz="5550" b="1">
                <a:solidFill>
                  <a:srgbClr val="0B2B4C"/>
                </a:solidFill>
                <a:latin typeface="Nunito"/>
                <a:ea typeface="Nunito"/>
                <a:cs typeface="Nunito"/>
              </a:defRPr>
            </a:pPr>
            <a:r>
              <a:rPr sz="5550" b="1">
                <a:solidFill>
                  <a:srgbClr val="0B2B4C"/>
                </a:solidFill>
                <a:latin typeface="Nunito"/>
                <a:ea typeface="Nunito"/>
                <a:cs typeface="Nunito"/>
              </a:rPr>
              <a:t>to a Checkable Root</a:t>
            </a:r>
            <a:endParaRPr sz="61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19BE5A24-45A9-44E5-B598-FD5366273017}"/>
              </a:ext>
            </a:extLst>
          </p:cNvPr>
          <p:cNvSpPr>
            <a:spLocks xmlns:a="http://schemas.openxmlformats.org/drawingml/2006/main" noGrp="1"/>
          </p:cNvSpPr>
          <p:nvPr>
            <p:ph type="subTitle" idx="0"/>
          </p:nvPr>
        </p:nvSpPr>
        <p:spPr>
          <a:xfrm xmlns:a="http://schemas.openxmlformats.org/drawingml/2006/main">
            <a:off x="1095375" y="4524375"/>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550" b="0">
                <a:solidFill>
                  <a:srgbClr val="3F4B57"/>
                </a:solidFill>
                <a:latin typeface="Nunito"/>
                <a:ea typeface="Nunito"/>
                <a:cs typeface="Nunito"/>
              </a:defRPr>
            </a:pPr>
            <a:r>
              <a:rPr sz="2550" b="0">
                <a:solidFill>
                  <a:srgbClr val="3F4B57"/>
                </a:solidFill>
                <a:latin typeface="Nunito"/>
                <a:ea typeface="Nunito"/>
                <a:cs typeface="Nunito"/>
              </a:rPr>
              <a:t>Week 5 | Root finding with bisection and Newton</a:t>
            </a:r>
            <a:endParaRPr sz="2550">
              <a:solidFill>
                <a:srgbClr val="3F4B57"/>
              </a:solidFill>
              <a:latin typeface="Nunito"/>
              <a:ea typeface="Nunito"/>
              <a:cs typeface="Nunito"/>
            </a:endParaRPr>
          </a:p>
        </p:txBody>
      </p:sp>
      <p:sp>
        <p:nvSpPr>
          <p:cNvPr id="3" name="course-tag">
            <a:extLst xmlns:a="http://schemas.openxmlformats.org/drawingml/2006/main">
              <a:ext uri="{FF2B5EF4-FFF2-40B4-BE49-F238E27FC236}">
                <a16:creationId xmlns:a16="http://schemas.microsoft.com/office/drawing/2014/main" id="{936F2C15-29E3-45F1-A769-5A92D39092A0}"/>
              </a:ext>
            </a:extLst>
          </p:cNvPr>
          <p:cNvSpPr>
            <a:spLocks xmlns:a="http://schemas.openxmlformats.org/drawingml/2006/main" noGrp="1"/>
          </p:cNvSpPr>
          <p:nvPr/>
        </p:nvSpPr>
        <p:spPr>
          <a:xfrm xmlns:a="http://schemas.openxmlformats.org/drawingml/2006/main">
            <a:off x="1095375" y="12001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3F4B57"/>
                </a:solidFill>
                <a:latin typeface="Nunito"/>
                <a:ea typeface="Nunito"/>
                <a:cs typeface="Nunito"/>
              </a:defRPr>
            </a:pPr>
            <a:r>
              <a:rPr sz="1950" b="1">
                <a:solidFill>
                  <a:srgbClr val="3F4B57"/>
                </a:solidFill>
                <a:latin typeface="Nunito"/>
                <a:ea typeface="Nunito"/>
                <a:cs typeface="Nunito"/>
              </a:rPr>
              <a:t>PHY4605 Computational Methods in Physics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fc30909f92c4eaa"/>
          <a:stretch xmlns:a="http://schemas.openxmlformats.org/drawingml/2006/main"/>
        </p:blipFill>
        <p:spPr>
          <a:xfrm xmlns:a="http://schemas.openxmlformats.org/drawingml/2006/main">
            <a:off x="11715750" y="1785938"/>
            <a:ext cx="5191125" cy="5191125"/>
          </a:xfrm>
          <a:prstGeom xmlns:a="http://schemas.openxmlformats.org/drawingml/2006/main" prst="rect">
            <a:avLst/>
          </a:prstGeom>
        </p:spPr>
      </p:pic>
      <p:sp>
        <p:nvSpPr>
          <p:cNvPr id="5" name="hero-label-left">
            <a:extLst xmlns:a="http://schemas.openxmlformats.org/drawingml/2006/main">
              <a:ext uri="{FF2B5EF4-FFF2-40B4-BE49-F238E27FC236}">
                <a16:creationId xmlns:a16="http://schemas.microsoft.com/office/drawing/2014/main" id="{7D7678B3-2819-4BDD-837B-0F54B030169B}"/>
              </a:ext>
            </a:extLst>
          </p:cNvPr>
          <p:cNvSpPr>
            <a:spLocks xmlns:a="http://schemas.openxmlformats.org/drawingml/2006/main" noGrp="1"/>
          </p:cNvSpPr>
          <p:nvPr/>
        </p:nvSpPr>
        <p:spPr>
          <a:xfrm xmlns:a="http://schemas.openxmlformats.org/drawingml/2006/main">
            <a:off x="11715750" y="72390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same launch speed</a:t>
            </a:r>
          </a:p>
        </p:txBody>
      </p:sp>
      <p:sp>
        <p:nvSpPr>
          <p:cNvPr id="6" name="hero-label-right">
            <a:extLst xmlns:a="http://schemas.openxmlformats.org/drawingml/2006/main">
              <a:ext uri="{FF2B5EF4-FFF2-40B4-BE49-F238E27FC236}">
                <a16:creationId xmlns:a16="http://schemas.microsoft.com/office/drawing/2014/main" id="{B9503A3A-F390-444F-B77B-7FC251CA9869}"/>
              </a:ext>
            </a:extLst>
          </p:cNvPr>
          <p:cNvSpPr>
            <a:spLocks xmlns:a="http://schemas.openxmlformats.org/drawingml/2006/main" noGrp="1"/>
          </p:cNvSpPr>
          <p:nvPr/>
        </p:nvSpPr>
        <p:spPr>
          <a:xfrm xmlns:a="http://schemas.openxmlformats.org/drawingml/2006/main">
            <a:off x="14335125" y="72390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800" b="1">
                <a:solidFill>
                  <a:srgbClr val="2F6DB2"/>
                </a:solidFill>
                <a:latin typeface="Nunito"/>
                <a:ea typeface="Nunito"/>
                <a:cs typeface="Nunito"/>
              </a:defRPr>
            </a:pPr>
            <a:r>
              <a:rPr sz="1800" b="1">
                <a:solidFill>
                  <a:srgbClr val="2F6DB2"/>
                </a:solidFill>
                <a:latin typeface="Nunito"/>
                <a:ea typeface="Nunito"/>
                <a:cs typeface="Nunito"/>
              </a:rPr>
              <a:t>different angles</a:t>
            </a:r>
          </a:p>
        </p:txBody>
      </p:sp>
      <p:sp>
        <p:nvSpPr>
          <p:cNvPr id="7" name="workflow-1">
            <a:extLst xmlns:a="http://schemas.openxmlformats.org/drawingml/2006/main">
              <a:ext uri="{FF2B5EF4-FFF2-40B4-BE49-F238E27FC236}">
                <a16:creationId xmlns:a16="http://schemas.microsoft.com/office/drawing/2014/main" id="{630B3537-DA3B-49F9-A51C-EB52934D4DFA}"/>
              </a:ext>
            </a:extLst>
          </p:cNvPr>
          <p:cNvSpPr>
            <a:spLocks xmlns:a="http://schemas.openxmlformats.org/drawingml/2006/main" noGrp="1"/>
          </p:cNvSpPr>
          <p:nvPr/>
        </p:nvSpPr>
        <p:spPr>
          <a:xfrm xmlns:a="http://schemas.openxmlformats.org/drawingml/2006/main">
            <a:off x="1095375" y="8191500"/>
            <a:ext cx="3228975"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8" name="workflow-label-1">
            <a:extLst xmlns:a="http://schemas.openxmlformats.org/drawingml/2006/main">
              <a:ext uri="{FF2B5EF4-FFF2-40B4-BE49-F238E27FC236}">
                <a16:creationId xmlns:a16="http://schemas.microsoft.com/office/drawing/2014/main" id="{D6D6BFCF-F3B8-4F9C-8D87-5218DF83AFD0}"/>
              </a:ext>
            </a:extLst>
          </p:cNvPr>
          <p:cNvSpPr>
            <a:spLocks xmlns:a="http://schemas.openxmlformats.org/drawingml/2006/main" noGrp="1"/>
          </p:cNvSpPr>
          <p:nvPr/>
        </p:nvSpPr>
        <p:spPr>
          <a:xfrm xmlns:a="http://schemas.openxmlformats.org/drawingml/2006/main">
            <a:off x="1209675"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physical model</a:t>
            </a:r>
          </a:p>
        </p:txBody>
      </p:sp>
      <p:sp>
        <p:nvSpPr>
          <p:cNvPr id="9" name="workflow-arrow-1">
            <a:extLst xmlns:a="http://schemas.openxmlformats.org/drawingml/2006/main">
              <a:ext uri="{FF2B5EF4-FFF2-40B4-BE49-F238E27FC236}">
                <a16:creationId xmlns:a16="http://schemas.microsoft.com/office/drawing/2014/main" id="{C87AACB9-DED0-43A0-BC2E-4241EE0D4D99}"/>
              </a:ext>
            </a:extLst>
          </p:cNvPr>
          <p:cNvSpPr>
            <a:spLocks xmlns:a="http://schemas.openxmlformats.org/drawingml/2006/main" noGrp="1"/>
          </p:cNvSpPr>
          <p:nvPr/>
        </p:nvSpPr>
        <p:spPr>
          <a:xfrm xmlns:a="http://schemas.openxmlformats.org/drawingml/2006/main">
            <a:off x="4438650"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0" name="workflow-2">
            <a:extLst xmlns:a="http://schemas.openxmlformats.org/drawingml/2006/main">
              <a:ext uri="{FF2B5EF4-FFF2-40B4-BE49-F238E27FC236}">
                <a16:creationId xmlns:a16="http://schemas.microsoft.com/office/drawing/2014/main" id="{4939BA7F-0668-4749-8AC3-F7D7A19EDEE0}"/>
              </a:ext>
            </a:extLst>
          </p:cNvPr>
          <p:cNvSpPr>
            <a:spLocks xmlns:a="http://schemas.openxmlformats.org/drawingml/2006/main" noGrp="1"/>
          </p:cNvSpPr>
          <p:nvPr/>
        </p:nvSpPr>
        <p:spPr>
          <a:xfrm xmlns:a="http://schemas.openxmlformats.org/drawingml/2006/main">
            <a:off x="4781550" y="8191500"/>
            <a:ext cx="3228975" cy="609600"/>
          </a:xfrm>
          <a:prstGeom xmlns:a="http://schemas.openxmlformats.org/drawingml/2006/main" prst="roundRect">
            <a:avLst>
              <a:gd name="adj" fmla="val 34375"/>
            </a:avLst>
          </a:prstGeom>
          <a:solidFill xmlns:a="http://schemas.openxmlformats.org/drawingml/2006/main">
            <a:srgbClr val="F7F9FB"/>
          </a:solidFill>
          <a:ln xmlns:a="http://schemas.openxmlformats.org/drawingml/2006/main" w="19050">
            <a:noFill/>
            <a:prstDash val="solid"/>
          </a:ln>
        </p:spPr>
      </p:sp>
      <p:sp>
        <p:nvSpPr>
          <p:cNvPr id="11" name="workflow-label-2">
            <a:extLst xmlns:a="http://schemas.openxmlformats.org/drawingml/2006/main">
              <a:ext uri="{FF2B5EF4-FFF2-40B4-BE49-F238E27FC236}">
                <a16:creationId xmlns:a16="http://schemas.microsoft.com/office/drawing/2014/main" id="{26C7D306-8931-45F3-8382-CDB2E5168AC8}"/>
              </a:ext>
            </a:extLst>
          </p:cNvPr>
          <p:cNvSpPr>
            <a:spLocks xmlns:a="http://schemas.openxmlformats.org/drawingml/2006/main" noGrp="1"/>
          </p:cNvSpPr>
          <p:nvPr/>
        </p:nvSpPr>
        <p:spPr>
          <a:xfrm xmlns:a="http://schemas.openxmlformats.org/drawingml/2006/main">
            <a:off x="4895850"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residual</a:t>
            </a:r>
          </a:p>
        </p:txBody>
      </p:sp>
      <p:sp>
        <p:nvSpPr>
          <p:cNvPr id="12" name="workflow-arrow-2">
            <a:extLst xmlns:a="http://schemas.openxmlformats.org/drawingml/2006/main">
              <a:ext uri="{FF2B5EF4-FFF2-40B4-BE49-F238E27FC236}">
                <a16:creationId xmlns:a16="http://schemas.microsoft.com/office/drawing/2014/main" id="{FD9449FC-426E-409B-8228-BCCE4DC4496D}"/>
              </a:ext>
            </a:extLst>
          </p:cNvPr>
          <p:cNvSpPr>
            <a:spLocks xmlns:a="http://schemas.openxmlformats.org/drawingml/2006/main" noGrp="1"/>
          </p:cNvSpPr>
          <p:nvPr/>
        </p:nvSpPr>
        <p:spPr>
          <a:xfrm xmlns:a="http://schemas.openxmlformats.org/drawingml/2006/main">
            <a:off x="8124825"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3" name="workflow-3">
            <a:extLst xmlns:a="http://schemas.openxmlformats.org/drawingml/2006/main">
              <a:ext uri="{FF2B5EF4-FFF2-40B4-BE49-F238E27FC236}">
                <a16:creationId xmlns:a16="http://schemas.microsoft.com/office/drawing/2014/main" id="{29DE8DD6-A804-4BBC-B186-A3097ACD0847}"/>
              </a:ext>
            </a:extLst>
          </p:cNvPr>
          <p:cNvSpPr>
            <a:spLocks xmlns:a="http://schemas.openxmlformats.org/drawingml/2006/main" noGrp="1"/>
          </p:cNvSpPr>
          <p:nvPr/>
        </p:nvSpPr>
        <p:spPr>
          <a:xfrm xmlns:a="http://schemas.openxmlformats.org/drawingml/2006/main">
            <a:off x="8467725" y="8191500"/>
            <a:ext cx="3228975"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4" name="workflow-label-3">
            <a:extLst xmlns:a="http://schemas.openxmlformats.org/drawingml/2006/main">
              <a:ext uri="{FF2B5EF4-FFF2-40B4-BE49-F238E27FC236}">
                <a16:creationId xmlns:a16="http://schemas.microsoft.com/office/drawing/2014/main" id="{7B615DA0-CC5C-4435-9970-0760F2D2D84B}"/>
              </a:ext>
            </a:extLst>
          </p:cNvPr>
          <p:cNvSpPr>
            <a:spLocks xmlns:a="http://schemas.openxmlformats.org/drawingml/2006/main" noGrp="1"/>
          </p:cNvSpPr>
          <p:nvPr/>
        </p:nvSpPr>
        <p:spPr>
          <a:xfrm xmlns:a="http://schemas.openxmlformats.org/drawingml/2006/main">
            <a:off x="8582025"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bracket</a:t>
            </a:r>
          </a:p>
        </p:txBody>
      </p:sp>
      <p:sp>
        <p:nvSpPr>
          <p:cNvPr id="15" name="workflow-arrow-3">
            <a:extLst xmlns:a="http://schemas.openxmlformats.org/drawingml/2006/main">
              <a:ext uri="{FF2B5EF4-FFF2-40B4-BE49-F238E27FC236}">
                <a16:creationId xmlns:a16="http://schemas.microsoft.com/office/drawing/2014/main" id="{B90274F8-0BAC-474D-B275-3509EE9E31DB}"/>
              </a:ext>
            </a:extLst>
          </p:cNvPr>
          <p:cNvSpPr>
            <a:spLocks xmlns:a="http://schemas.openxmlformats.org/drawingml/2006/main" noGrp="1"/>
          </p:cNvSpPr>
          <p:nvPr/>
        </p:nvSpPr>
        <p:spPr>
          <a:xfrm xmlns:a="http://schemas.openxmlformats.org/drawingml/2006/main">
            <a:off x="11811000"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6" name="workflow-4">
            <a:extLst xmlns:a="http://schemas.openxmlformats.org/drawingml/2006/main">
              <a:ext uri="{FF2B5EF4-FFF2-40B4-BE49-F238E27FC236}">
                <a16:creationId xmlns:a16="http://schemas.microsoft.com/office/drawing/2014/main" id="{C194D434-8BAF-40C3-BAF9-4CD8228E8C21}"/>
              </a:ext>
            </a:extLst>
          </p:cNvPr>
          <p:cNvSpPr>
            <a:spLocks xmlns:a="http://schemas.openxmlformats.org/drawingml/2006/main" noGrp="1"/>
          </p:cNvSpPr>
          <p:nvPr/>
        </p:nvSpPr>
        <p:spPr>
          <a:xfrm xmlns:a="http://schemas.openxmlformats.org/drawingml/2006/main">
            <a:off x="12153900" y="8191500"/>
            <a:ext cx="3228975"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17" name="workflow-label-4">
            <a:extLst xmlns:a="http://schemas.openxmlformats.org/drawingml/2006/main">
              <a:ext uri="{FF2B5EF4-FFF2-40B4-BE49-F238E27FC236}">
                <a16:creationId xmlns:a16="http://schemas.microsoft.com/office/drawing/2014/main" id="{F094002D-FB2C-48CD-BBF7-43D977A6D121}"/>
              </a:ext>
            </a:extLst>
          </p:cNvPr>
          <p:cNvSpPr>
            <a:spLocks xmlns:a="http://schemas.openxmlformats.org/drawingml/2006/main" noGrp="1"/>
          </p:cNvSpPr>
          <p:nvPr/>
        </p:nvSpPr>
        <p:spPr>
          <a:xfrm xmlns:a="http://schemas.openxmlformats.org/drawingml/2006/main">
            <a:off x="12268200"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validation</a:t>
            </a:r>
          </a:p>
        </p:txBody>
      </p:sp>
      <p:sp>
        <p:nvSpPr>
          <p:cNvPr id="18" name="opening-note">
            <a:extLst xmlns:a="http://schemas.openxmlformats.org/drawingml/2006/main">
              <a:ext uri="{FF2B5EF4-FFF2-40B4-BE49-F238E27FC236}">
                <a16:creationId xmlns:a16="http://schemas.microsoft.com/office/drawing/2014/main" id="{C9130E3E-EBE4-4F65-B2F8-8AC6469D4300}"/>
              </a:ext>
            </a:extLst>
          </p:cNvPr>
          <p:cNvSpPr>
            <a:spLocks xmlns:a="http://schemas.openxmlformats.org/drawingml/2006/main" noGrp="1"/>
          </p:cNvSpPr>
          <p:nvPr/>
        </p:nvSpPr>
        <p:spPr>
          <a:xfrm xmlns:a="http://schemas.openxmlformats.org/drawingml/2006/main">
            <a:off x="1095375" y="904875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697684"/>
                </a:solidFill>
                <a:latin typeface="Nunito"/>
                <a:ea typeface="Nunito"/>
                <a:cs typeface="Nunito"/>
              </a:defRPr>
            </a:pPr>
            <a:r>
              <a:rPr sz="1800" b="0">
                <a:solidFill>
                  <a:srgbClr val="697684"/>
                </a:solidFill>
                <a:latin typeface="Nunito"/>
                <a:ea typeface="Nunito"/>
                <a:cs typeface="Nunito"/>
              </a:rPr>
              <a:t>Find the angle that makes the predicted range meet the target</a:t>
            </a:r>
          </a:p>
        </p:txBody>
      </p:sp>
    </p:spTree>
    <p:extLst>
      <p:ext uri="{BB962C8B-B14F-4D97-AF65-F5344CB8AC3E}">
        <p14:creationId xmlns:p14="http://schemas.microsoft.com/office/powerpoint/2010/main" val="285834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Turn the target condition into a residual</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The root is the angle that makes predicted range equal the target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2</a:t>
            </a:r>
            <a:endParaRPr sz="1650">
              <a:solidFill>
                <a:srgbClr val="697684"/>
              </a:solidFill>
              <a:latin typeface="Nunito"/>
              <a:ea typeface="Nunito"/>
              <a:cs typeface="Nunito"/>
            </a:endParaRPr>
          </a:p>
        </p:txBody>
      </p:sp>
      <p:sp>
        <p:nvSpPr>
          <p:cNvPr id="4" name="model-stage-1">
            <a:extLst xmlns:a="http://schemas.openxmlformats.org/drawingml/2006/main">
              <a:ext uri="{FF2B5EF4-FFF2-40B4-BE49-F238E27FC236}">
                <a16:creationId xmlns:a16="http://schemas.microsoft.com/office/drawing/2014/main" id="{A68E1751-E4A8-4392-97EC-182653ABBB1F}"/>
              </a:ext>
            </a:extLst>
          </p:cNvPr>
          <p:cNvSpPr>
            <a:spLocks xmlns:a="http://schemas.openxmlformats.org/drawingml/2006/main" noGrp="1"/>
          </p:cNvSpPr>
          <p:nvPr/>
        </p:nvSpPr>
        <p:spPr>
          <a:xfrm xmlns:a="http://schemas.openxmlformats.org/drawingml/2006/main">
            <a:off x="1095375" y="2714625"/>
            <a:ext cx="4381500" cy="1000125"/>
          </a:xfrm>
          <a:prstGeom xmlns:a="http://schemas.openxmlformats.org/drawingml/2006/main" prst="roundRect">
            <a:avLst>
              <a:gd name="adj" fmla="val 20952"/>
            </a:avLst>
          </a:prstGeom>
          <a:solidFill xmlns:a="http://schemas.openxmlformats.org/drawingml/2006/main">
            <a:srgbClr val="EEF5FD"/>
          </a:solidFill>
          <a:ln xmlns:a="http://schemas.openxmlformats.org/drawingml/2006/main" w="19050">
            <a:solidFill>
              <a:srgbClr val="2F6DB2"/>
            </a:solidFill>
            <a:prstDash val="solid"/>
          </a:ln>
        </p:spPr>
      </p:sp>
      <p:sp>
        <p:nvSpPr>
          <p:cNvPr id="5" name="model-stage-heading-1">
            <a:extLst xmlns:a="http://schemas.openxmlformats.org/drawingml/2006/main">
              <a:ext uri="{FF2B5EF4-FFF2-40B4-BE49-F238E27FC236}">
                <a16:creationId xmlns:a16="http://schemas.microsoft.com/office/drawing/2014/main" id="{066743A7-0D41-4DD8-9032-627C94497610}"/>
              </a:ext>
            </a:extLst>
          </p:cNvPr>
          <p:cNvSpPr>
            <a:spLocks xmlns:a="http://schemas.openxmlformats.org/drawingml/2006/main" noGrp="1"/>
          </p:cNvSpPr>
          <p:nvPr/>
        </p:nvSpPr>
        <p:spPr>
          <a:xfrm xmlns:a="http://schemas.openxmlformats.org/drawingml/2006/main">
            <a:off x="1362075"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2F6DB2"/>
                </a:solidFill>
                <a:latin typeface="Nunito"/>
                <a:ea typeface="Nunito"/>
                <a:cs typeface="Nunito"/>
              </a:defRPr>
            </a:pPr>
            <a:r>
              <a:rPr sz="2250" b="1">
                <a:solidFill>
                  <a:srgbClr val="2F6DB2"/>
                </a:solidFill>
                <a:latin typeface="Nunito"/>
                <a:ea typeface="Nunito"/>
                <a:cs typeface="Nunito"/>
              </a:rPr>
              <a:t>physical model</a:t>
            </a:r>
          </a:p>
        </p:txBody>
      </p:sp>
      <p:sp>
        <p:nvSpPr>
          <p:cNvPr id="6" name="model-stage-arrow-1">
            <a:extLst xmlns:a="http://schemas.openxmlformats.org/drawingml/2006/main">
              <a:ext uri="{FF2B5EF4-FFF2-40B4-BE49-F238E27FC236}">
                <a16:creationId xmlns:a16="http://schemas.microsoft.com/office/drawing/2014/main" id="{7819A068-FB3E-48C0-914C-753D0675E081}"/>
              </a:ext>
            </a:extLst>
          </p:cNvPr>
          <p:cNvSpPr>
            <a:spLocks xmlns:a="http://schemas.openxmlformats.org/drawingml/2006/main" noGrp="1"/>
          </p:cNvSpPr>
          <p:nvPr/>
        </p:nvSpPr>
        <p:spPr>
          <a:xfrm xmlns:a="http://schemas.openxmlformats.org/drawingml/2006/main">
            <a:off x="5619750" y="3114675"/>
            <a:ext cx="590550" cy="26670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7" name="model-stage-2">
            <a:extLst xmlns:a="http://schemas.openxmlformats.org/drawingml/2006/main">
              <a:ext uri="{FF2B5EF4-FFF2-40B4-BE49-F238E27FC236}">
                <a16:creationId xmlns:a16="http://schemas.microsoft.com/office/drawing/2014/main" id="{1B9BF7F8-6E65-4C4A-8AC5-91B331A4B0EB}"/>
              </a:ext>
            </a:extLst>
          </p:cNvPr>
          <p:cNvSpPr>
            <a:spLocks xmlns:a="http://schemas.openxmlformats.org/drawingml/2006/main" noGrp="1"/>
          </p:cNvSpPr>
          <p:nvPr/>
        </p:nvSpPr>
        <p:spPr>
          <a:xfrm xmlns:a="http://schemas.openxmlformats.org/drawingml/2006/main">
            <a:off x="6477000" y="2714625"/>
            <a:ext cx="4381500" cy="1000125"/>
          </a:xfrm>
          <a:prstGeom xmlns:a="http://schemas.openxmlformats.org/drawingml/2006/main" prst="roundRect">
            <a:avLst>
              <a:gd name="adj" fmla="val 20952"/>
            </a:avLst>
          </a:prstGeom>
          <a:solidFill xmlns:a="http://schemas.openxmlformats.org/drawingml/2006/main">
            <a:srgbClr val="FFF7E6"/>
          </a:solidFill>
          <a:ln xmlns:a="http://schemas.openxmlformats.org/drawingml/2006/main" w="19050">
            <a:solidFill>
              <a:srgbClr val="C98A16"/>
            </a:solidFill>
            <a:prstDash val="solid"/>
          </a:ln>
        </p:spPr>
      </p:sp>
      <p:sp>
        <p:nvSpPr>
          <p:cNvPr id="8" name="model-stage-heading-2">
            <a:extLst xmlns:a="http://schemas.openxmlformats.org/drawingml/2006/main">
              <a:ext uri="{FF2B5EF4-FFF2-40B4-BE49-F238E27FC236}">
                <a16:creationId xmlns:a16="http://schemas.microsoft.com/office/drawing/2014/main" id="{3CCAFCDA-C072-44C3-A4DA-27CE909FD696}"/>
              </a:ext>
            </a:extLst>
          </p:cNvPr>
          <p:cNvSpPr>
            <a:spLocks xmlns:a="http://schemas.openxmlformats.org/drawingml/2006/main" noGrp="1"/>
          </p:cNvSpPr>
          <p:nvPr/>
        </p:nvSpPr>
        <p:spPr>
          <a:xfrm xmlns:a="http://schemas.openxmlformats.org/drawingml/2006/main">
            <a:off x="6743700"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C98A16"/>
                </a:solidFill>
                <a:latin typeface="Nunito"/>
                <a:ea typeface="Nunito"/>
                <a:cs typeface="Nunito"/>
              </a:defRPr>
            </a:pPr>
            <a:r>
              <a:rPr sz="2250" b="1">
                <a:solidFill>
                  <a:srgbClr val="C98A16"/>
                </a:solidFill>
                <a:latin typeface="Nunito"/>
                <a:ea typeface="Nunito"/>
                <a:cs typeface="Nunito"/>
              </a:rPr>
              <a:t>target condition</a:t>
            </a:r>
          </a:p>
        </p:txBody>
      </p:sp>
      <p:sp>
        <p:nvSpPr>
          <p:cNvPr id="9" name="model-stage-arrow-2">
            <a:extLst xmlns:a="http://schemas.openxmlformats.org/drawingml/2006/main">
              <a:ext uri="{FF2B5EF4-FFF2-40B4-BE49-F238E27FC236}">
                <a16:creationId xmlns:a16="http://schemas.microsoft.com/office/drawing/2014/main" id="{59A3B2D1-DAA5-4369-9B3F-25E168FDC274}"/>
              </a:ext>
            </a:extLst>
          </p:cNvPr>
          <p:cNvSpPr>
            <a:spLocks xmlns:a="http://schemas.openxmlformats.org/drawingml/2006/main" noGrp="1"/>
          </p:cNvSpPr>
          <p:nvPr/>
        </p:nvSpPr>
        <p:spPr>
          <a:xfrm xmlns:a="http://schemas.openxmlformats.org/drawingml/2006/main">
            <a:off x="11001375" y="3114675"/>
            <a:ext cx="590550" cy="26670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0" name="model-stage-3">
            <a:extLst xmlns:a="http://schemas.openxmlformats.org/drawingml/2006/main">
              <a:ext uri="{FF2B5EF4-FFF2-40B4-BE49-F238E27FC236}">
                <a16:creationId xmlns:a16="http://schemas.microsoft.com/office/drawing/2014/main" id="{813C4B2F-2F6C-4C2E-9DBB-68C37FF83035}"/>
              </a:ext>
            </a:extLst>
          </p:cNvPr>
          <p:cNvSpPr>
            <a:spLocks xmlns:a="http://schemas.openxmlformats.org/drawingml/2006/main" noGrp="1"/>
          </p:cNvSpPr>
          <p:nvPr/>
        </p:nvSpPr>
        <p:spPr>
          <a:xfrm xmlns:a="http://schemas.openxmlformats.org/drawingml/2006/main">
            <a:off x="11858625" y="2714625"/>
            <a:ext cx="4381500" cy="1000125"/>
          </a:xfrm>
          <a:prstGeom xmlns:a="http://schemas.openxmlformats.org/drawingml/2006/main" prst="roundRect">
            <a:avLst>
              <a:gd name="adj" fmla="val 20952"/>
            </a:avLst>
          </a:prstGeom>
          <a:solidFill xmlns:a="http://schemas.openxmlformats.org/drawingml/2006/main">
            <a:srgbClr val="F0FAF7"/>
          </a:solidFill>
          <a:ln xmlns:a="http://schemas.openxmlformats.org/drawingml/2006/main" w="19050">
            <a:solidFill>
              <a:srgbClr val="3E8E45"/>
            </a:solidFill>
            <a:prstDash val="solid"/>
          </a:ln>
        </p:spPr>
      </p:sp>
      <p:sp>
        <p:nvSpPr>
          <p:cNvPr id="11" name="model-stage-heading-3">
            <a:extLst xmlns:a="http://schemas.openxmlformats.org/drawingml/2006/main">
              <a:ext uri="{FF2B5EF4-FFF2-40B4-BE49-F238E27FC236}">
                <a16:creationId xmlns:a16="http://schemas.microsoft.com/office/drawing/2014/main" id="{9F119A13-E94A-4D60-AE58-7D49C1BC1104}"/>
              </a:ext>
            </a:extLst>
          </p:cNvPr>
          <p:cNvSpPr>
            <a:spLocks xmlns:a="http://schemas.openxmlformats.org/drawingml/2006/main" noGrp="1"/>
          </p:cNvSpPr>
          <p:nvPr/>
        </p:nvSpPr>
        <p:spPr>
          <a:xfrm xmlns:a="http://schemas.openxmlformats.org/drawingml/2006/main">
            <a:off x="12125325"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3E8E45"/>
                </a:solidFill>
                <a:latin typeface="Nunito"/>
                <a:ea typeface="Nunito"/>
                <a:cs typeface="Nunito"/>
              </a:defRPr>
            </a:pPr>
            <a:r>
              <a:rPr sz="2250" b="1">
                <a:solidFill>
                  <a:srgbClr val="3E8E45"/>
                </a:solidFill>
                <a:latin typeface="Nunito"/>
                <a:ea typeface="Nunito"/>
                <a:cs typeface="Nunito"/>
              </a:rPr>
              <a:t>residual = 0</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b58babda5ef40e6"/>
          <a:stretch xmlns:a="http://schemas.openxmlformats.org/drawingml/2006/main"/>
        </p:blipFill>
        <p:spPr>
          <a:xfrm xmlns:a="http://schemas.openxmlformats.org/drawingml/2006/main">
            <a:off x="4348224" y="4333875"/>
            <a:ext cx="9591553" cy="2190750"/>
          </a:xfrm>
          <a:prstGeom xmlns:a="http://schemas.openxmlformats.org/drawingml/2006/main" prst="rect">
            <a:avLst/>
          </a:prstGeom>
        </p:spPr>
      </p:pic>
      <p:sp>
        <p:nvSpPr>
          <p:cNvPr id="13" name="residual-explanation">
            <a:extLst xmlns:a="http://schemas.openxmlformats.org/drawingml/2006/main">
              <a:ext uri="{FF2B5EF4-FFF2-40B4-BE49-F238E27FC236}">
                <a16:creationId xmlns:a16="http://schemas.microsoft.com/office/drawing/2014/main" id="{4FFB040C-3B35-4318-8721-7EADFCBE97EF}"/>
              </a:ext>
            </a:extLst>
          </p:cNvPr>
          <p:cNvSpPr>
            <a:spLocks xmlns:a="http://schemas.openxmlformats.org/drawingml/2006/main" noGrp="1"/>
          </p:cNvSpPr>
          <p:nvPr/>
        </p:nvSpPr>
        <p:spPr>
          <a:xfrm xmlns:a="http://schemas.openxmlformats.org/drawingml/2006/main">
            <a:off x="2095500" y="6858000"/>
            <a:ext cx="1409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The residual is the signed miss: predicted range minus target range</a:t>
            </a:r>
          </a:p>
        </p:txBody>
      </p:sp>
      <p:sp>
        <p:nvSpPr>
          <p:cNvPr id="14" name="workflow-1">
            <a:extLst xmlns:a="http://schemas.openxmlformats.org/drawingml/2006/main">
              <a:ext uri="{FF2B5EF4-FFF2-40B4-BE49-F238E27FC236}">
                <a16:creationId xmlns:a16="http://schemas.microsoft.com/office/drawing/2014/main" id="{DFCE5F51-DB28-4AEE-A8A7-C6A0F92D50AA}"/>
              </a:ext>
            </a:extLst>
          </p:cNvPr>
          <p:cNvSpPr>
            <a:spLocks xmlns:a="http://schemas.openxmlformats.org/drawingml/2006/main" noGrp="1"/>
          </p:cNvSpPr>
          <p:nvPr/>
        </p:nvSpPr>
        <p:spPr>
          <a:xfrm xmlns:a="http://schemas.openxmlformats.org/drawingml/2006/main">
            <a:off x="1095375" y="7762875"/>
            <a:ext cx="4457700"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15" name="workflow-label-1">
            <a:extLst xmlns:a="http://schemas.openxmlformats.org/drawingml/2006/main">
              <a:ext uri="{FF2B5EF4-FFF2-40B4-BE49-F238E27FC236}">
                <a16:creationId xmlns:a16="http://schemas.microsoft.com/office/drawing/2014/main" id="{2558BA1D-3212-45B0-905A-0160CDA9E079}"/>
              </a:ext>
            </a:extLst>
          </p:cNvPr>
          <p:cNvSpPr>
            <a:spLocks xmlns:a="http://schemas.openxmlformats.org/drawingml/2006/main" noGrp="1"/>
          </p:cNvSpPr>
          <p:nvPr/>
        </p:nvSpPr>
        <p:spPr>
          <a:xfrm xmlns:a="http://schemas.openxmlformats.org/drawingml/2006/main">
            <a:off x="12096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predict range</a:t>
            </a:r>
          </a:p>
        </p:txBody>
      </p:sp>
      <p:sp>
        <p:nvSpPr>
          <p:cNvPr id="16" name="workflow-arrow-1">
            <a:extLst xmlns:a="http://schemas.openxmlformats.org/drawingml/2006/main">
              <a:ext uri="{FF2B5EF4-FFF2-40B4-BE49-F238E27FC236}">
                <a16:creationId xmlns:a16="http://schemas.microsoft.com/office/drawing/2014/main" id="{65F0FD7C-0E21-472A-874A-99D5CE621532}"/>
              </a:ext>
            </a:extLst>
          </p:cNvPr>
          <p:cNvSpPr>
            <a:spLocks xmlns:a="http://schemas.openxmlformats.org/drawingml/2006/main" noGrp="1"/>
          </p:cNvSpPr>
          <p:nvPr/>
        </p:nvSpPr>
        <p:spPr>
          <a:xfrm xmlns:a="http://schemas.openxmlformats.org/drawingml/2006/main">
            <a:off x="5667375" y="796290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7" name="workflow-2">
            <a:extLst xmlns:a="http://schemas.openxmlformats.org/drawingml/2006/main">
              <a:ext uri="{FF2B5EF4-FFF2-40B4-BE49-F238E27FC236}">
                <a16:creationId xmlns:a16="http://schemas.microsoft.com/office/drawing/2014/main" id="{316BBD0F-5671-4AC1-8D77-6184B49EB575}"/>
              </a:ext>
            </a:extLst>
          </p:cNvPr>
          <p:cNvSpPr>
            <a:spLocks xmlns:a="http://schemas.openxmlformats.org/drawingml/2006/main" noGrp="1"/>
          </p:cNvSpPr>
          <p:nvPr/>
        </p:nvSpPr>
        <p:spPr>
          <a:xfrm xmlns:a="http://schemas.openxmlformats.org/drawingml/2006/main">
            <a:off x="6010275" y="7762875"/>
            <a:ext cx="4457700"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8" name="workflow-label-2">
            <a:extLst xmlns:a="http://schemas.openxmlformats.org/drawingml/2006/main">
              <a:ext uri="{FF2B5EF4-FFF2-40B4-BE49-F238E27FC236}">
                <a16:creationId xmlns:a16="http://schemas.microsoft.com/office/drawing/2014/main" id="{18EECA79-E49E-4EC4-98C0-21D12DB8E966}"/>
              </a:ext>
            </a:extLst>
          </p:cNvPr>
          <p:cNvSpPr>
            <a:spLocks xmlns:a="http://schemas.openxmlformats.org/drawingml/2006/main" noGrp="1"/>
          </p:cNvSpPr>
          <p:nvPr/>
        </p:nvSpPr>
        <p:spPr>
          <a:xfrm xmlns:a="http://schemas.openxmlformats.org/drawingml/2006/main">
            <a:off x="61245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subtract 35 m</a:t>
            </a:r>
          </a:p>
        </p:txBody>
      </p:sp>
      <p:sp>
        <p:nvSpPr>
          <p:cNvPr id="19" name="workflow-arrow-2">
            <a:extLst xmlns:a="http://schemas.openxmlformats.org/drawingml/2006/main">
              <a:ext uri="{FF2B5EF4-FFF2-40B4-BE49-F238E27FC236}">
                <a16:creationId xmlns:a16="http://schemas.microsoft.com/office/drawing/2014/main" id="{C81908E7-E57B-46D3-99E1-A8163800BB99}"/>
              </a:ext>
            </a:extLst>
          </p:cNvPr>
          <p:cNvSpPr>
            <a:spLocks xmlns:a="http://schemas.openxmlformats.org/drawingml/2006/main" noGrp="1"/>
          </p:cNvSpPr>
          <p:nvPr/>
        </p:nvSpPr>
        <p:spPr>
          <a:xfrm xmlns:a="http://schemas.openxmlformats.org/drawingml/2006/main">
            <a:off x="10582275" y="796290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20" name="workflow-3">
            <a:extLst xmlns:a="http://schemas.openxmlformats.org/drawingml/2006/main">
              <a:ext uri="{FF2B5EF4-FFF2-40B4-BE49-F238E27FC236}">
                <a16:creationId xmlns:a16="http://schemas.microsoft.com/office/drawing/2014/main" id="{DE530352-63FA-4BF6-8CBA-431F42F8C562}"/>
              </a:ext>
            </a:extLst>
          </p:cNvPr>
          <p:cNvSpPr>
            <a:spLocks xmlns:a="http://schemas.openxmlformats.org/drawingml/2006/main" noGrp="1"/>
          </p:cNvSpPr>
          <p:nvPr/>
        </p:nvSpPr>
        <p:spPr>
          <a:xfrm xmlns:a="http://schemas.openxmlformats.org/drawingml/2006/main">
            <a:off x="10925175" y="7762875"/>
            <a:ext cx="4457700"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21" name="workflow-label-3">
            <a:extLst xmlns:a="http://schemas.openxmlformats.org/drawingml/2006/main">
              <a:ext uri="{FF2B5EF4-FFF2-40B4-BE49-F238E27FC236}">
                <a16:creationId xmlns:a16="http://schemas.microsoft.com/office/drawing/2014/main" id="{AA901F9D-F97A-41BF-BCCF-D26DF68200C4}"/>
              </a:ext>
            </a:extLst>
          </p:cNvPr>
          <p:cNvSpPr>
            <a:spLocks xmlns:a="http://schemas.openxmlformats.org/drawingml/2006/main" noGrp="1"/>
          </p:cNvSpPr>
          <p:nvPr/>
        </p:nvSpPr>
        <p:spPr>
          <a:xfrm xmlns:a="http://schemas.openxmlformats.org/drawingml/2006/main">
            <a:off x="110394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seek zero</a:t>
            </a:r>
          </a:p>
        </p:txBody>
      </p:sp>
    </p:spTree>
    <p:extLst>
      <p:ext uri="{BB962C8B-B14F-4D97-AF65-F5344CB8AC3E}">
        <p14:creationId xmlns:p14="http://schemas.microsoft.com/office/powerpoint/2010/main" val="5643386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Read the residual sign as physics</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residual carries direction, not just error size</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3</a:t>
            </a:r>
            <a:endParaRPr sz="1650">
              <a:solidFill>
                <a:srgbClr val="697684"/>
              </a:solidFill>
              <a:latin typeface="Nunito"/>
              <a:ea typeface="Nunito"/>
              <a:cs typeface="Nunito"/>
            </a:endParaRPr>
          </a:p>
        </p:txBody>
      </p:sp>
      <p:sp>
        <p:nvSpPr>
          <p:cNvPr id="4" name="sign-card-1">
            <a:extLst xmlns:a="http://schemas.openxmlformats.org/drawingml/2006/main">
              <a:ext uri="{FF2B5EF4-FFF2-40B4-BE49-F238E27FC236}">
                <a16:creationId xmlns:a16="http://schemas.microsoft.com/office/drawing/2014/main" id="{06F894CA-AB69-4DFD-B259-A24F138BCFCB}"/>
              </a:ext>
            </a:extLst>
          </p:cNvPr>
          <p:cNvSpPr>
            <a:spLocks xmlns:a="http://schemas.openxmlformats.org/drawingml/2006/main" noGrp="1"/>
          </p:cNvSpPr>
          <p:nvPr/>
        </p:nvSpPr>
        <p:spPr>
          <a:xfrm xmlns:a="http://schemas.openxmlformats.org/drawingml/2006/main">
            <a:off x="1095375" y="2714625"/>
            <a:ext cx="4762500" cy="3905250"/>
          </a:xfrm>
          <a:prstGeom xmlns:a="http://schemas.openxmlformats.org/drawingml/2006/main" prst="roundRect">
            <a:avLst>
              <a:gd name="adj" fmla="val 5366"/>
            </a:avLst>
          </a:prstGeom>
          <a:solidFill xmlns:a="http://schemas.openxmlformats.org/drawingml/2006/main">
            <a:srgbClr val="EEF5FD"/>
          </a:solidFill>
          <a:ln xmlns:a="http://schemas.openxmlformats.org/drawingml/2006/main" w="19050">
            <a:solidFill>
              <a:srgbClr val="2F6DB2"/>
            </a:solidFill>
            <a:prstDash val="solid"/>
          </a:ln>
        </p:spPr>
      </p:sp>
      <p:sp>
        <p:nvSpPr>
          <p:cNvPr id="5" name="sign-heading-1">
            <a:extLst xmlns:a="http://schemas.openxmlformats.org/drawingml/2006/main">
              <a:ext uri="{FF2B5EF4-FFF2-40B4-BE49-F238E27FC236}">
                <a16:creationId xmlns:a16="http://schemas.microsoft.com/office/drawing/2014/main" id="{3C11A622-446D-4335-ABF3-011499A82F3E}"/>
              </a:ext>
            </a:extLst>
          </p:cNvPr>
          <p:cNvSpPr>
            <a:spLocks xmlns:a="http://schemas.openxmlformats.org/drawingml/2006/main" noGrp="1"/>
          </p:cNvSpPr>
          <p:nvPr/>
        </p:nvSpPr>
        <p:spPr>
          <a:xfrm xmlns:a="http://schemas.openxmlformats.org/drawingml/2006/main">
            <a:off x="1400175"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undershoot</a:t>
            </a:r>
          </a:p>
        </p:txBody>
      </p:sp>
      <p:sp>
        <p:nvSpPr>
          <p:cNvPr id="6" name="sign-baseline-1">
            <a:extLst xmlns:a="http://schemas.openxmlformats.org/drawingml/2006/main">
              <a:ext uri="{FF2B5EF4-FFF2-40B4-BE49-F238E27FC236}">
                <a16:creationId xmlns:a16="http://schemas.microsoft.com/office/drawing/2014/main" id="{820494F4-F134-458A-B661-71DD0D19DE04}"/>
              </a:ext>
            </a:extLst>
          </p:cNvPr>
          <p:cNvSpPr>
            <a:spLocks xmlns:a="http://schemas.openxmlformats.org/drawingml/2006/main" noGrp="1"/>
          </p:cNvSpPr>
          <p:nvPr/>
        </p:nvSpPr>
        <p:spPr>
          <a:xfrm xmlns:a="http://schemas.openxmlformats.org/drawingml/2006/main">
            <a:off x="1857375"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7" name="sign-target-1">
            <a:extLst xmlns:a="http://schemas.openxmlformats.org/drawingml/2006/main">
              <a:ext uri="{FF2B5EF4-FFF2-40B4-BE49-F238E27FC236}">
                <a16:creationId xmlns:a16="http://schemas.microsoft.com/office/drawing/2014/main" id="{C378BF0D-6481-45B8-94E7-7016052BA12C}"/>
              </a:ext>
            </a:extLst>
          </p:cNvPr>
          <p:cNvSpPr>
            <a:spLocks xmlns:a="http://schemas.openxmlformats.org/drawingml/2006/main" noGrp="1"/>
          </p:cNvSpPr>
          <p:nvPr/>
        </p:nvSpPr>
        <p:spPr>
          <a:xfrm xmlns:a="http://schemas.openxmlformats.org/drawingml/2006/main">
            <a:off x="3362325" y="4219575"/>
            <a:ext cx="228600" cy="22860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8" name="sign-ball-1">
            <a:extLst xmlns:a="http://schemas.openxmlformats.org/drawingml/2006/main">
              <a:ext uri="{FF2B5EF4-FFF2-40B4-BE49-F238E27FC236}">
                <a16:creationId xmlns:a16="http://schemas.microsoft.com/office/drawing/2014/main" id="{1C58F6B8-29A7-4CEE-AB8F-C54B36D57E58}"/>
              </a:ext>
            </a:extLst>
          </p:cNvPr>
          <p:cNvSpPr>
            <a:spLocks xmlns:a="http://schemas.openxmlformats.org/drawingml/2006/main" noGrp="1"/>
          </p:cNvSpPr>
          <p:nvPr/>
        </p:nvSpPr>
        <p:spPr>
          <a:xfrm xmlns:a="http://schemas.openxmlformats.org/drawingml/2006/main">
            <a:off x="2619375"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9" name="sign-travel-1">
            <a:extLst xmlns:a="http://schemas.openxmlformats.org/drawingml/2006/main">
              <a:ext uri="{FF2B5EF4-FFF2-40B4-BE49-F238E27FC236}">
                <a16:creationId xmlns:a16="http://schemas.microsoft.com/office/drawing/2014/main" id="{5D1C96E8-7594-444A-B275-A134406BCBEF}"/>
              </a:ext>
            </a:extLst>
          </p:cNvPr>
          <p:cNvSpPr>
            <a:spLocks xmlns:a="http://schemas.openxmlformats.org/drawingml/2006/main" noGrp="1"/>
          </p:cNvSpPr>
          <p:nvPr/>
        </p:nvSpPr>
        <p:spPr>
          <a:xfrm xmlns:a="http://schemas.openxmlformats.org/drawingml/2006/main">
            <a:off x="2428875" y="4048125"/>
            <a:ext cx="781050" cy="0"/>
          </a:xfrm>
          <a:prstGeom xmlns:a="http://schemas.openxmlformats.org/drawingml/2006/main" prst="line">
            <a:avLst/>
          </a:prstGeom>
          <a:noFill xmlns:a="http://schemas.openxmlformats.org/drawingml/2006/main"/>
          <a:ln xmlns:a="http://schemas.openxmlformats.org/drawingml/2006/main" w="28575">
            <a:solidFill>
              <a:srgbClr val="2F6DB2"/>
            </a:solidFill>
            <a:prstDash val="dash"/>
          </a:ln>
        </p:spPr>
      </p:sp>
      <p:sp>
        <p:nvSpPr>
          <p:cNvPr id="10" name="sign-symbol-1">
            <a:extLst xmlns:a="http://schemas.openxmlformats.org/drawingml/2006/main">
              <a:ext uri="{FF2B5EF4-FFF2-40B4-BE49-F238E27FC236}">
                <a16:creationId xmlns:a16="http://schemas.microsoft.com/office/drawing/2014/main" id="{AA57711B-B01A-4594-A9C9-1D69C941CCCC}"/>
              </a:ext>
            </a:extLst>
          </p:cNvPr>
          <p:cNvSpPr>
            <a:spLocks xmlns:a="http://schemas.openxmlformats.org/drawingml/2006/main" noGrp="1"/>
          </p:cNvSpPr>
          <p:nvPr/>
        </p:nvSpPr>
        <p:spPr>
          <a:xfrm xmlns:a="http://schemas.openxmlformats.org/drawingml/2006/main">
            <a:off x="1400175"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2F6DB2"/>
                </a:solidFill>
                <a:latin typeface="Nunito"/>
                <a:ea typeface="Nunito"/>
                <a:cs typeface="Nunito"/>
              </a:defRPr>
            </a:pPr>
            <a:r>
              <a:rPr sz="2400" b="1">
                <a:solidFill>
                  <a:srgbClr val="2F6DB2"/>
                </a:solidFill>
                <a:latin typeface="Nunito"/>
                <a:ea typeface="Nunito"/>
                <a:cs typeface="Nunito"/>
              </a:rPr>
              <a:t>negative</a:t>
            </a:r>
          </a:p>
        </p:txBody>
      </p:sp>
      <p:sp>
        <p:nvSpPr>
          <p:cNvPr id="11" name="sign-body-1">
            <a:extLst xmlns:a="http://schemas.openxmlformats.org/drawingml/2006/main">
              <a:ext uri="{FF2B5EF4-FFF2-40B4-BE49-F238E27FC236}">
                <a16:creationId xmlns:a16="http://schemas.microsoft.com/office/drawing/2014/main" id="{280168B7-A14B-4BAC-A4F3-B43E169D37FB}"/>
              </a:ext>
            </a:extLst>
          </p:cNvPr>
          <p:cNvSpPr>
            <a:spLocks xmlns:a="http://schemas.openxmlformats.org/drawingml/2006/main" noGrp="1"/>
          </p:cNvSpPr>
          <p:nvPr/>
        </p:nvSpPr>
        <p:spPr>
          <a:xfrm xmlns:a="http://schemas.openxmlformats.org/drawingml/2006/main">
            <a:off x="1400175"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below target</a:t>
            </a:r>
          </a:p>
        </p:txBody>
      </p:sp>
      <p:sp>
        <p:nvSpPr>
          <p:cNvPr id="12" name="sign-arrow-1">
            <a:extLst xmlns:a="http://schemas.openxmlformats.org/drawingml/2006/main">
              <a:ext uri="{FF2B5EF4-FFF2-40B4-BE49-F238E27FC236}">
                <a16:creationId xmlns:a16="http://schemas.microsoft.com/office/drawing/2014/main" id="{D54B5AE2-525F-4EB5-A46F-601F741CEA31}"/>
              </a:ext>
            </a:extLst>
          </p:cNvPr>
          <p:cNvSpPr>
            <a:spLocks xmlns:a="http://schemas.openxmlformats.org/drawingml/2006/main" noGrp="1"/>
          </p:cNvSpPr>
          <p:nvPr/>
        </p:nvSpPr>
        <p:spPr>
          <a:xfrm xmlns:a="http://schemas.openxmlformats.org/drawingml/2006/main">
            <a:off x="1400175"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2F6DB2"/>
                </a:solidFill>
                <a:latin typeface="Nunito"/>
                <a:ea typeface="Nunito"/>
                <a:cs typeface="Nunito"/>
              </a:defRPr>
            </a:pPr>
            <a:r>
              <a:rPr sz="1650" b="1">
                <a:solidFill>
                  <a:srgbClr val="2F6DB2"/>
                </a:solidFill>
                <a:latin typeface="Nunito"/>
                <a:ea typeface="Nunito"/>
                <a:cs typeface="Nunito"/>
              </a:rPr>
              <a:t>shorter</a:t>
            </a:r>
          </a:p>
        </p:txBody>
      </p:sp>
      <p:sp>
        <p:nvSpPr>
          <p:cNvPr id="13" name="sign-card-2">
            <a:extLst xmlns:a="http://schemas.openxmlformats.org/drawingml/2006/main">
              <a:ext uri="{FF2B5EF4-FFF2-40B4-BE49-F238E27FC236}">
                <a16:creationId xmlns:a16="http://schemas.microsoft.com/office/drawing/2014/main" id="{E9DB2E64-A48A-4492-B350-373DFEB5D6A1}"/>
              </a:ext>
            </a:extLst>
          </p:cNvPr>
          <p:cNvSpPr>
            <a:spLocks xmlns:a="http://schemas.openxmlformats.org/drawingml/2006/main" noGrp="1"/>
          </p:cNvSpPr>
          <p:nvPr/>
        </p:nvSpPr>
        <p:spPr>
          <a:xfrm xmlns:a="http://schemas.openxmlformats.org/drawingml/2006/main">
            <a:off x="6762750" y="2714625"/>
            <a:ext cx="4762500" cy="3905250"/>
          </a:xfrm>
          <a:prstGeom xmlns:a="http://schemas.openxmlformats.org/drawingml/2006/main" prst="roundRect">
            <a:avLst>
              <a:gd name="adj" fmla="val 5366"/>
            </a:avLst>
          </a:prstGeom>
          <a:solidFill xmlns:a="http://schemas.openxmlformats.org/drawingml/2006/main">
            <a:srgbClr val="F0FAF7"/>
          </a:solidFill>
          <a:ln xmlns:a="http://schemas.openxmlformats.org/drawingml/2006/main" w="19050">
            <a:solidFill>
              <a:srgbClr val="3E8E45"/>
            </a:solidFill>
            <a:prstDash val="solid"/>
          </a:ln>
        </p:spPr>
      </p:sp>
      <p:sp>
        <p:nvSpPr>
          <p:cNvPr id="14" name="sign-heading-2">
            <a:extLst xmlns:a="http://schemas.openxmlformats.org/drawingml/2006/main">
              <a:ext uri="{FF2B5EF4-FFF2-40B4-BE49-F238E27FC236}">
                <a16:creationId xmlns:a16="http://schemas.microsoft.com/office/drawing/2014/main" id="{FBADBED0-E86E-4188-90F6-721090290A5E}"/>
              </a:ext>
            </a:extLst>
          </p:cNvPr>
          <p:cNvSpPr>
            <a:spLocks xmlns:a="http://schemas.openxmlformats.org/drawingml/2006/main" noGrp="1"/>
          </p:cNvSpPr>
          <p:nvPr/>
        </p:nvSpPr>
        <p:spPr>
          <a:xfrm xmlns:a="http://schemas.openxmlformats.org/drawingml/2006/main">
            <a:off x="7067550"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exact hit</a:t>
            </a:r>
          </a:p>
        </p:txBody>
      </p:sp>
      <p:sp>
        <p:nvSpPr>
          <p:cNvPr id="15" name="sign-baseline-2">
            <a:extLst xmlns:a="http://schemas.openxmlformats.org/drawingml/2006/main">
              <a:ext uri="{FF2B5EF4-FFF2-40B4-BE49-F238E27FC236}">
                <a16:creationId xmlns:a16="http://schemas.microsoft.com/office/drawing/2014/main" id="{6610CB4F-7F83-480A-ADA5-547FD5CAD11D}"/>
              </a:ext>
            </a:extLst>
          </p:cNvPr>
          <p:cNvSpPr>
            <a:spLocks xmlns:a="http://schemas.openxmlformats.org/drawingml/2006/main" noGrp="1"/>
          </p:cNvSpPr>
          <p:nvPr/>
        </p:nvSpPr>
        <p:spPr>
          <a:xfrm xmlns:a="http://schemas.openxmlformats.org/drawingml/2006/main">
            <a:off x="7524750"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16" name="sign-target-2">
            <a:extLst xmlns:a="http://schemas.openxmlformats.org/drawingml/2006/main">
              <a:ext uri="{FF2B5EF4-FFF2-40B4-BE49-F238E27FC236}">
                <a16:creationId xmlns:a16="http://schemas.microsoft.com/office/drawing/2014/main" id="{6810E679-3499-47B6-B53D-2E50ECB43187}"/>
              </a:ext>
            </a:extLst>
          </p:cNvPr>
          <p:cNvSpPr>
            <a:spLocks xmlns:a="http://schemas.openxmlformats.org/drawingml/2006/main" noGrp="1"/>
          </p:cNvSpPr>
          <p:nvPr/>
        </p:nvSpPr>
        <p:spPr>
          <a:xfrm xmlns:a="http://schemas.openxmlformats.org/drawingml/2006/main">
            <a:off x="9029700" y="4219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7" name="sign-ball-2">
            <a:extLst xmlns:a="http://schemas.openxmlformats.org/drawingml/2006/main">
              <a:ext uri="{FF2B5EF4-FFF2-40B4-BE49-F238E27FC236}">
                <a16:creationId xmlns:a16="http://schemas.microsoft.com/office/drawing/2014/main" id="{9E761354-DF60-447C-8ACC-33DCFBEA6DCB}"/>
              </a:ext>
            </a:extLst>
          </p:cNvPr>
          <p:cNvSpPr>
            <a:spLocks xmlns:a="http://schemas.openxmlformats.org/drawingml/2006/main" noGrp="1"/>
          </p:cNvSpPr>
          <p:nvPr/>
        </p:nvSpPr>
        <p:spPr>
          <a:xfrm xmlns:a="http://schemas.openxmlformats.org/drawingml/2006/main">
            <a:off x="9029700"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18" name="sign-travel-2">
            <a:extLst xmlns:a="http://schemas.openxmlformats.org/drawingml/2006/main">
              <a:ext uri="{FF2B5EF4-FFF2-40B4-BE49-F238E27FC236}">
                <a16:creationId xmlns:a16="http://schemas.microsoft.com/office/drawing/2014/main" id="{51BA29C1-0B18-4A34-83C4-3A66B81A7115}"/>
              </a:ext>
            </a:extLst>
          </p:cNvPr>
          <p:cNvSpPr>
            <a:spLocks xmlns:a="http://schemas.openxmlformats.org/drawingml/2006/main" noGrp="1"/>
          </p:cNvSpPr>
          <p:nvPr/>
        </p:nvSpPr>
        <p:spPr>
          <a:xfrm xmlns:a="http://schemas.openxmlformats.org/drawingml/2006/main">
            <a:off x="8096250" y="4048125"/>
            <a:ext cx="1219200" cy="0"/>
          </a:xfrm>
          <a:prstGeom xmlns:a="http://schemas.openxmlformats.org/drawingml/2006/main" prst="line">
            <a:avLst/>
          </a:prstGeom>
          <a:noFill xmlns:a="http://schemas.openxmlformats.org/drawingml/2006/main"/>
          <a:ln xmlns:a="http://schemas.openxmlformats.org/drawingml/2006/main" w="28575">
            <a:solidFill>
              <a:srgbClr val="3E8E45"/>
            </a:solidFill>
            <a:prstDash val="dash"/>
          </a:ln>
        </p:spPr>
      </p:sp>
      <p:sp>
        <p:nvSpPr>
          <p:cNvPr id="19" name="sign-symbol-2">
            <a:extLst xmlns:a="http://schemas.openxmlformats.org/drawingml/2006/main">
              <a:ext uri="{FF2B5EF4-FFF2-40B4-BE49-F238E27FC236}">
                <a16:creationId xmlns:a16="http://schemas.microsoft.com/office/drawing/2014/main" id="{293C585D-5806-4F5B-BD7E-76C26E0363BB}"/>
              </a:ext>
            </a:extLst>
          </p:cNvPr>
          <p:cNvSpPr>
            <a:spLocks xmlns:a="http://schemas.openxmlformats.org/drawingml/2006/main" noGrp="1"/>
          </p:cNvSpPr>
          <p:nvPr/>
        </p:nvSpPr>
        <p:spPr>
          <a:xfrm xmlns:a="http://schemas.openxmlformats.org/drawingml/2006/main">
            <a:off x="7067550"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3E8E45"/>
                </a:solidFill>
                <a:latin typeface="Nunito"/>
                <a:ea typeface="Nunito"/>
                <a:cs typeface="Nunito"/>
              </a:defRPr>
            </a:pPr>
            <a:r>
              <a:rPr sz="2400" b="1">
                <a:solidFill>
                  <a:srgbClr val="3E8E45"/>
                </a:solidFill>
                <a:latin typeface="Nunito"/>
                <a:ea typeface="Nunito"/>
                <a:cs typeface="Nunito"/>
              </a:rPr>
              <a:t>zero</a:t>
            </a:r>
          </a:p>
        </p:txBody>
      </p:sp>
      <p:sp>
        <p:nvSpPr>
          <p:cNvPr id="20" name="sign-body-2">
            <a:extLst xmlns:a="http://schemas.openxmlformats.org/drawingml/2006/main">
              <a:ext uri="{FF2B5EF4-FFF2-40B4-BE49-F238E27FC236}">
                <a16:creationId xmlns:a16="http://schemas.microsoft.com/office/drawing/2014/main" id="{F68C35B0-2C8B-4AFE-B9FC-35B7CCD5E50F}"/>
              </a:ext>
            </a:extLst>
          </p:cNvPr>
          <p:cNvSpPr>
            <a:spLocks xmlns:a="http://schemas.openxmlformats.org/drawingml/2006/main" noGrp="1"/>
          </p:cNvSpPr>
          <p:nvPr/>
        </p:nvSpPr>
        <p:spPr>
          <a:xfrm xmlns:a="http://schemas.openxmlformats.org/drawingml/2006/main">
            <a:off x="7067550"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matches target</a:t>
            </a:r>
          </a:p>
        </p:txBody>
      </p:sp>
      <p:sp>
        <p:nvSpPr>
          <p:cNvPr id="21" name="sign-arrow-2">
            <a:extLst xmlns:a="http://schemas.openxmlformats.org/drawingml/2006/main">
              <a:ext uri="{FF2B5EF4-FFF2-40B4-BE49-F238E27FC236}">
                <a16:creationId xmlns:a16="http://schemas.microsoft.com/office/drawing/2014/main" id="{9E377292-3926-4006-ADAA-EB609CA0BE9A}"/>
              </a:ext>
            </a:extLst>
          </p:cNvPr>
          <p:cNvSpPr>
            <a:spLocks xmlns:a="http://schemas.openxmlformats.org/drawingml/2006/main" noGrp="1"/>
          </p:cNvSpPr>
          <p:nvPr/>
        </p:nvSpPr>
        <p:spPr>
          <a:xfrm xmlns:a="http://schemas.openxmlformats.org/drawingml/2006/main">
            <a:off x="7067550"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root</a:t>
            </a:r>
          </a:p>
        </p:txBody>
      </p:sp>
      <p:sp>
        <p:nvSpPr>
          <p:cNvPr id="22" name="sign-card-3">
            <a:extLst xmlns:a="http://schemas.openxmlformats.org/drawingml/2006/main">
              <a:ext uri="{FF2B5EF4-FFF2-40B4-BE49-F238E27FC236}">
                <a16:creationId xmlns:a16="http://schemas.microsoft.com/office/drawing/2014/main" id="{77EBFEA0-1594-46DD-A26F-97C6522BFD54}"/>
              </a:ext>
            </a:extLst>
          </p:cNvPr>
          <p:cNvSpPr>
            <a:spLocks xmlns:a="http://schemas.openxmlformats.org/drawingml/2006/main" noGrp="1"/>
          </p:cNvSpPr>
          <p:nvPr/>
        </p:nvSpPr>
        <p:spPr>
          <a:xfrm xmlns:a="http://schemas.openxmlformats.org/drawingml/2006/main">
            <a:off x="12430125" y="2714625"/>
            <a:ext cx="4762500" cy="3905250"/>
          </a:xfrm>
          <a:prstGeom xmlns:a="http://schemas.openxmlformats.org/drawingml/2006/main" prst="roundRect">
            <a:avLst>
              <a:gd name="adj" fmla="val 5366"/>
            </a:avLst>
          </a:prstGeom>
          <a:solidFill xmlns:a="http://schemas.openxmlformats.org/drawingml/2006/main">
            <a:srgbClr val="FFF7E6"/>
          </a:solidFill>
          <a:ln xmlns:a="http://schemas.openxmlformats.org/drawingml/2006/main" w="19050">
            <a:solidFill>
              <a:srgbClr val="C98A16"/>
            </a:solidFill>
            <a:prstDash val="solid"/>
          </a:ln>
        </p:spPr>
      </p:sp>
      <p:sp>
        <p:nvSpPr>
          <p:cNvPr id="23" name="sign-heading-3">
            <a:extLst xmlns:a="http://schemas.openxmlformats.org/drawingml/2006/main">
              <a:ext uri="{FF2B5EF4-FFF2-40B4-BE49-F238E27FC236}">
                <a16:creationId xmlns:a16="http://schemas.microsoft.com/office/drawing/2014/main" id="{58124D88-3D77-48F9-B8F1-1D2918758ABB}"/>
              </a:ext>
            </a:extLst>
          </p:cNvPr>
          <p:cNvSpPr>
            <a:spLocks xmlns:a="http://schemas.openxmlformats.org/drawingml/2006/main" noGrp="1"/>
          </p:cNvSpPr>
          <p:nvPr/>
        </p:nvSpPr>
        <p:spPr>
          <a:xfrm xmlns:a="http://schemas.openxmlformats.org/drawingml/2006/main">
            <a:off x="12734925"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overshoot</a:t>
            </a:r>
          </a:p>
        </p:txBody>
      </p:sp>
      <p:sp>
        <p:nvSpPr>
          <p:cNvPr id="24" name="sign-baseline-3">
            <a:extLst xmlns:a="http://schemas.openxmlformats.org/drawingml/2006/main">
              <a:ext uri="{FF2B5EF4-FFF2-40B4-BE49-F238E27FC236}">
                <a16:creationId xmlns:a16="http://schemas.microsoft.com/office/drawing/2014/main" id="{E0027016-3554-4BB9-8714-BFAAAC054954}"/>
              </a:ext>
            </a:extLst>
          </p:cNvPr>
          <p:cNvSpPr>
            <a:spLocks xmlns:a="http://schemas.openxmlformats.org/drawingml/2006/main" noGrp="1"/>
          </p:cNvSpPr>
          <p:nvPr/>
        </p:nvSpPr>
        <p:spPr>
          <a:xfrm xmlns:a="http://schemas.openxmlformats.org/drawingml/2006/main">
            <a:off x="13192125"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25" name="sign-target-3">
            <a:extLst xmlns:a="http://schemas.openxmlformats.org/drawingml/2006/main">
              <a:ext uri="{FF2B5EF4-FFF2-40B4-BE49-F238E27FC236}">
                <a16:creationId xmlns:a16="http://schemas.microsoft.com/office/drawing/2014/main" id="{BD883E4D-27F6-4710-82B0-AA492E78D602}"/>
              </a:ext>
            </a:extLst>
          </p:cNvPr>
          <p:cNvSpPr>
            <a:spLocks xmlns:a="http://schemas.openxmlformats.org/drawingml/2006/main" noGrp="1"/>
          </p:cNvSpPr>
          <p:nvPr/>
        </p:nvSpPr>
        <p:spPr>
          <a:xfrm xmlns:a="http://schemas.openxmlformats.org/drawingml/2006/main">
            <a:off x="14697075" y="4219575"/>
            <a:ext cx="228600" cy="2286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26" name="sign-ball-3">
            <a:extLst xmlns:a="http://schemas.openxmlformats.org/drawingml/2006/main">
              <a:ext uri="{FF2B5EF4-FFF2-40B4-BE49-F238E27FC236}">
                <a16:creationId xmlns:a16="http://schemas.microsoft.com/office/drawing/2014/main" id="{55FE54C9-08F3-4E63-956A-1BB8F9453276}"/>
              </a:ext>
            </a:extLst>
          </p:cNvPr>
          <p:cNvSpPr>
            <a:spLocks xmlns:a="http://schemas.openxmlformats.org/drawingml/2006/main" noGrp="1"/>
          </p:cNvSpPr>
          <p:nvPr/>
        </p:nvSpPr>
        <p:spPr>
          <a:xfrm xmlns:a="http://schemas.openxmlformats.org/drawingml/2006/main">
            <a:off x="16049625"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27" name="sign-travel-3">
            <a:extLst xmlns:a="http://schemas.openxmlformats.org/drawingml/2006/main">
              <a:ext uri="{FF2B5EF4-FFF2-40B4-BE49-F238E27FC236}">
                <a16:creationId xmlns:a16="http://schemas.microsoft.com/office/drawing/2014/main" id="{C16346F8-AE1D-41FB-9F39-E9A734723903}"/>
              </a:ext>
            </a:extLst>
          </p:cNvPr>
          <p:cNvSpPr>
            <a:spLocks xmlns:a="http://schemas.openxmlformats.org/drawingml/2006/main" noGrp="1"/>
          </p:cNvSpPr>
          <p:nvPr/>
        </p:nvSpPr>
        <p:spPr>
          <a:xfrm xmlns:a="http://schemas.openxmlformats.org/drawingml/2006/main">
            <a:off x="13763625" y="4048125"/>
            <a:ext cx="2133600" cy="0"/>
          </a:xfrm>
          <a:prstGeom xmlns:a="http://schemas.openxmlformats.org/drawingml/2006/main" prst="line">
            <a:avLst/>
          </a:prstGeom>
          <a:noFill xmlns:a="http://schemas.openxmlformats.org/drawingml/2006/main"/>
          <a:ln xmlns:a="http://schemas.openxmlformats.org/drawingml/2006/main" w="28575">
            <a:solidFill>
              <a:srgbClr val="C98A16"/>
            </a:solidFill>
            <a:prstDash val="dash"/>
          </a:ln>
        </p:spPr>
      </p:sp>
      <p:sp>
        <p:nvSpPr>
          <p:cNvPr id="28" name="sign-symbol-3">
            <a:extLst xmlns:a="http://schemas.openxmlformats.org/drawingml/2006/main">
              <a:ext uri="{FF2B5EF4-FFF2-40B4-BE49-F238E27FC236}">
                <a16:creationId xmlns:a16="http://schemas.microsoft.com/office/drawing/2014/main" id="{606C8B03-4666-41C9-A834-63E4FF10AB8E}"/>
              </a:ext>
            </a:extLst>
          </p:cNvPr>
          <p:cNvSpPr>
            <a:spLocks xmlns:a="http://schemas.openxmlformats.org/drawingml/2006/main" noGrp="1"/>
          </p:cNvSpPr>
          <p:nvPr/>
        </p:nvSpPr>
        <p:spPr>
          <a:xfrm xmlns:a="http://schemas.openxmlformats.org/drawingml/2006/main">
            <a:off x="12734925"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C98A16"/>
                </a:solidFill>
                <a:latin typeface="Nunito"/>
                <a:ea typeface="Nunito"/>
                <a:cs typeface="Nunito"/>
              </a:defRPr>
            </a:pPr>
            <a:r>
              <a:rPr sz="2400" b="1">
                <a:solidFill>
                  <a:srgbClr val="C98A16"/>
                </a:solidFill>
                <a:latin typeface="Nunito"/>
                <a:ea typeface="Nunito"/>
                <a:cs typeface="Nunito"/>
              </a:rPr>
              <a:t>positive</a:t>
            </a:r>
          </a:p>
        </p:txBody>
      </p:sp>
      <p:sp>
        <p:nvSpPr>
          <p:cNvPr id="29" name="sign-body-3">
            <a:extLst xmlns:a="http://schemas.openxmlformats.org/drawingml/2006/main">
              <a:ext uri="{FF2B5EF4-FFF2-40B4-BE49-F238E27FC236}">
                <a16:creationId xmlns:a16="http://schemas.microsoft.com/office/drawing/2014/main" id="{7B18C307-ADC5-4A73-9879-60D1B56ACBF6}"/>
              </a:ext>
            </a:extLst>
          </p:cNvPr>
          <p:cNvSpPr>
            <a:spLocks xmlns:a="http://schemas.openxmlformats.org/drawingml/2006/main" noGrp="1"/>
          </p:cNvSpPr>
          <p:nvPr/>
        </p:nvSpPr>
        <p:spPr>
          <a:xfrm xmlns:a="http://schemas.openxmlformats.org/drawingml/2006/main">
            <a:off x="12734925"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above target</a:t>
            </a:r>
          </a:p>
        </p:txBody>
      </p:sp>
      <p:sp>
        <p:nvSpPr>
          <p:cNvPr id="30" name="sign-arrow-3">
            <a:extLst xmlns:a="http://schemas.openxmlformats.org/drawingml/2006/main">
              <a:ext uri="{FF2B5EF4-FFF2-40B4-BE49-F238E27FC236}">
                <a16:creationId xmlns:a16="http://schemas.microsoft.com/office/drawing/2014/main" id="{ED873EA3-04A3-47BC-B121-B9AE313738BE}"/>
              </a:ext>
            </a:extLst>
          </p:cNvPr>
          <p:cNvSpPr>
            <a:spLocks xmlns:a="http://schemas.openxmlformats.org/drawingml/2006/main" noGrp="1"/>
          </p:cNvSpPr>
          <p:nvPr/>
        </p:nvSpPr>
        <p:spPr>
          <a:xfrm xmlns:a="http://schemas.openxmlformats.org/drawingml/2006/main">
            <a:off x="12734925"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longer</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4f6d07e9f5ed49b1"/>
          <a:stretch xmlns:a="http://schemas.openxmlformats.org/drawingml/2006/main"/>
        </p:blipFill>
        <p:spPr>
          <a:xfrm xmlns:a="http://schemas.openxmlformats.org/drawingml/2006/main">
            <a:off x="6994236" y="7096125"/>
            <a:ext cx="4299527" cy="1066800"/>
          </a:xfrm>
          <a:prstGeom xmlns:a="http://schemas.openxmlformats.org/drawingml/2006/main" prst="rect">
            <a:avLst/>
          </a:prstGeom>
        </p:spPr>
      </p:pic>
      <p:sp>
        <p:nvSpPr>
          <p:cNvPr id="32" name="sign-takeaway">
            <a:extLst xmlns:a="http://schemas.openxmlformats.org/drawingml/2006/main">
              <a:ext uri="{FF2B5EF4-FFF2-40B4-BE49-F238E27FC236}">
                <a16:creationId xmlns:a16="http://schemas.microsoft.com/office/drawing/2014/main" id="{CBE9A9C6-16C0-4378-B948-F7CA1A803DC5}"/>
              </a:ext>
            </a:extLst>
          </p:cNvPr>
          <p:cNvSpPr>
            <a:spLocks xmlns:a="http://schemas.openxmlformats.org/drawingml/2006/main" noGrp="1"/>
          </p:cNvSpPr>
          <p:nvPr/>
        </p:nvSpPr>
        <p:spPr>
          <a:xfrm xmlns:a="http://schemas.openxmlformats.org/drawingml/2006/main">
            <a:off x="1095375" y="8362950"/>
            <a:ext cx="14859000" cy="590550"/>
          </a:xfrm>
          <a:prstGeom xmlns:a="http://schemas.openxmlformats.org/drawingml/2006/main" prst="roundRect">
            <a:avLst>
              <a:gd name="adj" fmla="val 35484"/>
            </a:avLst>
          </a:prstGeom>
          <a:solidFill xmlns:a="http://schemas.openxmlformats.org/drawingml/2006/main">
            <a:srgbClr val="F4F8FC"/>
          </a:solidFill>
          <a:ln xmlns:a="http://schemas.openxmlformats.org/drawingml/2006/main" w="19050">
            <a:noFill/>
            <a:prstDash val="solid"/>
          </a:ln>
        </p:spPr>
      </p:sp>
      <p:sp>
        <p:nvSpPr>
          <p:cNvPr id="33" name="sign-takeaway-text">
            <a:extLst xmlns:a="http://schemas.openxmlformats.org/drawingml/2006/main">
              <a:ext uri="{FF2B5EF4-FFF2-40B4-BE49-F238E27FC236}">
                <a16:creationId xmlns:a16="http://schemas.microsoft.com/office/drawing/2014/main" id="{D63CFC84-5CAD-421B-9724-6ECBC78E6AF0}"/>
              </a:ext>
            </a:extLst>
          </p:cNvPr>
          <p:cNvSpPr>
            <a:spLocks xmlns:a="http://schemas.openxmlformats.org/drawingml/2006/main" noGrp="1"/>
          </p:cNvSpPr>
          <p:nvPr/>
        </p:nvSpPr>
        <p:spPr>
          <a:xfrm xmlns:a="http://schemas.openxmlformats.org/drawingml/2006/main">
            <a:off x="1428750" y="8486775"/>
            <a:ext cx="1419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The sign tells the algorithm which direction of miss must be corrected</a:t>
            </a:r>
          </a:p>
        </p:txBody>
      </p:sp>
    </p:spTree>
    <p:extLst>
      <p:ext uri="{BB962C8B-B14F-4D97-AF65-F5344CB8AC3E}">
        <p14:creationId xmlns:p14="http://schemas.microsoft.com/office/powerpoint/2010/main" val="18354531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Find the zero crossing before coding</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Bracket first: opposite endpoint signs fence a root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4</a:t>
            </a:r>
            <a:endParaRPr sz="1650">
              <a:solidFill>
                <a:srgbClr val="697684"/>
              </a:solidFill>
              <a:latin typeface="Nunito"/>
              <a:ea typeface="Nunito"/>
              <a:cs typeface="Nunito"/>
            </a:endParaRPr>
          </a:p>
        </p:txBody>
      </p:sp>
      <p:sp>
        <p:nvSpPr>
          <p:cNvPr id="4" name="bracket-evidence">
            <a:extLst xmlns:a="http://schemas.openxmlformats.org/drawingml/2006/main">
              <a:ext uri="{FF2B5EF4-FFF2-40B4-BE49-F238E27FC236}">
                <a16:creationId xmlns:a16="http://schemas.microsoft.com/office/drawing/2014/main" id="{85E2F8AC-6D78-4FBA-BFED-85779A6483CF}"/>
              </a:ext>
            </a:extLst>
          </p:cNvPr>
          <p:cNvSpPr>
            <a:spLocks xmlns:a="http://schemas.openxmlformats.org/drawingml/2006/main" noGrp="1"/>
          </p:cNvSpPr>
          <p:nvPr/>
        </p:nvSpPr>
        <p:spPr>
          <a:xfrm xmlns:a="http://schemas.openxmlformats.org/drawingml/2006/main">
            <a:off x="1095375" y="2714625"/>
            <a:ext cx="4286250" cy="5381625"/>
          </a:xfrm>
          <a:prstGeom xmlns:a="http://schemas.openxmlformats.org/drawingml/2006/main" prst="roundRect">
            <a:avLst>
              <a:gd name="adj" fmla="val 4889"/>
            </a:avLst>
          </a:prstGeom>
          <a:solidFill xmlns:a="http://schemas.openxmlformats.org/drawingml/2006/main">
            <a:srgbClr val="F7F9FB"/>
          </a:solidFill>
          <a:ln xmlns:a="http://schemas.openxmlformats.org/drawingml/2006/main" w="19050">
            <a:solidFill>
              <a:srgbClr val="AAB4BE"/>
            </a:solidFill>
            <a:prstDash val="solid"/>
          </a:ln>
        </p:spPr>
      </p:sp>
      <p:sp>
        <p:nvSpPr>
          <p:cNvPr id="5" name="bracket-heading">
            <a:extLst xmlns:a="http://schemas.openxmlformats.org/drawingml/2006/main">
              <a:ext uri="{FF2B5EF4-FFF2-40B4-BE49-F238E27FC236}">
                <a16:creationId xmlns:a16="http://schemas.microsoft.com/office/drawing/2014/main" id="{20AA925A-D0E2-4A69-93E1-B94D971E7396}"/>
              </a:ext>
            </a:extLst>
          </p:cNvPr>
          <p:cNvSpPr>
            <a:spLocks xmlns:a="http://schemas.openxmlformats.org/drawingml/2006/main" noGrp="1"/>
          </p:cNvSpPr>
          <p:nvPr/>
        </p:nvSpPr>
        <p:spPr>
          <a:xfrm xmlns:a="http://schemas.openxmlformats.org/drawingml/2006/main">
            <a:off x="1428750" y="30956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0B2B4C"/>
                </a:solidFill>
                <a:latin typeface="Nunito"/>
                <a:ea typeface="Nunito"/>
                <a:cs typeface="Nunito"/>
              </a:defRPr>
            </a:pPr>
            <a:r>
              <a:rPr sz="2550" b="1">
                <a:solidFill>
                  <a:srgbClr val="0B2B4C"/>
                </a:solidFill>
                <a:latin typeface="Nunito"/>
                <a:ea typeface="Nunito"/>
                <a:cs typeface="Nunito"/>
              </a:rPr>
              <a:t>candidate bracket</a:t>
            </a:r>
          </a:p>
        </p:txBody>
      </p:sp>
      <p:sp>
        <p:nvSpPr>
          <p:cNvPr id="6" name="bracket-a-label">
            <a:extLst xmlns:a="http://schemas.openxmlformats.org/drawingml/2006/main">
              <a:ext uri="{FF2B5EF4-FFF2-40B4-BE49-F238E27FC236}">
                <a16:creationId xmlns:a16="http://schemas.microsoft.com/office/drawing/2014/main" id="{967AA272-9C7C-42A1-B776-F7143E156B87}"/>
              </a:ext>
            </a:extLst>
          </p:cNvPr>
          <p:cNvSpPr>
            <a:spLocks xmlns:a="http://schemas.openxmlformats.org/drawingml/2006/main" noGrp="1"/>
          </p:cNvSpPr>
          <p:nvPr/>
        </p:nvSpPr>
        <p:spPr>
          <a:xfrm xmlns:a="http://schemas.openxmlformats.org/drawingml/2006/main">
            <a:off x="1476375" y="39052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left endpoint</a:t>
            </a:r>
          </a:p>
        </p:txBody>
      </p:sp>
      <p:sp>
        <p:nvSpPr>
          <p:cNvPr id="7" name="bracket-a-value">
            <a:extLst xmlns:a="http://schemas.openxmlformats.org/drawingml/2006/main">
              <a:ext uri="{FF2B5EF4-FFF2-40B4-BE49-F238E27FC236}">
                <a16:creationId xmlns:a16="http://schemas.microsoft.com/office/drawing/2014/main" id="{DB15A586-2A1E-4AD1-94BD-856C46F55416}"/>
              </a:ext>
            </a:extLst>
          </p:cNvPr>
          <p:cNvSpPr>
            <a:spLocks xmlns:a="http://schemas.openxmlformats.org/drawingml/2006/main" noGrp="1"/>
          </p:cNvSpPr>
          <p:nvPr/>
        </p:nvSpPr>
        <p:spPr>
          <a:xfrm xmlns:a="http://schemas.openxmlformats.org/drawingml/2006/main">
            <a:off x="1476375" y="42195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20 degree</a:t>
            </a:r>
          </a:p>
        </p:txBody>
      </p:sp>
      <p:sp>
        <p:nvSpPr>
          <p:cNvPr id="8" name="bracket-a-residual">
            <a:extLst xmlns:a="http://schemas.openxmlformats.org/drawingml/2006/main">
              <a:ext uri="{FF2B5EF4-FFF2-40B4-BE49-F238E27FC236}">
                <a16:creationId xmlns:a16="http://schemas.microsoft.com/office/drawing/2014/main" id="{451552AD-F470-41C7-85CA-BC7313EC35D7}"/>
              </a:ext>
            </a:extLst>
          </p:cNvPr>
          <p:cNvSpPr>
            <a:spLocks xmlns:a="http://schemas.openxmlformats.org/drawingml/2006/main" noGrp="1"/>
          </p:cNvSpPr>
          <p:nvPr/>
        </p:nvSpPr>
        <p:spPr>
          <a:xfrm xmlns:a="http://schemas.openxmlformats.org/drawingml/2006/main">
            <a:off x="1476375" y="4667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2F6DB2"/>
                </a:solidFill>
                <a:latin typeface="Nunito"/>
                <a:ea typeface="Nunito"/>
                <a:cs typeface="Nunito"/>
              </a:defRPr>
            </a:pPr>
            <a:r>
              <a:rPr sz="1800" b="0">
                <a:solidFill>
                  <a:srgbClr val="2F6DB2"/>
                </a:solidFill>
                <a:latin typeface="Nunito"/>
                <a:ea typeface="Nunito"/>
                <a:cs typeface="Nunito"/>
              </a:rPr>
              <a:t>f(20 degree) = −8.7905 m</a:t>
            </a:r>
          </a:p>
        </p:txBody>
      </p:sp>
      <p:sp>
        <p:nvSpPr>
          <p:cNvPr id="9" name="bracket-rule">
            <a:extLst xmlns:a="http://schemas.openxmlformats.org/drawingml/2006/main">
              <a:ext uri="{FF2B5EF4-FFF2-40B4-BE49-F238E27FC236}">
                <a16:creationId xmlns:a16="http://schemas.microsoft.com/office/drawing/2014/main" id="{D350999A-0E7C-487F-8B8F-36DA434B253C}"/>
              </a:ext>
            </a:extLst>
          </p:cNvPr>
          <p:cNvSpPr>
            <a:spLocks xmlns:a="http://schemas.openxmlformats.org/drawingml/2006/main" noGrp="1"/>
          </p:cNvSpPr>
          <p:nvPr/>
        </p:nvSpPr>
        <p:spPr>
          <a:xfrm xmlns:a="http://schemas.openxmlformats.org/drawingml/2006/main">
            <a:off x="1476375" y="5257800"/>
            <a:ext cx="3524250" cy="0"/>
          </a:xfrm>
          <a:prstGeom xmlns:a="http://schemas.openxmlformats.org/drawingml/2006/main" prst="line">
            <a:avLst/>
          </a:prstGeom>
          <a:noFill xmlns:a="http://schemas.openxmlformats.org/drawingml/2006/main"/>
          <a:ln xmlns:a="http://schemas.openxmlformats.org/drawingml/2006/main" w="19050">
            <a:solidFill>
              <a:srgbClr val="AAB4BE"/>
            </a:solidFill>
            <a:prstDash val="solid"/>
          </a:ln>
        </p:spPr>
      </p:sp>
      <p:sp>
        <p:nvSpPr>
          <p:cNvPr id="10" name="bracket-b-label">
            <a:extLst xmlns:a="http://schemas.openxmlformats.org/drawingml/2006/main">
              <a:ext uri="{FF2B5EF4-FFF2-40B4-BE49-F238E27FC236}">
                <a16:creationId xmlns:a16="http://schemas.microsoft.com/office/drawing/2014/main" id="{DCEB9365-4F36-48E2-8F3B-2C625594AE43}"/>
              </a:ext>
            </a:extLst>
          </p:cNvPr>
          <p:cNvSpPr>
            <a:spLocks xmlns:a="http://schemas.openxmlformats.org/drawingml/2006/main" noGrp="1"/>
          </p:cNvSpPr>
          <p:nvPr/>
        </p:nvSpPr>
        <p:spPr>
          <a:xfrm xmlns:a="http://schemas.openxmlformats.org/drawingml/2006/main">
            <a:off x="1476375" y="56673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right endpoint</a:t>
            </a:r>
          </a:p>
        </p:txBody>
      </p:sp>
      <p:sp>
        <p:nvSpPr>
          <p:cNvPr id="11" name="bracket-b-value">
            <a:extLst xmlns:a="http://schemas.openxmlformats.org/drawingml/2006/main">
              <a:ext uri="{FF2B5EF4-FFF2-40B4-BE49-F238E27FC236}">
                <a16:creationId xmlns:a16="http://schemas.microsoft.com/office/drawing/2014/main" id="{3021F015-CE31-4535-9816-C7C8C38347B9}"/>
              </a:ext>
            </a:extLst>
          </p:cNvPr>
          <p:cNvSpPr>
            <a:spLocks xmlns:a="http://schemas.openxmlformats.org/drawingml/2006/main" noGrp="1"/>
          </p:cNvSpPr>
          <p:nvPr/>
        </p:nvSpPr>
        <p:spPr>
          <a:xfrm xmlns:a="http://schemas.openxmlformats.org/drawingml/2006/main">
            <a:off x="1476375" y="5981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40 degree</a:t>
            </a:r>
          </a:p>
        </p:txBody>
      </p:sp>
      <p:sp>
        <p:nvSpPr>
          <p:cNvPr id="12" name="bracket-b-residual">
            <a:extLst xmlns:a="http://schemas.openxmlformats.org/drawingml/2006/main">
              <a:ext uri="{FF2B5EF4-FFF2-40B4-BE49-F238E27FC236}">
                <a16:creationId xmlns:a16="http://schemas.microsoft.com/office/drawing/2014/main" id="{A1805AFE-FA6A-47A1-80F6-527C73EDD349}"/>
              </a:ext>
            </a:extLst>
          </p:cNvPr>
          <p:cNvSpPr>
            <a:spLocks xmlns:a="http://schemas.openxmlformats.org/drawingml/2006/main" noGrp="1"/>
          </p:cNvSpPr>
          <p:nvPr/>
        </p:nvSpPr>
        <p:spPr>
          <a:xfrm xmlns:a="http://schemas.openxmlformats.org/drawingml/2006/main">
            <a:off x="1476375" y="642937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C98A16"/>
                </a:solidFill>
                <a:latin typeface="Nunito"/>
                <a:ea typeface="Nunito"/>
                <a:cs typeface="Nunito"/>
              </a:defRPr>
            </a:pPr>
            <a:r>
              <a:rPr sz="1800" b="0">
                <a:solidFill>
                  <a:srgbClr val="C98A16"/>
                </a:solidFill>
                <a:latin typeface="Nunito"/>
                <a:ea typeface="Nunito"/>
                <a:cs typeface="Nunito"/>
              </a:rPr>
              <a:t>f(40 degree) = +5.1553 m</a:t>
            </a:r>
          </a:p>
        </p:txBody>
      </p:sp>
      <p:sp>
        <p:nvSpPr>
          <p:cNvPr id="13" name="bracket-conclusion">
            <a:extLst xmlns:a="http://schemas.openxmlformats.org/drawingml/2006/main">
              <a:ext uri="{FF2B5EF4-FFF2-40B4-BE49-F238E27FC236}">
                <a16:creationId xmlns:a16="http://schemas.microsoft.com/office/drawing/2014/main" id="{92CCBA32-9B73-43BF-B725-3CC6BD5A7236}"/>
              </a:ext>
            </a:extLst>
          </p:cNvPr>
          <p:cNvSpPr>
            <a:spLocks xmlns:a="http://schemas.openxmlformats.org/drawingml/2006/main" noGrp="1"/>
          </p:cNvSpPr>
          <p:nvPr/>
        </p:nvSpPr>
        <p:spPr>
          <a:xfrm xmlns:a="http://schemas.openxmlformats.org/drawingml/2006/main">
            <a:off x="1428750" y="7143750"/>
            <a:ext cx="3619500"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solidFill>
              <a:srgbClr val="3E8E45"/>
            </a:solidFill>
            <a:prstDash val="solid"/>
          </a:ln>
        </p:spPr>
      </p:sp>
      <p:sp>
        <p:nvSpPr>
          <p:cNvPr id="14" name="bracket-conclusion-text">
            <a:extLst xmlns:a="http://schemas.openxmlformats.org/drawingml/2006/main">
              <a:ext uri="{FF2B5EF4-FFF2-40B4-BE49-F238E27FC236}">
                <a16:creationId xmlns:a16="http://schemas.microsoft.com/office/drawing/2014/main" id="{973D88FE-AE65-40B5-A7F4-A0043DB72118}"/>
              </a:ext>
            </a:extLst>
          </p:cNvPr>
          <p:cNvSpPr>
            <a:spLocks xmlns:a="http://schemas.openxmlformats.org/drawingml/2006/main" noGrp="1"/>
          </p:cNvSpPr>
          <p:nvPr/>
        </p:nvSpPr>
        <p:spPr>
          <a:xfrm xmlns:a="http://schemas.openxmlformats.org/drawingml/2006/main">
            <a:off x="1619250" y="72961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06"/>
          </a:bodyPr>
          <a:lstStyle xmlns:a="http://schemas.openxmlformats.org/drawingml/2006/main"/>
          <a:p xmlns:a="http://schemas.openxmlformats.org/drawingml/2006/main">
            <a:pPr algn="ctr">
              <a:lnSpc>
                <a:spcPct val="105000"/>
              </a:lnSpc>
              <a:buNone/>
              <a:defRPr sz="1800" b="1">
                <a:solidFill>
                  <a:srgbClr val="3E8E45"/>
                </a:solidFill>
                <a:latin typeface="Nunito"/>
                <a:ea typeface="Nunito"/>
                <a:cs typeface="Nunito"/>
              </a:defRPr>
            </a:pPr>
            <a:r>
              <a:rPr sz="1800" b="1">
                <a:solidFill>
                  <a:srgbClr val="3E8E45"/>
                </a:solidFill>
                <a:latin typeface="Nunito"/>
                <a:ea typeface="Nunito"/>
                <a:cs typeface="Nunito"/>
              </a:rPr>
              <a:t>opposite signs → keep [20, 40]</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b8f1a47814b4586"/>
          <a:stretch xmlns:a="http://schemas.openxmlformats.org/drawingml/2006/main"/>
        </p:blipFill>
        <p:spPr>
          <a:xfrm xmlns:a="http://schemas.openxmlformats.org/drawingml/2006/main">
            <a:off x="6825302" y="2667000"/>
            <a:ext cx="8637896" cy="5715000"/>
          </a:xfrm>
          <a:prstGeom xmlns:a="http://schemas.openxmlformats.org/drawingml/2006/main" prst="rect">
            <a:avLst/>
          </a:prstGeom>
        </p:spPr>
      </p:pic>
      <p:sp>
        <p:nvSpPr>
          <p:cNvPr id="16" name="graph-callout">
            <a:extLst xmlns:a="http://schemas.openxmlformats.org/drawingml/2006/main">
              <a:ext uri="{FF2B5EF4-FFF2-40B4-BE49-F238E27FC236}">
                <a16:creationId xmlns:a16="http://schemas.microsoft.com/office/drawing/2014/main" id="{AF084D20-5752-4644-866E-2135A79DF566}"/>
              </a:ext>
            </a:extLst>
          </p:cNvPr>
          <p:cNvSpPr>
            <a:spLocks xmlns:a="http://schemas.openxmlformats.org/drawingml/2006/main" noGrp="1"/>
          </p:cNvSpPr>
          <p:nvPr/>
        </p:nvSpPr>
        <p:spPr>
          <a:xfrm xmlns:a="http://schemas.openxmlformats.org/drawingml/2006/main">
            <a:off x="10668000" y="31242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3E8E45"/>
                </a:solidFill>
                <a:latin typeface="Nunito"/>
                <a:ea typeface="Nunito"/>
                <a:cs typeface="Nunito"/>
              </a:defRPr>
            </a:pPr>
            <a:r>
              <a:rPr sz="1800" b="1">
                <a:solidFill>
                  <a:srgbClr val="3E8E45"/>
                </a:solidFill>
                <a:latin typeface="Nunito"/>
                <a:ea typeface="Nunito"/>
                <a:cs typeface="Nunito"/>
              </a:rPr>
              <a:t>zero crossing</a:t>
            </a:r>
          </a:p>
        </p:txBody>
      </p:sp>
      <p:sp>
        <p:nvSpPr>
          <p:cNvPr id="17" name="graph-callout-line">
            <a:extLst xmlns:a="http://schemas.openxmlformats.org/drawingml/2006/main">
              <a:ext uri="{FF2B5EF4-FFF2-40B4-BE49-F238E27FC236}">
                <a16:creationId xmlns:a16="http://schemas.microsoft.com/office/drawing/2014/main" id="{63686124-78BA-4EA8-ABAE-6CD73802DC10}"/>
              </a:ext>
            </a:extLst>
          </p:cNvPr>
          <p:cNvSpPr>
            <a:spLocks xmlns:a="http://schemas.openxmlformats.org/drawingml/2006/main" noGrp="1"/>
          </p:cNvSpPr>
          <p:nvPr/>
        </p:nvSpPr>
        <p:spPr>
          <a:xfrm xmlns:a="http://schemas.openxmlformats.org/drawingml/2006/main">
            <a:off x="11620500" y="3476625"/>
            <a:ext cx="0" cy="571500"/>
          </a:xfrm>
          <a:prstGeom xmlns:a="http://schemas.openxmlformats.org/drawingml/2006/main" prst="line">
            <a:avLst/>
          </a:prstGeom>
          <a:noFill xmlns:a="http://schemas.openxmlformats.org/drawingml/2006/main"/>
          <a:ln xmlns:a="http://schemas.openxmlformats.org/drawingml/2006/main" w="28575">
            <a:solidFill>
              <a:srgbClr val="3E8E45"/>
            </a:solidFill>
            <a:prstDash val="dash"/>
          </a:ln>
        </p:spPr>
      </p:sp>
      <p:sp>
        <p:nvSpPr>
          <p:cNvPr id="18" name="graph-takeaway">
            <a:extLst xmlns:a="http://schemas.openxmlformats.org/drawingml/2006/main">
              <a:ext uri="{FF2B5EF4-FFF2-40B4-BE49-F238E27FC236}">
                <a16:creationId xmlns:a16="http://schemas.microsoft.com/office/drawing/2014/main" id="{1A3D55BF-58F3-45D2-A409-215C3F67BEF6}"/>
              </a:ext>
            </a:extLst>
          </p:cNvPr>
          <p:cNvSpPr>
            <a:spLocks xmlns:a="http://schemas.openxmlformats.org/drawingml/2006/main" noGrp="1"/>
          </p:cNvSpPr>
          <p:nvPr/>
        </p:nvSpPr>
        <p:spPr>
          <a:xfrm xmlns:a="http://schemas.openxmlformats.org/drawingml/2006/main">
            <a:off x="5810250" y="8458200"/>
            <a:ext cx="10668000" cy="495300"/>
          </a:xfrm>
          <a:prstGeom xmlns:a="http://schemas.openxmlformats.org/drawingml/2006/main" prst="roundRect">
            <a:avLst>
              <a:gd name="adj" fmla="val 42308"/>
            </a:avLst>
          </a:prstGeom>
          <a:solidFill xmlns:a="http://schemas.openxmlformats.org/drawingml/2006/main">
            <a:srgbClr val="FFF7E6"/>
          </a:solidFill>
          <a:ln xmlns:a="http://schemas.openxmlformats.org/drawingml/2006/main" w="19050">
            <a:noFill/>
            <a:prstDash val="solid"/>
          </a:ln>
        </p:spPr>
      </p:sp>
      <p:sp>
        <p:nvSpPr>
          <p:cNvPr id="19" name="graph-takeaway-text">
            <a:extLst xmlns:a="http://schemas.openxmlformats.org/drawingml/2006/main">
              <a:ext uri="{FF2B5EF4-FFF2-40B4-BE49-F238E27FC236}">
                <a16:creationId xmlns:a16="http://schemas.microsoft.com/office/drawing/2014/main" id="{58275A57-7664-440B-B879-90146813E98F}"/>
              </a:ext>
            </a:extLst>
          </p:cNvPr>
          <p:cNvSpPr>
            <a:spLocks xmlns:a="http://schemas.openxmlformats.org/drawingml/2006/main" noGrp="1"/>
          </p:cNvSpPr>
          <p:nvPr/>
        </p:nvSpPr>
        <p:spPr>
          <a:xfrm xmlns:a="http://schemas.openxmlformats.org/drawingml/2006/main">
            <a:off x="6096000" y="856297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The graph suggests where to look; the endpoint signs make the start defensible</a:t>
            </a:r>
          </a:p>
        </p:txBody>
      </p:sp>
    </p:spTree>
    <p:extLst>
      <p:ext uri="{BB962C8B-B14F-4D97-AF65-F5344CB8AC3E}">
        <p14:creationId xmlns:p14="http://schemas.microsoft.com/office/powerpoint/2010/main" val="16604245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Bisection keeps a sign change alive</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Test the midpoint, then keep the sign-changing half</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5</a:t>
            </a:r>
            <a:endParaRPr sz="1650">
              <a:solidFill>
                <a:srgbClr val="697684"/>
              </a:solidFill>
              <a:latin typeface="Nunito"/>
              <a:ea typeface="Nunito"/>
              <a:cs typeface="Nunito"/>
            </a:endParaRPr>
          </a:p>
        </p:txBody>
      </p:sp>
      <p:sp>
        <p:nvSpPr>
          <p:cNvPr id="4" name="bisection-axis-label">
            <a:extLst xmlns:a="http://schemas.openxmlformats.org/drawingml/2006/main">
              <a:ext uri="{FF2B5EF4-FFF2-40B4-BE49-F238E27FC236}">
                <a16:creationId xmlns:a16="http://schemas.microsoft.com/office/drawing/2014/main" id="{85012121-47B5-4549-8BC1-4181B0C0BD37}"/>
              </a:ext>
            </a:extLst>
          </p:cNvPr>
          <p:cNvSpPr>
            <a:spLocks xmlns:a="http://schemas.openxmlformats.org/drawingml/2006/main" noGrp="1"/>
          </p:cNvSpPr>
          <p:nvPr/>
        </p:nvSpPr>
        <p:spPr>
          <a:xfrm xmlns:a="http://schemas.openxmlformats.org/drawingml/2006/main">
            <a:off x="1095375" y="24003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B2B4C"/>
                </a:solidFill>
                <a:latin typeface="Nunito"/>
                <a:ea typeface="Nunito"/>
                <a:cs typeface="Nunito"/>
              </a:defRPr>
            </a:pPr>
            <a:r>
              <a:rPr sz="2025" b="1">
                <a:solidFill>
                  <a:srgbClr val="0B2B4C"/>
                </a:solidFill>
                <a:latin typeface="Nunito"/>
                <a:ea typeface="Nunito"/>
                <a:cs typeface="Nunito"/>
              </a:rPr>
              <a:t>launch angle, theta (degree)</a:t>
            </a:r>
          </a:p>
        </p:txBody>
      </p:sp>
      <p:sp>
        <p:nvSpPr>
          <p:cNvPr id="5" name="bisection-top-axis">
            <a:extLst xmlns:a="http://schemas.openxmlformats.org/drawingml/2006/main">
              <a:ext uri="{FF2B5EF4-FFF2-40B4-BE49-F238E27FC236}">
                <a16:creationId xmlns:a16="http://schemas.microsoft.com/office/drawing/2014/main" id="{85BEF2FE-0A88-4630-859C-9FA320564274}"/>
              </a:ext>
            </a:extLst>
          </p:cNvPr>
          <p:cNvSpPr>
            <a:spLocks xmlns:a="http://schemas.openxmlformats.org/drawingml/2006/main" noGrp="1"/>
          </p:cNvSpPr>
          <p:nvPr/>
        </p:nvSpPr>
        <p:spPr>
          <a:xfrm xmlns:a="http://schemas.openxmlformats.org/drawingml/2006/main">
            <a:off x="2000250" y="3571875"/>
            <a:ext cx="333375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6" name="bisection-top-left">
            <a:extLst xmlns:a="http://schemas.openxmlformats.org/drawingml/2006/main">
              <a:ext uri="{FF2B5EF4-FFF2-40B4-BE49-F238E27FC236}">
                <a16:creationId xmlns:a16="http://schemas.microsoft.com/office/drawing/2014/main" id="{7CC1C440-3F10-4296-93E3-075D31E691CC}"/>
              </a:ext>
            </a:extLst>
          </p:cNvPr>
          <p:cNvSpPr>
            <a:spLocks xmlns:a="http://schemas.openxmlformats.org/drawingml/2006/main" noGrp="1"/>
          </p:cNvSpPr>
          <p:nvPr/>
        </p:nvSpPr>
        <p:spPr>
          <a:xfrm xmlns:a="http://schemas.openxmlformats.org/drawingml/2006/main">
            <a:off x="1885950" y="3457575"/>
            <a:ext cx="228600" cy="2286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7" name="bisection-top-right">
            <a:extLst xmlns:a="http://schemas.openxmlformats.org/drawingml/2006/main">
              <a:ext uri="{FF2B5EF4-FFF2-40B4-BE49-F238E27FC236}">
                <a16:creationId xmlns:a16="http://schemas.microsoft.com/office/drawing/2014/main" id="{B48994A9-D8F9-4698-AEC1-94857BBB7CED}"/>
              </a:ext>
            </a:extLst>
          </p:cNvPr>
          <p:cNvSpPr>
            <a:spLocks xmlns:a="http://schemas.openxmlformats.org/drawingml/2006/main" noGrp="1"/>
          </p:cNvSpPr>
          <p:nvPr/>
        </p:nvSpPr>
        <p:spPr>
          <a:xfrm xmlns:a="http://schemas.openxmlformats.org/drawingml/2006/main">
            <a:off x="5219700" y="3457575"/>
            <a:ext cx="228600" cy="2286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8" name="bisection-top-min">
            <a:extLst xmlns:a="http://schemas.openxmlformats.org/drawingml/2006/main">
              <a:ext uri="{FF2B5EF4-FFF2-40B4-BE49-F238E27FC236}">
                <a16:creationId xmlns:a16="http://schemas.microsoft.com/office/drawing/2014/main" id="{7011FC6D-AB5E-4F4A-BE9E-215D860FF2C0}"/>
              </a:ext>
            </a:extLst>
          </p:cNvPr>
          <p:cNvSpPr>
            <a:spLocks xmlns:a="http://schemas.openxmlformats.org/drawingml/2006/main" noGrp="1"/>
          </p:cNvSpPr>
          <p:nvPr/>
        </p:nvSpPr>
        <p:spPr>
          <a:xfrm xmlns:a="http://schemas.openxmlformats.org/drawingml/2006/main">
            <a:off x="1371600"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9" name="bisection-top-max">
            <a:extLst xmlns:a="http://schemas.openxmlformats.org/drawingml/2006/main">
              <a:ext uri="{FF2B5EF4-FFF2-40B4-BE49-F238E27FC236}">
                <a16:creationId xmlns:a16="http://schemas.microsoft.com/office/drawing/2014/main" id="{AF936FC6-F9C0-449B-94B7-418A1F59AAF1}"/>
              </a:ext>
            </a:extLst>
          </p:cNvPr>
          <p:cNvSpPr>
            <a:spLocks xmlns:a="http://schemas.openxmlformats.org/drawingml/2006/main" noGrp="1"/>
          </p:cNvSpPr>
          <p:nvPr/>
        </p:nvSpPr>
        <p:spPr>
          <a:xfrm xmlns:a="http://schemas.openxmlformats.org/drawingml/2006/main">
            <a:off x="4705350"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40 degree</a:t>
            </a:r>
          </a:p>
        </p:txBody>
      </p:sp>
      <p:sp>
        <p:nvSpPr>
          <p:cNvPr id="10" name="bisection-top-mid">
            <a:extLst xmlns:a="http://schemas.openxmlformats.org/drawingml/2006/main">
              <a:ext uri="{FF2B5EF4-FFF2-40B4-BE49-F238E27FC236}">
                <a16:creationId xmlns:a16="http://schemas.microsoft.com/office/drawing/2014/main" id="{E69BC115-3AE7-43C4-B6C9-B46F8A389CC4}"/>
              </a:ext>
            </a:extLst>
          </p:cNvPr>
          <p:cNvSpPr>
            <a:spLocks xmlns:a="http://schemas.openxmlformats.org/drawingml/2006/main" noGrp="1"/>
          </p:cNvSpPr>
          <p:nvPr/>
        </p:nvSpPr>
        <p:spPr>
          <a:xfrm xmlns:a="http://schemas.openxmlformats.org/drawingml/2006/main">
            <a:off x="3533775" y="3438525"/>
            <a:ext cx="266700" cy="2667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1" name="bisection-top-mid-tick">
            <a:extLst xmlns:a="http://schemas.openxmlformats.org/drawingml/2006/main">
              <a:ext uri="{FF2B5EF4-FFF2-40B4-BE49-F238E27FC236}">
                <a16:creationId xmlns:a16="http://schemas.microsoft.com/office/drawing/2014/main" id="{51BC3956-BB05-4CAC-A7C4-ECE0D2BF531A}"/>
              </a:ext>
            </a:extLst>
          </p:cNvPr>
          <p:cNvSpPr>
            <a:spLocks xmlns:a="http://schemas.openxmlformats.org/drawingml/2006/main" noGrp="1"/>
          </p:cNvSpPr>
          <p:nvPr/>
        </p:nvSpPr>
        <p:spPr>
          <a:xfrm xmlns:a="http://schemas.openxmlformats.org/drawingml/2006/main">
            <a:off x="3667125" y="3705225"/>
            <a:ext cx="0" cy="361950"/>
          </a:xfrm>
          <a:prstGeom xmlns:a="http://schemas.openxmlformats.org/drawingml/2006/main" prst="line">
            <a:avLst/>
          </a:prstGeom>
          <a:noFill xmlns:a="http://schemas.openxmlformats.org/drawingml/2006/main"/>
          <a:ln xmlns:a="http://schemas.openxmlformats.org/drawingml/2006/main" w="28575">
            <a:solidFill>
              <a:srgbClr val="C98A16"/>
            </a:solidFill>
            <a:prstDash val="solid"/>
          </a:ln>
        </p:spPr>
      </p:sp>
      <p:sp>
        <p:nvSpPr>
          <p:cNvPr id="12" name="bisection-top-mid-label">
            <a:extLst xmlns:a="http://schemas.openxmlformats.org/drawingml/2006/main">
              <a:ext uri="{FF2B5EF4-FFF2-40B4-BE49-F238E27FC236}">
                <a16:creationId xmlns:a16="http://schemas.microsoft.com/office/drawing/2014/main" id="{5976956B-645B-4004-97BF-74EEB1062F31}"/>
              </a:ext>
            </a:extLst>
          </p:cNvPr>
          <p:cNvSpPr>
            <a:spLocks xmlns:a="http://schemas.openxmlformats.org/drawingml/2006/main" noGrp="1"/>
          </p:cNvSpPr>
          <p:nvPr/>
        </p:nvSpPr>
        <p:spPr>
          <a:xfrm xmlns:a="http://schemas.openxmlformats.org/drawingml/2006/main">
            <a:off x="2981325" y="41433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30 degree</a:t>
            </a:r>
          </a:p>
        </p:txBody>
      </p:sp>
      <p:sp>
        <p:nvSpPr>
          <p:cNvPr id="13" name="bisection-zero-label">
            <a:extLst xmlns:a="http://schemas.openxmlformats.org/drawingml/2006/main">
              <a:ext uri="{FF2B5EF4-FFF2-40B4-BE49-F238E27FC236}">
                <a16:creationId xmlns:a16="http://schemas.microsoft.com/office/drawing/2014/main" id="{8443946A-E953-4C3F-9070-0AD171A0A97F}"/>
              </a:ext>
            </a:extLst>
          </p:cNvPr>
          <p:cNvSpPr>
            <a:spLocks xmlns:a="http://schemas.openxmlformats.org/drawingml/2006/main" noGrp="1"/>
          </p:cNvSpPr>
          <p:nvPr/>
        </p:nvSpPr>
        <p:spPr>
          <a:xfrm xmlns:a="http://schemas.openxmlformats.org/drawingml/2006/main">
            <a:off x="3000375" y="2809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zero residual</a:t>
            </a:r>
          </a:p>
        </p:txBody>
      </p:sp>
      <p:sp>
        <p:nvSpPr>
          <p:cNvPr id="14" name="bisection-zero-marker">
            <a:extLst xmlns:a="http://schemas.openxmlformats.org/drawingml/2006/main">
              <a:ext uri="{FF2B5EF4-FFF2-40B4-BE49-F238E27FC236}">
                <a16:creationId xmlns:a16="http://schemas.microsoft.com/office/drawing/2014/main" id="{2BE9D07B-8D5B-41F7-9451-129AD303E7EB}"/>
              </a:ext>
            </a:extLst>
          </p:cNvPr>
          <p:cNvSpPr>
            <a:spLocks xmlns:a="http://schemas.openxmlformats.org/drawingml/2006/main" noGrp="1"/>
          </p:cNvSpPr>
          <p:nvPr/>
        </p:nvSpPr>
        <p:spPr>
          <a:xfrm xmlns:a="http://schemas.openxmlformats.org/drawingml/2006/main">
            <a:off x="3667125" y="3114675"/>
            <a:ext cx="0" cy="342900"/>
          </a:xfrm>
          <a:prstGeom xmlns:a="http://schemas.openxmlformats.org/drawingml/2006/main" prst="line">
            <a:avLst/>
          </a:prstGeom>
          <a:noFill xmlns:a="http://schemas.openxmlformats.org/drawingml/2006/main"/>
          <a:ln xmlns:a="http://schemas.openxmlformats.org/drawingml/2006/main" w="28575">
            <a:solidFill>
              <a:srgbClr val="0B2B4C"/>
            </a:solidFill>
            <a:prstDash val="dash"/>
          </a:ln>
        </p:spPr>
      </p:sp>
      <p:sp>
        <p:nvSpPr>
          <p:cNvPr id="15" name="bisection-test">
            <a:extLst xmlns:a="http://schemas.openxmlformats.org/drawingml/2006/main">
              <a:ext uri="{FF2B5EF4-FFF2-40B4-BE49-F238E27FC236}">
                <a16:creationId xmlns:a16="http://schemas.microsoft.com/office/drawing/2014/main" id="{F03549AD-825F-4CB8-B92C-3CE2EA8D5C8A}"/>
              </a:ext>
            </a:extLst>
          </p:cNvPr>
          <p:cNvSpPr>
            <a:spLocks xmlns:a="http://schemas.openxmlformats.org/drawingml/2006/main" noGrp="1"/>
          </p:cNvSpPr>
          <p:nvPr/>
        </p:nvSpPr>
        <p:spPr>
          <a:xfrm xmlns:a="http://schemas.openxmlformats.org/drawingml/2006/main">
            <a:off x="6191250" y="27813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C98A16"/>
                </a:solidFill>
                <a:latin typeface="Nunito"/>
                <a:ea typeface="Nunito"/>
                <a:cs typeface="Nunito"/>
              </a:defRPr>
            </a:pPr>
            <a:r>
              <a:rPr sz="2100" b="1">
                <a:solidFill>
                  <a:srgbClr val="C98A16"/>
                </a:solidFill>
                <a:latin typeface="Nunito"/>
                <a:ea typeface="Nunito"/>
                <a:cs typeface="Nunito"/>
              </a:rPr>
              <a:t>test the midpoint</a:t>
            </a:r>
          </a:p>
        </p:txBody>
      </p:sp>
      <p:sp>
        <p:nvSpPr>
          <p:cNvPr id="16" name="bisection-keep">
            <a:extLst xmlns:a="http://schemas.openxmlformats.org/drawingml/2006/main">
              <a:ext uri="{FF2B5EF4-FFF2-40B4-BE49-F238E27FC236}">
                <a16:creationId xmlns:a16="http://schemas.microsoft.com/office/drawing/2014/main" id="{DA4F08E2-A7A7-4D07-8D91-60F4A7722AA0}"/>
              </a:ext>
            </a:extLst>
          </p:cNvPr>
          <p:cNvSpPr>
            <a:spLocks xmlns:a="http://schemas.openxmlformats.org/drawingml/2006/main" noGrp="1"/>
          </p:cNvSpPr>
          <p:nvPr/>
        </p:nvSpPr>
        <p:spPr>
          <a:xfrm xmlns:a="http://schemas.openxmlformats.org/drawingml/2006/main">
            <a:off x="10858500" y="27813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keep the sign-changing half</a:t>
            </a:r>
          </a:p>
        </p:txBody>
      </p:sp>
      <p:sp>
        <p:nvSpPr>
          <p:cNvPr id="17" name="bisection-top-arrow-1">
            <a:extLst xmlns:a="http://schemas.openxmlformats.org/drawingml/2006/main">
              <a:ext uri="{FF2B5EF4-FFF2-40B4-BE49-F238E27FC236}">
                <a16:creationId xmlns:a16="http://schemas.microsoft.com/office/drawing/2014/main" id="{1FDD1C91-CDC6-4747-94B3-06251C8F2F3E}"/>
              </a:ext>
            </a:extLst>
          </p:cNvPr>
          <p:cNvSpPr>
            <a:spLocks xmlns:a="http://schemas.openxmlformats.org/drawingml/2006/main" noGrp="1"/>
          </p:cNvSpPr>
          <p:nvPr/>
        </p:nvSpPr>
        <p:spPr>
          <a:xfrm xmlns:a="http://schemas.openxmlformats.org/drawingml/2006/main">
            <a:off x="5715000" y="3381375"/>
            <a:ext cx="685800" cy="32385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18" name="bisection-top-arrow-2">
            <a:extLst xmlns:a="http://schemas.openxmlformats.org/drawingml/2006/main">
              <a:ext uri="{FF2B5EF4-FFF2-40B4-BE49-F238E27FC236}">
                <a16:creationId xmlns:a16="http://schemas.microsoft.com/office/drawing/2014/main" id="{017E67D2-198A-438B-A93F-0A0AF83DA8B1}"/>
              </a:ext>
            </a:extLst>
          </p:cNvPr>
          <p:cNvSpPr>
            <a:spLocks xmlns:a="http://schemas.openxmlformats.org/drawingml/2006/main" noGrp="1"/>
          </p:cNvSpPr>
          <p:nvPr/>
        </p:nvSpPr>
        <p:spPr>
          <a:xfrm xmlns:a="http://schemas.openxmlformats.org/drawingml/2006/main">
            <a:off x="9525000" y="3381375"/>
            <a:ext cx="685800" cy="32385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19" name="bisection-mid-axis">
            <a:extLst xmlns:a="http://schemas.openxmlformats.org/drawingml/2006/main">
              <a:ext uri="{FF2B5EF4-FFF2-40B4-BE49-F238E27FC236}">
                <a16:creationId xmlns:a16="http://schemas.microsoft.com/office/drawing/2014/main" id="{DC2B41A7-C007-45BA-90BF-983E643AA9EF}"/>
              </a:ext>
            </a:extLst>
          </p:cNvPr>
          <p:cNvSpPr>
            <a:spLocks xmlns:a="http://schemas.openxmlformats.org/drawingml/2006/main" noGrp="1"/>
          </p:cNvSpPr>
          <p:nvPr/>
        </p:nvSpPr>
        <p:spPr>
          <a:xfrm xmlns:a="http://schemas.openxmlformats.org/drawingml/2006/main">
            <a:off x="7000875" y="3571875"/>
            <a:ext cx="2190750" cy="0"/>
          </a:xfrm>
          <a:prstGeom xmlns:a="http://schemas.openxmlformats.org/drawingml/2006/main" prst="line">
            <a:avLst/>
          </a:prstGeom>
          <a:noFill xmlns:a="http://schemas.openxmlformats.org/drawingml/2006/main"/>
          <a:ln xmlns:a="http://schemas.openxmlformats.org/drawingml/2006/main" w="38100">
            <a:solidFill>
              <a:srgbClr val="3E8E45"/>
            </a:solidFill>
            <a:prstDash val="solid"/>
          </a:ln>
        </p:spPr>
      </p:sp>
      <p:sp>
        <p:nvSpPr>
          <p:cNvPr id="20" name="bisection-mid-left">
            <a:extLst xmlns:a="http://schemas.openxmlformats.org/drawingml/2006/main">
              <a:ext uri="{FF2B5EF4-FFF2-40B4-BE49-F238E27FC236}">
                <a16:creationId xmlns:a16="http://schemas.microsoft.com/office/drawing/2014/main" id="{C1A0212A-934D-4398-AEC6-409053F1B04D}"/>
              </a:ext>
            </a:extLst>
          </p:cNvPr>
          <p:cNvSpPr>
            <a:spLocks xmlns:a="http://schemas.openxmlformats.org/drawingml/2006/main" noGrp="1"/>
          </p:cNvSpPr>
          <p:nvPr/>
        </p:nvSpPr>
        <p:spPr>
          <a:xfrm xmlns:a="http://schemas.openxmlformats.org/drawingml/2006/main">
            <a:off x="6886575" y="3457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1" name="bisection-mid-right">
            <a:extLst xmlns:a="http://schemas.openxmlformats.org/drawingml/2006/main">
              <a:ext uri="{FF2B5EF4-FFF2-40B4-BE49-F238E27FC236}">
                <a16:creationId xmlns:a16="http://schemas.microsoft.com/office/drawing/2014/main" id="{4532F76A-9FB8-4BAE-9CDC-CB4386014D5F}"/>
              </a:ext>
            </a:extLst>
          </p:cNvPr>
          <p:cNvSpPr>
            <a:spLocks xmlns:a="http://schemas.openxmlformats.org/drawingml/2006/main" noGrp="1"/>
          </p:cNvSpPr>
          <p:nvPr/>
        </p:nvSpPr>
        <p:spPr>
          <a:xfrm xmlns:a="http://schemas.openxmlformats.org/drawingml/2006/main">
            <a:off x="9077325" y="3457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2" name="bisection-mid-min">
            <a:extLst xmlns:a="http://schemas.openxmlformats.org/drawingml/2006/main">
              <a:ext uri="{FF2B5EF4-FFF2-40B4-BE49-F238E27FC236}">
                <a16:creationId xmlns:a16="http://schemas.microsoft.com/office/drawing/2014/main" id="{A0F21095-E21A-448A-AF96-B70EDDB0696E}"/>
              </a:ext>
            </a:extLst>
          </p:cNvPr>
          <p:cNvSpPr>
            <a:spLocks xmlns:a="http://schemas.openxmlformats.org/drawingml/2006/main" noGrp="1"/>
          </p:cNvSpPr>
          <p:nvPr/>
        </p:nvSpPr>
        <p:spPr>
          <a:xfrm xmlns:a="http://schemas.openxmlformats.org/drawingml/2006/main">
            <a:off x="6372225"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23" name="bisection-mid-max">
            <a:extLst xmlns:a="http://schemas.openxmlformats.org/drawingml/2006/main">
              <a:ext uri="{FF2B5EF4-FFF2-40B4-BE49-F238E27FC236}">
                <a16:creationId xmlns:a16="http://schemas.microsoft.com/office/drawing/2014/main" id="{145F7934-4C33-4BC1-B5CA-D12B91CE1A1E}"/>
              </a:ext>
            </a:extLst>
          </p:cNvPr>
          <p:cNvSpPr>
            <a:spLocks xmlns:a="http://schemas.openxmlformats.org/drawingml/2006/main" noGrp="1"/>
          </p:cNvSpPr>
          <p:nvPr/>
        </p:nvSpPr>
        <p:spPr>
          <a:xfrm xmlns:a="http://schemas.openxmlformats.org/drawingml/2006/main">
            <a:off x="8562975"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30 degree</a:t>
            </a:r>
          </a:p>
        </p:txBody>
      </p:sp>
      <p:sp>
        <p:nvSpPr>
          <p:cNvPr id="24" name="bisection-mid-left-value">
            <a:extLst xmlns:a="http://schemas.openxmlformats.org/drawingml/2006/main">
              <a:ext uri="{FF2B5EF4-FFF2-40B4-BE49-F238E27FC236}">
                <a16:creationId xmlns:a16="http://schemas.microsoft.com/office/drawing/2014/main" id="{E1475A05-95D0-4C7C-B76C-C48BF1568D91}"/>
              </a:ext>
            </a:extLst>
          </p:cNvPr>
          <p:cNvSpPr>
            <a:spLocks xmlns:a="http://schemas.openxmlformats.org/drawingml/2006/main" noGrp="1"/>
          </p:cNvSpPr>
          <p:nvPr/>
        </p:nvSpPr>
        <p:spPr>
          <a:xfrm xmlns:a="http://schemas.openxmlformats.org/drawingml/2006/main">
            <a:off x="6096000" y="4048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3F4B57"/>
                </a:solidFill>
                <a:latin typeface="Nunito"/>
                <a:ea typeface="Nunito"/>
                <a:cs typeface="Nunito"/>
              </a:defRPr>
            </a:pPr>
            <a:r>
              <a:rPr sz="1575" b="0">
                <a:solidFill>
                  <a:srgbClr val="3F4B57"/>
                </a:solidFill>
                <a:latin typeface="Nunito"/>
                <a:ea typeface="Nunito"/>
                <a:cs typeface="Nunito"/>
              </a:rPr>
              <a:t>f(20 degree) = −8.7905 m</a:t>
            </a:r>
          </a:p>
        </p:txBody>
      </p:sp>
      <p:sp>
        <p:nvSpPr>
          <p:cNvPr id="25" name="bisection-mid-right-value">
            <a:extLst xmlns:a="http://schemas.openxmlformats.org/drawingml/2006/main">
              <a:ext uri="{FF2B5EF4-FFF2-40B4-BE49-F238E27FC236}">
                <a16:creationId xmlns:a16="http://schemas.microsoft.com/office/drawing/2014/main" id="{4C0DBD57-E690-40D5-B7FB-E8FC067B8128}"/>
              </a:ext>
            </a:extLst>
          </p:cNvPr>
          <p:cNvSpPr>
            <a:spLocks xmlns:a="http://schemas.openxmlformats.org/drawingml/2006/main" noGrp="1"/>
          </p:cNvSpPr>
          <p:nvPr/>
        </p:nvSpPr>
        <p:spPr>
          <a:xfrm xmlns:a="http://schemas.openxmlformats.org/drawingml/2006/main">
            <a:off x="9620250" y="4048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3F4B57"/>
                </a:solidFill>
                <a:latin typeface="Nunito"/>
                <a:ea typeface="Nunito"/>
                <a:cs typeface="Nunito"/>
              </a:defRPr>
            </a:pPr>
            <a:r>
              <a:rPr sz="1575" b="0">
                <a:solidFill>
                  <a:srgbClr val="3F4B57"/>
                </a:solidFill>
                <a:latin typeface="Nunito"/>
                <a:ea typeface="Nunito"/>
                <a:cs typeface="Nunito"/>
              </a:rPr>
              <a:t>f(30 degree) = +0.31194 m</a:t>
            </a:r>
          </a:p>
        </p:txBody>
      </p:sp>
      <p:sp>
        <p:nvSpPr>
          <p:cNvPr id="26" name="step-number-1">
            <a:extLst xmlns:a="http://schemas.openxmlformats.org/drawingml/2006/main">
              <a:ext uri="{FF2B5EF4-FFF2-40B4-BE49-F238E27FC236}">
                <a16:creationId xmlns:a16="http://schemas.microsoft.com/office/drawing/2014/main" id="{B1D41E4A-83AA-4564-BDDF-D51470A59991}"/>
              </a:ext>
            </a:extLst>
          </p:cNvPr>
          <p:cNvSpPr>
            <a:spLocks xmlns:a="http://schemas.openxmlformats.org/drawingml/2006/main" noGrp="1"/>
          </p:cNvSpPr>
          <p:nvPr/>
        </p:nvSpPr>
        <p:spPr>
          <a:xfrm xmlns:a="http://schemas.openxmlformats.org/drawingml/2006/main">
            <a:off x="1095375" y="5810250"/>
            <a:ext cx="514350" cy="51435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27" name="step-number-text-1">
            <a:extLst xmlns:a="http://schemas.openxmlformats.org/drawingml/2006/main">
              <a:ext uri="{FF2B5EF4-FFF2-40B4-BE49-F238E27FC236}">
                <a16:creationId xmlns:a16="http://schemas.microsoft.com/office/drawing/2014/main" id="{18FEAF52-EDFA-41F8-BACB-475A3A4A14F1}"/>
              </a:ext>
            </a:extLst>
          </p:cNvPr>
          <p:cNvSpPr>
            <a:spLocks xmlns:a="http://schemas.openxmlformats.org/drawingml/2006/main" noGrp="1"/>
          </p:cNvSpPr>
          <p:nvPr/>
        </p:nvSpPr>
        <p:spPr>
          <a:xfrm xmlns:a="http://schemas.openxmlformats.org/drawingml/2006/main">
            <a:off x="1095375"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1</a:t>
            </a:r>
          </a:p>
        </p:txBody>
      </p:sp>
      <p:sp>
        <p:nvSpPr>
          <p:cNvPr id="28" name="step-title-1">
            <a:extLst xmlns:a="http://schemas.openxmlformats.org/drawingml/2006/main">
              <a:ext uri="{FF2B5EF4-FFF2-40B4-BE49-F238E27FC236}">
                <a16:creationId xmlns:a16="http://schemas.microsoft.com/office/drawing/2014/main" id="{4878C173-FFCB-421A-9ED8-7F743A11F964}"/>
              </a:ext>
            </a:extLst>
          </p:cNvPr>
          <p:cNvSpPr>
            <a:spLocks xmlns:a="http://schemas.openxmlformats.org/drawingml/2006/main" noGrp="1"/>
          </p:cNvSpPr>
          <p:nvPr/>
        </p:nvSpPr>
        <p:spPr>
          <a:xfrm xmlns:a="http://schemas.openxmlformats.org/drawingml/2006/main">
            <a:off x="1781175"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choose opposite signs</a:t>
            </a:r>
          </a:p>
        </p:txBody>
      </p:sp>
      <p:sp>
        <p:nvSpPr>
          <p:cNvPr id="29" name="bisection-step-arrow-1">
            <a:extLst xmlns:a="http://schemas.openxmlformats.org/drawingml/2006/main">
              <a:ext uri="{FF2B5EF4-FFF2-40B4-BE49-F238E27FC236}">
                <a16:creationId xmlns:a16="http://schemas.microsoft.com/office/drawing/2014/main" id="{A4428D06-00F8-4FF1-A0DC-E660982290A0}"/>
              </a:ext>
            </a:extLst>
          </p:cNvPr>
          <p:cNvSpPr>
            <a:spLocks xmlns:a="http://schemas.openxmlformats.org/drawingml/2006/main" noGrp="1"/>
          </p:cNvSpPr>
          <p:nvPr/>
        </p:nvSpPr>
        <p:spPr>
          <a:xfrm xmlns:a="http://schemas.openxmlformats.org/drawingml/2006/main">
            <a:off x="4476750"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0" name="step-number-2">
            <a:extLst xmlns:a="http://schemas.openxmlformats.org/drawingml/2006/main">
              <a:ext uri="{FF2B5EF4-FFF2-40B4-BE49-F238E27FC236}">
                <a16:creationId xmlns:a16="http://schemas.microsoft.com/office/drawing/2014/main" id="{D91C7628-8383-40A6-AB6E-C667D6ED4A40}"/>
              </a:ext>
            </a:extLst>
          </p:cNvPr>
          <p:cNvSpPr>
            <a:spLocks xmlns:a="http://schemas.openxmlformats.org/drawingml/2006/main" noGrp="1"/>
          </p:cNvSpPr>
          <p:nvPr/>
        </p:nvSpPr>
        <p:spPr>
          <a:xfrm xmlns:a="http://schemas.openxmlformats.org/drawingml/2006/main">
            <a:off x="5048250" y="5810250"/>
            <a:ext cx="514350" cy="5143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31" name="step-number-text-2">
            <a:extLst xmlns:a="http://schemas.openxmlformats.org/drawingml/2006/main">
              <a:ext uri="{FF2B5EF4-FFF2-40B4-BE49-F238E27FC236}">
                <a16:creationId xmlns:a16="http://schemas.microsoft.com/office/drawing/2014/main" id="{62047A6A-83EB-40DD-8CA0-4ECAF0108FF0}"/>
              </a:ext>
            </a:extLst>
          </p:cNvPr>
          <p:cNvSpPr>
            <a:spLocks xmlns:a="http://schemas.openxmlformats.org/drawingml/2006/main" noGrp="1"/>
          </p:cNvSpPr>
          <p:nvPr/>
        </p:nvSpPr>
        <p:spPr>
          <a:xfrm xmlns:a="http://schemas.openxmlformats.org/drawingml/2006/main">
            <a:off x="5048250"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2</a:t>
            </a:r>
          </a:p>
        </p:txBody>
      </p:sp>
      <p:sp>
        <p:nvSpPr>
          <p:cNvPr id="32" name="step-title-2">
            <a:extLst xmlns:a="http://schemas.openxmlformats.org/drawingml/2006/main">
              <a:ext uri="{FF2B5EF4-FFF2-40B4-BE49-F238E27FC236}">
                <a16:creationId xmlns:a16="http://schemas.microsoft.com/office/drawing/2014/main" id="{A0960224-3F3B-4F75-8E49-A57576E185D2}"/>
              </a:ext>
            </a:extLst>
          </p:cNvPr>
          <p:cNvSpPr>
            <a:spLocks xmlns:a="http://schemas.openxmlformats.org/drawingml/2006/main" noGrp="1"/>
          </p:cNvSpPr>
          <p:nvPr/>
        </p:nvSpPr>
        <p:spPr>
          <a:xfrm xmlns:a="http://schemas.openxmlformats.org/drawingml/2006/main">
            <a:off x="5734050"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compute midpoint</a:t>
            </a:r>
          </a:p>
        </p:txBody>
      </p:sp>
      <p:sp>
        <p:nvSpPr>
          <p:cNvPr id="33" name="bisection-step-arrow-2">
            <a:extLst xmlns:a="http://schemas.openxmlformats.org/drawingml/2006/main">
              <a:ext uri="{FF2B5EF4-FFF2-40B4-BE49-F238E27FC236}">
                <a16:creationId xmlns:a16="http://schemas.microsoft.com/office/drawing/2014/main" id="{1D2B5334-E444-4B3D-99D6-93683FE2D5E8}"/>
              </a:ext>
            </a:extLst>
          </p:cNvPr>
          <p:cNvSpPr>
            <a:spLocks xmlns:a="http://schemas.openxmlformats.org/drawingml/2006/main" noGrp="1"/>
          </p:cNvSpPr>
          <p:nvPr/>
        </p:nvSpPr>
        <p:spPr>
          <a:xfrm xmlns:a="http://schemas.openxmlformats.org/drawingml/2006/main">
            <a:off x="8429625"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4" name="step-number-3">
            <a:extLst xmlns:a="http://schemas.openxmlformats.org/drawingml/2006/main">
              <a:ext uri="{FF2B5EF4-FFF2-40B4-BE49-F238E27FC236}">
                <a16:creationId xmlns:a16="http://schemas.microsoft.com/office/drawing/2014/main" id="{C50D2ECB-798A-41F1-B6E0-6152BD9AF06B}"/>
              </a:ext>
            </a:extLst>
          </p:cNvPr>
          <p:cNvSpPr>
            <a:spLocks xmlns:a="http://schemas.openxmlformats.org/drawingml/2006/main" noGrp="1"/>
          </p:cNvSpPr>
          <p:nvPr/>
        </p:nvSpPr>
        <p:spPr>
          <a:xfrm xmlns:a="http://schemas.openxmlformats.org/drawingml/2006/main">
            <a:off x="9001125" y="5810250"/>
            <a:ext cx="514350" cy="5143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35" name="step-number-text-3">
            <a:extLst xmlns:a="http://schemas.openxmlformats.org/drawingml/2006/main">
              <a:ext uri="{FF2B5EF4-FFF2-40B4-BE49-F238E27FC236}">
                <a16:creationId xmlns:a16="http://schemas.microsoft.com/office/drawing/2014/main" id="{3ED14E93-127C-4E5C-8B90-47473733C71E}"/>
              </a:ext>
            </a:extLst>
          </p:cNvPr>
          <p:cNvSpPr>
            <a:spLocks xmlns:a="http://schemas.openxmlformats.org/drawingml/2006/main" noGrp="1"/>
          </p:cNvSpPr>
          <p:nvPr/>
        </p:nvSpPr>
        <p:spPr>
          <a:xfrm xmlns:a="http://schemas.openxmlformats.org/drawingml/2006/main">
            <a:off x="9001125"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3</a:t>
            </a:r>
          </a:p>
        </p:txBody>
      </p:sp>
      <p:sp>
        <p:nvSpPr>
          <p:cNvPr id="36" name="step-title-3">
            <a:extLst xmlns:a="http://schemas.openxmlformats.org/drawingml/2006/main">
              <a:ext uri="{FF2B5EF4-FFF2-40B4-BE49-F238E27FC236}">
                <a16:creationId xmlns:a16="http://schemas.microsoft.com/office/drawing/2014/main" id="{DB68BC9B-1584-4B32-B854-BB0A1D234B14}"/>
              </a:ext>
            </a:extLst>
          </p:cNvPr>
          <p:cNvSpPr>
            <a:spLocks xmlns:a="http://schemas.openxmlformats.org/drawingml/2006/main" noGrp="1"/>
          </p:cNvSpPr>
          <p:nvPr/>
        </p:nvSpPr>
        <p:spPr>
          <a:xfrm xmlns:a="http://schemas.openxmlformats.org/drawingml/2006/main">
            <a:off x="9686925"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evaluate residual</a:t>
            </a:r>
          </a:p>
        </p:txBody>
      </p:sp>
      <p:sp>
        <p:nvSpPr>
          <p:cNvPr id="37" name="bisection-step-arrow-3">
            <a:extLst xmlns:a="http://schemas.openxmlformats.org/drawingml/2006/main">
              <a:ext uri="{FF2B5EF4-FFF2-40B4-BE49-F238E27FC236}">
                <a16:creationId xmlns:a16="http://schemas.microsoft.com/office/drawing/2014/main" id="{356E36A2-609D-4786-899B-DEB011B2FBF5}"/>
              </a:ext>
            </a:extLst>
          </p:cNvPr>
          <p:cNvSpPr>
            <a:spLocks xmlns:a="http://schemas.openxmlformats.org/drawingml/2006/main" noGrp="1"/>
          </p:cNvSpPr>
          <p:nvPr/>
        </p:nvSpPr>
        <p:spPr>
          <a:xfrm xmlns:a="http://schemas.openxmlformats.org/drawingml/2006/main">
            <a:off x="12382500"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8" name="step-number-4">
            <a:extLst xmlns:a="http://schemas.openxmlformats.org/drawingml/2006/main">
              <a:ext uri="{FF2B5EF4-FFF2-40B4-BE49-F238E27FC236}">
                <a16:creationId xmlns:a16="http://schemas.microsoft.com/office/drawing/2014/main" id="{77E72AA1-7524-41CF-B653-0F96F01015A7}"/>
              </a:ext>
            </a:extLst>
          </p:cNvPr>
          <p:cNvSpPr>
            <a:spLocks xmlns:a="http://schemas.openxmlformats.org/drawingml/2006/main" noGrp="1"/>
          </p:cNvSpPr>
          <p:nvPr/>
        </p:nvSpPr>
        <p:spPr>
          <a:xfrm xmlns:a="http://schemas.openxmlformats.org/drawingml/2006/main">
            <a:off x="12954000" y="5810250"/>
            <a:ext cx="514350" cy="5143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39" name="step-number-text-4">
            <a:extLst xmlns:a="http://schemas.openxmlformats.org/drawingml/2006/main">
              <a:ext uri="{FF2B5EF4-FFF2-40B4-BE49-F238E27FC236}">
                <a16:creationId xmlns:a16="http://schemas.microsoft.com/office/drawing/2014/main" id="{3B6BA01B-0D6B-45EA-909F-8E495B2C606E}"/>
              </a:ext>
            </a:extLst>
          </p:cNvPr>
          <p:cNvSpPr>
            <a:spLocks xmlns:a="http://schemas.openxmlformats.org/drawingml/2006/main" noGrp="1"/>
          </p:cNvSpPr>
          <p:nvPr/>
        </p:nvSpPr>
        <p:spPr>
          <a:xfrm xmlns:a="http://schemas.openxmlformats.org/drawingml/2006/main">
            <a:off x="12954000"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4</a:t>
            </a:r>
          </a:p>
        </p:txBody>
      </p:sp>
      <p:sp>
        <p:nvSpPr>
          <p:cNvPr id="40" name="step-title-4">
            <a:extLst xmlns:a="http://schemas.openxmlformats.org/drawingml/2006/main">
              <a:ext uri="{FF2B5EF4-FFF2-40B4-BE49-F238E27FC236}">
                <a16:creationId xmlns:a16="http://schemas.microsoft.com/office/drawing/2014/main" id="{99374471-B26D-4B02-B414-9A5F8BB3BD57}"/>
              </a:ext>
            </a:extLst>
          </p:cNvPr>
          <p:cNvSpPr>
            <a:spLocks xmlns:a="http://schemas.openxmlformats.org/drawingml/2006/main" noGrp="1"/>
          </p:cNvSpPr>
          <p:nvPr/>
        </p:nvSpPr>
        <p:spPr>
          <a:xfrm xmlns:a="http://schemas.openxmlformats.org/drawingml/2006/main">
            <a:off x="13639800"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keep the sign change</a:t>
            </a:r>
          </a:p>
        </p:txBody>
      </p:sp>
      <p:sp>
        <p:nvSpPr>
          <p:cNvPr id="41" name="bisection-question">
            <a:extLst xmlns:a="http://schemas.openxmlformats.org/drawingml/2006/main">
              <a:ext uri="{FF2B5EF4-FFF2-40B4-BE49-F238E27FC236}">
                <a16:creationId xmlns:a16="http://schemas.microsoft.com/office/drawing/2014/main" id="{C8112B0C-EBEA-4F8F-8BAC-1BD83956B21B}"/>
              </a:ext>
            </a:extLst>
          </p:cNvPr>
          <p:cNvSpPr>
            <a:spLocks xmlns:a="http://schemas.openxmlformats.org/drawingml/2006/main" noGrp="1"/>
          </p:cNvSpPr>
          <p:nvPr/>
        </p:nvSpPr>
        <p:spPr>
          <a:xfrm xmlns:a="http://schemas.openxmlformats.org/drawingml/2006/main">
            <a:off x="1095375" y="7239000"/>
            <a:ext cx="14859000" cy="1143000"/>
          </a:xfrm>
          <a:prstGeom xmlns:a="http://schemas.openxmlformats.org/drawingml/2006/main" prst="roundRect">
            <a:avLst>
              <a:gd name="adj" fmla="val 18333"/>
            </a:avLst>
          </a:prstGeom>
          <a:solidFill xmlns:a="http://schemas.openxmlformats.org/drawingml/2006/main">
            <a:srgbClr val="FFF7E6"/>
          </a:solidFill>
          <a:ln xmlns:a="http://schemas.openxmlformats.org/drawingml/2006/main" w="19050">
            <a:solidFill>
              <a:srgbClr val="C98A16"/>
            </a:solidFill>
            <a:prstDash val="solid"/>
          </a:ln>
        </p:spPr>
      </p:sp>
      <p:sp>
        <p:nvSpPr>
          <p:cNvPr id="42" name="bisection-question-mark">
            <a:extLst xmlns:a="http://schemas.openxmlformats.org/drawingml/2006/main">
              <a:ext uri="{FF2B5EF4-FFF2-40B4-BE49-F238E27FC236}">
                <a16:creationId xmlns:a16="http://schemas.microsoft.com/office/drawing/2014/main" id="{A137ED13-0135-4400-938B-28AFB0A5ED7E}"/>
              </a:ext>
            </a:extLst>
          </p:cNvPr>
          <p:cNvSpPr>
            <a:spLocks xmlns:a="http://schemas.openxmlformats.org/drawingml/2006/main" noGrp="1"/>
          </p:cNvSpPr>
          <p:nvPr/>
        </p:nvSpPr>
        <p:spPr>
          <a:xfrm xmlns:a="http://schemas.openxmlformats.org/drawingml/2006/main">
            <a:off x="1428750" y="7505700"/>
            <a:ext cx="609600" cy="6096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43" name="bisection-question-mark-text">
            <a:extLst xmlns:a="http://schemas.openxmlformats.org/drawingml/2006/main">
              <a:ext uri="{FF2B5EF4-FFF2-40B4-BE49-F238E27FC236}">
                <a16:creationId xmlns:a16="http://schemas.microsoft.com/office/drawing/2014/main" id="{A593FD48-82E5-4BBA-A0D5-BBB8771E9793}"/>
              </a:ext>
            </a:extLst>
          </p:cNvPr>
          <p:cNvSpPr>
            <a:spLocks xmlns:a="http://schemas.openxmlformats.org/drawingml/2006/main" noGrp="1"/>
          </p:cNvSpPr>
          <p:nvPr/>
        </p:nvSpPr>
        <p:spPr>
          <a:xfrm xmlns:a="http://schemas.openxmlformats.org/drawingml/2006/main">
            <a:off x="1428750" y="7581900"/>
            <a:ext cx="609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3000" b="1">
                <a:solidFill>
                  <a:srgbClr val="FFFFFF"/>
                </a:solidFill>
                <a:latin typeface="Nunito"/>
                <a:ea typeface="Nunito"/>
                <a:cs typeface="Nunito"/>
              </a:defRPr>
            </a:pPr>
            <a:r>
              <a:rPr sz="3000" b="1">
                <a:solidFill>
                  <a:srgbClr val="FFFFFF"/>
                </a:solidFill>
                <a:latin typeface="Nunito"/>
                <a:ea typeface="Nunito"/>
                <a:cs typeface="Nunito"/>
              </a:rPr>
              <a:t>?</a:t>
            </a:r>
          </a:p>
        </p:txBody>
      </p:sp>
      <p:sp>
        <p:nvSpPr>
          <p:cNvPr id="44" name="bisection-question-title">
            <a:extLst xmlns:a="http://schemas.openxmlformats.org/drawingml/2006/main">
              <a:ext uri="{FF2B5EF4-FFF2-40B4-BE49-F238E27FC236}">
                <a16:creationId xmlns:a16="http://schemas.microsoft.com/office/drawing/2014/main" id="{444D6097-6CB6-4CF9-A9AE-196497445F4C}"/>
              </a:ext>
            </a:extLst>
          </p:cNvPr>
          <p:cNvSpPr>
            <a:spLocks xmlns:a="http://schemas.openxmlformats.org/drawingml/2006/main" noGrp="1"/>
          </p:cNvSpPr>
          <p:nvPr/>
        </p:nvSpPr>
        <p:spPr>
          <a:xfrm xmlns:a="http://schemas.openxmlformats.org/drawingml/2006/main">
            <a:off x="2381250" y="7477125"/>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p xmlns:a="http://schemas.openxmlformats.org/drawingml/2006/main">
            <a:pPr algn="l">
              <a:lnSpc>
                <a:spcPct val="105000"/>
              </a:lnSpc>
              <a:buNone/>
              <a:defRPr sz="2250" b="1">
                <a:solidFill>
                  <a:srgbClr val="C98A16"/>
                </a:solidFill>
                <a:latin typeface="Nunito"/>
                <a:ea typeface="Nunito"/>
                <a:cs typeface="Nunito"/>
              </a:defRPr>
            </a:pPr>
            <a:r>
              <a:rPr sz="2250" b="1">
                <a:solidFill>
                  <a:srgbClr val="C98A16"/>
                </a:solidFill>
                <a:latin typeface="Nunito"/>
                <a:ea typeface="Nunito"/>
                <a:cs typeface="Nunito"/>
              </a:rPr>
              <a:t>Why is the midpoint not enough?</a:t>
            </a:r>
          </a:p>
        </p:txBody>
      </p:sp>
      <p:sp>
        <p:nvSpPr>
          <p:cNvPr id="45" name="bisection-question-body">
            <a:extLst xmlns:a="http://schemas.openxmlformats.org/drawingml/2006/main">
              <a:ext uri="{FF2B5EF4-FFF2-40B4-BE49-F238E27FC236}">
                <a16:creationId xmlns:a16="http://schemas.microsoft.com/office/drawing/2014/main" id="{8A8C6BDA-61FA-47D9-8EDA-6073386802F7}"/>
              </a:ext>
            </a:extLst>
          </p:cNvPr>
          <p:cNvSpPr>
            <a:spLocks xmlns:a="http://schemas.openxmlformats.org/drawingml/2006/main" noGrp="1"/>
          </p:cNvSpPr>
          <p:nvPr/>
        </p:nvSpPr>
        <p:spPr>
          <a:xfrm xmlns:a="http://schemas.openxmlformats.org/drawingml/2006/main">
            <a:off x="2381250" y="7905750"/>
            <a:ext cx="1190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3F4B57"/>
                </a:solidFill>
                <a:latin typeface="Nunito"/>
                <a:ea typeface="Nunito"/>
                <a:cs typeface="Nunito"/>
              </a:defRPr>
            </a:pPr>
            <a:r>
              <a:rPr sz="1800" b="0">
                <a:solidFill>
                  <a:srgbClr val="3F4B57"/>
                </a:solidFill>
                <a:latin typeface="Nunito"/>
                <a:ea typeface="Nunito"/>
                <a:cs typeface="Nunito"/>
              </a:rPr>
              <a:t>Because bisection needs a bracket whose endpoint residuals have opposite signs</a:t>
            </a:r>
          </a:p>
        </p:txBody>
      </p:sp>
    </p:spTree>
    <p:extLst>
      <p:ext uri="{BB962C8B-B14F-4D97-AF65-F5344CB8AC3E}">
        <p14:creationId xmlns:p14="http://schemas.microsoft.com/office/powerpoint/2010/main" val="11479207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Trace the first four bisection updates</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Track the interval and the residual before the next midpoint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6</a:t>
            </a:r>
            <a:endParaRPr sz="1650">
              <a:solidFill>
                <a:srgbClr val="697684"/>
              </a:solidFill>
              <a:latin typeface="Nunito"/>
              <a:ea typeface="Nunito"/>
              <a:cs typeface="Nunito"/>
            </a:endParaRPr>
          </a:p>
        </p:txBody>
      </p:sp>
      <p:graphicFrame>
        <p:nvGraphicFramePr>
          <p:cNvPr id="31" name=""/>
          <p:cNvGraphicFramePr/>
          <p:nvPr/>
        </p:nvGraphicFramePr>
        <p:xfrm>
          <a:off xmlns:a="http://schemas.openxmlformats.org/drawingml/2006/main" x="1095375" y="2762250"/>
          <a:ext xmlns:a="http://schemas.openxmlformats.org/drawingml/2006/main" cx="11239500" cy="4762500"/>
        </p:xfrm>
        <a:graphic xmlns:a="http://schemas.openxmlformats.org/drawingml/2006/main">
          <a:graphicData uri="http://schemas.openxmlformats.org/drawingml/2006/table">
            <a:tbl>
              <a:tblPr firstRow="0" bandRow="0" bandCol="0"/>
              <a:tblGrid>
                <a:gridCol w="1333500"/>
                <a:gridCol w="2857500"/>
                <a:gridCol w="2381250"/>
                <a:gridCol w="2571750"/>
                <a:gridCol w="2095500"/>
              </a:tblGrid>
              <a:tr h="952500">
                <a:tc>
                  <a:txBody>
                    <a:bodyPr/>
                    <a:lstStyle/>
                    <a:p>
                      <a:r>
                        <a:t>iteration</a:t>
                      </a:r>
                    </a:p>
                  </a:txBody>
                  <a:tcPr marL="91440" marR="91440" marT="45720" marB="45720"/>
                </a:tc>
                <a:tc>
                  <a:txBody>
                    <a:bodyPr/>
                    <a:lstStyle/>
                    <a:p>
                      <a:r>
                        <a:t>current bracket</a:t>
                      </a:r>
                    </a:p>
                    <a:p>
                      <a:r>
                        <a:t>(degree)</a:t>
                      </a:r>
                    </a:p>
                  </a:txBody>
                  <a:tcPr marL="91440" marR="91440" marT="45720" marB="45720"/>
                </a:tc>
                <a:tc>
                  <a:txBody>
                    <a:bodyPr/>
                    <a:lstStyle/>
                    <a:p>
                      <a:r>
                        <a:t>midpoint</a:t>
                      </a:r>
                    </a:p>
                    <a:p>
                      <a:r>
                        <a:t>(degree)</a:t>
                      </a:r>
                    </a:p>
                  </a:txBody>
                  <a:tcPr marL="91440" marR="91440" marT="45720" marB="45720"/>
                </a:tc>
                <a:tc>
                  <a:txBody>
                    <a:bodyPr/>
                    <a:lstStyle/>
                    <a:p>
                      <a:r>
                        <a:t>f(mid) (m)</a:t>
                      </a:r>
                    </a:p>
                  </a:txBody>
                  <a:tcPr marL="91440" marR="91440" marT="45720" marB="45720"/>
                </a:tc>
                <a:tc>
                  <a:txBody>
                    <a:bodyPr/>
                    <a:lstStyle/>
                    <a:p>
                      <a:r>
                        <a:t>keep</a:t>
                      </a:r>
                    </a:p>
                  </a:txBody>
                  <a:tcPr marL="91440" marR="91440" marT="45720" marB="45720"/>
                </a:tc>
              </a:tr>
              <a:tr h="952500">
                <a:tc>
                  <a:txBody>
                    <a:bodyPr/>
                    <a:lstStyle/>
                    <a:p>
                      <a:r>
                        <a:t>1</a:t>
                      </a:r>
                    </a:p>
                  </a:txBody>
                  <a:tcPr marL="91440" marR="91440" marT="45720" marB="45720"/>
                </a:tc>
                <a:tc>
                  <a:txBody>
                    <a:bodyPr/>
                    <a:lstStyle/>
                    <a:p>
                      <a:r>
                        <a:t>[20, 40]</a:t>
                      </a:r>
                    </a:p>
                  </a:txBody>
                  <a:tcPr marL="91440" marR="91440" marT="45720" marB="45720"/>
                </a:tc>
                <a:tc>
                  <a:txBody>
                    <a:bodyPr/>
                    <a:lstStyle/>
                    <a:p>
                      <a:r>
                        <a:t>30</a:t>
                      </a:r>
                    </a:p>
                  </a:txBody>
                  <a:tcPr marL="91440" marR="91440" marT="45720" marB="45720"/>
                </a:tc>
                <a:tc>
                  <a:txBody>
                    <a:bodyPr/>
                    <a:lstStyle/>
                    <a:p>
                      <a:r>
                        <a:t>+0.31194</a:t>
                      </a:r>
                    </a:p>
                  </a:txBody>
                  <a:tcPr marL="91440" marR="91440" marT="45720" marB="45720"/>
                </a:tc>
                <a:tc>
                  <a:txBody>
                    <a:bodyPr/>
                    <a:lstStyle/>
                    <a:p>
                      <a:r>
                        <a:t>[20, 30]</a:t>
                      </a:r>
                    </a:p>
                  </a:txBody>
                  <a:tcPr marL="91440" marR="91440" marT="45720" marB="45720"/>
                </a:tc>
              </a:tr>
              <a:tr h="952500">
                <a:tc>
                  <a:txBody>
                    <a:bodyPr/>
                    <a:lstStyle/>
                    <a:p>
                      <a:r>
                        <a:t>2</a:t>
                      </a:r>
                    </a:p>
                  </a:txBody>
                  <a:tcPr marL="91440" marR="91440" marT="45720" marB="45720"/>
                </a:tc>
                <a:tc>
                  <a:txBody>
                    <a:bodyPr/>
                    <a:lstStyle/>
                    <a:p>
                      <a:r>
                        <a:t>[20, 30]</a:t>
                      </a:r>
                    </a:p>
                  </a:txBody>
                  <a:tcPr marL="91440" marR="91440" marT="45720" marB="45720"/>
                </a:tc>
                <a:tc>
                  <a:txBody>
                    <a:bodyPr/>
                    <a:lstStyle/>
                    <a:p>
                      <a:r>
                        <a:t>25</a:t>
                      </a:r>
                    </a:p>
                  </a:txBody>
                  <a:tcPr marL="91440" marR="91440" marT="45720" marB="45720"/>
                </a:tc>
                <a:tc>
                  <a:txBody>
                    <a:bodyPr/>
                    <a:lstStyle/>
                    <a:p>
                      <a:r>
                        <a:t>−3.7648</a:t>
                      </a:r>
                    </a:p>
                  </a:txBody>
                  <a:tcPr marL="91440" marR="91440" marT="45720" marB="45720"/>
                </a:tc>
                <a:tc>
                  <a:txBody>
                    <a:bodyPr/>
                    <a:lstStyle/>
                    <a:p>
                      <a:r>
                        <a:t>[25, 30]</a:t>
                      </a:r>
                    </a:p>
                  </a:txBody>
                  <a:tcPr marL="91440" marR="91440" marT="45720" marB="45720"/>
                </a:tc>
              </a:tr>
              <a:tr h="952500">
                <a:tc>
                  <a:txBody>
                    <a:bodyPr/>
                    <a:lstStyle/>
                    <a:p>
                      <a:r>
                        <a:t>3</a:t>
                      </a:r>
                    </a:p>
                  </a:txBody>
                  <a:tcPr marL="91440" marR="91440" marT="45720" marB="45720"/>
                </a:tc>
                <a:tc>
                  <a:txBody>
                    <a:bodyPr/>
                    <a:lstStyle/>
                    <a:p>
                      <a:r>
                        <a:t>[25, 30]</a:t>
                      </a:r>
                    </a:p>
                  </a:txBody>
                  <a:tcPr marL="91440" marR="91440" marT="45720" marB="45720"/>
                </a:tc>
                <a:tc>
                  <a:txBody>
                    <a:bodyPr/>
                    <a:lstStyle/>
                    <a:p>
                      <a:r>
                        <a:t>27.5</a:t>
                      </a:r>
                    </a:p>
                  </a:txBody>
                  <a:tcPr marL="91440" marR="91440" marT="45720" marB="45720"/>
                </a:tc>
                <a:tc>
                  <a:txBody>
                    <a:bodyPr/>
                    <a:lstStyle/>
                    <a:p>
                      <a:r>
                        <a:t>−1.5993</a:t>
                      </a:r>
                    </a:p>
                  </a:txBody>
                  <a:tcPr marL="91440" marR="91440" marT="45720" marB="45720"/>
                </a:tc>
                <a:tc>
                  <a:txBody>
                    <a:bodyPr/>
                    <a:lstStyle/>
                    <a:p>
                      <a:r>
                        <a:t>[27.5, 30]</a:t>
                      </a:r>
                    </a:p>
                  </a:txBody>
                  <a:tcPr marL="91440" marR="91440" marT="45720" marB="45720"/>
                </a:tc>
              </a:tr>
              <a:tr h="952500">
                <a:tc>
                  <a:txBody>
                    <a:bodyPr/>
                    <a:lstStyle/>
                    <a:p>
                      <a:r>
                        <a:t>4</a:t>
                      </a:r>
                    </a:p>
                  </a:txBody>
                  <a:tcPr marL="91440" marR="91440" marT="45720" marB="45720"/>
                </a:tc>
                <a:tc>
                  <a:txBody>
                    <a:bodyPr/>
                    <a:lstStyle/>
                    <a:p>
                      <a:r>
                        <a:t>[27.5, 30]</a:t>
                      </a:r>
                    </a:p>
                  </a:txBody>
                  <a:tcPr marL="91440" marR="91440" marT="45720" marB="45720"/>
                </a:tc>
                <a:tc>
                  <a:txBody>
                    <a:bodyPr/>
                    <a:lstStyle/>
                    <a:p>
                      <a:r>
                        <a:t>28.75</a:t>
                      </a:r>
                    </a:p>
                  </a:txBody>
                  <a:tcPr marL="91440" marR="91440" marT="45720" marB="45720"/>
                </a:tc>
                <a:tc>
                  <a:txBody>
                    <a:bodyPr/>
                    <a:lstStyle/>
                    <a:p>
                      <a:r>
                        <a:t>−0.61095</a:t>
                      </a:r>
                    </a:p>
                  </a:txBody>
                  <a:tcPr marL="91440" marR="91440" marT="45720" marB="45720"/>
                </a:tc>
                <a:tc>
                  <a:txBody>
                    <a:bodyPr/>
                    <a:lstStyle/>
                    <a:p>
                      <a:r>
                        <a:t>[28.75, 30]</a:t>
                      </a:r>
                    </a:p>
                  </a:txBody>
                  <a:tcPr marL="91440" marR="91440" marT="45720" marB="45720"/>
                </a:tc>
              </a:tr>
            </a:tbl>
          </a:graphicData>
        </a:graphic>
      </p:graphicFrame>
      <p:sp>
        <p:nvSpPr>
          <p:cNvPr id="5" name="trace-diagram-heading">
            <a:extLst xmlns:a="http://schemas.openxmlformats.org/drawingml/2006/main">
              <a:ext uri="{FF2B5EF4-FFF2-40B4-BE49-F238E27FC236}">
                <a16:creationId xmlns:a16="http://schemas.microsoft.com/office/drawing/2014/main" id="{FEFBC44F-AE90-474A-9034-5CE72C54CB45}"/>
              </a:ext>
            </a:extLst>
          </p:cNvPr>
          <p:cNvSpPr>
            <a:spLocks xmlns:a="http://schemas.openxmlformats.org/drawingml/2006/main" noGrp="1"/>
          </p:cNvSpPr>
          <p:nvPr/>
        </p:nvSpPr>
        <p:spPr>
          <a:xfrm xmlns:a="http://schemas.openxmlformats.org/drawingml/2006/main">
            <a:off x="12763500" y="27813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the sign-changing half survives</a:t>
            </a:r>
          </a:p>
        </p:txBody>
      </p:sp>
      <p:sp>
        <p:nvSpPr>
          <p:cNvPr id="6" name="trace-range-label-1">
            <a:extLst xmlns:a="http://schemas.openxmlformats.org/drawingml/2006/main">
              <a:ext uri="{FF2B5EF4-FFF2-40B4-BE49-F238E27FC236}">
                <a16:creationId xmlns:a16="http://schemas.microsoft.com/office/drawing/2014/main" id="{BC53AA42-56CA-4F08-A3C7-59443FE420AA}"/>
              </a:ext>
            </a:extLst>
          </p:cNvPr>
          <p:cNvSpPr>
            <a:spLocks xmlns:a="http://schemas.openxmlformats.org/drawingml/2006/main" noGrp="1"/>
          </p:cNvSpPr>
          <p:nvPr/>
        </p:nvSpPr>
        <p:spPr>
          <a:xfrm xmlns:a="http://schemas.openxmlformats.org/drawingml/2006/main">
            <a:off x="12573000" y="36385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1</a:t>
            </a:r>
          </a:p>
        </p:txBody>
      </p:sp>
      <p:sp>
        <p:nvSpPr>
          <p:cNvPr id="7" name="trace-range-line-1">
            <a:extLst xmlns:a="http://schemas.openxmlformats.org/drawingml/2006/main">
              <a:ext uri="{FF2B5EF4-FFF2-40B4-BE49-F238E27FC236}">
                <a16:creationId xmlns:a16="http://schemas.microsoft.com/office/drawing/2014/main" id="{32773FD6-2A1C-4F9B-9041-F029633A6293}"/>
              </a:ext>
            </a:extLst>
          </p:cNvPr>
          <p:cNvSpPr>
            <a:spLocks xmlns:a="http://schemas.openxmlformats.org/drawingml/2006/main" noGrp="1"/>
          </p:cNvSpPr>
          <p:nvPr/>
        </p:nvSpPr>
        <p:spPr>
          <a:xfrm xmlns:a="http://schemas.openxmlformats.org/drawingml/2006/main">
            <a:off x="13811250" y="3905250"/>
            <a:ext cx="22860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8" name="trace-range-left-1">
            <a:extLst xmlns:a="http://schemas.openxmlformats.org/drawingml/2006/main">
              <a:ext uri="{FF2B5EF4-FFF2-40B4-BE49-F238E27FC236}">
                <a16:creationId xmlns:a16="http://schemas.microsoft.com/office/drawing/2014/main" id="{83AF9959-EFE5-44CA-A3BF-3155354588CD}"/>
              </a:ext>
            </a:extLst>
          </p:cNvPr>
          <p:cNvSpPr>
            <a:spLocks xmlns:a="http://schemas.openxmlformats.org/drawingml/2006/main" noGrp="1"/>
          </p:cNvSpPr>
          <p:nvPr/>
        </p:nvSpPr>
        <p:spPr>
          <a:xfrm xmlns:a="http://schemas.openxmlformats.org/drawingml/2006/main">
            <a:off x="13706475" y="38004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9" name="trace-range-right-1">
            <a:extLst xmlns:a="http://schemas.openxmlformats.org/drawingml/2006/main">
              <a:ext uri="{FF2B5EF4-FFF2-40B4-BE49-F238E27FC236}">
                <a16:creationId xmlns:a16="http://schemas.microsoft.com/office/drawing/2014/main" id="{D7801CBE-9C41-435C-8BCC-8C89F4B39C20}"/>
              </a:ext>
            </a:extLst>
          </p:cNvPr>
          <p:cNvSpPr>
            <a:spLocks xmlns:a="http://schemas.openxmlformats.org/drawingml/2006/main" noGrp="1"/>
          </p:cNvSpPr>
          <p:nvPr/>
        </p:nvSpPr>
        <p:spPr>
          <a:xfrm xmlns:a="http://schemas.openxmlformats.org/drawingml/2006/main">
            <a:off x="15992475" y="38004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0" name="trace-range-text-1">
            <a:extLst xmlns:a="http://schemas.openxmlformats.org/drawingml/2006/main">
              <a:ext uri="{FF2B5EF4-FFF2-40B4-BE49-F238E27FC236}">
                <a16:creationId xmlns:a16="http://schemas.microsoft.com/office/drawing/2014/main" id="{2A4CF2F1-4167-4B17-8C00-F3A3EAD8D966}"/>
              </a:ext>
            </a:extLst>
          </p:cNvPr>
          <p:cNvSpPr>
            <a:spLocks xmlns:a="http://schemas.openxmlformats.org/drawingml/2006/main" noGrp="1"/>
          </p:cNvSpPr>
          <p:nvPr/>
        </p:nvSpPr>
        <p:spPr>
          <a:xfrm xmlns:a="http://schemas.openxmlformats.org/drawingml/2006/main">
            <a:off x="13430250" y="41910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[20, 40]</a:t>
            </a:r>
          </a:p>
        </p:txBody>
      </p:sp>
      <p:sp>
        <p:nvSpPr>
          <p:cNvPr id="11" name="trace-range-label-2">
            <a:extLst xmlns:a="http://schemas.openxmlformats.org/drawingml/2006/main">
              <a:ext uri="{FF2B5EF4-FFF2-40B4-BE49-F238E27FC236}">
                <a16:creationId xmlns:a16="http://schemas.microsoft.com/office/drawing/2014/main" id="{439E5249-236B-44C2-AE96-6E3E2490F366}"/>
              </a:ext>
            </a:extLst>
          </p:cNvPr>
          <p:cNvSpPr>
            <a:spLocks xmlns:a="http://schemas.openxmlformats.org/drawingml/2006/main" noGrp="1"/>
          </p:cNvSpPr>
          <p:nvPr/>
        </p:nvSpPr>
        <p:spPr>
          <a:xfrm xmlns:a="http://schemas.openxmlformats.org/drawingml/2006/main">
            <a:off x="12573000" y="4514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2</a:t>
            </a:r>
          </a:p>
        </p:txBody>
      </p:sp>
      <p:sp>
        <p:nvSpPr>
          <p:cNvPr id="12" name="trace-range-line-2">
            <a:extLst xmlns:a="http://schemas.openxmlformats.org/drawingml/2006/main">
              <a:ext uri="{FF2B5EF4-FFF2-40B4-BE49-F238E27FC236}">
                <a16:creationId xmlns:a16="http://schemas.microsoft.com/office/drawing/2014/main" id="{72134A2C-99FC-4223-9138-7AD5E4FF9D52}"/>
              </a:ext>
            </a:extLst>
          </p:cNvPr>
          <p:cNvSpPr>
            <a:spLocks xmlns:a="http://schemas.openxmlformats.org/drawingml/2006/main" noGrp="1"/>
          </p:cNvSpPr>
          <p:nvPr/>
        </p:nvSpPr>
        <p:spPr>
          <a:xfrm xmlns:a="http://schemas.openxmlformats.org/drawingml/2006/main">
            <a:off x="13811250" y="4781550"/>
            <a:ext cx="11430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13" name="trace-range-left-2">
            <a:extLst xmlns:a="http://schemas.openxmlformats.org/drawingml/2006/main">
              <a:ext uri="{FF2B5EF4-FFF2-40B4-BE49-F238E27FC236}">
                <a16:creationId xmlns:a16="http://schemas.microsoft.com/office/drawing/2014/main" id="{2EAF16E4-5B16-4A5A-A0F5-7EA55FF9FF21}"/>
              </a:ext>
            </a:extLst>
          </p:cNvPr>
          <p:cNvSpPr>
            <a:spLocks xmlns:a="http://schemas.openxmlformats.org/drawingml/2006/main" noGrp="1"/>
          </p:cNvSpPr>
          <p:nvPr/>
        </p:nvSpPr>
        <p:spPr>
          <a:xfrm xmlns:a="http://schemas.openxmlformats.org/drawingml/2006/main">
            <a:off x="13706475" y="46767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4" name="trace-range-right-2">
            <a:extLst xmlns:a="http://schemas.openxmlformats.org/drawingml/2006/main">
              <a:ext uri="{FF2B5EF4-FFF2-40B4-BE49-F238E27FC236}">
                <a16:creationId xmlns:a16="http://schemas.microsoft.com/office/drawing/2014/main" id="{EAE0734C-22CF-4AA9-8F4C-C480DCB80813}"/>
              </a:ext>
            </a:extLst>
          </p:cNvPr>
          <p:cNvSpPr>
            <a:spLocks xmlns:a="http://schemas.openxmlformats.org/drawingml/2006/main" noGrp="1"/>
          </p:cNvSpPr>
          <p:nvPr/>
        </p:nvSpPr>
        <p:spPr>
          <a:xfrm xmlns:a="http://schemas.openxmlformats.org/drawingml/2006/main">
            <a:off x="14849475" y="46767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5" name="trace-range-text-2">
            <a:extLst xmlns:a="http://schemas.openxmlformats.org/drawingml/2006/main">
              <a:ext uri="{FF2B5EF4-FFF2-40B4-BE49-F238E27FC236}">
                <a16:creationId xmlns:a16="http://schemas.microsoft.com/office/drawing/2014/main" id="{F029EFB0-1D7F-4727-BC66-29088727C695}"/>
              </a:ext>
            </a:extLst>
          </p:cNvPr>
          <p:cNvSpPr>
            <a:spLocks xmlns:a="http://schemas.openxmlformats.org/drawingml/2006/main" noGrp="1"/>
          </p:cNvSpPr>
          <p:nvPr/>
        </p:nvSpPr>
        <p:spPr>
          <a:xfrm xmlns:a="http://schemas.openxmlformats.org/drawingml/2006/main">
            <a:off x="13430250" y="5067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[20, 30]</a:t>
            </a:r>
          </a:p>
        </p:txBody>
      </p:sp>
      <p:sp>
        <p:nvSpPr>
          <p:cNvPr id="16" name="trace-range-label-3">
            <a:extLst xmlns:a="http://schemas.openxmlformats.org/drawingml/2006/main">
              <a:ext uri="{FF2B5EF4-FFF2-40B4-BE49-F238E27FC236}">
                <a16:creationId xmlns:a16="http://schemas.microsoft.com/office/drawing/2014/main" id="{3A42FD1B-8308-4A84-BC7B-466FEB9A9BAF}"/>
              </a:ext>
            </a:extLst>
          </p:cNvPr>
          <p:cNvSpPr>
            <a:spLocks xmlns:a="http://schemas.openxmlformats.org/drawingml/2006/main" noGrp="1"/>
          </p:cNvSpPr>
          <p:nvPr/>
        </p:nvSpPr>
        <p:spPr>
          <a:xfrm xmlns:a="http://schemas.openxmlformats.org/drawingml/2006/main">
            <a:off x="12573000" y="53911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3</a:t>
            </a:r>
          </a:p>
        </p:txBody>
      </p:sp>
      <p:sp>
        <p:nvSpPr>
          <p:cNvPr id="17" name="trace-range-line-3">
            <a:extLst xmlns:a="http://schemas.openxmlformats.org/drawingml/2006/main">
              <a:ext uri="{FF2B5EF4-FFF2-40B4-BE49-F238E27FC236}">
                <a16:creationId xmlns:a16="http://schemas.microsoft.com/office/drawing/2014/main" id="{16C6B9F5-EFCB-432E-BE59-8AC6E30B7685}"/>
              </a:ext>
            </a:extLst>
          </p:cNvPr>
          <p:cNvSpPr>
            <a:spLocks xmlns:a="http://schemas.openxmlformats.org/drawingml/2006/main" noGrp="1"/>
          </p:cNvSpPr>
          <p:nvPr/>
        </p:nvSpPr>
        <p:spPr>
          <a:xfrm xmlns:a="http://schemas.openxmlformats.org/drawingml/2006/main">
            <a:off x="14382750" y="5657850"/>
            <a:ext cx="5715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18" name="trace-range-left-3">
            <a:extLst xmlns:a="http://schemas.openxmlformats.org/drawingml/2006/main">
              <a:ext uri="{FF2B5EF4-FFF2-40B4-BE49-F238E27FC236}">
                <a16:creationId xmlns:a16="http://schemas.microsoft.com/office/drawing/2014/main" id="{6D8D1D18-78F7-4CB3-B077-D27BA11AC4E8}"/>
              </a:ext>
            </a:extLst>
          </p:cNvPr>
          <p:cNvSpPr>
            <a:spLocks xmlns:a="http://schemas.openxmlformats.org/drawingml/2006/main" noGrp="1"/>
          </p:cNvSpPr>
          <p:nvPr/>
        </p:nvSpPr>
        <p:spPr>
          <a:xfrm xmlns:a="http://schemas.openxmlformats.org/drawingml/2006/main">
            <a:off x="14277975" y="55530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9" name="trace-range-right-3">
            <a:extLst xmlns:a="http://schemas.openxmlformats.org/drawingml/2006/main">
              <a:ext uri="{FF2B5EF4-FFF2-40B4-BE49-F238E27FC236}">
                <a16:creationId xmlns:a16="http://schemas.microsoft.com/office/drawing/2014/main" id="{4986FFD7-B745-4B3D-9972-16BAE393987C}"/>
              </a:ext>
            </a:extLst>
          </p:cNvPr>
          <p:cNvSpPr>
            <a:spLocks xmlns:a="http://schemas.openxmlformats.org/drawingml/2006/main" noGrp="1"/>
          </p:cNvSpPr>
          <p:nvPr/>
        </p:nvSpPr>
        <p:spPr>
          <a:xfrm xmlns:a="http://schemas.openxmlformats.org/drawingml/2006/main">
            <a:off x="14849475" y="55530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0" name="trace-range-text-3">
            <a:extLst xmlns:a="http://schemas.openxmlformats.org/drawingml/2006/main">
              <a:ext uri="{FF2B5EF4-FFF2-40B4-BE49-F238E27FC236}">
                <a16:creationId xmlns:a16="http://schemas.microsoft.com/office/drawing/2014/main" id="{613DD081-BD3B-4A93-835F-533189E1D34A}"/>
              </a:ext>
            </a:extLst>
          </p:cNvPr>
          <p:cNvSpPr>
            <a:spLocks xmlns:a="http://schemas.openxmlformats.org/drawingml/2006/main" noGrp="1"/>
          </p:cNvSpPr>
          <p:nvPr/>
        </p:nvSpPr>
        <p:spPr>
          <a:xfrm xmlns:a="http://schemas.openxmlformats.org/drawingml/2006/main">
            <a:off x="13430250" y="594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[25, 30]</a:t>
            </a:r>
          </a:p>
        </p:txBody>
      </p:sp>
      <p:sp>
        <p:nvSpPr>
          <p:cNvPr id="21" name="trace-range-label-4">
            <a:extLst xmlns:a="http://schemas.openxmlformats.org/drawingml/2006/main">
              <a:ext uri="{FF2B5EF4-FFF2-40B4-BE49-F238E27FC236}">
                <a16:creationId xmlns:a16="http://schemas.microsoft.com/office/drawing/2014/main" id="{7B2C0CD3-035E-463B-8A61-45F790351F8C}"/>
              </a:ext>
            </a:extLst>
          </p:cNvPr>
          <p:cNvSpPr>
            <a:spLocks xmlns:a="http://schemas.openxmlformats.org/drawingml/2006/main" noGrp="1"/>
          </p:cNvSpPr>
          <p:nvPr/>
        </p:nvSpPr>
        <p:spPr>
          <a:xfrm xmlns:a="http://schemas.openxmlformats.org/drawingml/2006/main">
            <a:off x="12573000" y="62674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4</a:t>
            </a:r>
          </a:p>
        </p:txBody>
      </p:sp>
      <p:sp>
        <p:nvSpPr>
          <p:cNvPr id="22" name="trace-range-line-4">
            <a:extLst xmlns:a="http://schemas.openxmlformats.org/drawingml/2006/main">
              <a:ext uri="{FF2B5EF4-FFF2-40B4-BE49-F238E27FC236}">
                <a16:creationId xmlns:a16="http://schemas.microsoft.com/office/drawing/2014/main" id="{455C664F-BE2C-44DA-8C44-DD6EDE957AC1}"/>
              </a:ext>
            </a:extLst>
          </p:cNvPr>
          <p:cNvSpPr>
            <a:spLocks xmlns:a="http://schemas.openxmlformats.org/drawingml/2006/main" noGrp="1"/>
          </p:cNvSpPr>
          <p:nvPr/>
        </p:nvSpPr>
        <p:spPr>
          <a:xfrm xmlns:a="http://schemas.openxmlformats.org/drawingml/2006/main">
            <a:off x="14668500" y="6534150"/>
            <a:ext cx="28575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23" name="trace-range-left-4">
            <a:extLst xmlns:a="http://schemas.openxmlformats.org/drawingml/2006/main">
              <a:ext uri="{FF2B5EF4-FFF2-40B4-BE49-F238E27FC236}">
                <a16:creationId xmlns:a16="http://schemas.microsoft.com/office/drawing/2014/main" id="{47D08494-0EA7-479E-8CBB-5F0CE4357F4C}"/>
              </a:ext>
            </a:extLst>
          </p:cNvPr>
          <p:cNvSpPr>
            <a:spLocks xmlns:a="http://schemas.openxmlformats.org/drawingml/2006/main" noGrp="1"/>
          </p:cNvSpPr>
          <p:nvPr/>
        </p:nvSpPr>
        <p:spPr>
          <a:xfrm xmlns:a="http://schemas.openxmlformats.org/drawingml/2006/main">
            <a:off x="14563725" y="64293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4" name="trace-range-right-4">
            <a:extLst xmlns:a="http://schemas.openxmlformats.org/drawingml/2006/main">
              <a:ext uri="{FF2B5EF4-FFF2-40B4-BE49-F238E27FC236}">
                <a16:creationId xmlns:a16="http://schemas.microsoft.com/office/drawing/2014/main" id="{10150B24-5257-43D1-893D-E48EA112E0A8}"/>
              </a:ext>
            </a:extLst>
          </p:cNvPr>
          <p:cNvSpPr>
            <a:spLocks xmlns:a="http://schemas.openxmlformats.org/drawingml/2006/main" noGrp="1"/>
          </p:cNvSpPr>
          <p:nvPr/>
        </p:nvSpPr>
        <p:spPr>
          <a:xfrm xmlns:a="http://schemas.openxmlformats.org/drawingml/2006/main">
            <a:off x="14849475" y="64293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5" name="trace-range-text-4">
            <a:extLst xmlns:a="http://schemas.openxmlformats.org/drawingml/2006/main">
              <a:ext uri="{FF2B5EF4-FFF2-40B4-BE49-F238E27FC236}">
                <a16:creationId xmlns:a16="http://schemas.microsoft.com/office/drawing/2014/main" id="{C8B235F1-A7DD-4136-AE00-3F732CFE327A}"/>
              </a:ext>
            </a:extLst>
          </p:cNvPr>
          <p:cNvSpPr>
            <a:spLocks xmlns:a="http://schemas.openxmlformats.org/drawingml/2006/main" noGrp="1"/>
          </p:cNvSpPr>
          <p:nvPr/>
        </p:nvSpPr>
        <p:spPr>
          <a:xfrm xmlns:a="http://schemas.openxmlformats.org/drawingml/2006/main">
            <a:off x="13430250" y="6819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[27.5, 30]</a:t>
            </a:r>
          </a:p>
        </p:txBody>
      </p:sp>
      <p:sp>
        <p:nvSpPr>
          <p:cNvPr id="26" name="trace-takeaway">
            <a:extLst xmlns:a="http://schemas.openxmlformats.org/drawingml/2006/main">
              <a:ext uri="{FF2B5EF4-FFF2-40B4-BE49-F238E27FC236}">
                <a16:creationId xmlns:a16="http://schemas.microsoft.com/office/drawing/2014/main" id="{FF9BB670-5E39-4326-BCD0-6C47621C581C}"/>
              </a:ext>
            </a:extLst>
          </p:cNvPr>
          <p:cNvSpPr>
            <a:spLocks xmlns:a="http://schemas.openxmlformats.org/drawingml/2006/main" noGrp="1"/>
          </p:cNvSpPr>
          <p:nvPr/>
        </p:nvSpPr>
        <p:spPr>
          <a:xfrm xmlns:a="http://schemas.openxmlformats.org/drawingml/2006/main">
            <a:off x="1095375" y="8048625"/>
            <a:ext cx="14859000" cy="590550"/>
          </a:xfrm>
          <a:prstGeom xmlns:a="http://schemas.openxmlformats.org/drawingml/2006/main" prst="roundRect">
            <a:avLst>
              <a:gd name="adj" fmla="val 35484"/>
            </a:avLst>
          </a:prstGeom>
          <a:solidFill xmlns:a="http://schemas.openxmlformats.org/drawingml/2006/main">
            <a:srgbClr val="F0FAF7"/>
          </a:solidFill>
          <a:ln xmlns:a="http://schemas.openxmlformats.org/drawingml/2006/main" w="19050">
            <a:noFill/>
            <a:prstDash val="solid"/>
          </a:ln>
        </p:spPr>
      </p:sp>
      <p:sp>
        <p:nvSpPr>
          <p:cNvPr id="27" name="trace-takeaway-text">
            <a:extLst xmlns:a="http://schemas.openxmlformats.org/drawingml/2006/main">
              <a:ext uri="{FF2B5EF4-FFF2-40B4-BE49-F238E27FC236}">
                <a16:creationId xmlns:a16="http://schemas.microsoft.com/office/drawing/2014/main" id="{7143D5A7-2A71-46DD-ABF5-9B0B2F505AFD}"/>
              </a:ext>
            </a:extLst>
          </p:cNvPr>
          <p:cNvSpPr>
            <a:spLocks xmlns:a="http://schemas.openxmlformats.org/drawingml/2006/main" noGrp="1"/>
          </p:cNvSpPr>
          <p:nvPr/>
        </p:nvSpPr>
        <p:spPr>
          <a:xfrm xmlns:a="http://schemas.openxmlformats.org/drawingml/2006/main">
            <a:off x="1428750" y="8181975"/>
            <a:ext cx="1419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Each row leaves one sign change intact, so the root stays inside the next bracket</a:t>
            </a:r>
          </a:p>
        </p:txBody>
      </p:sp>
    </p:spTree>
    <p:extLst>
      <p:ext uri="{BB962C8B-B14F-4D97-AF65-F5344CB8AC3E}">
        <p14:creationId xmlns:p14="http://schemas.microsoft.com/office/powerpoint/2010/main" val="14031597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Read the bisection scaffold, line by line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The loop is a translation of the sign-preserving algorithm</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7</a:t>
            </a:r>
            <a:endParaRPr sz="1650">
              <a:solidFill>
                <a:srgbClr val="697684"/>
              </a:solidFill>
              <a:latin typeface="Nunito"/>
              <a:ea typeface="Nunito"/>
              <a:cs typeface="Nunito"/>
            </a:endParaRPr>
          </a:p>
        </p:txBody>
      </p:sp>
      <p:sp>
        <p:nvSpPr>
          <p:cNvPr id="4" name="bisection-code-card">
            <a:extLst xmlns:a="http://schemas.openxmlformats.org/drawingml/2006/main">
              <a:ext uri="{FF2B5EF4-FFF2-40B4-BE49-F238E27FC236}">
                <a16:creationId xmlns:a16="http://schemas.microsoft.com/office/drawing/2014/main" id="{04C032C5-7D73-4C7C-9DA9-0A757432E4E8}"/>
              </a:ext>
            </a:extLst>
          </p:cNvPr>
          <p:cNvSpPr>
            <a:spLocks xmlns:a="http://schemas.openxmlformats.org/drawingml/2006/main" noGrp="1"/>
          </p:cNvSpPr>
          <p:nvPr/>
        </p:nvSpPr>
        <p:spPr>
          <a:xfrm xmlns:a="http://schemas.openxmlformats.org/drawingml/2006/main">
            <a:off x="1095375" y="2714625"/>
            <a:ext cx="16097250" cy="5334000"/>
          </a:xfrm>
          <a:prstGeom xmlns:a="http://schemas.openxmlformats.org/drawingml/2006/main" prst="roundRect">
            <a:avLst>
              <a:gd name="adj" fmla="val 3929"/>
            </a:avLst>
          </a:prstGeom>
          <a:solidFill xmlns:a="http://schemas.openxmlformats.org/drawingml/2006/main">
            <a:srgbClr val="F4F8FC"/>
          </a:solidFill>
          <a:ln xmlns:a="http://schemas.openxmlformats.org/drawingml/2006/main" w="19050">
            <a:solidFill>
              <a:srgbClr val="AAB4BE"/>
            </a:solidFill>
            <a:prstDash val="solid"/>
          </a:ln>
        </p:spPr>
      </p:sp>
      <p:sp>
        <p:nvSpPr>
          <p:cNvPr id="5" name="bisection-code-label">
            <a:extLst xmlns:a="http://schemas.openxmlformats.org/drawingml/2006/main">
              <a:ext uri="{FF2B5EF4-FFF2-40B4-BE49-F238E27FC236}">
                <a16:creationId xmlns:a16="http://schemas.microsoft.com/office/drawing/2014/main" id="{23CA9EC1-15AB-4918-A811-1AA09AC0C242}"/>
              </a:ext>
            </a:extLst>
          </p:cNvPr>
          <p:cNvSpPr>
            <a:spLocks xmlns:a="http://schemas.openxmlformats.org/drawingml/2006/main" noGrp="1"/>
          </p:cNvSpPr>
          <p:nvPr/>
        </p:nvSpPr>
        <p:spPr>
          <a:xfrm xmlns:a="http://schemas.openxmlformats.org/drawingml/2006/main">
            <a:off x="1428750" y="30003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2F6DB2"/>
                </a:solidFill>
                <a:latin typeface="Nunito"/>
                <a:ea typeface="Nunito"/>
                <a:cs typeface="Nunito"/>
              </a:defRPr>
            </a:pPr>
            <a:r>
              <a:rPr sz="2100" b="1">
                <a:solidFill>
                  <a:srgbClr val="2F6DB2"/>
                </a:solidFill>
                <a:latin typeface="Nunito"/>
                <a:ea typeface="Nunito"/>
                <a:cs typeface="Nunito"/>
              </a:rPr>
              <a:t>MATLAB scaffold</a:t>
            </a:r>
          </a:p>
        </p:txBody>
      </p:sp>
      <p:sp>
        <p:nvSpPr>
          <p:cNvPr id="6" name="bisection-code">
            <a:extLst xmlns:a="http://schemas.openxmlformats.org/drawingml/2006/main">
              <a:ext uri="{FF2B5EF4-FFF2-40B4-BE49-F238E27FC236}">
                <a16:creationId xmlns:a16="http://schemas.microsoft.com/office/drawing/2014/main" id="{9D9ED43A-BFDF-4523-AC38-11B8BE1CE519}"/>
              </a:ext>
            </a:extLst>
          </p:cNvPr>
          <p:cNvSpPr>
            <a:spLocks xmlns:a="http://schemas.openxmlformats.org/drawingml/2006/main" noGrp="1"/>
          </p:cNvSpPr>
          <p:nvPr/>
        </p:nvSpPr>
        <p:spPr>
          <a:xfrm xmlns:a="http://schemas.openxmlformats.org/drawingml/2006/main">
            <a:off x="1428750" y="3429000"/>
            <a:ext cx="15430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86138"/>
          </a:bodyPr>
          <a:lstStyle xmlns:a="http://schemas.openxmlformats.org/drawingml/2006/main"/>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bis_left_deg = left_deg;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bis_right_deg = right_deg;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for iteration = 1:max_iterations</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mid_deg = (bis_left_deg + bis_right_deg)/2;</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f_mid_m = (v0_mps^2/g_mps2)*sind(2*mid_deg) - target_m;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if abs(f_mid_m) &lt; tolerance_m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break</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f_bis_left_m = (v0_mps^2/g_mps2)*sind(2*bis_left_deg) - target_m;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if f_bis_left_m*f_mid_m &lt; 0</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bis_right_deg = mid_deg;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else</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bis_left_deg = mid_deg;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bisection_root_deg = mid_deg;</a:t>
            </a:r>
          </a:p>
        </p:txBody>
      </p:sp>
      <p:sp>
        <p:nvSpPr>
          <p:cNvPr id="7" name="code-callout-circle-1">
            <a:extLst xmlns:a="http://schemas.openxmlformats.org/drawingml/2006/main">
              <a:ext uri="{FF2B5EF4-FFF2-40B4-BE49-F238E27FC236}">
                <a16:creationId xmlns:a16="http://schemas.microsoft.com/office/drawing/2014/main" id="{2B9F9B51-EAD2-4559-A46C-CC8E5B67B59D}"/>
              </a:ext>
            </a:extLst>
          </p:cNvPr>
          <p:cNvSpPr>
            <a:spLocks xmlns:a="http://schemas.openxmlformats.org/drawingml/2006/main" noGrp="1"/>
          </p:cNvSpPr>
          <p:nvPr/>
        </p:nvSpPr>
        <p:spPr>
          <a:xfrm xmlns:a="http://schemas.openxmlformats.org/drawingml/2006/main">
            <a:off x="1428750" y="7762875"/>
            <a:ext cx="323850" cy="3238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8" name="code-callout-number-1">
            <a:extLst xmlns:a="http://schemas.openxmlformats.org/drawingml/2006/main">
              <a:ext uri="{FF2B5EF4-FFF2-40B4-BE49-F238E27FC236}">
                <a16:creationId xmlns:a16="http://schemas.microsoft.com/office/drawing/2014/main" id="{53C9BB38-305C-4249-9A16-6FA2030FBFB5}"/>
              </a:ext>
            </a:extLst>
          </p:cNvPr>
          <p:cNvSpPr>
            <a:spLocks xmlns:a="http://schemas.openxmlformats.org/drawingml/2006/main" noGrp="1"/>
          </p:cNvSpPr>
          <p:nvPr/>
        </p:nvSpPr>
        <p:spPr>
          <a:xfrm xmlns:a="http://schemas.openxmlformats.org/drawingml/2006/main">
            <a:off x="1428750"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1</a:t>
            </a:r>
          </a:p>
        </p:txBody>
      </p:sp>
      <p:sp>
        <p:nvSpPr>
          <p:cNvPr id="9" name="code-callout-label-1">
            <a:extLst xmlns:a="http://schemas.openxmlformats.org/drawingml/2006/main">
              <a:ext uri="{FF2B5EF4-FFF2-40B4-BE49-F238E27FC236}">
                <a16:creationId xmlns:a16="http://schemas.microsoft.com/office/drawing/2014/main" id="{64277A79-D7BF-4B55-81D4-AAFAAC7CF042}"/>
              </a:ext>
            </a:extLst>
          </p:cNvPr>
          <p:cNvSpPr>
            <a:spLocks xmlns:a="http://schemas.openxmlformats.org/drawingml/2006/main" noGrp="1"/>
          </p:cNvSpPr>
          <p:nvPr/>
        </p:nvSpPr>
        <p:spPr>
          <a:xfrm xmlns:a="http://schemas.openxmlformats.org/drawingml/2006/main">
            <a:off x="1885950"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midpoint</a:t>
            </a:r>
          </a:p>
        </p:txBody>
      </p:sp>
      <p:sp>
        <p:nvSpPr>
          <p:cNvPr id="10" name="code-callout-circle-2">
            <a:extLst xmlns:a="http://schemas.openxmlformats.org/drawingml/2006/main">
              <a:ext uri="{FF2B5EF4-FFF2-40B4-BE49-F238E27FC236}">
                <a16:creationId xmlns:a16="http://schemas.microsoft.com/office/drawing/2014/main" id="{755D0B65-F978-4818-A9FF-04ABB59756BD}"/>
              </a:ext>
            </a:extLst>
          </p:cNvPr>
          <p:cNvSpPr>
            <a:spLocks xmlns:a="http://schemas.openxmlformats.org/drawingml/2006/main" noGrp="1"/>
          </p:cNvSpPr>
          <p:nvPr/>
        </p:nvSpPr>
        <p:spPr>
          <a:xfrm xmlns:a="http://schemas.openxmlformats.org/drawingml/2006/main">
            <a:off x="5286375" y="7762875"/>
            <a:ext cx="323850" cy="3238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1" name="code-callout-number-2">
            <a:extLst xmlns:a="http://schemas.openxmlformats.org/drawingml/2006/main">
              <a:ext uri="{FF2B5EF4-FFF2-40B4-BE49-F238E27FC236}">
                <a16:creationId xmlns:a16="http://schemas.microsoft.com/office/drawing/2014/main" id="{DD50E4E1-5ADF-4A57-93BB-27E61CA61ACC}"/>
              </a:ext>
            </a:extLst>
          </p:cNvPr>
          <p:cNvSpPr>
            <a:spLocks xmlns:a="http://schemas.openxmlformats.org/drawingml/2006/main" noGrp="1"/>
          </p:cNvSpPr>
          <p:nvPr/>
        </p:nvSpPr>
        <p:spPr>
          <a:xfrm xmlns:a="http://schemas.openxmlformats.org/drawingml/2006/main">
            <a:off x="5286375"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2</a:t>
            </a:r>
          </a:p>
        </p:txBody>
      </p:sp>
      <p:sp>
        <p:nvSpPr>
          <p:cNvPr id="12" name="code-callout-label-2">
            <a:extLst xmlns:a="http://schemas.openxmlformats.org/drawingml/2006/main">
              <a:ext uri="{FF2B5EF4-FFF2-40B4-BE49-F238E27FC236}">
                <a16:creationId xmlns:a16="http://schemas.microsoft.com/office/drawing/2014/main" id="{F948D4E8-1D30-4A10-9F9D-39ABC1923146}"/>
              </a:ext>
            </a:extLst>
          </p:cNvPr>
          <p:cNvSpPr>
            <a:spLocks xmlns:a="http://schemas.openxmlformats.org/drawingml/2006/main" noGrp="1"/>
          </p:cNvSpPr>
          <p:nvPr/>
        </p:nvSpPr>
        <p:spPr>
          <a:xfrm xmlns:a="http://schemas.openxmlformats.org/drawingml/2006/main">
            <a:off x="5743575"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stop on residual</a:t>
            </a:r>
          </a:p>
        </p:txBody>
      </p:sp>
      <p:sp>
        <p:nvSpPr>
          <p:cNvPr id="13" name="code-callout-circle-3">
            <a:extLst xmlns:a="http://schemas.openxmlformats.org/drawingml/2006/main">
              <a:ext uri="{FF2B5EF4-FFF2-40B4-BE49-F238E27FC236}">
                <a16:creationId xmlns:a16="http://schemas.microsoft.com/office/drawing/2014/main" id="{D080CBAD-CFF6-4ADB-9CA8-3F958D05C7DC}"/>
              </a:ext>
            </a:extLst>
          </p:cNvPr>
          <p:cNvSpPr>
            <a:spLocks xmlns:a="http://schemas.openxmlformats.org/drawingml/2006/main" noGrp="1"/>
          </p:cNvSpPr>
          <p:nvPr/>
        </p:nvSpPr>
        <p:spPr>
          <a:xfrm xmlns:a="http://schemas.openxmlformats.org/drawingml/2006/main">
            <a:off x="9144000" y="7762875"/>
            <a:ext cx="323850" cy="32385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14" name="code-callout-number-3">
            <a:extLst xmlns:a="http://schemas.openxmlformats.org/drawingml/2006/main">
              <a:ext uri="{FF2B5EF4-FFF2-40B4-BE49-F238E27FC236}">
                <a16:creationId xmlns:a16="http://schemas.microsoft.com/office/drawing/2014/main" id="{CFC33679-2D58-4246-95DB-DED65F43C157}"/>
              </a:ext>
            </a:extLst>
          </p:cNvPr>
          <p:cNvSpPr>
            <a:spLocks xmlns:a="http://schemas.openxmlformats.org/drawingml/2006/main" noGrp="1"/>
          </p:cNvSpPr>
          <p:nvPr/>
        </p:nvSpPr>
        <p:spPr>
          <a:xfrm xmlns:a="http://schemas.openxmlformats.org/drawingml/2006/main">
            <a:off x="9144000"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3</a:t>
            </a:r>
          </a:p>
        </p:txBody>
      </p:sp>
      <p:sp>
        <p:nvSpPr>
          <p:cNvPr id="15" name="code-callout-label-3">
            <a:extLst xmlns:a="http://schemas.openxmlformats.org/drawingml/2006/main">
              <a:ext uri="{FF2B5EF4-FFF2-40B4-BE49-F238E27FC236}">
                <a16:creationId xmlns:a16="http://schemas.microsoft.com/office/drawing/2014/main" id="{9913A511-0F0D-42E2-97B0-21366847DF79}"/>
              </a:ext>
            </a:extLst>
          </p:cNvPr>
          <p:cNvSpPr>
            <a:spLocks xmlns:a="http://schemas.openxmlformats.org/drawingml/2006/main" noGrp="1"/>
          </p:cNvSpPr>
          <p:nvPr/>
        </p:nvSpPr>
        <p:spPr>
          <a:xfrm xmlns:a="http://schemas.openxmlformats.org/drawingml/2006/main">
            <a:off x="9601200"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2F6DB2"/>
                </a:solidFill>
                <a:latin typeface="Nunito"/>
                <a:ea typeface="Nunito"/>
                <a:cs typeface="Nunito"/>
              </a:defRPr>
            </a:pPr>
            <a:r>
              <a:rPr sz="1650" b="1">
                <a:solidFill>
                  <a:srgbClr val="2F6DB2"/>
                </a:solidFill>
                <a:latin typeface="Nunito"/>
                <a:ea typeface="Nunito"/>
                <a:cs typeface="Nunito"/>
              </a:rPr>
              <a:t>test left sign</a:t>
            </a:r>
          </a:p>
        </p:txBody>
      </p:sp>
      <p:sp>
        <p:nvSpPr>
          <p:cNvPr id="16" name="code-callout-circle-4">
            <a:extLst xmlns:a="http://schemas.openxmlformats.org/drawingml/2006/main">
              <a:ext uri="{FF2B5EF4-FFF2-40B4-BE49-F238E27FC236}">
                <a16:creationId xmlns:a16="http://schemas.microsoft.com/office/drawing/2014/main" id="{54EB01AE-3EF5-4387-85E1-94902E7DC1F3}"/>
              </a:ext>
            </a:extLst>
          </p:cNvPr>
          <p:cNvSpPr>
            <a:spLocks xmlns:a="http://schemas.openxmlformats.org/drawingml/2006/main" noGrp="1"/>
          </p:cNvSpPr>
          <p:nvPr/>
        </p:nvSpPr>
        <p:spPr>
          <a:xfrm xmlns:a="http://schemas.openxmlformats.org/drawingml/2006/main">
            <a:off x="13001625" y="7762875"/>
            <a:ext cx="323850" cy="3238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7" name="code-callout-number-4">
            <a:extLst xmlns:a="http://schemas.openxmlformats.org/drawingml/2006/main">
              <a:ext uri="{FF2B5EF4-FFF2-40B4-BE49-F238E27FC236}">
                <a16:creationId xmlns:a16="http://schemas.microsoft.com/office/drawing/2014/main" id="{1AE2B007-0BFF-4489-A3CE-792B00363A67}"/>
              </a:ext>
            </a:extLst>
          </p:cNvPr>
          <p:cNvSpPr>
            <a:spLocks xmlns:a="http://schemas.openxmlformats.org/drawingml/2006/main" noGrp="1"/>
          </p:cNvSpPr>
          <p:nvPr/>
        </p:nvSpPr>
        <p:spPr>
          <a:xfrm xmlns:a="http://schemas.openxmlformats.org/drawingml/2006/main">
            <a:off x="13001625"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4</a:t>
            </a:r>
          </a:p>
        </p:txBody>
      </p:sp>
      <p:sp>
        <p:nvSpPr>
          <p:cNvPr id="18" name="code-callout-label-4">
            <a:extLst xmlns:a="http://schemas.openxmlformats.org/drawingml/2006/main">
              <a:ext uri="{FF2B5EF4-FFF2-40B4-BE49-F238E27FC236}">
                <a16:creationId xmlns:a16="http://schemas.microsoft.com/office/drawing/2014/main" id="{181D9679-92A0-4B8F-919D-F8EC3A0E6488}"/>
              </a:ext>
            </a:extLst>
          </p:cNvPr>
          <p:cNvSpPr>
            <a:spLocks xmlns:a="http://schemas.openxmlformats.org/drawingml/2006/main" noGrp="1"/>
          </p:cNvSpPr>
          <p:nvPr/>
        </p:nvSpPr>
        <p:spPr>
          <a:xfrm xmlns:a="http://schemas.openxmlformats.org/drawingml/2006/main">
            <a:off x="13458825"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replace one bound</a:t>
            </a:r>
          </a:p>
        </p:txBody>
      </p:sp>
      <p:sp>
        <p:nvSpPr>
          <p:cNvPr id="19" name="code-prompt">
            <a:extLst xmlns:a="http://schemas.openxmlformats.org/drawingml/2006/main">
              <a:ext uri="{FF2B5EF4-FFF2-40B4-BE49-F238E27FC236}">
                <a16:creationId xmlns:a16="http://schemas.microsoft.com/office/drawing/2014/main" id="{BC20B32D-BAD5-4C5B-A039-CD1F4D1CFCB3}"/>
              </a:ext>
            </a:extLst>
          </p:cNvPr>
          <p:cNvSpPr>
            <a:spLocks xmlns:a="http://schemas.openxmlformats.org/drawingml/2006/main" noGrp="1"/>
          </p:cNvSpPr>
          <p:nvPr/>
        </p:nvSpPr>
        <p:spPr>
          <a:xfrm xmlns:a="http://schemas.openxmlformats.org/drawingml/2006/main">
            <a:off x="1095375" y="8334375"/>
            <a:ext cx="14859000" cy="476250"/>
          </a:xfrm>
          <a:prstGeom xmlns:a="http://schemas.openxmlformats.org/drawingml/2006/main" prst="roundRect">
            <a:avLst>
              <a:gd name="adj" fmla="val 44000"/>
            </a:avLst>
          </a:prstGeom>
          <a:solidFill xmlns:a="http://schemas.openxmlformats.org/drawingml/2006/main">
            <a:srgbClr val="FFF7E6"/>
          </a:solidFill>
          <a:ln xmlns:a="http://schemas.openxmlformats.org/drawingml/2006/main" w="19050">
            <a:noFill/>
            <a:prstDash val="solid"/>
          </a:ln>
        </p:spPr>
      </p:sp>
      <p:sp>
        <p:nvSpPr>
          <p:cNvPr id="20" name="code-prompt-text">
            <a:extLst xmlns:a="http://schemas.openxmlformats.org/drawingml/2006/main">
              <a:ext uri="{FF2B5EF4-FFF2-40B4-BE49-F238E27FC236}">
                <a16:creationId xmlns:a16="http://schemas.microsoft.com/office/drawing/2014/main" id="{EA8B09D6-2F4B-443D-94C8-EB6F18A03599}"/>
              </a:ext>
            </a:extLst>
          </p:cNvPr>
          <p:cNvSpPr>
            <a:spLocks xmlns:a="http://schemas.openxmlformats.org/drawingml/2006/main" noGrp="1"/>
          </p:cNvSpPr>
          <p:nvPr/>
        </p:nvSpPr>
        <p:spPr>
          <a:xfrm xmlns:a="http://schemas.openxmlformats.org/drawingml/2006/main">
            <a:off x="1428750" y="8429625"/>
            <a:ext cx="1419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Which line protects the sign change?</a:t>
            </a:r>
          </a:p>
        </p:txBody>
      </p:sp>
    </p:spTree>
    <p:extLst>
      <p:ext uri="{BB962C8B-B14F-4D97-AF65-F5344CB8AC3E}">
        <p14:creationId xmlns:p14="http://schemas.microsoft.com/office/powerpoint/2010/main" val="12424908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Stop once, then substitute back</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small residual matters only after checking the physical model</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8</a:t>
            </a:r>
            <a:endParaRPr sz="1650">
              <a:solidFill>
                <a:srgbClr val="697684"/>
              </a:solidFill>
              <a:latin typeface="Nunito"/>
              <a:ea typeface="Nunito"/>
              <a:cs typeface="Nunito"/>
            </a:endParaRPr>
          </a:p>
        </p:txBody>
      </p:sp>
      <p:sp>
        <p:nvSpPr>
          <p:cNvPr id="4" name="bisection-result-card">
            <a:extLst xmlns:a="http://schemas.openxmlformats.org/drawingml/2006/main">
              <a:ext uri="{FF2B5EF4-FFF2-40B4-BE49-F238E27FC236}">
                <a16:creationId xmlns:a16="http://schemas.microsoft.com/office/drawing/2014/main" id="{E2F9E1A4-9CD9-402D-9D2E-472D88ACC426}"/>
              </a:ext>
            </a:extLst>
          </p:cNvPr>
          <p:cNvSpPr>
            <a:spLocks xmlns:a="http://schemas.openxmlformats.org/drawingml/2006/main" noGrp="1"/>
          </p:cNvSpPr>
          <p:nvPr/>
        </p:nvSpPr>
        <p:spPr>
          <a:xfrm xmlns:a="http://schemas.openxmlformats.org/drawingml/2006/main">
            <a:off x="1095375" y="2714625"/>
            <a:ext cx="5619750" cy="5095875"/>
          </a:xfrm>
          <a:prstGeom xmlns:a="http://schemas.openxmlformats.org/drawingml/2006/main" prst="roundRect">
            <a:avLst>
              <a:gd name="adj" fmla="val 4112"/>
            </a:avLst>
          </a:prstGeom>
          <a:solidFill xmlns:a="http://schemas.openxmlformats.org/drawingml/2006/main">
            <a:srgbClr val="EEF5FD"/>
          </a:solidFill>
          <a:ln xmlns:a="http://schemas.openxmlformats.org/drawingml/2006/main" w="19050">
            <a:solidFill>
              <a:srgbClr val="2F6DB2"/>
            </a:solidFill>
            <a:prstDash val="solid"/>
          </a:ln>
        </p:spPr>
      </p:sp>
      <p:sp>
        <p:nvSpPr>
          <p:cNvPr id="5" name="bisection-result-heading">
            <a:extLst xmlns:a="http://schemas.openxmlformats.org/drawingml/2006/main">
              <a:ext uri="{FF2B5EF4-FFF2-40B4-BE49-F238E27FC236}">
                <a16:creationId xmlns:a16="http://schemas.microsoft.com/office/drawing/2014/main" id="{490C268D-1399-412C-AA23-5C676BD5232A}"/>
              </a:ext>
            </a:extLst>
          </p:cNvPr>
          <p:cNvSpPr>
            <a:spLocks xmlns:a="http://schemas.openxmlformats.org/drawingml/2006/main" noGrp="1"/>
          </p:cNvSpPr>
          <p:nvPr/>
        </p:nvSpPr>
        <p:spPr>
          <a:xfrm xmlns:a="http://schemas.openxmlformats.org/drawingml/2006/main">
            <a:off x="1428750" y="3143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bisection result</a:t>
            </a:r>
          </a:p>
        </p:txBody>
      </p:sp>
      <p:sp>
        <p:nvSpPr>
          <p:cNvPr id="6" name="bisection-root">
            <a:extLst xmlns:a="http://schemas.openxmlformats.org/drawingml/2006/main">
              <a:ext uri="{FF2B5EF4-FFF2-40B4-BE49-F238E27FC236}">
                <a16:creationId xmlns:a16="http://schemas.microsoft.com/office/drawing/2014/main" id="{0872524D-83DB-4CAE-A2CC-EC15206FC0CA}"/>
              </a:ext>
            </a:extLst>
          </p:cNvPr>
          <p:cNvSpPr>
            <a:spLocks xmlns:a="http://schemas.openxmlformats.org/drawingml/2006/main" noGrp="1"/>
          </p:cNvSpPr>
          <p:nvPr/>
        </p:nvSpPr>
        <p:spPr>
          <a:xfrm xmlns:a="http://schemas.openxmlformats.org/drawingml/2006/main">
            <a:off x="1428750" y="40005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3150" b="1">
                <a:solidFill>
                  <a:srgbClr val="0B2B4C"/>
                </a:solidFill>
                <a:latin typeface="Nunito"/>
                <a:ea typeface="Nunito"/>
                <a:cs typeface="Nunito"/>
              </a:defRPr>
            </a:pPr>
            <a:r>
              <a:rPr sz="3150" b="1">
                <a:solidFill>
                  <a:srgbClr val="0B2B4C"/>
                </a:solidFill>
                <a:latin typeface="Nunito"/>
                <a:ea typeface="Nunito"/>
                <a:cs typeface="Nunito"/>
              </a:rPr>
              <a:t>29.5679 degree</a:t>
            </a:r>
          </a:p>
        </p:txBody>
      </p:sp>
      <p:sp>
        <p:nvSpPr>
          <p:cNvPr id="7" name="bisection-iterations">
            <a:extLst xmlns:a="http://schemas.openxmlformats.org/drawingml/2006/main">
              <a:ext uri="{FF2B5EF4-FFF2-40B4-BE49-F238E27FC236}">
                <a16:creationId xmlns:a16="http://schemas.microsoft.com/office/drawing/2014/main" id="{3BC7B05F-72B7-4435-B540-61CCA9E68C1F}"/>
              </a:ext>
            </a:extLst>
          </p:cNvPr>
          <p:cNvSpPr>
            <a:spLocks xmlns:a="http://schemas.openxmlformats.org/drawingml/2006/main" noGrp="1"/>
          </p:cNvSpPr>
          <p:nvPr/>
        </p:nvSpPr>
        <p:spPr>
          <a:xfrm xmlns:a="http://schemas.openxmlformats.org/drawingml/2006/main">
            <a:off x="1428750" y="4857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0">
                <a:solidFill>
                  <a:srgbClr val="3F4B57"/>
                </a:solidFill>
                <a:latin typeface="Nunito"/>
                <a:ea typeface="Nunito"/>
                <a:cs typeface="Nunito"/>
              </a:defRPr>
            </a:pPr>
            <a:r>
              <a:rPr sz="2100" b="0">
                <a:solidFill>
                  <a:srgbClr val="3F4B57"/>
                </a:solidFill>
                <a:latin typeface="Nunito"/>
                <a:ea typeface="Nunito"/>
                <a:cs typeface="Nunito"/>
              </a:rPr>
              <a:t>13 recorded iterations</a:t>
            </a:r>
          </a:p>
        </p:txBody>
      </p:sp>
      <p:sp>
        <p:nvSpPr>
          <p:cNvPr id="8" name="bisection-stop-rule">
            <a:extLst xmlns:a="http://schemas.openxmlformats.org/drawingml/2006/main">
              <a:ext uri="{FF2B5EF4-FFF2-40B4-BE49-F238E27FC236}">
                <a16:creationId xmlns:a16="http://schemas.microsoft.com/office/drawing/2014/main" id="{480B8995-C537-4AB4-9C42-6D0F29AC3F56}"/>
              </a:ext>
            </a:extLst>
          </p:cNvPr>
          <p:cNvSpPr>
            <a:spLocks xmlns:a="http://schemas.openxmlformats.org/drawingml/2006/main" noGrp="1"/>
          </p:cNvSpPr>
          <p:nvPr/>
        </p:nvSpPr>
        <p:spPr>
          <a:xfrm xmlns:a="http://schemas.openxmlformats.org/drawingml/2006/main">
            <a:off x="1524000" y="5857875"/>
            <a:ext cx="4762500" cy="819150"/>
          </a:xfrm>
          <a:prstGeom xmlns:a="http://schemas.openxmlformats.org/drawingml/2006/main" prst="roundRect">
            <a:avLst>
              <a:gd name="adj" fmla="val 25581"/>
            </a:avLst>
          </a:prstGeom>
          <a:solidFill xmlns:a="http://schemas.openxmlformats.org/drawingml/2006/main">
            <a:srgbClr val="FFFFFF"/>
          </a:solidFill>
          <a:ln xmlns:a="http://schemas.openxmlformats.org/drawingml/2006/main" w="19050">
            <a:solidFill>
              <a:srgbClr val="2F6DB2"/>
            </a:solidFill>
            <a:prstDash val="solid"/>
          </a:ln>
        </p:spPr>
      </p:sp>
      <p:sp>
        <p:nvSpPr>
          <p:cNvPr id="9" name="bisection-stop-rule-text">
            <a:extLst xmlns:a="http://schemas.openxmlformats.org/drawingml/2006/main">
              <a:ext uri="{FF2B5EF4-FFF2-40B4-BE49-F238E27FC236}">
                <a16:creationId xmlns:a16="http://schemas.microsoft.com/office/drawing/2014/main" id="{ED8F48F3-F459-46DD-BF83-DE1D58FEB2D2}"/>
              </a:ext>
            </a:extLst>
          </p:cNvPr>
          <p:cNvSpPr>
            <a:spLocks xmlns:a="http://schemas.openxmlformats.org/drawingml/2006/main" noGrp="1"/>
          </p:cNvSpPr>
          <p:nvPr/>
        </p:nvSpPr>
        <p:spPr>
          <a:xfrm xmlns:a="http://schemas.openxmlformats.org/drawingml/2006/main">
            <a:off x="1714500" y="60960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2F6DB2"/>
                </a:solidFill>
                <a:latin typeface="Nunito"/>
                <a:ea typeface="Nunito"/>
                <a:cs typeface="Nunito"/>
              </a:defRPr>
            </a:pPr>
            <a:r>
              <a:rPr sz="1950" b="1">
                <a:solidFill>
                  <a:srgbClr val="2F6DB2"/>
                </a:solidFill>
                <a:latin typeface="Nunito"/>
                <a:ea typeface="Nunito"/>
                <a:cs typeface="Nunito"/>
              </a:rPr>
              <a:t>stop: |residual| &lt; 1e-3 m</a:t>
            </a:r>
          </a:p>
        </p:txBody>
      </p:sp>
      <p:sp>
        <p:nvSpPr>
          <p:cNvPr id="10" name="bisection-result-note">
            <a:extLst xmlns:a="http://schemas.openxmlformats.org/drawingml/2006/main">
              <a:ext uri="{FF2B5EF4-FFF2-40B4-BE49-F238E27FC236}">
                <a16:creationId xmlns:a16="http://schemas.microsoft.com/office/drawing/2014/main" id="{0B976BD2-C5A4-4A60-A831-934362FFD0D5}"/>
              </a:ext>
            </a:extLst>
          </p:cNvPr>
          <p:cNvSpPr>
            <a:spLocks xmlns:a="http://schemas.openxmlformats.org/drawingml/2006/main" noGrp="1"/>
          </p:cNvSpPr>
          <p:nvPr/>
        </p:nvSpPr>
        <p:spPr>
          <a:xfrm xmlns:a="http://schemas.openxmlformats.org/drawingml/2006/main">
            <a:off x="1524000" y="70961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979"/>
          </a:bodyPr>
          <a:lstStyle xmlns:a="http://schemas.openxmlformats.org/drawingml/2006/main"/>
          <a:p xmlns:a="http://schemas.openxmlformats.org/drawingml/2006/main">
            <a:pPr algn="ctr">
              <a:lnSpc>
                <a:spcPct val="105000"/>
              </a:lnSpc>
              <a:buNone/>
              <a:defRPr sz="1800" b="0">
                <a:solidFill>
                  <a:srgbClr val="697684"/>
                </a:solidFill>
                <a:latin typeface="Nunito"/>
                <a:ea typeface="Nunito"/>
                <a:cs typeface="Nunito"/>
              </a:defRPr>
            </a:pPr>
            <a:r>
              <a:rPr sz="1800" b="0">
                <a:solidFill>
                  <a:srgbClr val="697684"/>
                </a:solidFill>
                <a:latin typeface="Nunito"/>
                <a:ea typeface="Nunito"/>
                <a:cs typeface="Nunito"/>
              </a:rPr>
              <a:t>Use the root as an input to the model, not as the final claim</a:t>
            </a:r>
          </a:p>
        </p:txBody>
      </p:sp>
      <p:sp>
        <p:nvSpPr>
          <p:cNvPr id="11" name="validation-card">
            <a:extLst xmlns:a="http://schemas.openxmlformats.org/drawingml/2006/main">
              <a:ext uri="{FF2B5EF4-FFF2-40B4-BE49-F238E27FC236}">
                <a16:creationId xmlns:a16="http://schemas.microsoft.com/office/drawing/2014/main" id="{B78CFC3A-7A0B-4790-AD2A-25FCF98589BA}"/>
              </a:ext>
            </a:extLst>
          </p:cNvPr>
          <p:cNvSpPr>
            <a:spLocks xmlns:a="http://schemas.openxmlformats.org/drawingml/2006/main" noGrp="1"/>
          </p:cNvSpPr>
          <p:nvPr/>
        </p:nvSpPr>
        <p:spPr>
          <a:xfrm xmlns:a="http://schemas.openxmlformats.org/drawingml/2006/main">
            <a:off x="7620000" y="2714625"/>
            <a:ext cx="9572625" cy="5095875"/>
          </a:xfrm>
          <a:prstGeom xmlns:a="http://schemas.openxmlformats.org/drawingml/2006/main" prst="roundRect">
            <a:avLst>
              <a:gd name="adj" fmla="val 4112"/>
            </a:avLst>
          </a:prstGeom>
          <a:solidFill xmlns:a="http://schemas.openxmlformats.org/drawingml/2006/main">
            <a:srgbClr val="F0FAF7"/>
          </a:solidFill>
          <a:ln xmlns:a="http://schemas.openxmlformats.org/drawingml/2006/main" w="19050">
            <a:solidFill>
              <a:srgbClr val="3E8E45"/>
            </a:solidFill>
            <a:prstDash val="solid"/>
          </a:ln>
        </p:spPr>
      </p:sp>
      <p:sp>
        <p:nvSpPr>
          <p:cNvPr id="12" name="validation-heading">
            <a:extLst xmlns:a="http://schemas.openxmlformats.org/drawingml/2006/main">
              <a:ext uri="{FF2B5EF4-FFF2-40B4-BE49-F238E27FC236}">
                <a16:creationId xmlns:a16="http://schemas.microsoft.com/office/drawing/2014/main" id="{8A79B817-3C7E-41ED-BED0-90F8FAA73F9D}"/>
              </a:ext>
            </a:extLst>
          </p:cNvPr>
          <p:cNvSpPr>
            <a:spLocks xmlns:a="http://schemas.openxmlformats.org/drawingml/2006/main" noGrp="1"/>
          </p:cNvSpPr>
          <p:nvPr/>
        </p:nvSpPr>
        <p:spPr>
          <a:xfrm xmlns:a="http://schemas.openxmlformats.org/drawingml/2006/main">
            <a:off x="8001000" y="3095625"/>
            <a:ext cx="881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substitution check</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773d8dd6ca64536"/>
          <a:stretch xmlns:a="http://schemas.openxmlformats.org/drawingml/2006/main"/>
        </p:blipFill>
        <p:spPr>
          <a:xfrm xmlns:a="http://schemas.openxmlformats.org/drawingml/2006/main">
            <a:off x="10013717" y="3667125"/>
            <a:ext cx="4785192" cy="1476375"/>
          </a:xfrm>
          <a:prstGeom xmlns:a="http://schemas.openxmlformats.org/drawingml/2006/main" prst="rect">
            <a:avLst/>
          </a:prstGeom>
        </p:spPr>
      </p:pic>
      <p:graphicFrame>
        <p:nvGraphicFramePr>
          <p:cNvPr id="30" name=""/>
          <p:cNvGraphicFramePr/>
          <p:nvPr/>
        </p:nvGraphicFramePr>
        <p:xfrm>
          <a:off xmlns:a="http://schemas.openxmlformats.org/drawingml/2006/main" x="8001000" y="5381625"/>
          <a:ext xmlns:a="http://schemas.openxmlformats.org/drawingml/2006/main" cx="8810625" cy="2000250"/>
        </p:xfrm>
        <a:graphic xmlns:a="http://schemas.openxmlformats.org/drawingml/2006/main">
          <a:graphicData uri="http://schemas.openxmlformats.org/drawingml/2006/table">
            <a:tbl>
              <a:tblPr firstRow="0" bandRow="0" bandCol="0"/>
              <a:tblGrid>
                <a:gridCol w="2190750"/>
                <a:gridCol w="2762250"/>
                <a:gridCol w="3857625"/>
              </a:tblGrid>
              <a:tr h="500063">
                <a:tc>
                  <a:txBody>
                    <a:bodyPr/>
                    <a:lstStyle/>
                    <a:p>
                      <a:r>
                        <a:t>check</a:t>
                      </a:r>
                    </a:p>
                  </a:txBody>
                  <a:tcPr marL="91440" marR="91440" marT="45720" marB="45720"/>
                </a:tc>
                <a:tc>
                  <a:txBody>
                    <a:bodyPr/>
                    <a:lstStyle/>
                    <a:p>
                      <a:r>
                        <a:t>result</a:t>
                      </a:r>
                    </a:p>
                  </a:txBody>
                  <a:tcPr marL="91440" marR="91440" marT="45720" marB="45720"/>
                </a:tc>
                <a:tc>
                  <a:txBody>
                    <a:bodyPr/>
                    <a:lstStyle/>
                    <a:p>
                      <a:r>
                        <a:t>interpretation</a:t>
                      </a:r>
                    </a:p>
                  </a:txBody>
                  <a:tcPr marL="91440" marR="91440" marT="45720" marB="45720"/>
                </a:tc>
              </a:tr>
              <a:tr h="500063">
                <a:tc>
                  <a:txBody>
                    <a:bodyPr/>
                    <a:lstStyle/>
                    <a:p>
                      <a:r>
                        <a:t>root angle</a:t>
                      </a:r>
                    </a:p>
                  </a:txBody>
                  <a:tcPr marL="91440" marR="91440" marT="45720" marB="45720"/>
                </a:tc>
                <a:tc>
                  <a:txBody>
                    <a:bodyPr/>
                    <a:lstStyle/>
                    <a:p>
                      <a:r>
                        <a:t>29.5679 degree</a:t>
                      </a:r>
                    </a:p>
                  </a:txBody>
                  <a:tcPr marL="91440" marR="91440" marT="45720" marB="45720"/>
                </a:tc>
                <a:tc>
                  <a:txBody>
                    <a:bodyPr/>
                    <a:lstStyle/>
                    <a:p>
                      <a:r>
                        <a:t>low-angle launch angle</a:t>
                      </a:r>
                    </a:p>
                  </a:txBody>
                  <a:tcPr marL="91440" marR="91440" marT="45720" marB="45720"/>
                </a:tc>
              </a:tr>
              <a:tr h="500063">
                <a:tc>
                  <a:txBody>
                    <a:bodyPr/>
                    <a:lstStyle/>
                    <a:p>
                      <a:r>
                        <a:t>model range</a:t>
                      </a:r>
                    </a:p>
                  </a:txBody>
                  <a:tcPr marL="91440" marR="91440" marT="45720" marB="45720"/>
                </a:tc>
                <a:tc>
                  <a:txBody>
                    <a:bodyPr/>
                    <a:lstStyle/>
                    <a:p>
                      <a:r>
                        <a:t>35.0004 m</a:t>
                      </a:r>
                    </a:p>
                  </a:txBody>
                  <a:tcPr marL="91440" marR="91440" marT="45720" marB="45720"/>
                </a:tc>
                <a:tc>
                  <a:txBody>
                    <a:bodyPr/>
                    <a:lstStyle/>
                    <a:p>
                      <a:r>
                        <a:t>target condition is met</a:t>
                      </a:r>
                    </a:p>
                  </a:txBody>
                  <a:tcPr marL="91440" marR="91440" marT="45720" marB="45720"/>
                </a:tc>
              </a:tr>
              <a:tr h="500063">
                <a:tc>
                  <a:txBody>
                    <a:bodyPr/>
                    <a:lstStyle/>
                    <a:p>
                      <a:r>
                        <a:t>residual</a:t>
                      </a:r>
                    </a:p>
                  </a:txBody>
                  <a:tcPr marL="91440" marR="91440" marT="45720" marB="45720"/>
                </a:tc>
                <a:tc>
                  <a:txBody>
                    <a:bodyPr/>
                    <a:lstStyle/>
                    <a:p>
                      <a:r>
                        <a:t>+4.1164 × 10⁻⁴ m</a:t>
                      </a:r>
                    </a:p>
                  </a:txBody>
                  <a:tcPr marL="91440" marR="91440" marT="45720" marB="45720"/>
                </a:tc>
                <a:tc>
                  <a:txBody>
                    <a:bodyPr/>
                    <a:lstStyle/>
                    <a:p>
                      <a:r>
                        <a:t>below 10⁻³ m tolerance</a:t>
                      </a:r>
                    </a:p>
                  </a:txBody>
                  <a:tcPr marL="91440" marR="91440" marT="45720" marB="45720"/>
                </a:tc>
              </a:tr>
            </a:tbl>
          </a:graphicData>
        </a:graphic>
      </p:graphicFrame>
      <p:sp>
        <p:nvSpPr>
          <p:cNvPr id="15" name="validation-takeaway">
            <a:extLst xmlns:a="http://schemas.openxmlformats.org/drawingml/2006/main">
              <a:ext uri="{FF2B5EF4-FFF2-40B4-BE49-F238E27FC236}">
                <a16:creationId xmlns:a16="http://schemas.microsoft.com/office/drawing/2014/main" id="{3B2DA2F2-FCE7-4AD2-9285-1A9AF96BA577}"/>
              </a:ext>
            </a:extLst>
          </p:cNvPr>
          <p:cNvSpPr>
            <a:spLocks xmlns:a="http://schemas.openxmlformats.org/drawingml/2006/main" noGrp="1"/>
          </p:cNvSpPr>
          <p:nvPr/>
        </p:nvSpPr>
        <p:spPr>
          <a:xfrm xmlns:a="http://schemas.openxmlformats.org/drawingml/2006/main">
            <a:off x="1095375" y="8191500"/>
            <a:ext cx="14859000" cy="552450"/>
          </a:xfrm>
          <a:prstGeom xmlns:a="http://schemas.openxmlformats.org/drawingml/2006/main" prst="roundRect">
            <a:avLst>
              <a:gd name="adj" fmla="val 37931"/>
            </a:avLst>
          </a:prstGeom>
          <a:solidFill xmlns:a="http://schemas.openxmlformats.org/drawingml/2006/main">
            <a:srgbClr val="F0FAF7"/>
          </a:solidFill>
          <a:ln xmlns:a="http://schemas.openxmlformats.org/drawingml/2006/main" w="19050">
            <a:noFill/>
            <a:prstDash val="solid"/>
          </a:ln>
        </p:spPr>
      </p:sp>
      <p:sp>
        <p:nvSpPr>
          <p:cNvPr id="16" name="validation-takeaway-text">
            <a:extLst xmlns:a="http://schemas.openxmlformats.org/drawingml/2006/main">
              <a:ext uri="{FF2B5EF4-FFF2-40B4-BE49-F238E27FC236}">
                <a16:creationId xmlns:a16="http://schemas.microsoft.com/office/drawing/2014/main" id="{F39C92C6-E925-445C-83AB-1ED67D7A5A94}"/>
              </a:ext>
            </a:extLst>
          </p:cNvPr>
          <p:cNvSpPr>
            <a:spLocks xmlns:a="http://schemas.openxmlformats.org/drawingml/2006/main" noGrp="1"/>
          </p:cNvSpPr>
          <p:nvPr/>
        </p:nvSpPr>
        <p:spPr>
          <a:xfrm xmlns:a="http://schemas.openxmlformats.org/drawingml/2006/main">
            <a:off x="1428750" y="8324850"/>
            <a:ext cx="1419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Validation closes the loop: the reported angle reproduces the target range</a:t>
            </a:r>
          </a:p>
        </p:txBody>
      </p:sp>
    </p:spTree>
    <p:extLst>
      <p:ext uri="{BB962C8B-B14F-4D97-AF65-F5344CB8AC3E}">
        <p14:creationId xmlns:p14="http://schemas.microsoft.com/office/powerpoint/2010/main" val="6069761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Newton follows the local tangent</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tangent turns the residual into a local correction</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9</a:t>
            </a:r>
            <a:endParaRPr sz="1650">
              <a:solidFill>
                <a:srgbClr val="697684"/>
              </a:solidFill>
              <a:latin typeface="Nunito"/>
              <a:ea typeface="Nunito"/>
              <a:cs typeface="Nunito"/>
            </a:endParaRPr>
          </a:p>
        </p:txBody>
      </p:sp>
      <p:sp>
        <p:nvSpPr>
          <p:cNvPr id="4" name="newton-geometry-card">
            <a:extLst xmlns:a="http://schemas.openxmlformats.org/drawingml/2006/main">
              <a:ext uri="{FF2B5EF4-FFF2-40B4-BE49-F238E27FC236}">
                <a16:creationId xmlns:a16="http://schemas.microsoft.com/office/drawing/2014/main" id="{47739236-A2D8-45D4-A9A0-10A1F6A0EE0D}"/>
              </a:ext>
            </a:extLst>
          </p:cNvPr>
          <p:cNvSpPr>
            <a:spLocks xmlns:a="http://schemas.openxmlformats.org/drawingml/2006/main" noGrp="1"/>
          </p:cNvSpPr>
          <p:nvPr/>
        </p:nvSpPr>
        <p:spPr>
          <a:xfrm xmlns:a="http://schemas.openxmlformats.org/drawingml/2006/main">
            <a:off x="1095375" y="2714625"/>
            <a:ext cx="8572500" cy="5334000"/>
          </a:xfrm>
          <a:prstGeom xmlns:a="http://schemas.openxmlformats.org/drawingml/2006/main" prst="roundRect">
            <a:avLst>
              <a:gd name="adj" fmla="val 3929"/>
            </a:avLst>
          </a:prstGeom>
          <a:solidFill xmlns:a="http://schemas.openxmlformats.org/drawingml/2006/main">
            <a:srgbClr val="F7F9FB"/>
          </a:solidFill>
          <a:ln xmlns:a="http://schemas.openxmlformats.org/drawingml/2006/main" w="19050">
            <a:solidFill>
              <a:srgbClr val="AAB4BE"/>
            </a:solidFill>
            <a:prstDash val="solid"/>
          </a:ln>
        </p:spPr>
      </p:sp>
      <p:sp>
        <p:nvSpPr>
          <p:cNvPr id="5" name="newton-schematic-x-axis">
            <a:extLst xmlns:a="http://schemas.openxmlformats.org/drawingml/2006/main">
              <a:ext uri="{FF2B5EF4-FFF2-40B4-BE49-F238E27FC236}">
                <a16:creationId xmlns:a16="http://schemas.microsoft.com/office/drawing/2014/main" id="{D8586967-4885-4D20-A6DC-B8BD6ACEF0BD}"/>
              </a:ext>
            </a:extLst>
          </p:cNvPr>
          <p:cNvSpPr>
            <a:spLocks xmlns:a="http://schemas.openxmlformats.org/drawingml/2006/main" noGrp="1"/>
          </p:cNvSpPr>
          <p:nvPr/>
        </p:nvSpPr>
        <p:spPr>
          <a:xfrm xmlns:a="http://schemas.openxmlformats.org/drawingml/2006/main">
            <a:off x="2095500" y="6953250"/>
            <a:ext cx="6572250" cy="0"/>
          </a:xfrm>
          <a:prstGeom xmlns:a="http://schemas.openxmlformats.org/drawingml/2006/main" prst="line">
            <a:avLst/>
          </a:prstGeom>
          <a:noFill xmlns:a="http://schemas.openxmlformats.org/drawingml/2006/main"/>
          <a:ln xmlns:a="http://schemas.openxmlformats.org/drawingml/2006/main" w="28575">
            <a:solidFill>
              <a:srgbClr val="3F4B57"/>
            </a:solidFill>
            <a:prstDash val="solid"/>
          </a:ln>
        </p:spPr>
      </p:sp>
      <p:sp>
        <p:nvSpPr>
          <p:cNvPr id="6" name="newton-schematic-y-axis">
            <a:extLst xmlns:a="http://schemas.openxmlformats.org/drawingml/2006/main">
              <a:ext uri="{FF2B5EF4-FFF2-40B4-BE49-F238E27FC236}">
                <a16:creationId xmlns:a16="http://schemas.microsoft.com/office/drawing/2014/main" id="{DE951F62-B6CF-4EEF-926E-E943ECDEB1B3}"/>
              </a:ext>
            </a:extLst>
          </p:cNvPr>
          <p:cNvSpPr>
            <a:spLocks xmlns:a="http://schemas.openxmlformats.org/drawingml/2006/main" noGrp="1"/>
          </p:cNvSpPr>
          <p:nvPr/>
        </p:nvSpPr>
        <p:spPr>
          <a:xfrm xmlns:a="http://schemas.openxmlformats.org/drawingml/2006/main">
            <a:off x="2238375" y="3524250"/>
            <a:ext cx="0" cy="3429000"/>
          </a:xfrm>
          <a:prstGeom xmlns:a="http://schemas.openxmlformats.org/drawingml/2006/main" prst="line">
            <a:avLst/>
          </a:prstGeom>
          <a:noFill xmlns:a="http://schemas.openxmlformats.org/drawingml/2006/main"/>
          <a:ln xmlns:a="http://schemas.openxmlformats.org/drawingml/2006/main" w="28575">
            <a:solidFill>
              <a:srgbClr val="3F4B57"/>
            </a:solidFill>
            <a:prstDash val="solid"/>
          </a:ln>
        </p:spPr>
      </p:sp>
      <p:sp>
        <p:nvSpPr>
          <p:cNvPr id="7" name="newton-schematic-zero">
            <a:extLst xmlns:a="http://schemas.openxmlformats.org/drawingml/2006/main">
              <a:ext uri="{FF2B5EF4-FFF2-40B4-BE49-F238E27FC236}">
                <a16:creationId xmlns:a16="http://schemas.microsoft.com/office/drawing/2014/main" id="{8DB7AB77-ABAB-49EF-8CEC-6C4D8107C292}"/>
              </a:ext>
            </a:extLst>
          </p:cNvPr>
          <p:cNvSpPr>
            <a:spLocks xmlns:a="http://schemas.openxmlformats.org/drawingml/2006/main" noGrp="1"/>
          </p:cNvSpPr>
          <p:nvPr/>
        </p:nvSpPr>
        <p:spPr>
          <a:xfrm xmlns:a="http://schemas.openxmlformats.org/drawingml/2006/main">
            <a:off x="2238375" y="5000625"/>
            <a:ext cx="6429375" cy="0"/>
          </a:xfrm>
          <a:prstGeom xmlns:a="http://schemas.openxmlformats.org/drawingml/2006/main" prst="line">
            <a:avLst/>
          </a:prstGeom>
          <a:noFill xmlns:a="http://schemas.openxmlformats.org/drawingml/2006/main"/>
          <a:ln xmlns:a="http://schemas.openxmlformats.org/drawingml/2006/main" w="19050">
            <a:solidFill>
              <a:srgbClr val="AAB4BE"/>
            </a:solidFill>
            <a:prstDash val="dash"/>
          </a:ln>
        </p:spPr>
      </p:sp>
      <p:sp>
        <p:nvSpPr>
          <p:cNvPr id="8" name="newton-schematic-curve">
            <a:extLst xmlns:a="http://schemas.openxmlformats.org/drawingml/2006/main">
              <a:ext uri="{FF2B5EF4-FFF2-40B4-BE49-F238E27FC236}">
                <a16:creationId xmlns:a16="http://schemas.microsoft.com/office/drawing/2014/main" id="{F73E6337-8E99-4745-9114-BC6002CB8818}"/>
              </a:ext>
            </a:extLst>
          </p:cNvPr>
          <p:cNvSpPr>
            <a:spLocks xmlns:a="http://schemas.openxmlformats.org/drawingml/2006/main" noGrp="1"/>
          </p:cNvSpPr>
          <p:nvPr/>
        </p:nvSpPr>
        <p:spPr>
          <a:xfrm xmlns:a="http://schemas.openxmlformats.org/drawingml/2006/main">
            <a:off x="2238375" y="3286125"/>
            <a:ext cx="6572250" cy="3905250"/>
          </a:xfrm>
          <a:custGeom xmlns:a="http://schemas.openxmlformats.org/drawingml/2006/main">
            <a:pathLst>
              <a:path w="6572250" h="3905250">
                <a:moveTo>
                  <a:pt x="0" y="3667125"/>
                </a:moveTo>
                <a:lnTo>
                  <a:pt x="857250" y="3190875"/>
                </a:lnTo>
                <a:lnTo>
                  <a:pt x="1714500" y="2714625"/>
                </a:lnTo>
                <a:lnTo>
                  <a:pt x="2571750" y="2095500"/>
                </a:lnTo>
                <a:lnTo>
                  <a:pt x="3429000" y="1524000"/>
                </a:lnTo>
                <a:lnTo>
                  <a:pt x="4286250" y="809625"/>
                </a:lnTo>
                <a:lnTo>
                  <a:pt x="5143500" y="190500"/>
                </a:lnTo>
                <a:lnTo>
                  <a:pt x="6000750" y="-285750"/>
                </a:lnTo>
              </a:path>
            </a:pathLst>
          </a:custGeom>
          <a:noFill xmlns:a="http://schemas.openxmlformats.org/drawingml/2006/main"/>
          <a:ln xmlns:a="http://schemas.openxmlformats.org/drawingml/2006/main" w="47625">
            <a:solidFill>
              <a:srgbClr val="2F6DB2"/>
            </a:solidFill>
            <a:prstDash val="solid"/>
          </a:ln>
        </p:spPr>
      </p:sp>
      <p:sp>
        <p:nvSpPr>
          <p:cNvPr id="9" name="newton-schematic-current">
            <a:extLst xmlns:a="http://schemas.openxmlformats.org/drawingml/2006/main">
              <a:ext uri="{FF2B5EF4-FFF2-40B4-BE49-F238E27FC236}">
                <a16:creationId xmlns:a16="http://schemas.microsoft.com/office/drawing/2014/main" id="{1452E739-2AAC-418A-A43E-26F9C2FD3BCD}"/>
              </a:ext>
            </a:extLst>
          </p:cNvPr>
          <p:cNvSpPr>
            <a:spLocks xmlns:a="http://schemas.openxmlformats.org/drawingml/2006/main" noGrp="1"/>
          </p:cNvSpPr>
          <p:nvPr/>
        </p:nvSpPr>
        <p:spPr>
          <a:xfrm xmlns:a="http://schemas.openxmlformats.org/drawingml/2006/main">
            <a:off x="5562600" y="4705350"/>
            <a:ext cx="209550" cy="2095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0" name="newton-schematic-tangent">
            <a:extLst xmlns:a="http://schemas.openxmlformats.org/drawingml/2006/main">
              <a:ext uri="{FF2B5EF4-FFF2-40B4-BE49-F238E27FC236}">
                <a16:creationId xmlns:a16="http://schemas.microsoft.com/office/drawing/2014/main" id="{F92D537B-2C40-49D0-8793-1CA52624A3C4}"/>
              </a:ext>
            </a:extLst>
          </p:cNvPr>
          <p:cNvSpPr>
            <a:spLocks xmlns:a="http://schemas.openxmlformats.org/drawingml/2006/main" noGrp="1"/>
          </p:cNvSpPr>
          <p:nvPr/>
        </p:nvSpPr>
        <p:spPr>
          <a:xfrm xmlns:a="http://schemas.openxmlformats.org/drawingml/2006/main">
            <a:off x="5667375" y="4810125"/>
            <a:ext cx="2571750" cy="190500"/>
          </a:xfrm>
          <a:prstGeom xmlns:a="http://schemas.openxmlformats.org/drawingml/2006/main" prst="line">
            <a:avLst/>
          </a:prstGeom>
          <a:noFill xmlns:a="http://schemas.openxmlformats.org/drawingml/2006/main"/>
          <a:ln xmlns:a="http://schemas.openxmlformats.org/drawingml/2006/main" w="38100">
            <a:solidFill>
              <a:srgbClr val="C98A16"/>
            </a:solidFill>
            <a:prstDash val="solid"/>
          </a:ln>
        </p:spPr>
      </p:sp>
      <p:sp>
        <p:nvSpPr>
          <p:cNvPr id="11" name="newton-schematic-root">
            <a:extLst xmlns:a="http://schemas.openxmlformats.org/drawingml/2006/main">
              <a:ext uri="{FF2B5EF4-FFF2-40B4-BE49-F238E27FC236}">
                <a16:creationId xmlns:a16="http://schemas.microsoft.com/office/drawing/2014/main" id="{2B8FA7C3-8E0F-43D6-B3A6-84A87C7EEB6A}"/>
              </a:ext>
            </a:extLst>
          </p:cNvPr>
          <p:cNvSpPr>
            <a:spLocks xmlns:a="http://schemas.openxmlformats.org/drawingml/2006/main" noGrp="1"/>
          </p:cNvSpPr>
          <p:nvPr/>
        </p:nvSpPr>
        <p:spPr>
          <a:xfrm xmlns:a="http://schemas.openxmlformats.org/drawingml/2006/main">
            <a:off x="8124825" y="488632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2" name="newton-schematic-current-label">
            <a:extLst xmlns:a="http://schemas.openxmlformats.org/drawingml/2006/main">
              <a:ext uri="{FF2B5EF4-FFF2-40B4-BE49-F238E27FC236}">
                <a16:creationId xmlns:a16="http://schemas.microsoft.com/office/drawing/2014/main" id="{BA976170-BD71-4554-B3E2-245641FBBB5F}"/>
              </a:ext>
            </a:extLst>
          </p:cNvPr>
          <p:cNvSpPr>
            <a:spLocks xmlns:a="http://schemas.openxmlformats.org/drawingml/2006/main" noGrp="1"/>
          </p:cNvSpPr>
          <p:nvPr/>
        </p:nvSpPr>
        <p:spPr>
          <a:xfrm xmlns:a="http://schemas.openxmlformats.org/drawingml/2006/main">
            <a:off x="5000625" y="501967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current θ</a:t>
            </a:r>
          </a:p>
        </p:txBody>
      </p:sp>
      <p:sp>
        <p:nvSpPr>
          <p:cNvPr id="13" name="newton-schematic-root-label">
            <a:extLst xmlns:a="http://schemas.openxmlformats.org/drawingml/2006/main">
              <a:ext uri="{FF2B5EF4-FFF2-40B4-BE49-F238E27FC236}">
                <a16:creationId xmlns:a16="http://schemas.microsoft.com/office/drawing/2014/main" id="{03877F6A-00BC-4E3F-AB89-74C812C590A3}"/>
              </a:ext>
            </a:extLst>
          </p:cNvPr>
          <p:cNvSpPr>
            <a:spLocks xmlns:a="http://schemas.openxmlformats.org/drawingml/2006/main" noGrp="1"/>
          </p:cNvSpPr>
          <p:nvPr/>
        </p:nvSpPr>
        <p:spPr>
          <a:xfrm xmlns:a="http://schemas.openxmlformats.org/drawingml/2006/main">
            <a:off x="7572375" y="450532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next θ</a:t>
            </a:r>
          </a:p>
        </p:txBody>
      </p:sp>
      <p:sp>
        <p:nvSpPr>
          <p:cNvPr id="14" name="newton-schematic-zero-label">
            <a:extLst xmlns:a="http://schemas.openxmlformats.org/drawingml/2006/main">
              <a:ext uri="{FF2B5EF4-FFF2-40B4-BE49-F238E27FC236}">
                <a16:creationId xmlns:a16="http://schemas.microsoft.com/office/drawing/2014/main" id="{AA9FE602-1B62-4331-B3A8-E9CE7C48A1D6}"/>
              </a:ext>
            </a:extLst>
          </p:cNvPr>
          <p:cNvSpPr>
            <a:spLocks xmlns:a="http://schemas.openxmlformats.org/drawingml/2006/main" noGrp="1"/>
          </p:cNvSpPr>
          <p:nvPr/>
        </p:nvSpPr>
        <p:spPr>
          <a:xfrm xmlns:a="http://schemas.openxmlformats.org/drawingml/2006/main">
            <a:off x="2286000" y="4686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residual = 0</a:t>
            </a:r>
          </a:p>
        </p:txBody>
      </p:sp>
      <p:sp>
        <p:nvSpPr>
          <p:cNvPr id="15" name="newton-schematic-slope-label">
            <a:extLst xmlns:a="http://schemas.openxmlformats.org/drawingml/2006/main">
              <a:ext uri="{FF2B5EF4-FFF2-40B4-BE49-F238E27FC236}">
                <a16:creationId xmlns:a16="http://schemas.microsoft.com/office/drawing/2014/main" id="{59DFAD0E-C405-440E-B4FC-10528FCD2106}"/>
              </a:ext>
            </a:extLst>
          </p:cNvPr>
          <p:cNvSpPr>
            <a:spLocks xmlns:a="http://schemas.openxmlformats.org/drawingml/2006/main" noGrp="1"/>
          </p:cNvSpPr>
          <p:nvPr/>
        </p:nvSpPr>
        <p:spPr>
          <a:xfrm xmlns:a="http://schemas.openxmlformats.org/drawingml/2006/main">
            <a:off x="6334125" y="57626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local slope</a:t>
            </a:r>
          </a:p>
        </p:txBody>
      </p:sp>
      <p:sp>
        <p:nvSpPr>
          <p:cNvPr id="16" name="newton-geometry-caption">
            <a:extLst xmlns:a="http://schemas.openxmlformats.org/drawingml/2006/main">
              <a:ext uri="{FF2B5EF4-FFF2-40B4-BE49-F238E27FC236}">
                <a16:creationId xmlns:a16="http://schemas.microsoft.com/office/drawing/2014/main" id="{6A70AEEA-8B45-4FF4-A3E2-6D6866C6F17B}"/>
              </a:ext>
            </a:extLst>
          </p:cNvPr>
          <p:cNvSpPr>
            <a:spLocks xmlns:a="http://schemas.openxmlformats.org/drawingml/2006/main" noGrp="1"/>
          </p:cNvSpPr>
          <p:nvPr/>
        </p:nvSpPr>
        <p:spPr>
          <a:xfrm xmlns:a="http://schemas.openxmlformats.org/drawingml/2006/main">
            <a:off x="1762125" y="747712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use the local slope to predict a better angle</a:t>
            </a:r>
          </a:p>
        </p:txBody>
      </p:sp>
      <p:sp>
        <p:nvSpPr>
          <p:cNvPr id="17" name="newton-equation-card">
            <a:extLst xmlns:a="http://schemas.openxmlformats.org/drawingml/2006/main">
              <a:ext uri="{FF2B5EF4-FFF2-40B4-BE49-F238E27FC236}">
                <a16:creationId xmlns:a16="http://schemas.microsoft.com/office/drawing/2014/main" id="{19954579-90A7-44DE-A5AA-5D60B48A74F3}"/>
              </a:ext>
            </a:extLst>
          </p:cNvPr>
          <p:cNvSpPr>
            <a:spLocks xmlns:a="http://schemas.openxmlformats.org/drawingml/2006/main" noGrp="1"/>
          </p:cNvSpPr>
          <p:nvPr/>
        </p:nvSpPr>
        <p:spPr>
          <a:xfrm xmlns:a="http://schemas.openxmlformats.org/drawingml/2006/main">
            <a:off x="10287000" y="2714625"/>
            <a:ext cx="6905625" cy="5334000"/>
          </a:xfrm>
          <a:prstGeom xmlns:a="http://schemas.openxmlformats.org/drawingml/2006/main" prst="roundRect">
            <a:avLst>
              <a:gd name="adj" fmla="val 3929"/>
            </a:avLst>
          </a:prstGeom>
          <a:solidFill xmlns:a="http://schemas.openxmlformats.org/drawingml/2006/main">
            <a:srgbClr val="FFF7E6"/>
          </a:solidFill>
          <a:ln xmlns:a="http://schemas.openxmlformats.org/drawingml/2006/main" w="19050">
            <a:solidFill>
              <a:srgbClr val="C98A16"/>
            </a:solidFill>
            <a:prstDash val="solid"/>
          </a:ln>
        </p:spPr>
      </p:sp>
      <p:sp>
        <p:nvSpPr>
          <p:cNvPr id="18" name="newton-equation-heading">
            <a:extLst xmlns:a="http://schemas.openxmlformats.org/drawingml/2006/main">
              <a:ext uri="{FF2B5EF4-FFF2-40B4-BE49-F238E27FC236}">
                <a16:creationId xmlns:a16="http://schemas.microsoft.com/office/drawing/2014/main" id="{1BF63B38-8444-4F7A-B5DE-04A290D0007D}"/>
              </a:ext>
            </a:extLst>
          </p:cNvPr>
          <p:cNvSpPr>
            <a:spLocks xmlns:a="http://schemas.openxmlformats.org/drawingml/2006/main" noGrp="1"/>
          </p:cNvSpPr>
          <p:nvPr/>
        </p:nvSpPr>
        <p:spPr>
          <a:xfrm xmlns:a="http://schemas.openxmlformats.org/drawingml/2006/main">
            <a:off x="10668000" y="3143250"/>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Newton update</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56d3ebe7c5c49b1"/>
          <a:stretch xmlns:a="http://schemas.openxmlformats.org/drawingml/2006/main"/>
        </p:blipFill>
        <p:spPr>
          <a:xfrm xmlns:a="http://schemas.openxmlformats.org/drawingml/2006/main">
            <a:off x="10763250" y="4146882"/>
            <a:ext cx="5953125" cy="1707485"/>
          </a:xfrm>
          <a:prstGeom xmlns:a="http://schemas.openxmlformats.org/drawingml/2006/main" prst="rect">
            <a:avLst/>
          </a:prstGeom>
        </p:spPr>
      </p:pic>
      <p:sp>
        <p:nvSpPr>
          <p:cNvPr id="20" name="newton-unit-note">
            <a:extLst xmlns:a="http://schemas.openxmlformats.org/drawingml/2006/main">
              <a:ext uri="{FF2B5EF4-FFF2-40B4-BE49-F238E27FC236}">
                <a16:creationId xmlns:a16="http://schemas.microsoft.com/office/drawing/2014/main" id="{9E394E44-E09A-4930-9B98-E33BD9C48122}"/>
              </a:ext>
            </a:extLst>
          </p:cNvPr>
          <p:cNvSpPr>
            <a:spLocks xmlns:a="http://schemas.openxmlformats.org/drawingml/2006/main" noGrp="1"/>
          </p:cNvSpPr>
          <p:nvPr/>
        </p:nvSpPr>
        <p:spPr>
          <a:xfrm xmlns:a="http://schemas.openxmlformats.org/drawingml/2006/main">
            <a:off x="10858500" y="6572250"/>
            <a:ext cx="576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3F4B57"/>
                </a:solidFill>
                <a:latin typeface="Nunito"/>
                <a:ea typeface="Nunito"/>
                <a:cs typeface="Nunito"/>
              </a:defRPr>
            </a:pPr>
            <a:r>
              <a:rPr sz="1875" b="1">
                <a:solidFill>
                  <a:srgbClr val="3F4B57"/>
                </a:solidFill>
                <a:latin typeface="Nunito"/>
                <a:ea typeface="Nunito"/>
                <a:cs typeface="Nunito"/>
              </a:rPr>
              <a:t>Because theta is in degree, the slope must be in m per degree</a:t>
            </a:r>
          </a:p>
        </p:txBody>
      </p:sp>
      <p:sp>
        <p:nvSpPr>
          <p:cNvPr id="21" name="newton-takeaway">
            <a:extLst xmlns:a="http://schemas.openxmlformats.org/drawingml/2006/main">
              <a:ext uri="{FF2B5EF4-FFF2-40B4-BE49-F238E27FC236}">
                <a16:creationId xmlns:a16="http://schemas.microsoft.com/office/drawing/2014/main" id="{45B0007D-E9A2-49C7-A14B-5824105F37CF}"/>
              </a:ext>
            </a:extLst>
          </p:cNvPr>
          <p:cNvSpPr>
            <a:spLocks xmlns:a="http://schemas.openxmlformats.org/drawingml/2006/main" noGrp="1"/>
          </p:cNvSpPr>
          <p:nvPr/>
        </p:nvSpPr>
        <p:spPr>
          <a:xfrm xmlns:a="http://schemas.openxmlformats.org/drawingml/2006/main">
            <a:off x="1095375" y="8334375"/>
            <a:ext cx="14859000" cy="476250"/>
          </a:xfrm>
          <a:prstGeom xmlns:a="http://schemas.openxmlformats.org/drawingml/2006/main" prst="roundRect">
            <a:avLst>
              <a:gd name="adj" fmla="val 44000"/>
            </a:avLst>
          </a:prstGeom>
          <a:solidFill xmlns:a="http://schemas.openxmlformats.org/drawingml/2006/main">
            <a:srgbClr val="FFF7E6"/>
          </a:solidFill>
          <a:ln xmlns:a="http://schemas.openxmlformats.org/drawingml/2006/main" w="19050">
            <a:noFill/>
            <a:prstDash val="solid"/>
          </a:ln>
        </p:spPr>
      </p:sp>
      <p:sp>
        <p:nvSpPr>
          <p:cNvPr id="22" name="newton-takeaway-text">
            <a:extLst xmlns:a="http://schemas.openxmlformats.org/drawingml/2006/main">
              <a:ext uri="{FF2B5EF4-FFF2-40B4-BE49-F238E27FC236}">
                <a16:creationId xmlns:a16="http://schemas.microsoft.com/office/drawing/2014/main" id="{F524EB9D-6EF2-49C3-8462-D1F2580C864B}"/>
              </a:ext>
            </a:extLst>
          </p:cNvPr>
          <p:cNvSpPr>
            <a:spLocks xmlns:a="http://schemas.openxmlformats.org/drawingml/2006/main" noGrp="1"/>
          </p:cNvSpPr>
          <p:nvPr/>
        </p:nvSpPr>
        <p:spPr>
          <a:xfrm xmlns:a="http://schemas.openxmlformats.org/drawingml/2006/main">
            <a:off x="1428750" y="8429625"/>
            <a:ext cx="1419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Newton moves by residual divided by local slope</a:t>
            </a:r>
          </a:p>
        </p:txBody>
      </p:sp>
    </p:spTree>
    <p:extLst>
      <p:ext uri="{BB962C8B-B14F-4D97-AF65-F5344CB8AC3E}">
        <p14:creationId xmlns:p14="http://schemas.microsoft.com/office/powerpoint/2010/main" val="18788083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Trace Newton from 25 degree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Starting at 25 degree reaches the same low-angle root in four evaluations</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10</a:t>
            </a:r>
            <a:endParaRPr sz="1650">
              <a:solidFill>
                <a:srgbClr val="697684"/>
              </a:solidFill>
              <a:latin typeface="Nunito"/>
              <a:ea typeface="Nunito"/>
              <a:cs typeface="Nunito"/>
            </a:endParaRPr>
          </a:p>
        </p:txBody>
      </p:sp>
      <p:sp>
        <p:nvSpPr>
          <p:cNvPr id="4" name="newton-code-card">
            <a:extLst xmlns:a="http://schemas.openxmlformats.org/drawingml/2006/main">
              <a:ext uri="{FF2B5EF4-FFF2-40B4-BE49-F238E27FC236}">
                <a16:creationId xmlns:a16="http://schemas.microsoft.com/office/drawing/2014/main" id="{9F09AA82-E21E-4754-84E3-E8D298F92FE3}"/>
              </a:ext>
            </a:extLst>
          </p:cNvPr>
          <p:cNvSpPr>
            <a:spLocks xmlns:a="http://schemas.openxmlformats.org/drawingml/2006/main" noGrp="1"/>
          </p:cNvSpPr>
          <p:nvPr/>
        </p:nvSpPr>
        <p:spPr>
          <a:xfrm xmlns:a="http://schemas.openxmlformats.org/drawingml/2006/main">
            <a:off x="1095375" y="2714625"/>
            <a:ext cx="7524750" cy="4953000"/>
          </a:xfrm>
          <a:prstGeom xmlns:a="http://schemas.openxmlformats.org/drawingml/2006/main" prst="roundRect">
            <a:avLst>
              <a:gd name="adj" fmla="val 4231"/>
            </a:avLst>
          </a:prstGeom>
          <a:solidFill xmlns:a="http://schemas.openxmlformats.org/drawingml/2006/main">
            <a:srgbClr val="F4F8FC"/>
          </a:solidFill>
          <a:ln xmlns:a="http://schemas.openxmlformats.org/drawingml/2006/main" w="19050">
            <a:solidFill>
              <a:srgbClr val="AAB4BE"/>
            </a:solidFill>
            <a:prstDash val="solid"/>
          </a:ln>
        </p:spPr>
      </p:sp>
      <p:sp>
        <p:nvSpPr>
          <p:cNvPr id="5" name="newton-code-label">
            <a:extLst xmlns:a="http://schemas.openxmlformats.org/drawingml/2006/main">
              <a:ext uri="{FF2B5EF4-FFF2-40B4-BE49-F238E27FC236}">
                <a16:creationId xmlns:a16="http://schemas.microsoft.com/office/drawing/2014/main" id="{EE6C44EF-ED7B-48DB-B14E-438C8CB9E828}"/>
              </a:ext>
            </a:extLst>
          </p:cNvPr>
          <p:cNvSpPr>
            <a:spLocks xmlns:a="http://schemas.openxmlformats.org/drawingml/2006/main" noGrp="1"/>
          </p:cNvSpPr>
          <p:nvPr/>
        </p:nvSpPr>
        <p:spPr>
          <a:xfrm xmlns:a="http://schemas.openxmlformats.org/drawingml/2006/main">
            <a:off x="1428750" y="3095625"/>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2F6DB2"/>
                </a:solidFill>
                <a:latin typeface="Nunito"/>
                <a:ea typeface="Nunito"/>
                <a:cs typeface="Nunito"/>
              </a:defRPr>
            </a:pPr>
            <a:r>
              <a:rPr sz="2100" b="1">
                <a:solidFill>
                  <a:srgbClr val="2F6DB2"/>
                </a:solidFill>
                <a:latin typeface="Nunito"/>
                <a:ea typeface="Nunito"/>
                <a:cs typeface="Nunito"/>
              </a:rPr>
              <a:t>short update fragment</a:t>
            </a:r>
          </a:p>
        </p:txBody>
      </p:sp>
      <p:sp>
        <p:nvSpPr>
          <p:cNvPr id="6" name="newton-code-fragment">
            <a:extLst xmlns:a="http://schemas.openxmlformats.org/drawingml/2006/main">
              <a:ext uri="{FF2B5EF4-FFF2-40B4-BE49-F238E27FC236}">
                <a16:creationId xmlns:a16="http://schemas.microsoft.com/office/drawing/2014/main" id="{A8567740-D6F8-48AD-9A4B-B6C9DB7F0B82}"/>
              </a:ext>
            </a:extLst>
          </p:cNvPr>
          <p:cNvSpPr>
            <a:spLocks xmlns:a="http://schemas.openxmlformats.org/drawingml/2006/main" noGrp="1"/>
          </p:cNvSpPr>
          <p:nvPr/>
        </p:nvSpPr>
        <p:spPr>
          <a:xfrm xmlns:a="http://schemas.openxmlformats.org/drawingml/2006/main">
            <a:off x="1428750" y="4476750"/>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72750"/>
          </a:bodyPr>
          <a:lstStyle xmlns:a="http://schemas.openxmlformats.org/drawingml/2006/main"/>
          <a:p xmlns:a="http://schemas.openxmlformats.org/drawingml/2006/main">
            <a:pPr algn="l">
              <a:lnSpc>
                <a:spcPct val="112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newton_theta_deg = newton_theta_deg - f_current_m/slope_m_per_deg;</a:t>
            </a:r>
          </a:p>
        </p:txBody>
      </p:sp>
      <p:sp>
        <p:nvSpPr>
          <p:cNvPr id="7" name="newton-code-note">
            <a:extLst xmlns:a="http://schemas.openxmlformats.org/drawingml/2006/main">
              <a:ext uri="{FF2B5EF4-FFF2-40B4-BE49-F238E27FC236}">
                <a16:creationId xmlns:a16="http://schemas.microsoft.com/office/drawing/2014/main" id="{024B8895-AC80-4D24-82CE-35FC5E58E012}"/>
              </a:ext>
            </a:extLst>
          </p:cNvPr>
          <p:cNvSpPr>
            <a:spLocks xmlns:a="http://schemas.openxmlformats.org/drawingml/2006/main" noGrp="1"/>
          </p:cNvSpPr>
          <p:nvPr/>
        </p:nvSpPr>
        <p:spPr>
          <a:xfrm xmlns:a="http://schemas.openxmlformats.org/drawingml/2006/main">
            <a:off x="1428750" y="65722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read the direction: residual and slope set the correction</a:t>
            </a:r>
          </a:p>
        </p:txBody>
      </p:sp>
      <p:graphicFrame>
        <p:nvGraphicFramePr>
          <p:cNvPr id="18" name=""/>
          <p:cNvGraphicFramePr/>
          <p:nvPr/>
        </p:nvGraphicFramePr>
        <p:xfrm>
          <a:off xmlns:a="http://schemas.openxmlformats.org/drawingml/2006/main" x="9144000" y="2714625"/>
          <a:ext xmlns:a="http://schemas.openxmlformats.org/drawingml/2006/main" cx="8048625" cy="4953000"/>
        </p:xfrm>
        <a:graphic xmlns:a="http://schemas.openxmlformats.org/drawingml/2006/main">
          <a:graphicData uri="http://schemas.openxmlformats.org/drawingml/2006/table">
            <a:tbl>
              <a:tblPr firstRow="0" bandRow="0" bandCol="0"/>
              <a:tblGrid>
                <a:gridCol w="857250"/>
                <a:gridCol w="1143000"/>
                <a:gridCol w="1762125"/>
                <a:gridCol w="2524125"/>
                <a:gridCol w="1762125"/>
              </a:tblGrid>
              <a:tr h="990600">
                <a:tc>
                  <a:txBody>
                    <a:bodyPr/>
                    <a:lstStyle/>
                    <a:p>
                      <a:r>
                        <a:t>iteration</a:t>
                      </a:r>
                    </a:p>
                  </a:txBody>
                  <a:tcPr marL="91440" marR="91440" marT="45720" marB="45720"/>
                </a:tc>
                <a:tc>
                  <a:txBody>
                    <a:bodyPr/>
                    <a:lstStyle/>
                    <a:p>
                      <a:r>
                        <a:t>theta</a:t>
                      </a:r>
                    </a:p>
                    <a:p>
                      <a:r>
                        <a:t>(degree)</a:t>
                      </a:r>
                    </a:p>
                  </a:txBody>
                  <a:tcPr marL="91440" marR="91440" marT="45720" marB="45720"/>
                </a:tc>
                <a:tc>
                  <a:txBody>
                    <a:bodyPr/>
                    <a:lstStyle/>
                    <a:p>
                      <a:r>
                        <a:t>residual</a:t>
                      </a:r>
                    </a:p>
                    <a:p>
                      <a:r>
                        <a:t>(m)</a:t>
                      </a:r>
                    </a:p>
                  </a:txBody>
                  <a:tcPr marL="91440" marR="91440" marT="45720" marB="45720"/>
                </a:tc>
                <a:tc>
                  <a:txBody>
                    <a:bodyPr/>
                    <a:lstStyle/>
                    <a:p>
                      <a:r>
                        <a:t>slope</a:t>
                      </a:r>
                    </a:p>
                    <a:p>
                      <a:r>
                        <a:t>(m/degree)</a:t>
                      </a:r>
                    </a:p>
                  </a:txBody>
                  <a:tcPr marL="91440" marR="91440" marT="45720" marB="45720"/>
                </a:tc>
                <a:tc>
                  <a:txBody>
                    <a:bodyPr/>
                    <a:lstStyle/>
                    <a:p>
                      <a:r>
                        <a:t>next angle</a:t>
                      </a:r>
                    </a:p>
                    <a:p>
                      <a:r>
                        <a:t>(degree)</a:t>
                      </a:r>
                    </a:p>
                  </a:txBody>
                  <a:tcPr marL="91440" marR="91440" marT="45720" marB="45720"/>
                </a:tc>
              </a:tr>
              <a:tr h="990600">
                <a:tc>
                  <a:txBody>
                    <a:bodyPr/>
                    <a:lstStyle/>
                    <a:p>
                      <a:r>
                        <a:t>1</a:t>
                      </a:r>
                    </a:p>
                  </a:txBody>
                  <a:tcPr marL="91440" marR="91440" marT="45720" marB="45720"/>
                </a:tc>
                <a:tc>
                  <a:txBody>
                    <a:bodyPr/>
                    <a:lstStyle/>
                    <a:p>
                      <a:r>
                        <a:t>25</a:t>
                      </a:r>
                    </a:p>
                  </a:txBody>
                  <a:tcPr marL="91440" marR="91440" marT="45720" marB="45720"/>
                </a:tc>
                <a:tc>
                  <a:txBody>
                    <a:bodyPr/>
                    <a:lstStyle/>
                    <a:p>
                      <a:r>
                        <a:t>−3.7648</a:t>
                      </a:r>
                    </a:p>
                  </a:txBody>
                  <a:tcPr marL="91440" marR="91440" marT="45720" marB="45720"/>
                </a:tc>
                <a:tc>
                  <a:txBody>
                    <a:bodyPr/>
                    <a:lstStyle/>
                    <a:p>
                      <a:r>
                        <a:t>0.91488</a:t>
                      </a:r>
                    </a:p>
                  </a:txBody>
                  <a:tcPr marL="91440" marR="91440" marT="45720" marB="45720"/>
                </a:tc>
                <a:tc>
                  <a:txBody>
                    <a:bodyPr/>
                    <a:lstStyle/>
                    <a:p>
                      <a:r>
                        <a:t>29.115</a:t>
                      </a:r>
                    </a:p>
                  </a:txBody>
                  <a:tcPr marL="91440" marR="91440" marT="45720" marB="45720"/>
                </a:tc>
              </a:tr>
              <a:tr h="990600">
                <a:tc>
                  <a:txBody>
                    <a:bodyPr/>
                    <a:lstStyle/>
                    <a:p>
                      <a:r>
                        <a:t>2</a:t>
                      </a:r>
                    </a:p>
                  </a:txBody>
                  <a:tcPr marL="91440" marR="91440" marT="45720" marB="45720"/>
                </a:tc>
                <a:tc>
                  <a:txBody>
                    <a:bodyPr/>
                    <a:lstStyle/>
                    <a:p>
                      <a:r>
                        <a:t>29.115</a:t>
                      </a:r>
                    </a:p>
                  </a:txBody>
                  <a:tcPr marL="91440" marR="91440" marT="45720" marB="45720"/>
                </a:tc>
                <a:tc>
                  <a:txBody>
                    <a:bodyPr/>
                    <a:lstStyle/>
                    <a:p>
                      <a:r>
                        <a:t>−0.33461</a:t>
                      </a:r>
                    </a:p>
                  </a:txBody>
                  <a:tcPr marL="91440" marR="91440" marT="45720" marB="45720"/>
                </a:tc>
                <a:tc>
                  <a:txBody>
                    <a:bodyPr/>
                    <a:lstStyle/>
                    <a:p>
                      <a:r>
                        <a:t>0.74939</a:t>
                      </a:r>
                    </a:p>
                  </a:txBody>
                  <a:tcPr marL="91440" marR="91440" marT="45720" marB="45720"/>
                </a:tc>
                <a:tc>
                  <a:txBody>
                    <a:bodyPr/>
                    <a:lstStyle/>
                    <a:p>
                      <a:r>
                        <a:t>29.562</a:t>
                      </a:r>
                    </a:p>
                  </a:txBody>
                  <a:tcPr marL="91440" marR="91440" marT="45720" marB="45720"/>
                </a:tc>
              </a:tr>
              <a:tr h="990600">
                <a:tc>
                  <a:txBody>
                    <a:bodyPr/>
                    <a:lstStyle/>
                    <a:p>
                      <a:r>
                        <a:t>3</a:t>
                      </a:r>
                    </a:p>
                  </a:txBody>
                  <a:tcPr marL="91440" marR="91440" marT="45720" marB="45720"/>
                </a:tc>
                <a:tc>
                  <a:txBody>
                    <a:bodyPr/>
                    <a:lstStyle/>
                    <a:p>
                      <a:r>
                        <a:t>29.562</a:t>
                      </a:r>
                    </a:p>
                  </a:txBody>
                  <a:tcPr marL="91440" marR="91440" marT="45720" marB="45720"/>
                </a:tc>
                <a:tc>
                  <a:txBody>
                    <a:bodyPr/>
                    <a:lstStyle/>
                    <a:p>
                      <a:r>
                        <a:t>−0.0042242</a:t>
                      </a:r>
                    </a:p>
                  </a:txBody>
                  <a:tcPr marL="91440" marR="91440" marT="45720" marB="45720"/>
                </a:tc>
                <a:tc>
                  <a:txBody>
                    <a:bodyPr/>
                    <a:lstStyle/>
                    <a:p>
                      <a:r>
                        <a:t>0.73044</a:t>
                      </a:r>
                    </a:p>
                  </a:txBody>
                  <a:tcPr marL="91440" marR="91440" marT="45720" marB="45720"/>
                </a:tc>
                <a:tc>
                  <a:txBody>
                    <a:bodyPr/>
                    <a:lstStyle/>
                    <a:p>
                      <a:r>
                        <a:t>29.567</a:t>
                      </a:r>
                    </a:p>
                  </a:txBody>
                  <a:tcPr marL="91440" marR="91440" marT="45720" marB="45720"/>
                </a:tc>
              </a:tr>
              <a:tr h="990600">
                <a:tc>
                  <a:txBody>
                    <a:bodyPr/>
                    <a:lstStyle/>
                    <a:p>
                      <a:r>
                        <a:t>4</a:t>
                      </a:r>
                    </a:p>
                  </a:txBody>
                  <a:tcPr marL="91440" marR="91440" marT="45720" marB="45720"/>
                </a:tc>
                <a:tc>
                  <a:txBody>
                    <a:bodyPr/>
                    <a:lstStyle/>
                    <a:p>
                      <a:r>
                        <a:t>29.567</a:t>
                      </a:r>
                    </a:p>
                  </a:txBody>
                  <a:tcPr marL="91440" marR="91440" marT="45720" marB="45720"/>
                </a:tc>
                <a:tc>
                  <a:txBody>
                    <a:bodyPr/>
                    <a:lstStyle/>
                    <a:p>
                      <a:r>
                        <a:t>−7.1308 × 10−7</a:t>
                      </a:r>
                    </a:p>
                  </a:txBody>
                  <a:tcPr marL="91440" marR="91440" marT="45720" marB="45720"/>
                </a:tc>
                <a:tc>
                  <a:txBody>
                    <a:bodyPr/>
                    <a:lstStyle/>
                    <a:p>
                      <a:r>
                        <a:t>0.73019</a:t>
                      </a:r>
                    </a:p>
                  </a:txBody>
                  <a:tcPr marL="91440" marR="91440" marT="45720" marB="45720"/>
                </a:tc>
                <a:tc>
                  <a:txBody>
                    <a:bodyPr/>
                    <a:lstStyle/>
                    <a:p>
                      <a:r>
                        <a:t>stop</a:t>
                      </a:r>
                    </a:p>
                  </a:txBody>
                  <a:tcPr marL="91440" marR="91440" marT="45720" marB="45720"/>
                </a:tc>
              </a:tr>
            </a:tbl>
          </a:graphicData>
        </a:graphic>
      </p:graphicFrame>
      <p:sp>
        <p:nvSpPr>
          <p:cNvPr id="9" name="newton-stop-badge">
            <a:extLst xmlns:a="http://schemas.openxmlformats.org/drawingml/2006/main">
              <a:ext uri="{FF2B5EF4-FFF2-40B4-BE49-F238E27FC236}">
                <a16:creationId xmlns:a16="http://schemas.microsoft.com/office/drawing/2014/main" id="{2656774C-5642-41BA-B677-2A3C9415C39C}"/>
              </a:ext>
            </a:extLst>
          </p:cNvPr>
          <p:cNvSpPr>
            <a:spLocks xmlns:a="http://schemas.openxmlformats.org/drawingml/2006/main" noGrp="1"/>
          </p:cNvSpPr>
          <p:nvPr/>
        </p:nvSpPr>
        <p:spPr>
          <a:xfrm xmlns:a="http://schemas.openxmlformats.org/drawingml/2006/main">
            <a:off x="1095375" y="8048625"/>
            <a:ext cx="14859000" cy="590550"/>
          </a:xfrm>
          <a:prstGeom xmlns:a="http://schemas.openxmlformats.org/drawingml/2006/main" prst="roundRect">
            <a:avLst>
              <a:gd name="adj" fmla="val 35484"/>
            </a:avLst>
          </a:prstGeom>
          <a:solidFill xmlns:a="http://schemas.openxmlformats.org/drawingml/2006/main">
            <a:srgbClr val="F0FAF7"/>
          </a:solidFill>
          <a:ln xmlns:a="http://schemas.openxmlformats.org/drawingml/2006/main" w="19050">
            <a:noFill/>
            <a:prstDash val="solid"/>
          </a:ln>
        </p:spPr>
      </p:sp>
      <p:sp>
        <p:nvSpPr>
          <p:cNvPr id="10" name="newton-stop-badge-text">
            <a:extLst xmlns:a="http://schemas.openxmlformats.org/drawingml/2006/main">
              <a:ext uri="{FF2B5EF4-FFF2-40B4-BE49-F238E27FC236}">
                <a16:creationId xmlns:a16="http://schemas.microsoft.com/office/drawing/2014/main" id="{450E0BD8-00E4-4D34-A5EC-18C33C693F03}"/>
              </a:ext>
            </a:extLst>
          </p:cNvPr>
          <p:cNvSpPr>
            <a:spLocks xmlns:a="http://schemas.openxmlformats.org/drawingml/2006/main" noGrp="1"/>
          </p:cNvSpPr>
          <p:nvPr/>
        </p:nvSpPr>
        <p:spPr>
          <a:xfrm xmlns:a="http://schemas.openxmlformats.org/drawingml/2006/main">
            <a:off x="1428750" y="8181975"/>
            <a:ext cx="1419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At iteration 4, the residual is below 1e-3 m, so the update stops</a:t>
            </a:r>
          </a:p>
        </p:txBody>
      </p:sp>
    </p:spTree>
    <p:extLst>
      <p:ext uri="{BB962C8B-B14F-4D97-AF65-F5344CB8AC3E}">
        <p14:creationId xmlns:p14="http://schemas.microsoft.com/office/powerpoint/2010/main" val="2706664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Working exposure: same root, different route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Compare what each method preserves and what it needs</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11</a:t>
            </a:r>
            <a:endParaRPr sz="1650">
              <a:solidFill>
                <a:srgbClr val="697684"/>
              </a:solidFill>
              <a:latin typeface="Nunito"/>
              <a:ea typeface="Nunito"/>
              <a:cs typeface="Nunito"/>
            </a:endParaRPr>
          </a:p>
        </p:txBody>
      </p:sp>
      <p:sp>
        <p:nvSpPr>
          <p:cNvPr id="4" name="comparison-left-tag">
            <a:extLst xmlns:a="http://schemas.openxmlformats.org/drawingml/2006/main">
              <a:ext uri="{FF2B5EF4-FFF2-40B4-BE49-F238E27FC236}">
                <a16:creationId xmlns:a16="http://schemas.microsoft.com/office/drawing/2014/main" id="{43E205A8-6786-4ED5-90FD-0278163DD484}"/>
              </a:ext>
            </a:extLst>
          </p:cNvPr>
          <p:cNvSpPr>
            <a:spLocks xmlns:a="http://schemas.openxmlformats.org/drawingml/2006/main" noGrp="1"/>
          </p:cNvSpPr>
          <p:nvPr/>
        </p:nvSpPr>
        <p:spPr>
          <a:xfrm xmlns:a="http://schemas.openxmlformats.org/drawingml/2006/main">
            <a:off x="1095375" y="27146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2F6DB2"/>
                </a:solidFill>
                <a:latin typeface="Nunito"/>
                <a:ea typeface="Nunito"/>
                <a:cs typeface="Nunito"/>
              </a:defRPr>
            </a:pPr>
            <a:r>
              <a:rPr sz="1950" b="1">
                <a:solidFill>
                  <a:srgbClr val="2F6DB2"/>
                </a:solidFill>
                <a:latin typeface="Nunito"/>
                <a:ea typeface="Nunito"/>
                <a:cs typeface="Nunito"/>
              </a:rPr>
              <a:t>BRACKETED</a:t>
            </a:r>
          </a:p>
        </p:txBody>
      </p:sp>
      <p:sp>
        <p:nvSpPr>
          <p:cNvPr id="5" name="comparison-right-tag">
            <a:extLst xmlns:a="http://schemas.openxmlformats.org/drawingml/2006/main">
              <a:ext uri="{FF2B5EF4-FFF2-40B4-BE49-F238E27FC236}">
                <a16:creationId xmlns:a16="http://schemas.microsoft.com/office/drawing/2014/main" id="{4E729E20-BA2B-4D0A-9F1D-344BED8B9FEB}"/>
              </a:ext>
            </a:extLst>
          </p:cNvPr>
          <p:cNvSpPr>
            <a:spLocks xmlns:a="http://schemas.openxmlformats.org/drawingml/2006/main" noGrp="1"/>
          </p:cNvSpPr>
          <p:nvPr/>
        </p:nvSpPr>
        <p:spPr>
          <a:xfrm xmlns:a="http://schemas.openxmlformats.org/drawingml/2006/main">
            <a:off x="9667875" y="27146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C98A16"/>
                </a:solidFill>
                <a:latin typeface="Nunito"/>
                <a:ea typeface="Nunito"/>
                <a:cs typeface="Nunito"/>
              </a:defRPr>
            </a:pPr>
            <a:r>
              <a:rPr sz="1950" b="1">
                <a:solidFill>
                  <a:srgbClr val="C98A16"/>
                </a:solidFill>
                <a:latin typeface="Nunito"/>
                <a:ea typeface="Nunito"/>
                <a:cs typeface="Nunito"/>
              </a:rPr>
              <a:t>LOCAL</a:t>
            </a:r>
          </a:p>
        </p:txBody>
      </p:sp>
      <p:graphicFrame>
        <p:nvGraphicFramePr>
          <p:cNvPr id="16" name=""/>
          <p:cNvGraphicFramePr/>
          <p:nvPr/>
        </p:nvGraphicFramePr>
        <p:xfrm>
          <a:off xmlns:a="http://schemas.openxmlformats.org/drawingml/2006/main" x="1095375" y="3286125"/>
          <a:ext xmlns:a="http://schemas.openxmlformats.org/drawingml/2006/main" cx="16097250" cy="3143250"/>
        </p:xfrm>
        <a:graphic xmlns:a="http://schemas.openxmlformats.org/drawingml/2006/main">
          <a:graphicData uri="http://schemas.openxmlformats.org/drawingml/2006/table">
            <a:tbl>
              <a:tblPr firstRow="0" bandRow="0" bandCol="0"/>
              <a:tblGrid>
                <a:gridCol w="2286000"/>
                <a:gridCol w="4095750"/>
                <a:gridCol w="2476500"/>
                <a:gridCol w="7239000"/>
              </a:tblGrid>
              <a:tr h="1047750">
                <a:tc>
                  <a:txBody>
                    <a:bodyPr/>
                    <a:lstStyle/>
                    <a:p>
                      <a:r>
                        <a:t>method</a:t>
                      </a:r>
                    </a:p>
                  </a:txBody>
                  <a:tcPr marL="91440" marR="91440" marT="45720" marB="45720"/>
                </a:tc>
                <a:tc>
                  <a:txBody>
                    <a:bodyPr/>
                    <a:lstStyle/>
                    <a:p>
                      <a:r>
                        <a:t>update idea</a:t>
                      </a:r>
                    </a:p>
                  </a:txBody>
                  <a:tcPr marL="91440" marR="91440" marT="45720" marB="45720"/>
                </a:tc>
                <a:tc>
                  <a:txBody>
                    <a:bodyPr/>
                    <a:lstStyle/>
                    <a:p>
                      <a:r>
                        <a:t>recorded evaluations</a:t>
                      </a:r>
                    </a:p>
                  </a:txBody>
                  <a:tcPr marL="91440" marR="91440" marT="45720" marB="45720"/>
                </a:tc>
                <a:tc>
                  <a:txBody>
                    <a:bodyPr/>
                    <a:lstStyle/>
                    <a:p>
                      <a:r>
                        <a:t>what it preserves / needs</a:t>
                      </a:r>
                    </a:p>
                  </a:txBody>
                  <a:tcPr marL="91440" marR="91440" marT="45720" marB="45720"/>
                </a:tc>
              </a:tr>
              <a:tr h="1047750">
                <a:tc>
                  <a:txBody>
                    <a:bodyPr/>
                    <a:lstStyle/>
                    <a:p>
                      <a:r>
                        <a:t>Bisection</a:t>
                      </a:r>
                    </a:p>
                  </a:txBody>
                  <a:tcPr marL="91440" marR="91440" marT="45720" marB="45720"/>
                </a:tc>
                <a:tc>
                  <a:txBody>
                    <a:bodyPr/>
                    <a:lstStyle/>
                    <a:p>
                      <a:r>
                        <a:t>midpoint and</a:t>
                      </a:r>
                    </a:p>
                    <a:p>
                      <a:r>
                        <a:t>sign-changing half</a:t>
                      </a:r>
                    </a:p>
                  </a:txBody>
                  <a:tcPr marL="91440" marR="91440" marT="45720" marB="45720"/>
                </a:tc>
                <a:tc>
                  <a:txBody>
                    <a:bodyPr/>
                    <a:lstStyle/>
                    <a:p>
                      <a:r>
                        <a:t>13</a:t>
                      </a:r>
                    </a:p>
                  </a:txBody>
                  <a:tcPr marL="91440" marR="91440" marT="45720" marB="45720"/>
                </a:tc>
                <a:tc>
                  <a:txBody>
                    <a:bodyPr/>
                    <a:lstStyle/>
                    <a:p>
                      <a:r>
                        <a:t>preserves a bracket</a:t>
                      </a:r>
                    </a:p>
                  </a:txBody>
                  <a:tcPr marL="91440" marR="91440" marT="45720" marB="45720"/>
                </a:tc>
              </a:tr>
              <a:tr h="1047750">
                <a:tc>
                  <a:txBody>
                    <a:bodyPr/>
                    <a:lstStyle/>
                    <a:p>
                      <a:r>
                        <a:t>Newton</a:t>
                      </a:r>
                    </a:p>
                  </a:txBody>
                  <a:tcPr marL="91440" marR="91440" marT="45720" marB="45720"/>
                </a:tc>
                <a:tc>
                  <a:txBody>
                    <a:bodyPr/>
                    <a:lstStyle/>
                    <a:p>
                      <a:r>
                        <a:t>current − residual/slope</a:t>
                      </a:r>
                    </a:p>
                  </a:txBody>
                  <a:tcPr marL="91440" marR="91440" marT="45720" marB="45720"/>
                </a:tc>
                <a:tc>
                  <a:txBody>
                    <a:bodyPr/>
                    <a:lstStyle/>
                    <a:p>
                      <a:r>
                        <a:t>4</a:t>
                      </a:r>
                    </a:p>
                  </a:txBody>
                  <a:tcPr marL="91440" marR="91440" marT="45720" marB="45720"/>
                </a:tc>
                <a:tc>
                  <a:txBody>
                    <a:bodyPr/>
                    <a:lstStyle/>
                    <a:p>
                      <a:r>
                        <a:t>needs a useful slope and start</a:t>
                      </a:r>
                    </a:p>
                  </a:txBody>
                  <a:tcPr marL="91440" marR="91440" marT="45720" marB="45720"/>
                </a:tc>
              </a:tr>
            </a:tbl>
          </a:graphicData>
        </a:graphic>
      </p:graphicFrame>
      <p:sp>
        <p:nvSpPr>
          <p:cNvPr id="7" name="comparison-check">
            <a:extLst xmlns:a="http://schemas.openxmlformats.org/drawingml/2006/main">
              <a:ext uri="{FF2B5EF4-FFF2-40B4-BE49-F238E27FC236}">
                <a16:creationId xmlns:a16="http://schemas.microsoft.com/office/drawing/2014/main" id="{61626F7D-5DDE-4A2C-B512-B52B3BB96162}"/>
              </a:ext>
            </a:extLst>
          </p:cNvPr>
          <p:cNvSpPr>
            <a:spLocks xmlns:a="http://schemas.openxmlformats.org/drawingml/2006/main" noGrp="1"/>
          </p:cNvSpPr>
          <p:nvPr/>
        </p:nvSpPr>
        <p:spPr>
          <a:xfrm xmlns:a="http://schemas.openxmlformats.org/drawingml/2006/main">
            <a:off x="1095375" y="7143750"/>
            <a:ext cx="16097250" cy="1143000"/>
          </a:xfrm>
          <a:prstGeom xmlns:a="http://schemas.openxmlformats.org/drawingml/2006/main" prst="roundRect">
            <a:avLst>
              <a:gd name="adj" fmla="val 18333"/>
            </a:avLst>
          </a:prstGeom>
          <a:solidFill xmlns:a="http://schemas.openxmlformats.org/drawingml/2006/main">
            <a:srgbClr val="F0FAF7"/>
          </a:solidFill>
          <a:ln xmlns:a="http://schemas.openxmlformats.org/drawingml/2006/main" w="19050">
            <a:solidFill>
              <a:srgbClr val="3E8E45"/>
            </a:solidFill>
            <a:prstDash val="solid"/>
          </a:ln>
        </p:spPr>
      </p:sp>
      <p:sp>
        <p:nvSpPr>
          <p:cNvPr id="8" name="comparison-check-title">
            <a:extLst xmlns:a="http://schemas.openxmlformats.org/drawingml/2006/main">
              <a:ext uri="{FF2B5EF4-FFF2-40B4-BE49-F238E27FC236}">
                <a16:creationId xmlns:a16="http://schemas.microsoft.com/office/drawing/2014/main" id="{E60495EA-7407-42A5-80D6-170A7D79E682}"/>
              </a:ext>
            </a:extLst>
          </p:cNvPr>
          <p:cNvSpPr>
            <a:spLocks xmlns:a="http://schemas.openxmlformats.org/drawingml/2006/main" noGrp="1"/>
          </p:cNvSpPr>
          <p:nvPr/>
        </p:nvSpPr>
        <p:spPr>
          <a:xfrm xmlns:a="http://schemas.openxmlformats.org/drawingml/2006/main">
            <a:off x="1428750" y="7381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shared validation</a:t>
            </a:r>
          </a:p>
        </p:txBody>
      </p:sp>
      <p:sp>
        <p:nvSpPr>
          <p:cNvPr id="9" name="comparison-check-body">
            <a:extLst xmlns:a="http://schemas.openxmlformats.org/drawingml/2006/main">
              <a:ext uri="{FF2B5EF4-FFF2-40B4-BE49-F238E27FC236}">
                <a16:creationId xmlns:a16="http://schemas.microsoft.com/office/drawing/2014/main" id="{774869F0-CE42-45D5-93DB-DD5959B83A72}"/>
              </a:ext>
            </a:extLst>
          </p:cNvPr>
          <p:cNvSpPr>
            <a:spLocks xmlns:a="http://schemas.openxmlformats.org/drawingml/2006/main" noGrp="1"/>
          </p:cNvSpPr>
          <p:nvPr/>
        </p:nvSpPr>
        <p:spPr>
          <a:xfrm xmlns:a="http://schemas.openxmlformats.org/drawingml/2006/main">
            <a:off x="4238625" y="7353300"/>
            <a:ext cx="1247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Substitute the reported angle back into the range model before interpreting the result</a:t>
            </a:r>
          </a:p>
        </p:txBody>
      </p:sp>
      <p:sp>
        <p:nvSpPr>
          <p:cNvPr id="10" name="comparison-note">
            <a:extLst xmlns:a="http://schemas.openxmlformats.org/drawingml/2006/main">
              <a:ext uri="{FF2B5EF4-FFF2-40B4-BE49-F238E27FC236}">
                <a16:creationId xmlns:a16="http://schemas.microsoft.com/office/drawing/2014/main" id="{3B0FED12-7712-48B3-B722-43F44DF2FE3A}"/>
              </a:ext>
            </a:extLst>
          </p:cNvPr>
          <p:cNvSpPr>
            <a:spLocks xmlns:a="http://schemas.openxmlformats.org/drawingml/2006/main" noGrp="1"/>
          </p:cNvSpPr>
          <p:nvPr/>
        </p:nvSpPr>
        <p:spPr>
          <a:xfrm xmlns:a="http://schemas.openxmlformats.org/drawingml/2006/main">
            <a:off x="1095375" y="8572500"/>
            <a:ext cx="1609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Working exposure: method choice is about evidence and conditions, not just speed</a:t>
            </a:r>
          </a:p>
        </p:txBody>
      </p:sp>
    </p:spTree>
    <p:extLst>
      <p:ext uri="{BB962C8B-B14F-4D97-AF65-F5344CB8AC3E}">
        <p14:creationId xmlns:p14="http://schemas.microsoft.com/office/powerpoint/2010/main" val="16942723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HY4605 inherited title treatment">
            <a:extLst xmlns:a="http://schemas.openxmlformats.org/drawingml/2006/main">
              <a:ext uri="{FF2B5EF4-FFF2-40B4-BE49-F238E27FC236}">
                <a16:creationId xmlns:a16="http://schemas.microsoft.com/office/drawing/2014/main" id="{DE259483-B658-4C6E-889D-5742525759B1}"/>
              </a:ext>
            </a:extLst>
          </p:cNvPr>
          <p:cNvSpPr>
            <a:spLocks xmlns:a="http://schemas.openxmlformats.org/drawingml/2006/main" noGrp="1"/>
          </p:cNvSpPr>
          <p:nvPr>
            <p:ph type="title" idx="0"/>
          </p:nvPr>
        </p:nvSpPr>
        <p:spPr>
          <a:xfrm xmlns:a="http://schemas.openxmlformats.org/drawingml/2006/main">
            <a:off x="1095375" y="571500"/>
            <a:ext cx="1504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200" b="1">
                <a:solidFill>
                  <a:srgbClr val="0B2B4C"/>
                </a:solidFill>
                <a:latin typeface="Nunito"/>
                <a:ea typeface="Nunito"/>
                <a:cs typeface="Nunito"/>
              </a:defRPr>
            </a:pPr>
            <a:r>
              <a:rPr sz="4200" b="1">
                <a:solidFill>
                  <a:srgbClr val="0B2B4C"/>
                </a:solidFill>
                <a:latin typeface="Nunito"/>
                <a:ea typeface="Nunito"/>
                <a:cs typeface="Nunito"/>
              </a:rPr>
              <a:t>A midpoint is not enough: the bracket must change sign</a:t>
            </a:r>
            <a:endParaRPr sz="42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2900F6CA-310F-4E6B-9939-0BA7177A39C1}"/>
              </a:ext>
            </a:extLst>
          </p:cNvPr>
          <p:cNvSpPr>
            <a:spLocks xmlns:a="http://schemas.openxmlformats.org/drawingml/2006/main" noGrp="1"/>
          </p:cNvSpPr>
          <p:nvPr>
            <p:ph type="subTitle" idx="0"/>
          </p:nvPr>
        </p:nvSpPr>
        <p:spPr>
          <a:xfrm xmlns:a="http://schemas.openxmlformats.org/drawingml/2006/main">
            <a:off x="1095375" y="1952625"/>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midpoint helps only after you prove the endpoints straddle a zero</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73C08CB3-71C2-4FE0-983C-1A06999899D3}"/>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12</a:t>
            </a:r>
            <a:endParaRPr sz="1650">
              <a:solidFill>
                <a:srgbClr val="697684"/>
              </a:solidFill>
              <a:latin typeface="Nunito"/>
              <a:ea typeface="Nunito"/>
              <a:cs typeface="Nunito"/>
            </a:endParaRPr>
          </a:p>
        </p:txBody>
      </p:sp>
      <p:sp>
        <p:nvSpPr>
          <p:cNvPr id="4" name="same-sign-card">
            <a:extLst xmlns:a="http://schemas.openxmlformats.org/drawingml/2006/main">
              <a:ext uri="{FF2B5EF4-FFF2-40B4-BE49-F238E27FC236}">
                <a16:creationId xmlns:a16="http://schemas.microsoft.com/office/drawing/2014/main" id="{AE6D050D-B879-4D90-BBE7-7B0526A0834E}"/>
              </a:ext>
            </a:extLst>
          </p:cNvPr>
          <p:cNvSpPr>
            <a:spLocks xmlns:a="http://schemas.openxmlformats.org/drawingml/2006/main" noGrp="1"/>
          </p:cNvSpPr>
          <p:nvPr/>
        </p:nvSpPr>
        <p:spPr>
          <a:xfrm xmlns:a="http://schemas.openxmlformats.org/drawingml/2006/main">
            <a:off x="1095375" y="3190875"/>
            <a:ext cx="6667500" cy="4191000"/>
          </a:xfrm>
          <a:prstGeom xmlns:a="http://schemas.openxmlformats.org/drawingml/2006/main" prst="roundRect">
            <a:avLst>
              <a:gd name="adj" fmla="val 5000"/>
            </a:avLst>
          </a:prstGeom>
          <a:solidFill xmlns:a="http://schemas.openxmlformats.org/drawingml/2006/main">
            <a:srgbClr val="FFF2F2"/>
          </a:solidFill>
          <a:ln xmlns:a="http://schemas.openxmlformats.org/drawingml/2006/main" w="19050">
            <a:solidFill>
              <a:srgbClr val="B3262E"/>
            </a:solidFill>
            <a:prstDash val="solid"/>
          </a:ln>
        </p:spPr>
      </p:sp>
      <p:sp>
        <p:nvSpPr>
          <p:cNvPr id="5" name="same-sign-heading">
            <a:extLst xmlns:a="http://schemas.openxmlformats.org/drawingml/2006/main">
              <a:ext uri="{FF2B5EF4-FFF2-40B4-BE49-F238E27FC236}">
                <a16:creationId xmlns:a16="http://schemas.microsoft.com/office/drawing/2014/main" id="{0433F161-E1A6-4F5A-8C37-46DAB092D2B0}"/>
              </a:ext>
            </a:extLst>
          </p:cNvPr>
          <p:cNvSpPr>
            <a:spLocks xmlns:a="http://schemas.openxmlformats.org/drawingml/2006/main" noGrp="1"/>
          </p:cNvSpPr>
          <p:nvPr/>
        </p:nvSpPr>
        <p:spPr>
          <a:xfrm xmlns:a="http://schemas.openxmlformats.org/drawingml/2006/main">
            <a:off x="1476375" y="357187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B3262E"/>
                </a:solidFill>
                <a:latin typeface="Nunito"/>
                <a:ea typeface="Nunito"/>
                <a:cs typeface="Nunito"/>
              </a:defRPr>
            </a:pPr>
            <a:r>
              <a:rPr sz="2550" b="1">
                <a:solidFill>
                  <a:srgbClr val="B3262E"/>
                </a:solidFill>
                <a:latin typeface="Nunito"/>
                <a:ea typeface="Nunito"/>
                <a:cs typeface="Nunito"/>
              </a:rPr>
              <a:t>same-sign start</a:t>
            </a:r>
          </a:p>
        </p:txBody>
      </p:sp>
      <p:sp>
        <p:nvSpPr>
          <p:cNvPr id="6" name="same-sign-line-axis">
            <a:extLst xmlns:a="http://schemas.openxmlformats.org/drawingml/2006/main">
              <a:ext uri="{FF2B5EF4-FFF2-40B4-BE49-F238E27FC236}">
                <a16:creationId xmlns:a16="http://schemas.microsoft.com/office/drawing/2014/main" id="{466A1BD0-1FAB-4301-B780-4D1DA49A4B25}"/>
              </a:ext>
            </a:extLst>
          </p:cNvPr>
          <p:cNvSpPr>
            <a:spLocks xmlns:a="http://schemas.openxmlformats.org/drawingml/2006/main" noGrp="1"/>
          </p:cNvSpPr>
          <p:nvPr/>
        </p:nvSpPr>
        <p:spPr>
          <a:xfrm xmlns:a="http://schemas.openxmlformats.org/drawingml/2006/main">
            <a:off x="2238375" y="4953000"/>
            <a:ext cx="4333875" cy="0"/>
          </a:xfrm>
          <a:prstGeom xmlns:a="http://schemas.openxmlformats.org/drawingml/2006/main" prst="line">
            <a:avLst/>
          </a:prstGeom>
          <a:noFill xmlns:a="http://schemas.openxmlformats.org/drawingml/2006/main"/>
          <a:ln xmlns:a="http://schemas.openxmlformats.org/drawingml/2006/main" w="38100">
            <a:solidFill>
              <a:srgbClr val="B3262E"/>
            </a:solidFill>
            <a:prstDash val="solid"/>
          </a:ln>
        </p:spPr>
      </p:sp>
      <p:sp>
        <p:nvSpPr>
          <p:cNvPr id="7" name="same-sign-line-left">
            <a:extLst xmlns:a="http://schemas.openxmlformats.org/drawingml/2006/main">
              <a:ext uri="{FF2B5EF4-FFF2-40B4-BE49-F238E27FC236}">
                <a16:creationId xmlns:a16="http://schemas.microsoft.com/office/drawing/2014/main" id="{C35E5218-F231-4BBD-A552-155F84895B8C}"/>
              </a:ext>
            </a:extLst>
          </p:cNvPr>
          <p:cNvSpPr>
            <a:spLocks xmlns:a="http://schemas.openxmlformats.org/drawingml/2006/main" noGrp="1"/>
          </p:cNvSpPr>
          <p:nvPr/>
        </p:nvSpPr>
        <p:spPr>
          <a:xfrm xmlns:a="http://schemas.openxmlformats.org/drawingml/2006/main">
            <a:off x="2124075" y="4838700"/>
            <a:ext cx="228600" cy="228600"/>
          </a:xfrm>
          <a:prstGeom xmlns:a="http://schemas.openxmlformats.org/drawingml/2006/main" prst="ellipse">
            <a:avLst/>
          </a:prstGeom>
          <a:solidFill xmlns:a="http://schemas.openxmlformats.org/drawingml/2006/main">
            <a:srgbClr val="B3262E"/>
          </a:solidFill>
          <a:ln xmlns:a="http://schemas.openxmlformats.org/drawingml/2006/main" w="0">
            <a:solidFill>
              <a:srgbClr val="B3262E"/>
            </a:solidFill>
            <a:prstDash val="solid"/>
          </a:ln>
        </p:spPr>
      </p:sp>
      <p:sp>
        <p:nvSpPr>
          <p:cNvPr id="8" name="same-sign-line-right">
            <a:extLst xmlns:a="http://schemas.openxmlformats.org/drawingml/2006/main">
              <a:ext uri="{FF2B5EF4-FFF2-40B4-BE49-F238E27FC236}">
                <a16:creationId xmlns:a16="http://schemas.microsoft.com/office/drawing/2014/main" id="{7C353C62-BE24-4040-9F5F-DE56B3C316F0}"/>
              </a:ext>
            </a:extLst>
          </p:cNvPr>
          <p:cNvSpPr>
            <a:spLocks xmlns:a="http://schemas.openxmlformats.org/drawingml/2006/main" noGrp="1"/>
          </p:cNvSpPr>
          <p:nvPr/>
        </p:nvSpPr>
        <p:spPr>
          <a:xfrm xmlns:a="http://schemas.openxmlformats.org/drawingml/2006/main">
            <a:off x="6457950" y="4838700"/>
            <a:ext cx="228600" cy="228600"/>
          </a:xfrm>
          <a:prstGeom xmlns:a="http://schemas.openxmlformats.org/drawingml/2006/main" prst="ellipse">
            <a:avLst/>
          </a:prstGeom>
          <a:solidFill xmlns:a="http://schemas.openxmlformats.org/drawingml/2006/main">
            <a:srgbClr val="B3262E"/>
          </a:solidFill>
          <a:ln xmlns:a="http://schemas.openxmlformats.org/drawingml/2006/main" w="0">
            <a:solidFill>
              <a:srgbClr val="B3262E"/>
            </a:solidFill>
            <a:prstDash val="solid"/>
          </a:ln>
        </p:spPr>
      </p:sp>
      <p:sp>
        <p:nvSpPr>
          <p:cNvPr id="9" name="same-sign-line-min">
            <a:extLst xmlns:a="http://schemas.openxmlformats.org/drawingml/2006/main">
              <a:ext uri="{FF2B5EF4-FFF2-40B4-BE49-F238E27FC236}">
                <a16:creationId xmlns:a16="http://schemas.microsoft.com/office/drawing/2014/main" id="{BBEAC335-1183-41BA-8383-1812E296DC24}"/>
              </a:ext>
            </a:extLst>
          </p:cNvPr>
          <p:cNvSpPr>
            <a:spLocks xmlns:a="http://schemas.openxmlformats.org/drawingml/2006/main" noGrp="1"/>
          </p:cNvSpPr>
          <p:nvPr/>
        </p:nvSpPr>
        <p:spPr>
          <a:xfrm xmlns:a="http://schemas.openxmlformats.org/drawingml/2006/main">
            <a:off x="160972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10" name="same-sign-line-max">
            <a:extLst xmlns:a="http://schemas.openxmlformats.org/drawingml/2006/main">
              <a:ext uri="{FF2B5EF4-FFF2-40B4-BE49-F238E27FC236}">
                <a16:creationId xmlns:a16="http://schemas.microsoft.com/office/drawing/2014/main" id="{96F0AA1F-0105-4917-A32E-15F77782E52A}"/>
              </a:ext>
            </a:extLst>
          </p:cNvPr>
          <p:cNvSpPr>
            <a:spLocks xmlns:a="http://schemas.openxmlformats.org/drawingml/2006/main" noGrp="1"/>
          </p:cNvSpPr>
          <p:nvPr/>
        </p:nvSpPr>
        <p:spPr>
          <a:xfrm xmlns:a="http://schemas.openxmlformats.org/drawingml/2006/main">
            <a:off x="5943600"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30 degree</a:t>
            </a:r>
          </a:p>
        </p:txBody>
      </p:sp>
      <p:sp>
        <p:nvSpPr>
          <p:cNvPr id="11" name="same-sign-line-mid">
            <a:extLst xmlns:a="http://schemas.openxmlformats.org/drawingml/2006/main">
              <a:ext uri="{FF2B5EF4-FFF2-40B4-BE49-F238E27FC236}">
                <a16:creationId xmlns:a16="http://schemas.microsoft.com/office/drawing/2014/main" id="{15C6AA6B-FA6A-4ED6-9CEF-6A6251B7A3DB}"/>
              </a:ext>
            </a:extLst>
          </p:cNvPr>
          <p:cNvSpPr>
            <a:spLocks xmlns:a="http://schemas.openxmlformats.org/drawingml/2006/main" noGrp="1"/>
          </p:cNvSpPr>
          <p:nvPr/>
        </p:nvSpPr>
        <p:spPr>
          <a:xfrm xmlns:a="http://schemas.openxmlformats.org/drawingml/2006/main">
            <a:off x="4267200" y="4819650"/>
            <a:ext cx="266700" cy="2667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2" name="same-sign-line-mid-tick">
            <a:extLst xmlns:a="http://schemas.openxmlformats.org/drawingml/2006/main">
              <a:ext uri="{FF2B5EF4-FFF2-40B4-BE49-F238E27FC236}">
                <a16:creationId xmlns:a16="http://schemas.microsoft.com/office/drawing/2014/main" id="{4023D792-FF58-43EA-B911-2FD0E70F68C6}"/>
              </a:ext>
            </a:extLst>
          </p:cNvPr>
          <p:cNvSpPr>
            <a:spLocks xmlns:a="http://schemas.openxmlformats.org/drawingml/2006/main" noGrp="1"/>
          </p:cNvSpPr>
          <p:nvPr/>
        </p:nvSpPr>
        <p:spPr>
          <a:xfrm xmlns:a="http://schemas.openxmlformats.org/drawingml/2006/main">
            <a:off x="4400550" y="5086350"/>
            <a:ext cx="0" cy="361950"/>
          </a:xfrm>
          <a:prstGeom xmlns:a="http://schemas.openxmlformats.org/drawingml/2006/main" prst="line">
            <a:avLst/>
          </a:prstGeom>
          <a:noFill xmlns:a="http://schemas.openxmlformats.org/drawingml/2006/main"/>
          <a:ln xmlns:a="http://schemas.openxmlformats.org/drawingml/2006/main" w="28575">
            <a:solidFill>
              <a:srgbClr val="C98A16"/>
            </a:solidFill>
            <a:prstDash val="solid"/>
          </a:ln>
        </p:spPr>
      </p:sp>
      <p:sp>
        <p:nvSpPr>
          <p:cNvPr id="13" name="same-sign-line-mid-label">
            <a:extLst xmlns:a="http://schemas.openxmlformats.org/drawingml/2006/main">
              <a:ext uri="{FF2B5EF4-FFF2-40B4-BE49-F238E27FC236}">
                <a16:creationId xmlns:a16="http://schemas.microsoft.com/office/drawing/2014/main" id="{00C8D47A-9B3B-4937-929F-1E9F2022DC35}"/>
              </a:ext>
            </a:extLst>
          </p:cNvPr>
          <p:cNvSpPr>
            <a:spLocks xmlns:a="http://schemas.openxmlformats.org/drawingml/2006/main" noGrp="1"/>
          </p:cNvSpPr>
          <p:nvPr/>
        </p:nvSpPr>
        <p:spPr>
          <a:xfrm xmlns:a="http://schemas.openxmlformats.org/drawingml/2006/main">
            <a:off x="3714750" y="55245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midpoint</a:t>
            </a:r>
          </a:p>
        </p:txBody>
      </p:sp>
      <p:sp>
        <p:nvSpPr>
          <p:cNvPr id="14" name="same-sign-residuals">
            <a:extLst xmlns:a="http://schemas.openxmlformats.org/drawingml/2006/main">
              <a:ext uri="{FF2B5EF4-FFF2-40B4-BE49-F238E27FC236}">
                <a16:creationId xmlns:a16="http://schemas.microsoft.com/office/drawing/2014/main" id="{9ADB0E6B-DA83-43D2-AA78-7391BB78B214}"/>
              </a:ext>
            </a:extLst>
          </p:cNvPr>
          <p:cNvSpPr>
            <a:spLocks xmlns:a="http://schemas.openxmlformats.org/drawingml/2006/main" noGrp="1"/>
          </p:cNvSpPr>
          <p:nvPr/>
        </p:nvSpPr>
        <p:spPr>
          <a:xfrm xmlns:a="http://schemas.openxmlformats.org/drawingml/2006/main">
            <a:off x="1666875" y="6048375"/>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B3262E"/>
                </a:solidFill>
                <a:latin typeface="Nunito"/>
                <a:ea typeface="Nunito"/>
                <a:cs typeface="Nunito"/>
              </a:defRPr>
            </a:pPr>
            <a:r>
              <a:rPr sz="1950" b="1">
                <a:solidFill>
                  <a:srgbClr val="B3262E"/>
                </a:solidFill>
                <a:latin typeface="Nunito"/>
                <a:ea typeface="Nunito"/>
                <a:cs typeface="Nunito"/>
              </a:rPr>
              <a:t>both endpoint residuals are negative</a:t>
            </a:r>
          </a:p>
        </p:txBody>
      </p:sp>
      <p:sp>
        <p:nvSpPr>
          <p:cNvPr id="15" name="same-sign-blocked">
            <a:extLst xmlns:a="http://schemas.openxmlformats.org/drawingml/2006/main">
              <a:ext uri="{FF2B5EF4-FFF2-40B4-BE49-F238E27FC236}">
                <a16:creationId xmlns:a16="http://schemas.microsoft.com/office/drawing/2014/main" id="{5F08FCA3-D487-409B-AEC9-0DB6493D19DA}"/>
              </a:ext>
            </a:extLst>
          </p:cNvPr>
          <p:cNvSpPr>
            <a:spLocks xmlns:a="http://schemas.openxmlformats.org/drawingml/2006/main" noGrp="1"/>
          </p:cNvSpPr>
          <p:nvPr/>
        </p:nvSpPr>
        <p:spPr>
          <a:xfrm xmlns:a="http://schemas.openxmlformats.org/drawingml/2006/main">
            <a:off x="1666875" y="6667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B3262E"/>
                </a:solidFill>
                <a:latin typeface="Nunito"/>
                <a:ea typeface="Nunito"/>
                <a:cs typeface="Nunito"/>
              </a:defRPr>
            </a:pPr>
            <a:r>
              <a:rPr sz="2100" b="1">
                <a:solidFill>
                  <a:srgbClr val="B3262E"/>
                </a:solidFill>
                <a:latin typeface="Nunito"/>
                <a:ea typeface="Nunito"/>
                <a:cs typeface="Nunito"/>
              </a:rPr>
              <a:t>blocked start</a:t>
            </a:r>
          </a:p>
        </p:txBody>
      </p:sp>
      <p:sp>
        <p:nvSpPr>
          <p:cNvPr id="16" name="repair-arrow">
            <a:extLst xmlns:a="http://schemas.openxmlformats.org/drawingml/2006/main">
              <a:ext uri="{FF2B5EF4-FFF2-40B4-BE49-F238E27FC236}">
                <a16:creationId xmlns:a16="http://schemas.microsoft.com/office/drawing/2014/main" id="{B71E3BEE-47C0-4F6F-BD8C-113C945E6B0A}"/>
              </a:ext>
            </a:extLst>
          </p:cNvPr>
          <p:cNvSpPr>
            <a:spLocks xmlns:a="http://schemas.openxmlformats.org/drawingml/2006/main" noGrp="1"/>
          </p:cNvSpPr>
          <p:nvPr/>
        </p:nvSpPr>
        <p:spPr>
          <a:xfrm xmlns:a="http://schemas.openxmlformats.org/drawingml/2006/main">
            <a:off x="8143875" y="4876800"/>
            <a:ext cx="1809750" cy="361950"/>
          </a:xfrm>
          <a:prstGeom xmlns:a="http://schemas.openxmlformats.org/drawingml/2006/main" prst="rightArrow">
            <a:avLst/>
          </a:prstGeom>
          <a:solidFill xmlns:a="http://schemas.openxmlformats.org/drawingml/2006/main">
            <a:srgbClr val="C98A16"/>
          </a:solidFill>
          <a:ln xmlns:a="http://schemas.openxmlformats.org/drawingml/2006/main" w="0">
            <a:noFill/>
            <a:prstDash val="solid"/>
          </a:ln>
        </p:spPr>
      </p:sp>
      <p:sp>
        <p:nvSpPr>
          <p:cNvPr id="17" name="repair-label">
            <a:extLst xmlns:a="http://schemas.openxmlformats.org/drawingml/2006/main">
              <a:ext uri="{FF2B5EF4-FFF2-40B4-BE49-F238E27FC236}">
                <a16:creationId xmlns:a16="http://schemas.microsoft.com/office/drawing/2014/main" id="{A54D0A36-642A-4786-A673-DF4CA3381A8E}"/>
              </a:ext>
            </a:extLst>
          </p:cNvPr>
          <p:cNvSpPr>
            <a:spLocks xmlns:a="http://schemas.openxmlformats.org/drawingml/2006/main" noGrp="1"/>
          </p:cNvSpPr>
          <p:nvPr/>
        </p:nvSpPr>
        <p:spPr>
          <a:xfrm xmlns:a="http://schemas.openxmlformats.org/drawingml/2006/main">
            <a:off x="7953375" y="4381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check signs first</a:t>
            </a:r>
          </a:p>
        </p:txBody>
      </p:sp>
      <p:sp>
        <p:nvSpPr>
          <p:cNvPr id="18" name="sign-changing-card">
            <a:extLst xmlns:a="http://schemas.openxmlformats.org/drawingml/2006/main">
              <a:ext uri="{FF2B5EF4-FFF2-40B4-BE49-F238E27FC236}">
                <a16:creationId xmlns:a16="http://schemas.microsoft.com/office/drawing/2014/main" id="{B2DBED13-8AE5-4141-9009-CCE1DC013EA2}"/>
              </a:ext>
            </a:extLst>
          </p:cNvPr>
          <p:cNvSpPr>
            <a:spLocks xmlns:a="http://schemas.openxmlformats.org/drawingml/2006/main" noGrp="1"/>
          </p:cNvSpPr>
          <p:nvPr/>
        </p:nvSpPr>
        <p:spPr>
          <a:xfrm xmlns:a="http://schemas.openxmlformats.org/drawingml/2006/main">
            <a:off x="10572750" y="3190875"/>
            <a:ext cx="6619875" cy="4191000"/>
          </a:xfrm>
          <a:prstGeom xmlns:a="http://schemas.openxmlformats.org/drawingml/2006/main" prst="roundRect">
            <a:avLst>
              <a:gd name="adj" fmla="val 5000"/>
            </a:avLst>
          </a:prstGeom>
          <a:solidFill xmlns:a="http://schemas.openxmlformats.org/drawingml/2006/main">
            <a:srgbClr val="F0FAF7"/>
          </a:solidFill>
          <a:ln xmlns:a="http://schemas.openxmlformats.org/drawingml/2006/main" w="19050">
            <a:solidFill>
              <a:srgbClr val="3E8E45"/>
            </a:solidFill>
            <a:prstDash val="solid"/>
          </a:ln>
        </p:spPr>
      </p:sp>
      <p:sp>
        <p:nvSpPr>
          <p:cNvPr id="19" name="sign-changing-heading">
            <a:extLst xmlns:a="http://schemas.openxmlformats.org/drawingml/2006/main">
              <a:ext uri="{FF2B5EF4-FFF2-40B4-BE49-F238E27FC236}">
                <a16:creationId xmlns:a16="http://schemas.microsoft.com/office/drawing/2014/main" id="{F81004C7-6A53-480E-B3A1-3B2C33E4EA40}"/>
              </a:ext>
            </a:extLst>
          </p:cNvPr>
          <p:cNvSpPr>
            <a:spLocks xmlns:a="http://schemas.openxmlformats.org/drawingml/2006/main" noGrp="1"/>
          </p:cNvSpPr>
          <p:nvPr/>
        </p:nvSpPr>
        <p:spPr>
          <a:xfrm xmlns:a="http://schemas.openxmlformats.org/drawingml/2006/main">
            <a:off x="10953750" y="3571875"/>
            <a:ext cx="585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sign-changing start</a:t>
            </a:r>
          </a:p>
        </p:txBody>
      </p:sp>
      <p:sp>
        <p:nvSpPr>
          <p:cNvPr id="20" name="sign-changing-line-axis">
            <a:extLst xmlns:a="http://schemas.openxmlformats.org/drawingml/2006/main">
              <a:ext uri="{FF2B5EF4-FFF2-40B4-BE49-F238E27FC236}">
                <a16:creationId xmlns:a16="http://schemas.microsoft.com/office/drawing/2014/main" id="{29D9456D-88F2-4348-8CB9-DFD32DA9501C}"/>
              </a:ext>
            </a:extLst>
          </p:cNvPr>
          <p:cNvSpPr>
            <a:spLocks xmlns:a="http://schemas.openxmlformats.org/drawingml/2006/main" noGrp="1"/>
          </p:cNvSpPr>
          <p:nvPr/>
        </p:nvSpPr>
        <p:spPr>
          <a:xfrm xmlns:a="http://schemas.openxmlformats.org/drawingml/2006/main">
            <a:off x="11668125" y="4953000"/>
            <a:ext cx="4381500" cy="0"/>
          </a:xfrm>
          <a:prstGeom xmlns:a="http://schemas.openxmlformats.org/drawingml/2006/main" prst="line">
            <a:avLst/>
          </a:prstGeom>
          <a:noFill xmlns:a="http://schemas.openxmlformats.org/drawingml/2006/main"/>
          <a:ln xmlns:a="http://schemas.openxmlformats.org/drawingml/2006/main" w="38100">
            <a:solidFill>
              <a:srgbClr val="3E8E45"/>
            </a:solidFill>
            <a:prstDash val="solid"/>
          </a:ln>
        </p:spPr>
      </p:sp>
      <p:sp>
        <p:nvSpPr>
          <p:cNvPr id="21" name="sign-changing-line-left">
            <a:extLst xmlns:a="http://schemas.openxmlformats.org/drawingml/2006/main">
              <a:ext uri="{FF2B5EF4-FFF2-40B4-BE49-F238E27FC236}">
                <a16:creationId xmlns:a16="http://schemas.microsoft.com/office/drawing/2014/main" id="{B6319F7C-EF3D-475E-8E17-1DD6CA9F4476}"/>
              </a:ext>
            </a:extLst>
          </p:cNvPr>
          <p:cNvSpPr>
            <a:spLocks xmlns:a="http://schemas.openxmlformats.org/drawingml/2006/main" noGrp="1"/>
          </p:cNvSpPr>
          <p:nvPr/>
        </p:nvSpPr>
        <p:spPr>
          <a:xfrm xmlns:a="http://schemas.openxmlformats.org/drawingml/2006/main">
            <a:off x="11553825" y="4838700"/>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2" name="sign-changing-line-right">
            <a:extLst xmlns:a="http://schemas.openxmlformats.org/drawingml/2006/main">
              <a:ext uri="{FF2B5EF4-FFF2-40B4-BE49-F238E27FC236}">
                <a16:creationId xmlns:a16="http://schemas.microsoft.com/office/drawing/2014/main" id="{D8E1BF8C-678B-4F50-8A30-728E27DD6C8F}"/>
              </a:ext>
            </a:extLst>
          </p:cNvPr>
          <p:cNvSpPr>
            <a:spLocks xmlns:a="http://schemas.openxmlformats.org/drawingml/2006/main" noGrp="1"/>
          </p:cNvSpPr>
          <p:nvPr/>
        </p:nvSpPr>
        <p:spPr>
          <a:xfrm xmlns:a="http://schemas.openxmlformats.org/drawingml/2006/main">
            <a:off x="15935325" y="4838700"/>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3" name="sign-changing-line-min">
            <a:extLst xmlns:a="http://schemas.openxmlformats.org/drawingml/2006/main">
              <a:ext uri="{FF2B5EF4-FFF2-40B4-BE49-F238E27FC236}">
                <a16:creationId xmlns:a16="http://schemas.microsoft.com/office/drawing/2014/main" id="{715AC1C3-B9AF-4F32-9892-D8AA4D99DC3C}"/>
              </a:ext>
            </a:extLst>
          </p:cNvPr>
          <p:cNvSpPr>
            <a:spLocks xmlns:a="http://schemas.openxmlformats.org/drawingml/2006/main" noGrp="1"/>
          </p:cNvSpPr>
          <p:nvPr/>
        </p:nvSpPr>
        <p:spPr>
          <a:xfrm xmlns:a="http://schemas.openxmlformats.org/drawingml/2006/main">
            <a:off x="1103947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24" name="sign-changing-line-max">
            <a:extLst xmlns:a="http://schemas.openxmlformats.org/drawingml/2006/main">
              <a:ext uri="{FF2B5EF4-FFF2-40B4-BE49-F238E27FC236}">
                <a16:creationId xmlns:a16="http://schemas.microsoft.com/office/drawing/2014/main" id="{C17DB3C0-EFF4-47B3-B6ED-74109E27FC5D}"/>
              </a:ext>
            </a:extLst>
          </p:cNvPr>
          <p:cNvSpPr>
            <a:spLocks xmlns:a="http://schemas.openxmlformats.org/drawingml/2006/main" noGrp="1"/>
          </p:cNvSpPr>
          <p:nvPr/>
        </p:nvSpPr>
        <p:spPr>
          <a:xfrm xmlns:a="http://schemas.openxmlformats.org/drawingml/2006/main">
            <a:off x="1542097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40 degree</a:t>
            </a:r>
          </a:p>
        </p:txBody>
      </p:sp>
      <p:sp>
        <p:nvSpPr>
          <p:cNvPr id="25" name="sign-changing-residuals">
            <a:extLst xmlns:a="http://schemas.openxmlformats.org/drawingml/2006/main">
              <a:ext uri="{FF2B5EF4-FFF2-40B4-BE49-F238E27FC236}">
                <a16:creationId xmlns:a16="http://schemas.microsoft.com/office/drawing/2014/main" id="{9AFB24DF-4772-4E32-BAF3-10E26667407D}"/>
              </a:ext>
            </a:extLst>
          </p:cNvPr>
          <p:cNvSpPr>
            <a:spLocks xmlns:a="http://schemas.openxmlformats.org/drawingml/2006/main" noGrp="1"/>
          </p:cNvSpPr>
          <p:nvPr/>
        </p:nvSpPr>
        <p:spPr>
          <a:xfrm xmlns:a="http://schemas.openxmlformats.org/drawingml/2006/main">
            <a:off x="11144250" y="6048375"/>
            <a:ext cx="547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endpoint residuals have opposite signs</a:t>
            </a:r>
          </a:p>
        </p:txBody>
      </p:sp>
      <p:sp>
        <p:nvSpPr>
          <p:cNvPr id="26" name="sign-changing-valid">
            <a:extLst xmlns:a="http://schemas.openxmlformats.org/drawingml/2006/main">
              <a:ext uri="{FF2B5EF4-FFF2-40B4-BE49-F238E27FC236}">
                <a16:creationId xmlns:a16="http://schemas.microsoft.com/office/drawing/2014/main" id="{78EE5EF2-73BA-433B-9F1B-687952937396}"/>
              </a:ext>
            </a:extLst>
          </p:cNvPr>
          <p:cNvSpPr>
            <a:spLocks xmlns:a="http://schemas.openxmlformats.org/drawingml/2006/main" noGrp="1"/>
          </p:cNvSpPr>
          <p:nvPr/>
        </p:nvSpPr>
        <p:spPr>
          <a:xfrm xmlns:a="http://schemas.openxmlformats.org/drawingml/2006/main">
            <a:off x="11144250" y="6667500"/>
            <a:ext cx="5476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bisection can update</a:t>
            </a:r>
          </a:p>
        </p:txBody>
      </p:sp>
      <p:sp>
        <p:nvSpPr>
          <p:cNvPr id="27" name="bracket-warning">
            <a:extLst xmlns:a="http://schemas.openxmlformats.org/drawingml/2006/main">
              <a:ext uri="{FF2B5EF4-FFF2-40B4-BE49-F238E27FC236}">
                <a16:creationId xmlns:a16="http://schemas.microsoft.com/office/drawing/2014/main" id="{36284D0B-1F75-45DC-8E9C-415594EFBBAF}"/>
              </a:ext>
            </a:extLst>
          </p:cNvPr>
          <p:cNvSpPr>
            <a:spLocks xmlns:a="http://schemas.openxmlformats.org/drawingml/2006/main" noGrp="1"/>
          </p:cNvSpPr>
          <p:nvPr/>
        </p:nvSpPr>
        <p:spPr>
          <a:xfrm xmlns:a="http://schemas.openxmlformats.org/drawingml/2006/main">
            <a:off x="1095375" y="8001000"/>
            <a:ext cx="14859000" cy="685800"/>
          </a:xfrm>
          <a:prstGeom xmlns:a="http://schemas.openxmlformats.org/drawingml/2006/main" prst="roundRect">
            <a:avLst>
              <a:gd name="adj" fmla="val 30556"/>
            </a:avLst>
          </a:prstGeom>
          <a:solidFill xmlns:a="http://schemas.openxmlformats.org/drawingml/2006/main">
            <a:srgbClr val="FFF7E6"/>
          </a:solidFill>
          <a:ln xmlns:a="http://schemas.openxmlformats.org/drawingml/2006/main" w="19050">
            <a:solidFill>
              <a:srgbClr val="C98A16"/>
            </a:solidFill>
            <a:prstDash val="solid"/>
          </a:ln>
        </p:spPr>
      </p:sp>
      <p:sp>
        <p:nvSpPr>
          <p:cNvPr id="28" name="bracket-warning-text">
            <a:extLst xmlns:a="http://schemas.openxmlformats.org/drawingml/2006/main">
              <a:ext uri="{FF2B5EF4-FFF2-40B4-BE49-F238E27FC236}">
                <a16:creationId xmlns:a16="http://schemas.microsoft.com/office/drawing/2014/main" id="{64F50098-D5B5-4D1E-A425-615F64FB5E87}"/>
              </a:ext>
            </a:extLst>
          </p:cNvPr>
          <p:cNvSpPr>
            <a:spLocks xmlns:a="http://schemas.openxmlformats.org/drawingml/2006/main" noGrp="1"/>
          </p:cNvSpPr>
          <p:nvPr/>
        </p:nvSpPr>
        <p:spPr>
          <a:xfrm xmlns:a="http://schemas.openxmlformats.org/drawingml/2006/main">
            <a:off x="1428750" y="8172450"/>
            <a:ext cx="1419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C98A16"/>
                </a:solidFill>
                <a:latin typeface="Nunito"/>
                <a:ea typeface="Nunito"/>
                <a:cs typeface="Nunito"/>
              </a:defRPr>
            </a:pPr>
            <a:r>
              <a:rPr sz="2100" b="1">
                <a:solidFill>
                  <a:srgbClr val="C98A16"/>
                </a:solidFill>
                <a:latin typeface="Nunito"/>
                <a:ea typeface="Nunito"/>
                <a:cs typeface="Nunito"/>
              </a:rPr>
              <a:t>A midpoint is a test point; the bracket is the guarantee</a:t>
            </a:r>
          </a:p>
        </p:txBody>
      </p:sp>
    </p:spTree>
    <p:extLst>
      <p:ext uri="{BB962C8B-B14F-4D97-AF65-F5344CB8AC3E}">
        <p14:creationId xmlns:p14="http://schemas.microsoft.com/office/powerpoint/2010/main" val="18618199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Transfer the residual pattern to new physics</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Any physical equation can become a root problem</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13</a:t>
            </a:r>
            <a:endParaRPr sz="1650">
              <a:solidFill>
                <a:srgbClr val="697684"/>
              </a:solidFill>
              <a:latin typeface="Nunito"/>
              <a:ea typeface="Nunito"/>
              <a:cs typeface="Nunito"/>
            </a:endParaRPr>
          </a:p>
        </p:txBody>
      </p:sp>
      <p:sp>
        <p:nvSpPr>
          <p:cNvPr id="4" name="thin-lens-card">
            <a:extLst xmlns:a="http://schemas.openxmlformats.org/drawingml/2006/main">
              <a:ext uri="{FF2B5EF4-FFF2-40B4-BE49-F238E27FC236}">
                <a16:creationId xmlns:a16="http://schemas.microsoft.com/office/drawing/2014/main" id="{F9CCF2E5-FDA3-4C0A-B6C0-99C793B1641A}"/>
              </a:ext>
            </a:extLst>
          </p:cNvPr>
          <p:cNvSpPr>
            <a:spLocks xmlns:a="http://schemas.openxmlformats.org/drawingml/2006/main" noGrp="1"/>
          </p:cNvSpPr>
          <p:nvPr/>
        </p:nvSpPr>
        <p:spPr>
          <a:xfrm xmlns:a="http://schemas.openxmlformats.org/drawingml/2006/main">
            <a:off x="1095375" y="2714625"/>
            <a:ext cx="7239000" cy="3619500"/>
          </a:xfrm>
          <a:prstGeom xmlns:a="http://schemas.openxmlformats.org/drawingml/2006/main" prst="roundRect">
            <a:avLst>
              <a:gd name="adj" fmla="val 5789"/>
            </a:avLst>
          </a:prstGeom>
          <a:solidFill xmlns:a="http://schemas.openxmlformats.org/drawingml/2006/main">
            <a:srgbClr val="EEF5FD"/>
          </a:solidFill>
          <a:ln xmlns:a="http://schemas.openxmlformats.org/drawingml/2006/main" w="19050">
            <a:solidFill>
              <a:srgbClr val="2F6DB2"/>
            </a:solidFill>
            <a:prstDash val="solid"/>
          </a:ln>
        </p:spPr>
      </p:sp>
      <p:sp>
        <p:nvSpPr>
          <p:cNvPr id="5" name="thin-lens-heading">
            <a:extLst xmlns:a="http://schemas.openxmlformats.org/drawingml/2006/main">
              <a:ext uri="{FF2B5EF4-FFF2-40B4-BE49-F238E27FC236}">
                <a16:creationId xmlns:a16="http://schemas.microsoft.com/office/drawing/2014/main" id="{25713141-CEE8-42AF-9FE7-C9FBAC5C05B3}"/>
              </a:ext>
            </a:extLst>
          </p:cNvPr>
          <p:cNvSpPr>
            <a:spLocks xmlns:a="http://schemas.openxmlformats.org/drawingml/2006/main" noGrp="1"/>
          </p:cNvSpPr>
          <p:nvPr/>
        </p:nvSpPr>
        <p:spPr>
          <a:xfrm xmlns:a="http://schemas.openxmlformats.org/drawingml/2006/main">
            <a:off x="1428750" y="3095625"/>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thin lens</a:t>
            </a:r>
          </a:p>
        </p:txBody>
      </p:sp>
      <p:sp>
        <p:nvSpPr>
          <p:cNvPr id="6" name="thin-lens-question">
            <a:extLst xmlns:a="http://schemas.openxmlformats.org/drawingml/2006/main">
              <a:ext uri="{FF2B5EF4-FFF2-40B4-BE49-F238E27FC236}">
                <a16:creationId xmlns:a16="http://schemas.microsoft.com/office/drawing/2014/main" id="{3F5268A8-4D2B-43C4-B617-D5956708A826}"/>
              </a:ext>
            </a:extLst>
          </p:cNvPr>
          <p:cNvSpPr>
            <a:spLocks xmlns:a="http://schemas.openxmlformats.org/drawingml/2006/main" noGrp="1"/>
          </p:cNvSpPr>
          <p:nvPr/>
        </p:nvSpPr>
        <p:spPr>
          <a:xfrm xmlns:a="http://schemas.openxmlformats.org/drawingml/2006/main">
            <a:off x="1571625" y="39052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Find the image distance that makes the lens equation balance</a:t>
            </a:r>
          </a:p>
        </p:txBody>
      </p:sp>
      <p:sp>
        <p:nvSpPr>
          <p:cNvPr id="7" name="thin-lens-bracket">
            <a:extLst xmlns:a="http://schemas.openxmlformats.org/drawingml/2006/main">
              <a:ext uri="{FF2B5EF4-FFF2-40B4-BE49-F238E27FC236}">
                <a16:creationId xmlns:a16="http://schemas.microsoft.com/office/drawing/2014/main" id="{277BAF54-CAAC-4954-802B-BAD84473A480}"/>
              </a:ext>
            </a:extLst>
          </p:cNvPr>
          <p:cNvSpPr>
            <a:spLocks xmlns:a="http://schemas.openxmlformats.org/drawingml/2006/main" noGrp="1"/>
          </p:cNvSpPr>
          <p:nvPr/>
        </p:nvSpPr>
        <p:spPr>
          <a:xfrm xmlns:a="http://schemas.openxmlformats.org/drawingml/2006/main">
            <a:off x="1571625"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2F6DB2"/>
                </a:solidFill>
                <a:latin typeface="Nunito"/>
                <a:ea typeface="Nunito"/>
                <a:cs typeface="Nunito"/>
              </a:defRPr>
            </a:pPr>
            <a:r>
              <a:rPr sz="1800" b="1">
                <a:solidFill>
                  <a:srgbClr val="2F6DB2"/>
                </a:solidFill>
                <a:latin typeface="Nunito"/>
                <a:ea typeface="Nunito"/>
                <a:cs typeface="Nunito"/>
              </a:rPr>
              <a:t>bracket a distance, then preserve the sign change</a:t>
            </a:r>
          </a:p>
        </p:txBody>
      </p:sp>
      <p:sp>
        <p:nvSpPr>
          <p:cNvPr id="8" name="rc-card">
            <a:extLst xmlns:a="http://schemas.openxmlformats.org/drawingml/2006/main">
              <a:ext uri="{FF2B5EF4-FFF2-40B4-BE49-F238E27FC236}">
                <a16:creationId xmlns:a16="http://schemas.microsoft.com/office/drawing/2014/main" id="{8945DF39-AFC2-45CE-A157-AC568F0B2298}"/>
              </a:ext>
            </a:extLst>
          </p:cNvPr>
          <p:cNvSpPr>
            <a:spLocks xmlns:a="http://schemas.openxmlformats.org/drawingml/2006/main" noGrp="1"/>
          </p:cNvSpPr>
          <p:nvPr/>
        </p:nvSpPr>
        <p:spPr>
          <a:xfrm xmlns:a="http://schemas.openxmlformats.org/drawingml/2006/main">
            <a:off x="9953625" y="2714625"/>
            <a:ext cx="7239000" cy="3619500"/>
          </a:xfrm>
          <a:prstGeom xmlns:a="http://schemas.openxmlformats.org/drawingml/2006/main" prst="roundRect">
            <a:avLst>
              <a:gd name="adj" fmla="val 5789"/>
            </a:avLst>
          </a:prstGeom>
          <a:solidFill xmlns:a="http://schemas.openxmlformats.org/drawingml/2006/main">
            <a:srgbClr val="FFF7E6"/>
          </a:solidFill>
          <a:ln xmlns:a="http://schemas.openxmlformats.org/drawingml/2006/main" w="19050">
            <a:solidFill>
              <a:srgbClr val="C98A16"/>
            </a:solidFill>
            <a:prstDash val="solid"/>
          </a:ln>
        </p:spPr>
      </p:sp>
      <p:sp>
        <p:nvSpPr>
          <p:cNvPr id="9" name="rc-heading">
            <a:extLst xmlns:a="http://schemas.openxmlformats.org/drawingml/2006/main">
              <a:ext uri="{FF2B5EF4-FFF2-40B4-BE49-F238E27FC236}">
                <a16:creationId xmlns:a16="http://schemas.microsoft.com/office/drawing/2014/main" id="{F79E792B-A0A3-4DFE-AB90-AB07CBAE83B3}"/>
              </a:ext>
            </a:extLst>
          </p:cNvPr>
          <p:cNvSpPr>
            <a:spLocks xmlns:a="http://schemas.openxmlformats.org/drawingml/2006/main" noGrp="1"/>
          </p:cNvSpPr>
          <p:nvPr/>
        </p:nvSpPr>
        <p:spPr>
          <a:xfrm xmlns:a="http://schemas.openxmlformats.org/drawingml/2006/main">
            <a:off x="10287000" y="3095625"/>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RC charging</a:t>
            </a:r>
          </a:p>
        </p:txBody>
      </p:sp>
      <p:sp>
        <p:nvSpPr>
          <p:cNvPr id="10" name="rc-question">
            <a:extLst xmlns:a="http://schemas.openxmlformats.org/drawingml/2006/main">
              <a:ext uri="{FF2B5EF4-FFF2-40B4-BE49-F238E27FC236}">
                <a16:creationId xmlns:a16="http://schemas.microsoft.com/office/drawing/2014/main" id="{A79DE44B-910A-4B0E-A226-051B82BE7AEB}"/>
              </a:ext>
            </a:extLst>
          </p:cNvPr>
          <p:cNvSpPr>
            <a:spLocks xmlns:a="http://schemas.openxmlformats.org/drawingml/2006/main" noGrp="1"/>
          </p:cNvSpPr>
          <p:nvPr/>
        </p:nvSpPr>
        <p:spPr>
          <a:xfrm xmlns:a="http://schemas.openxmlformats.org/drawingml/2006/main">
            <a:off x="10429875" y="39052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Find the time at which the capacitor reaches a threshold voltage</a:t>
            </a:r>
          </a:p>
        </p:txBody>
      </p:sp>
      <p:sp>
        <p:nvSpPr>
          <p:cNvPr id="11" name="rc-bracket">
            <a:extLst xmlns:a="http://schemas.openxmlformats.org/drawingml/2006/main">
              <a:ext uri="{FF2B5EF4-FFF2-40B4-BE49-F238E27FC236}">
                <a16:creationId xmlns:a16="http://schemas.microsoft.com/office/drawing/2014/main" id="{8BD02AB0-D555-49B9-8F4B-F8638F17D703}"/>
              </a:ext>
            </a:extLst>
          </p:cNvPr>
          <p:cNvSpPr>
            <a:spLocks xmlns:a="http://schemas.openxmlformats.org/drawingml/2006/main" noGrp="1"/>
          </p:cNvSpPr>
          <p:nvPr/>
        </p:nvSpPr>
        <p:spPr>
          <a:xfrm xmlns:a="http://schemas.openxmlformats.org/drawingml/2006/main">
            <a:off x="10429875"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bracket a time, then validate by substitution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98933cd71c4f3d"/>
          <a:stretch xmlns:a="http://schemas.openxmlformats.org/drawingml/2006/main"/>
        </p:blipFill>
        <p:spPr>
          <a:xfrm xmlns:a="http://schemas.openxmlformats.org/drawingml/2006/main">
            <a:off x="6055672" y="6524625"/>
            <a:ext cx="6176655" cy="1571625"/>
          </a:xfrm>
          <a:prstGeom xmlns:a="http://schemas.openxmlformats.org/drawingml/2006/main" prst="rect">
            <a:avLst/>
          </a:prstGeom>
        </p:spPr>
      </p:pic>
      <p:sp>
        <p:nvSpPr>
          <p:cNvPr id="13" name="workflow-1">
            <a:extLst xmlns:a="http://schemas.openxmlformats.org/drawingml/2006/main">
              <a:ext uri="{FF2B5EF4-FFF2-40B4-BE49-F238E27FC236}">
                <a16:creationId xmlns:a16="http://schemas.microsoft.com/office/drawing/2014/main" id="{FB22FA68-316B-4F64-BE80-504543224C76}"/>
              </a:ext>
            </a:extLst>
          </p:cNvPr>
          <p:cNvSpPr>
            <a:spLocks xmlns:a="http://schemas.openxmlformats.org/drawingml/2006/main" noGrp="1"/>
          </p:cNvSpPr>
          <p:nvPr/>
        </p:nvSpPr>
        <p:spPr>
          <a:xfrm xmlns:a="http://schemas.openxmlformats.org/drawingml/2006/main">
            <a:off x="1095375" y="8239125"/>
            <a:ext cx="3228975"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14" name="workflow-label-1">
            <a:extLst xmlns:a="http://schemas.openxmlformats.org/drawingml/2006/main">
              <a:ext uri="{FF2B5EF4-FFF2-40B4-BE49-F238E27FC236}">
                <a16:creationId xmlns:a16="http://schemas.microsoft.com/office/drawing/2014/main" id="{ED8D54C3-C4DC-4B12-803C-BA182748A0E1}"/>
              </a:ext>
            </a:extLst>
          </p:cNvPr>
          <p:cNvSpPr>
            <a:spLocks xmlns:a="http://schemas.openxmlformats.org/drawingml/2006/main" noGrp="1"/>
          </p:cNvSpPr>
          <p:nvPr/>
        </p:nvSpPr>
        <p:spPr>
          <a:xfrm xmlns:a="http://schemas.openxmlformats.org/drawingml/2006/main">
            <a:off x="1209675"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define residual</a:t>
            </a:r>
          </a:p>
        </p:txBody>
      </p:sp>
      <p:sp>
        <p:nvSpPr>
          <p:cNvPr id="15" name="workflow-arrow-1">
            <a:extLst xmlns:a="http://schemas.openxmlformats.org/drawingml/2006/main">
              <a:ext uri="{FF2B5EF4-FFF2-40B4-BE49-F238E27FC236}">
                <a16:creationId xmlns:a16="http://schemas.microsoft.com/office/drawing/2014/main" id="{89A3CBD1-623D-4BDB-8DB3-EBCB675E9E2A}"/>
              </a:ext>
            </a:extLst>
          </p:cNvPr>
          <p:cNvSpPr>
            <a:spLocks xmlns:a="http://schemas.openxmlformats.org/drawingml/2006/main" noGrp="1"/>
          </p:cNvSpPr>
          <p:nvPr/>
        </p:nvSpPr>
        <p:spPr>
          <a:xfrm xmlns:a="http://schemas.openxmlformats.org/drawingml/2006/main">
            <a:off x="4438650"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6" name="workflow-2">
            <a:extLst xmlns:a="http://schemas.openxmlformats.org/drawingml/2006/main">
              <a:ext uri="{FF2B5EF4-FFF2-40B4-BE49-F238E27FC236}">
                <a16:creationId xmlns:a16="http://schemas.microsoft.com/office/drawing/2014/main" id="{A5526A11-CC01-4B89-A234-FFF74E4F968F}"/>
              </a:ext>
            </a:extLst>
          </p:cNvPr>
          <p:cNvSpPr>
            <a:spLocks xmlns:a="http://schemas.openxmlformats.org/drawingml/2006/main" noGrp="1"/>
          </p:cNvSpPr>
          <p:nvPr/>
        </p:nvSpPr>
        <p:spPr>
          <a:xfrm xmlns:a="http://schemas.openxmlformats.org/drawingml/2006/main">
            <a:off x="4781550" y="8239125"/>
            <a:ext cx="3228975"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7" name="workflow-label-2">
            <a:extLst xmlns:a="http://schemas.openxmlformats.org/drawingml/2006/main">
              <a:ext uri="{FF2B5EF4-FFF2-40B4-BE49-F238E27FC236}">
                <a16:creationId xmlns:a16="http://schemas.microsoft.com/office/drawing/2014/main" id="{CC9E871C-57D9-4C2A-A373-9B0B0B066E1D}"/>
              </a:ext>
            </a:extLst>
          </p:cNvPr>
          <p:cNvSpPr>
            <a:spLocks xmlns:a="http://schemas.openxmlformats.org/drawingml/2006/main" noGrp="1"/>
          </p:cNvSpPr>
          <p:nvPr/>
        </p:nvSpPr>
        <p:spPr>
          <a:xfrm xmlns:a="http://schemas.openxmlformats.org/drawingml/2006/main">
            <a:off x="4895850"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bracket or start</a:t>
            </a:r>
          </a:p>
        </p:txBody>
      </p:sp>
      <p:sp>
        <p:nvSpPr>
          <p:cNvPr id="18" name="workflow-arrow-2">
            <a:extLst xmlns:a="http://schemas.openxmlformats.org/drawingml/2006/main">
              <a:ext uri="{FF2B5EF4-FFF2-40B4-BE49-F238E27FC236}">
                <a16:creationId xmlns:a16="http://schemas.microsoft.com/office/drawing/2014/main" id="{44089473-02F6-4EA1-9B46-41782CBFF64E}"/>
              </a:ext>
            </a:extLst>
          </p:cNvPr>
          <p:cNvSpPr>
            <a:spLocks xmlns:a="http://schemas.openxmlformats.org/drawingml/2006/main" noGrp="1"/>
          </p:cNvSpPr>
          <p:nvPr/>
        </p:nvSpPr>
        <p:spPr>
          <a:xfrm xmlns:a="http://schemas.openxmlformats.org/drawingml/2006/main">
            <a:off x="8124825"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9" name="workflow-3">
            <a:extLst xmlns:a="http://schemas.openxmlformats.org/drawingml/2006/main">
              <a:ext uri="{FF2B5EF4-FFF2-40B4-BE49-F238E27FC236}">
                <a16:creationId xmlns:a16="http://schemas.microsoft.com/office/drawing/2014/main" id="{39C71C6F-3B87-4082-BDC6-0D380F53B3FD}"/>
              </a:ext>
            </a:extLst>
          </p:cNvPr>
          <p:cNvSpPr>
            <a:spLocks xmlns:a="http://schemas.openxmlformats.org/drawingml/2006/main" noGrp="1"/>
          </p:cNvSpPr>
          <p:nvPr/>
        </p:nvSpPr>
        <p:spPr>
          <a:xfrm xmlns:a="http://schemas.openxmlformats.org/drawingml/2006/main">
            <a:off x="8467725" y="8239125"/>
            <a:ext cx="3228975" cy="609600"/>
          </a:xfrm>
          <a:prstGeom xmlns:a="http://schemas.openxmlformats.org/drawingml/2006/main" prst="roundRect">
            <a:avLst>
              <a:gd name="adj" fmla="val 34375"/>
            </a:avLst>
          </a:prstGeom>
          <a:solidFill xmlns:a="http://schemas.openxmlformats.org/drawingml/2006/main">
            <a:srgbClr val="F7F9FB"/>
          </a:solidFill>
          <a:ln xmlns:a="http://schemas.openxmlformats.org/drawingml/2006/main" w="19050">
            <a:noFill/>
            <a:prstDash val="solid"/>
          </a:ln>
        </p:spPr>
      </p:sp>
      <p:sp>
        <p:nvSpPr>
          <p:cNvPr id="20" name="workflow-label-3">
            <a:extLst xmlns:a="http://schemas.openxmlformats.org/drawingml/2006/main">
              <a:ext uri="{FF2B5EF4-FFF2-40B4-BE49-F238E27FC236}">
                <a16:creationId xmlns:a16="http://schemas.microsoft.com/office/drawing/2014/main" id="{3EEBED89-4586-4BAC-9629-43684F929D4D}"/>
              </a:ext>
            </a:extLst>
          </p:cNvPr>
          <p:cNvSpPr>
            <a:spLocks xmlns:a="http://schemas.openxmlformats.org/drawingml/2006/main" noGrp="1"/>
          </p:cNvSpPr>
          <p:nvPr/>
        </p:nvSpPr>
        <p:spPr>
          <a:xfrm xmlns:a="http://schemas.openxmlformats.org/drawingml/2006/main">
            <a:off x="8582025"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update</a:t>
            </a:r>
          </a:p>
        </p:txBody>
      </p:sp>
      <p:sp>
        <p:nvSpPr>
          <p:cNvPr id="21" name="workflow-arrow-3">
            <a:extLst xmlns:a="http://schemas.openxmlformats.org/drawingml/2006/main">
              <a:ext uri="{FF2B5EF4-FFF2-40B4-BE49-F238E27FC236}">
                <a16:creationId xmlns:a16="http://schemas.microsoft.com/office/drawing/2014/main" id="{ED64CF93-712A-48CD-8321-E7D0F3094269}"/>
              </a:ext>
            </a:extLst>
          </p:cNvPr>
          <p:cNvSpPr>
            <a:spLocks xmlns:a="http://schemas.openxmlformats.org/drawingml/2006/main" noGrp="1"/>
          </p:cNvSpPr>
          <p:nvPr/>
        </p:nvSpPr>
        <p:spPr>
          <a:xfrm xmlns:a="http://schemas.openxmlformats.org/drawingml/2006/main">
            <a:off x="11811000"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22" name="workflow-4">
            <a:extLst xmlns:a="http://schemas.openxmlformats.org/drawingml/2006/main">
              <a:ext uri="{FF2B5EF4-FFF2-40B4-BE49-F238E27FC236}">
                <a16:creationId xmlns:a16="http://schemas.microsoft.com/office/drawing/2014/main" id="{56E7D771-3590-4B9A-BCAE-93F5A69D0B76}"/>
              </a:ext>
            </a:extLst>
          </p:cNvPr>
          <p:cNvSpPr>
            <a:spLocks xmlns:a="http://schemas.openxmlformats.org/drawingml/2006/main" noGrp="1"/>
          </p:cNvSpPr>
          <p:nvPr/>
        </p:nvSpPr>
        <p:spPr>
          <a:xfrm xmlns:a="http://schemas.openxmlformats.org/drawingml/2006/main">
            <a:off x="12153900" y="8239125"/>
            <a:ext cx="3228975"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23" name="workflow-label-4">
            <a:extLst xmlns:a="http://schemas.openxmlformats.org/drawingml/2006/main">
              <a:ext uri="{FF2B5EF4-FFF2-40B4-BE49-F238E27FC236}">
                <a16:creationId xmlns:a16="http://schemas.microsoft.com/office/drawing/2014/main" id="{F82C46DB-5796-4CD2-BF92-C95F284D8E47}"/>
              </a:ext>
            </a:extLst>
          </p:cNvPr>
          <p:cNvSpPr>
            <a:spLocks xmlns:a="http://schemas.openxmlformats.org/drawingml/2006/main" noGrp="1"/>
          </p:cNvSpPr>
          <p:nvPr/>
        </p:nvSpPr>
        <p:spPr>
          <a:xfrm xmlns:a="http://schemas.openxmlformats.org/drawingml/2006/main">
            <a:off x="12268200"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substitute back</a:t>
            </a:r>
          </a:p>
        </p:txBody>
      </p:sp>
    </p:spTree>
    <p:extLst>
      <p:ext uri="{BB962C8B-B14F-4D97-AF65-F5344CB8AC3E}">
        <p14:creationId xmlns:p14="http://schemas.microsoft.com/office/powerpoint/2010/main" val="15802269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Exit ticket — explain a root to a future you</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Make the reasoning chain visible in one minute</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14</a:t>
            </a:r>
            <a:endParaRPr sz="1650">
              <a:solidFill>
                <a:srgbClr val="697684"/>
              </a:solidFill>
              <a:latin typeface="Nunito"/>
              <a:ea typeface="Nunito"/>
              <a:cs typeface="Nunito"/>
            </a:endParaRPr>
          </a:p>
        </p:txBody>
      </p:sp>
      <p:sp>
        <p:nvSpPr>
          <p:cNvPr id="4" name="exit-card-1">
            <a:extLst xmlns:a="http://schemas.openxmlformats.org/drawingml/2006/main">
              <a:ext uri="{FF2B5EF4-FFF2-40B4-BE49-F238E27FC236}">
                <a16:creationId xmlns:a16="http://schemas.microsoft.com/office/drawing/2014/main" id="{A81A103F-3D5E-4FCF-B57A-5D414462B310}"/>
              </a:ext>
            </a:extLst>
          </p:cNvPr>
          <p:cNvSpPr>
            <a:spLocks xmlns:a="http://schemas.openxmlformats.org/drawingml/2006/main" noGrp="1"/>
          </p:cNvSpPr>
          <p:nvPr/>
        </p:nvSpPr>
        <p:spPr>
          <a:xfrm xmlns:a="http://schemas.openxmlformats.org/drawingml/2006/main">
            <a:off x="1095375" y="2857500"/>
            <a:ext cx="3333750" cy="3714750"/>
          </a:xfrm>
          <a:prstGeom xmlns:a="http://schemas.openxmlformats.org/drawingml/2006/main" prst="roundRect">
            <a:avLst>
              <a:gd name="adj" fmla="val 6286"/>
            </a:avLst>
          </a:prstGeom>
          <a:solidFill xmlns:a="http://schemas.openxmlformats.org/drawingml/2006/main">
            <a:srgbClr val="EEF5FD"/>
          </a:solidFill>
          <a:ln xmlns:a="http://schemas.openxmlformats.org/drawingml/2006/main" w="19050">
            <a:solidFill>
              <a:srgbClr val="2F6DB2"/>
            </a:solidFill>
            <a:prstDash val="solid"/>
          </a:ln>
        </p:spPr>
      </p:sp>
      <p:sp>
        <p:nvSpPr>
          <p:cNvPr id="5" name="exit-card-heading-1">
            <a:extLst xmlns:a="http://schemas.openxmlformats.org/drawingml/2006/main">
              <a:ext uri="{FF2B5EF4-FFF2-40B4-BE49-F238E27FC236}">
                <a16:creationId xmlns:a16="http://schemas.microsoft.com/office/drawing/2014/main" id="{DD156284-41ED-489B-B5BF-BE6B8EC9A02B}"/>
              </a:ext>
            </a:extLst>
          </p:cNvPr>
          <p:cNvSpPr>
            <a:spLocks xmlns:a="http://schemas.openxmlformats.org/drawingml/2006/main" noGrp="1"/>
          </p:cNvSpPr>
          <p:nvPr/>
        </p:nvSpPr>
        <p:spPr>
          <a:xfrm xmlns:a="http://schemas.openxmlformats.org/drawingml/2006/main">
            <a:off x="1343025"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2F6DB2"/>
                </a:solidFill>
                <a:latin typeface="Nunito"/>
                <a:ea typeface="Nunito"/>
                <a:cs typeface="Nunito"/>
              </a:defRPr>
            </a:pPr>
            <a:r>
              <a:rPr sz="2400" b="1">
                <a:solidFill>
                  <a:srgbClr val="2F6DB2"/>
                </a:solidFill>
                <a:latin typeface="Nunito"/>
                <a:ea typeface="Nunito"/>
                <a:cs typeface="Nunito"/>
              </a:rPr>
              <a:t>model</a:t>
            </a:r>
          </a:p>
        </p:txBody>
      </p:sp>
      <p:sp>
        <p:nvSpPr>
          <p:cNvPr id="6" name="exit-card-rule-1">
            <a:extLst xmlns:a="http://schemas.openxmlformats.org/drawingml/2006/main">
              <a:ext uri="{FF2B5EF4-FFF2-40B4-BE49-F238E27FC236}">
                <a16:creationId xmlns:a16="http://schemas.microsoft.com/office/drawing/2014/main" id="{CEAEA6E5-4B5B-48E0-8312-E78AB88C0682}"/>
              </a:ext>
            </a:extLst>
          </p:cNvPr>
          <p:cNvSpPr>
            <a:spLocks xmlns:a="http://schemas.openxmlformats.org/drawingml/2006/main" noGrp="1"/>
          </p:cNvSpPr>
          <p:nvPr/>
        </p:nvSpPr>
        <p:spPr>
          <a:xfrm xmlns:a="http://schemas.openxmlformats.org/drawingml/2006/main">
            <a:off x="1666875" y="3924300"/>
            <a:ext cx="2190750" cy="0"/>
          </a:xfrm>
          <a:prstGeom xmlns:a="http://schemas.openxmlformats.org/drawingml/2006/main" prst="line">
            <a:avLst/>
          </a:prstGeom>
          <a:noFill xmlns:a="http://schemas.openxmlformats.org/drawingml/2006/main"/>
          <a:ln xmlns:a="http://schemas.openxmlformats.org/drawingml/2006/main" w="19050">
            <a:solidFill>
              <a:srgbClr val="2F6DB2"/>
            </a:solidFill>
            <a:prstDash val="solid"/>
          </a:ln>
        </p:spPr>
      </p:sp>
      <p:sp>
        <p:nvSpPr>
          <p:cNvPr id="7" name="exit-card-question-1">
            <a:extLst xmlns:a="http://schemas.openxmlformats.org/drawingml/2006/main">
              <a:ext uri="{FF2B5EF4-FFF2-40B4-BE49-F238E27FC236}">
                <a16:creationId xmlns:a16="http://schemas.microsoft.com/office/drawing/2014/main" id="{00DCC00B-C00B-4CD0-AE36-6EF6108B7938}"/>
              </a:ext>
            </a:extLst>
          </p:cNvPr>
          <p:cNvSpPr>
            <a:spLocks xmlns:a="http://schemas.openxmlformats.org/drawingml/2006/main" noGrp="1"/>
          </p:cNvSpPr>
          <p:nvPr/>
        </p:nvSpPr>
        <p:spPr>
          <a:xfrm xmlns:a="http://schemas.openxmlformats.org/drawingml/2006/main">
            <a:off x="1419225"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physical quantity are you matching?</a:t>
            </a:r>
          </a:p>
        </p:txBody>
      </p:sp>
      <p:sp>
        <p:nvSpPr>
          <p:cNvPr id="8" name="exit-card-prompt-1">
            <a:extLst xmlns:a="http://schemas.openxmlformats.org/drawingml/2006/main">
              <a:ext uri="{FF2B5EF4-FFF2-40B4-BE49-F238E27FC236}">
                <a16:creationId xmlns:a16="http://schemas.microsoft.com/office/drawing/2014/main" id="{B23EC95D-46D7-4694-854C-21E6C0FDD10C}"/>
              </a:ext>
            </a:extLst>
          </p:cNvPr>
          <p:cNvSpPr>
            <a:spLocks xmlns:a="http://schemas.openxmlformats.org/drawingml/2006/main" noGrp="1"/>
          </p:cNvSpPr>
          <p:nvPr/>
        </p:nvSpPr>
        <p:spPr>
          <a:xfrm xmlns:a="http://schemas.openxmlformats.org/drawingml/2006/main">
            <a:off x="1419225"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9" name="exit-card-2">
            <a:extLst xmlns:a="http://schemas.openxmlformats.org/drawingml/2006/main">
              <a:ext uri="{FF2B5EF4-FFF2-40B4-BE49-F238E27FC236}">
                <a16:creationId xmlns:a16="http://schemas.microsoft.com/office/drawing/2014/main" id="{C6072B85-2029-4408-8A09-8A59AFF69EF1}"/>
              </a:ext>
            </a:extLst>
          </p:cNvPr>
          <p:cNvSpPr>
            <a:spLocks xmlns:a="http://schemas.openxmlformats.org/drawingml/2006/main" noGrp="1"/>
          </p:cNvSpPr>
          <p:nvPr/>
        </p:nvSpPr>
        <p:spPr>
          <a:xfrm xmlns:a="http://schemas.openxmlformats.org/drawingml/2006/main">
            <a:off x="4876800" y="2857500"/>
            <a:ext cx="3333750" cy="3714750"/>
          </a:xfrm>
          <a:prstGeom xmlns:a="http://schemas.openxmlformats.org/drawingml/2006/main" prst="roundRect">
            <a:avLst>
              <a:gd name="adj" fmla="val 6286"/>
            </a:avLst>
          </a:prstGeom>
          <a:solidFill xmlns:a="http://schemas.openxmlformats.org/drawingml/2006/main">
            <a:srgbClr val="FFF7E6"/>
          </a:solidFill>
          <a:ln xmlns:a="http://schemas.openxmlformats.org/drawingml/2006/main" w="19050">
            <a:solidFill>
              <a:srgbClr val="C98A16"/>
            </a:solidFill>
            <a:prstDash val="solid"/>
          </a:ln>
        </p:spPr>
      </p:sp>
      <p:sp>
        <p:nvSpPr>
          <p:cNvPr id="10" name="exit-card-heading-2">
            <a:extLst xmlns:a="http://schemas.openxmlformats.org/drawingml/2006/main">
              <a:ext uri="{FF2B5EF4-FFF2-40B4-BE49-F238E27FC236}">
                <a16:creationId xmlns:a16="http://schemas.microsoft.com/office/drawing/2014/main" id="{179FDE5F-F4A9-400C-9737-3F3F7CCE6290}"/>
              </a:ext>
            </a:extLst>
          </p:cNvPr>
          <p:cNvSpPr>
            <a:spLocks xmlns:a="http://schemas.openxmlformats.org/drawingml/2006/main" noGrp="1"/>
          </p:cNvSpPr>
          <p:nvPr/>
        </p:nvSpPr>
        <p:spPr>
          <a:xfrm xmlns:a="http://schemas.openxmlformats.org/drawingml/2006/main">
            <a:off x="5124450"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C98A16"/>
                </a:solidFill>
                <a:latin typeface="Nunito"/>
                <a:ea typeface="Nunito"/>
                <a:cs typeface="Nunito"/>
              </a:defRPr>
            </a:pPr>
            <a:r>
              <a:rPr sz="2400" b="1">
                <a:solidFill>
                  <a:srgbClr val="C98A16"/>
                </a:solidFill>
                <a:latin typeface="Nunito"/>
                <a:ea typeface="Nunito"/>
                <a:cs typeface="Nunito"/>
              </a:rPr>
              <a:t>residual</a:t>
            </a:r>
          </a:p>
        </p:txBody>
      </p:sp>
      <p:sp>
        <p:nvSpPr>
          <p:cNvPr id="11" name="exit-card-rule-2">
            <a:extLst xmlns:a="http://schemas.openxmlformats.org/drawingml/2006/main">
              <a:ext uri="{FF2B5EF4-FFF2-40B4-BE49-F238E27FC236}">
                <a16:creationId xmlns:a16="http://schemas.microsoft.com/office/drawing/2014/main" id="{EB5CA81E-4F12-4D11-BC95-B92A29C1D095}"/>
              </a:ext>
            </a:extLst>
          </p:cNvPr>
          <p:cNvSpPr>
            <a:spLocks xmlns:a="http://schemas.openxmlformats.org/drawingml/2006/main" noGrp="1"/>
          </p:cNvSpPr>
          <p:nvPr/>
        </p:nvSpPr>
        <p:spPr>
          <a:xfrm xmlns:a="http://schemas.openxmlformats.org/drawingml/2006/main">
            <a:off x="5448300" y="3924300"/>
            <a:ext cx="2190750" cy="0"/>
          </a:xfrm>
          <a:prstGeom xmlns:a="http://schemas.openxmlformats.org/drawingml/2006/main" prst="line">
            <a:avLst/>
          </a:prstGeom>
          <a:noFill xmlns:a="http://schemas.openxmlformats.org/drawingml/2006/main"/>
          <a:ln xmlns:a="http://schemas.openxmlformats.org/drawingml/2006/main" w="19050">
            <a:solidFill>
              <a:srgbClr val="C98A16"/>
            </a:solidFill>
            <a:prstDash val="solid"/>
          </a:ln>
        </p:spPr>
      </p:sp>
      <p:sp>
        <p:nvSpPr>
          <p:cNvPr id="12" name="exit-card-question-2">
            <a:extLst xmlns:a="http://schemas.openxmlformats.org/drawingml/2006/main">
              <a:ext uri="{FF2B5EF4-FFF2-40B4-BE49-F238E27FC236}">
                <a16:creationId xmlns:a16="http://schemas.microsoft.com/office/drawing/2014/main" id="{CE68C3DD-C660-4DCB-9DF2-12FC84DF692D}"/>
              </a:ext>
            </a:extLst>
          </p:cNvPr>
          <p:cNvSpPr>
            <a:spLocks xmlns:a="http://schemas.openxmlformats.org/drawingml/2006/main" noGrp="1"/>
          </p:cNvSpPr>
          <p:nvPr/>
        </p:nvSpPr>
        <p:spPr>
          <a:xfrm xmlns:a="http://schemas.openxmlformats.org/drawingml/2006/main">
            <a:off x="5200650"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does zero mean here?</a:t>
            </a:r>
          </a:p>
        </p:txBody>
      </p:sp>
      <p:sp>
        <p:nvSpPr>
          <p:cNvPr id="13" name="exit-card-prompt-2">
            <a:extLst xmlns:a="http://schemas.openxmlformats.org/drawingml/2006/main">
              <a:ext uri="{FF2B5EF4-FFF2-40B4-BE49-F238E27FC236}">
                <a16:creationId xmlns:a16="http://schemas.microsoft.com/office/drawing/2014/main" id="{774A451B-A1A5-48B7-A11B-E8679209EAEB}"/>
              </a:ext>
            </a:extLst>
          </p:cNvPr>
          <p:cNvSpPr>
            <a:spLocks xmlns:a="http://schemas.openxmlformats.org/drawingml/2006/main" noGrp="1"/>
          </p:cNvSpPr>
          <p:nvPr/>
        </p:nvSpPr>
        <p:spPr>
          <a:xfrm xmlns:a="http://schemas.openxmlformats.org/drawingml/2006/main">
            <a:off x="5200650"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14" name="exit-card-3">
            <a:extLst xmlns:a="http://schemas.openxmlformats.org/drawingml/2006/main">
              <a:ext uri="{FF2B5EF4-FFF2-40B4-BE49-F238E27FC236}">
                <a16:creationId xmlns:a16="http://schemas.microsoft.com/office/drawing/2014/main" id="{19342177-CE02-4A11-950C-17472ED0933E}"/>
              </a:ext>
            </a:extLst>
          </p:cNvPr>
          <p:cNvSpPr>
            <a:spLocks xmlns:a="http://schemas.openxmlformats.org/drawingml/2006/main" noGrp="1"/>
          </p:cNvSpPr>
          <p:nvPr/>
        </p:nvSpPr>
        <p:spPr>
          <a:xfrm xmlns:a="http://schemas.openxmlformats.org/drawingml/2006/main">
            <a:off x="8658225" y="2857500"/>
            <a:ext cx="3333750" cy="3714750"/>
          </a:xfrm>
          <a:prstGeom xmlns:a="http://schemas.openxmlformats.org/drawingml/2006/main" prst="roundRect">
            <a:avLst>
              <a:gd name="adj" fmla="val 6286"/>
            </a:avLst>
          </a:prstGeom>
          <a:solidFill xmlns:a="http://schemas.openxmlformats.org/drawingml/2006/main">
            <a:srgbClr val="F7F9FB"/>
          </a:solidFill>
          <a:ln xmlns:a="http://schemas.openxmlformats.org/drawingml/2006/main" w="19050">
            <a:solidFill>
              <a:srgbClr val="0B2B4C"/>
            </a:solidFill>
            <a:prstDash val="solid"/>
          </a:ln>
        </p:spPr>
      </p:sp>
      <p:sp>
        <p:nvSpPr>
          <p:cNvPr id="15" name="exit-card-heading-3">
            <a:extLst xmlns:a="http://schemas.openxmlformats.org/drawingml/2006/main">
              <a:ext uri="{FF2B5EF4-FFF2-40B4-BE49-F238E27FC236}">
                <a16:creationId xmlns:a16="http://schemas.microsoft.com/office/drawing/2014/main" id="{610EC692-31DE-4710-9911-915A4D5BA037}"/>
              </a:ext>
            </a:extLst>
          </p:cNvPr>
          <p:cNvSpPr>
            <a:spLocks xmlns:a="http://schemas.openxmlformats.org/drawingml/2006/main" noGrp="1"/>
          </p:cNvSpPr>
          <p:nvPr/>
        </p:nvSpPr>
        <p:spPr>
          <a:xfrm xmlns:a="http://schemas.openxmlformats.org/drawingml/2006/main">
            <a:off x="8905875"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0B2B4C"/>
                </a:solidFill>
                <a:latin typeface="Nunito"/>
                <a:ea typeface="Nunito"/>
                <a:cs typeface="Nunito"/>
              </a:defRPr>
            </a:pPr>
            <a:r>
              <a:rPr sz="2400" b="1">
                <a:solidFill>
                  <a:srgbClr val="0B2B4C"/>
                </a:solidFill>
                <a:latin typeface="Nunito"/>
                <a:ea typeface="Nunito"/>
                <a:cs typeface="Nunito"/>
              </a:rPr>
              <a:t>method</a:t>
            </a:r>
          </a:p>
        </p:txBody>
      </p:sp>
      <p:sp>
        <p:nvSpPr>
          <p:cNvPr id="16" name="exit-card-rule-3">
            <a:extLst xmlns:a="http://schemas.openxmlformats.org/drawingml/2006/main">
              <a:ext uri="{FF2B5EF4-FFF2-40B4-BE49-F238E27FC236}">
                <a16:creationId xmlns:a16="http://schemas.microsoft.com/office/drawing/2014/main" id="{52BEA013-CD40-49CA-95CE-872791A92363}"/>
              </a:ext>
            </a:extLst>
          </p:cNvPr>
          <p:cNvSpPr>
            <a:spLocks xmlns:a="http://schemas.openxmlformats.org/drawingml/2006/main" noGrp="1"/>
          </p:cNvSpPr>
          <p:nvPr/>
        </p:nvSpPr>
        <p:spPr>
          <a:xfrm xmlns:a="http://schemas.openxmlformats.org/drawingml/2006/main">
            <a:off x="9229725" y="3924300"/>
            <a:ext cx="2190750" cy="0"/>
          </a:xfrm>
          <a:prstGeom xmlns:a="http://schemas.openxmlformats.org/drawingml/2006/main" prst="line">
            <a:avLst/>
          </a:prstGeom>
          <a:noFill xmlns:a="http://schemas.openxmlformats.org/drawingml/2006/main"/>
          <a:ln xmlns:a="http://schemas.openxmlformats.org/drawingml/2006/main" w="19050">
            <a:solidFill>
              <a:srgbClr val="0B2B4C"/>
            </a:solidFill>
            <a:prstDash val="solid"/>
          </a:ln>
        </p:spPr>
      </p:sp>
      <p:sp>
        <p:nvSpPr>
          <p:cNvPr id="17" name="exit-card-question-3">
            <a:extLst xmlns:a="http://schemas.openxmlformats.org/drawingml/2006/main">
              <a:ext uri="{FF2B5EF4-FFF2-40B4-BE49-F238E27FC236}">
                <a16:creationId xmlns:a16="http://schemas.microsoft.com/office/drawing/2014/main" id="{0DA88361-FB34-41CD-AA3F-2BCAFE978FEA}"/>
              </a:ext>
            </a:extLst>
          </p:cNvPr>
          <p:cNvSpPr>
            <a:spLocks xmlns:a="http://schemas.openxmlformats.org/drawingml/2006/main" noGrp="1"/>
          </p:cNvSpPr>
          <p:nvPr/>
        </p:nvSpPr>
        <p:spPr>
          <a:xfrm xmlns:a="http://schemas.openxmlformats.org/drawingml/2006/main">
            <a:off x="8982075"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How did your bracket or slope move the guess?</a:t>
            </a:r>
          </a:p>
        </p:txBody>
      </p:sp>
      <p:sp>
        <p:nvSpPr>
          <p:cNvPr id="18" name="exit-card-prompt-3">
            <a:extLst xmlns:a="http://schemas.openxmlformats.org/drawingml/2006/main">
              <a:ext uri="{FF2B5EF4-FFF2-40B4-BE49-F238E27FC236}">
                <a16:creationId xmlns:a16="http://schemas.microsoft.com/office/drawing/2014/main" id="{0176C041-9BD9-46E7-BF96-F347CAC84F5C}"/>
              </a:ext>
            </a:extLst>
          </p:cNvPr>
          <p:cNvSpPr>
            <a:spLocks xmlns:a="http://schemas.openxmlformats.org/drawingml/2006/main" noGrp="1"/>
          </p:cNvSpPr>
          <p:nvPr/>
        </p:nvSpPr>
        <p:spPr>
          <a:xfrm xmlns:a="http://schemas.openxmlformats.org/drawingml/2006/main">
            <a:off x="8982075"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19" name="exit-card-4">
            <a:extLst xmlns:a="http://schemas.openxmlformats.org/drawingml/2006/main">
              <a:ext uri="{FF2B5EF4-FFF2-40B4-BE49-F238E27FC236}">
                <a16:creationId xmlns:a16="http://schemas.microsoft.com/office/drawing/2014/main" id="{9E676FC5-C83A-4750-8B3D-48666A59F94A}"/>
              </a:ext>
            </a:extLst>
          </p:cNvPr>
          <p:cNvSpPr>
            <a:spLocks xmlns:a="http://schemas.openxmlformats.org/drawingml/2006/main" noGrp="1"/>
          </p:cNvSpPr>
          <p:nvPr/>
        </p:nvSpPr>
        <p:spPr>
          <a:xfrm xmlns:a="http://schemas.openxmlformats.org/drawingml/2006/main">
            <a:off x="12439650" y="2857500"/>
            <a:ext cx="3333750" cy="3714750"/>
          </a:xfrm>
          <a:prstGeom xmlns:a="http://schemas.openxmlformats.org/drawingml/2006/main" prst="roundRect">
            <a:avLst>
              <a:gd name="adj" fmla="val 6286"/>
            </a:avLst>
          </a:prstGeom>
          <a:solidFill xmlns:a="http://schemas.openxmlformats.org/drawingml/2006/main">
            <a:srgbClr val="F0FAF7"/>
          </a:solidFill>
          <a:ln xmlns:a="http://schemas.openxmlformats.org/drawingml/2006/main" w="19050">
            <a:solidFill>
              <a:srgbClr val="3E8E45"/>
            </a:solidFill>
            <a:prstDash val="solid"/>
          </a:ln>
        </p:spPr>
      </p:sp>
      <p:sp>
        <p:nvSpPr>
          <p:cNvPr id="20" name="exit-card-heading-4">
            <a:extLst xmlns:a="http://schemas.openxmlformats.org/drawingml/2006/main">
              <a:ext uri="{FF2B5EF4-FFF2-40B4-BE49-F238E27FC236}">
                <a16:creationId xmlns:a16="http://schemas.microsoft.com/office/drawing/2014/main" id="{CE3B3F92-8D6A-4A38-8704-538C1B20449E}"/>
              </a:ext>
            </a:extLst>
          </p:cNvPr>
          <p:cNvSpPr>
            <a:spLocks xmlns:a="http://schemas.openxmlformats.org/drawingml/2006/main" noGrp="1"/>
          </p:cNvSpPr>
          <p:nvPr/>
        </p:nvSpPr>
        <p:spPr>
          <a:xfrm xmlns:a="http://schemas.openxmlformats.org/drawingml/2006/main">
            <a:off x="12687300"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3E8E45"/>
                </a:solidFill>
                <a:latin typeface="Nunito"/>
                <a:ea typeface="Nunito"/>
                <a:cs typeface="Nunito"/>
              </a:defRPr>
            </a:pPr>
            <a:r>
              <a:rPr sz="2400" b="1">
                <a:solidFill>
                  <a:srgbClr val="3E8E45"/>
                </a:solidFill>
                <a:latin typeface="Nunito"/>
                <a:ea typeface="Nunito"/>
                <a:cs typeface="Nunito"/>
              </a:rPr>
              <a:t>validation</a:t>
            </a:r>
          </a:p>
        </p:txBody>
      </p:sp>
      <p:sp>
        <p:nvSpPr>
          <p:cNvPr id="21" name="exit-card-rule-4">
            <a:extLst xmlns:a="http://schemas.openxmlformats.org/drawingml/2006/main">
              <a:ext uri="{FF2B5EF4-FFF2-40B4-BE49-F238E27FC236}">
                <a16:creationId xmlns:a16="http://schemas.microsoft.com/office/drawing/2014/main" id="{548553F1-CC71-4E66-BBD9-4A44EC88A230}"/>
              </a:ext>
            </a:extLst>
          </p:cNvPr>
          <p:cNvSpPr>
            <a:spLocks xmlns:a="http://schemas.openxmlformats.org/drawingml/2006/main" noGrp="1"/>
          </p:cNvSpPr>
          <p:nvPr/>
        </p:nvSpPr>
        <p:spPr>
          <a:xfrm xmlns:a="http://schemas.openxmlformats.org/drawingml/2006/main">
            <a:off x="13011150" y="3924300"/>
            <a:ext cx="2190750" cy="0"/>
          </a:xfrm>
          <a:prstGeom xmlns:a="http://schemas.openxmlformats.org/drawingml/2006/main" prst="line">
            <a:avLst/>
          </a:prstGeom>
          <a:noFill xmlns:a="http://schemas.openxmlformats.org/drawingml/2006/main"/>
          <a:ln xmlns:a="http://schemas.openxmlformats.org/drawingml/2006/main" w="19050">
            <a:solidFill>
              <a:srgbClr val="3E8E45"/>
            </a:solidFill>
            <a:prstDash val="solid"/>
          </a:ln>
        </p:spPr>
      </p:sp>
      <p:sp>
        <p:nvSpPr>
          <p:cNvPr id="22" name="exit-card-question-4">
            <a:extLst xmlns:a="http://schemas.openxmlformats.org/drawingml/2006/main">
              <a:ext uri="{FF2B5EF4-FFF2-40B4-BE49-F238E27FC236}">
                <a16:creationId xmlns:a16="http://schemas.microsoft.com/office/drawing/2014/main" id="{8B71A09C-00F8-47EE-A07D-C1910DFAB652}"/>
              </a:ext>
            </a:extLst>
          </p:cNvPr>
          <p:cNvSpPr>
            <a:spLocks xmlns:a="http://schemas.openxmlformats.org/drawingml/2006/main" noGrp="1"/>
          </p:cNvSpPr>
          <p:nvPr/>
        </p:nvSpPr>
        <p:spPr>
          <a:xfrm xmlns:a="http://schemas.openxmlformats.org/drawingml/2006/main">
            <a:off x="12763500"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did substitution prove?</a:t>
            </a:r>
          </a:p>
        </p:txBody>
      </p:sp>
      <p:sp>
        <p:nvSpPr>
          <p:cNvPr id="23" name="exit-card-prompt-4">
            <a:extLst xmlns:a="http://schemas.openxmlformats.org/drawingml/2006/main">
              <a:ext uri="{FF2B5EF4-FFF2-40B4-BE49-F238E27FC236}">
                <a16:creationId xmlns:a16="http://schemas.microsoft.com/office/drawing/2014/main" id="{271A1C9E-840B-4795-B8CD-1EE2121E2125}"/>
              </a:ext>
            </a:extLst>
          </p:cNvPr>
          <p:cNvSpPr>
            <a:spLocks xmlns:a="http://schemas.openxmlformats.org/drawingml/2006/main" noGrp="1"/>
          </p:cNvSpPr>
          <p:nvPr/>
        </p:nvSpPr>
        <p:spPr>
          <a:xfrm xmlns:a="http://schemas.openxmlformats.org/drawingml/2006/main">
            <a:off x="12763500"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24" name="exit-workflow">
            <a:extLst xmlns:a="http://schemas.openxmlformats.org/drawingml/2006/main">
              <a:ext uri="{FF2B5EF4-FFF2-40B4-BE49-F238E27FC236}">
                <a16:creationId xmlns:a16="http://schemas.microsoft.com/office/drawing/2014/main" id="{CFB80FEA-3124-4392-A10A-5DC80995BBAA}"/>
              </a:ext>
            </a:extLst>
          </p:cNvPr>
          <p:cNvSpPr>
            <a:spLocks xmlns:a="http://schemas.openxmlformats.org/drawingml/2006/main" noGrp="1"/>
          </p:cNvSpPr>
          <p:nvPr/>
        </p:nvSpPr>
        <p:spPr>
          <a:xfrm xmlns:a="http://schemas.openxmlformats.org/drawingml/2006/main">
            <a:off x="1095375" y="7143750"/>
            <a:ext cx="14859000" cy="1066800"/>
          </a:xfrm>
          <a:prstGeom xmlns:a="http://schemas.openxmlformats.org/drawingml/2006/main" prst="roundRect">
            <a:avLst>
              <a:gd name="adj" fmla="val 19643"/>
            </a:avLst>
          </a:prstGeom>
          <a:solidFill xmlns:a="http://schemas.openxmlformats.org/drawingml/2006/main">
            <a:srgbClr val="F4F8FC"/>
          </a:solidFill>
          <a:ln xmlns:a="http://schemas.openxmlformats.org/drawingml/2006/main" w="19050">
            <a:noFill/>
            <a:prstDash val="solid"/>
          </a:ln>
        </p:spPr>
      </p:sp>
      <p:sp>
        <p:nvSpPr>
          <p:cNvPr id="25" name="exit-workflow-label">
            <a:extLst xmlns:a="http://schemas.openxmlformats.org/drawingml/2006/main">
              <a:ext uri="{FF2B5EF4-FFF2-40B4-BE49-F238E27FC236}">
                <a16:creationId xmlns:a16="http://schemas.microsoft.com/office/drawing/2014/main" id="{62126444-C726-40D6-89D3-B35AB6604EB1}"/>
              </a:ext>
            </a:extLst>
          </p:cNvPr>
          <p:cNvSpPr>
            <a:spLocks xmlns:a="http://schemas.openxmlformats.org/drawingml/2006/main" noGrp="1"/>
          </p:cNvSpPr>
          <p:nvPr/>
        </p:nvSpPr>
        <p:spPr>
          <a:xfrm xmlns:a="http://schemas.openxmlformats.org/drawingml/2006/main">
            <a:off x="1381125" y="733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your explanation</a:t>
            </a:r>
          </a:p>
        </p:txBody>
      </p:sp>
      <p:sp>
        <p:nvSpPr>
          <p:cNvPr id="26" name="exit-workflow-text">
            <a:extLst xmlns:a="http://schemas.openxmlformats.org/drawingml/2006/main">
              <a:ext uri="{FF2B5EF4-FFF2-40B4-BE49-F238E27FC236}">
                <a16:creationId xmlns:a16="http://schemas.microsoft.com/office/drawing/2014/main" id="{0BB17990-D135-4361-B1C8-03BBC29E6884}"/>
              </a:ext>
            </a:extLst>
          </p:cNvPr>
          <p:cNvSpPr>
            <a:spLocks xmlns:a="http://schemas.openxmlformats.org/drawingml/2006/main" noGrp="1"/>
          </p:cNvSpPr>
          <p:nvPr/>
        </p:nvSpPr>
        <p:spPr>
          <a:xfrm xmlns:a="http://schemas.openxmlformats.org/drawingml/2006/main">
            <a:off x="3667125" y="7334250"/>
            <a:ext cx="1181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025" b="1">
                <a:solidFill>
                  <a:srgbClr val="0B2B4C"/>
                </a:solidFill>
                <a:latin typeface="Nunito"/>
                <a:ea typeface="Nunito"/>
                <a:cs typeface="Nunito"/>
              </a:defRPr>
            </a:pPr>
            <a:r>
              <a:rPr sz="2025" b="1">
                <a:solidFill>
                  <a:srgbClr val="0B2B4C"/>
                </a:solidFill>
                <a:latin typeface="Nunito"/>
                <a:ea typeface="Nunito"/>
                <a:cs typeface="Nunito"/>
              </a:rPr>
              <a:t>physical model  →  residual  →  algorithm  →  code  →  check  →  interpretation</a:t>
            </a:r>
          </a:p>
        </p:txBody>
      </p:sp>
      <p:sp>
        <p:nvSpPr>
          <p:cNvPr id="27" name="exit-final">
            <a:extLst xmlns:a="http://schemas.openxmlformats.org/drawingml/2006/main">
              <a:ext uri="{FF2B5EF4-FFF2-40B4-BE49-F238E27FC236}">
                <a16:creationId xmlns:a16="http://schemas.microsoft.com/office/drawing/2014/main" id="{CA30704B-1163-4ACC-B8BA-78F3275BE8F6}"/>
              </a:ext>
            </a:extLst>
          </p:cNvPr>
          <p:cNvSpPr>
            <a:spLocks xmlns:a="http://schemas.openxmlformats.org/drawingml/2006/main" noGrp="1"/>
          </p:cNvSpPr>
          <p:nvPr/>
        </p:nvSpPr>
        <p:spPr>
          <a:xfrm xmlns:a="http://schemas.openxmlformats.org/drawingml/2006/main">
            <a:off x="1095375" y="8572500"/>
            <a:ext cx="1609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A root is not just a number: it is a defensible physical match</a:t>
            </a:r>
          </a:p>
        </p:txBody>
      </p:sp>
    </p:spTree>
    <p:extLst>
      <p:ext uri="{BB962C8B-B14F-4D97-AF65-F5344CB8AC3E}">
        <p14:creationId xmlns:p14="http://schemas.microsoft.com/office/powerpoint/2010/main" val="90637163"/>
      </p:ext>
    </p:extLst>
  </p:cSld>
</p:sld>
</file>

<file path=ppt/theme/theme1.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2026-09-02T15:57:48.2160000Z</dcterms:created>
  <dcterms:modified xsi:type="dcterms:W3CDTF">2026-09-02T15:57:48.2160000Z</dcterms:modified>
</coreProperties>
</file>
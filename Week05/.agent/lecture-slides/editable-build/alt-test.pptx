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73ce0087984254" /><Relationship Type="http://schemas.openxmlformats.org/officeDocument/2006/relationships/extended-properties" Target="/docProps/app.xml" Id="R70147b99f62c4c97" /><Relationship Type="http://schemas.openxmlformats.org/officeDocument/2006/relationships/officeDocument" Target="/ppt/presentation.xml" Id="R9252986c6c1447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7c0b5f02b54bfe"/>
    <p:sldMasterId xmlns:r="http://schemas.openxmlformats.org/officeDocument/2006/relationships" id="2147483650" r:id="R1a1e3335fd6a4da1"/>
  </p:sldMasterIdLst>
  <p:notesMasterIdLst>
    <p:notesMasterId xmlns:r="http://schemas.openxmlformats.org/officeDocument/2006/relationships" r:id="R55484c8ac84643a2"/>
  </p:notesMasterIdLst>
  <p:sldIdLst>
    <p:sldId xmlns:r="http://schemas.openxmlformats.org/officeDocument/2006/relationships" id="256" r:id="R26bed737e3574245"/>
    <p:sldId xmlns:r="http://schemas.openxmlformats.org/officeDocument/2006/relationships" id="257" r:id="R4a2b2dbe96354a0f"/>
    <p:sldId xmlns:r="http://schemas.openxmlformats.org/officeDocument/2006/relationships" id="258" r:id="R10fbd87ff7bb4ade"/>
    <p:sldId xmlns:r="http://schemas.openxmlformats.org/officeDocument/2006/relationships" id="259" r:id="Rd369dd566d6243bb"/>
    <p:sldId xmlns:r="http://schemas.openxmlformats.org/officeDocument/2006/relationships" id="260" r:id="R9553930bacf742f8"/>
    <p:sldId xmlns:r="http://schemas.openxmlformats.org/officeDocument/2006/relationships" id="261" r:id="R4b2fdc07ea424b09"/>
    <p:sldId xmlns:r="http://schemas.openxmlformats.org/officeDocument/2006/relationships" id="262" r:id="Rfcbb13b4a4f94fbf"/>
    <p:sldId xmlns:r="http://schemas.openxmlformats.org/officeDocument/2006/relationships" id="263" r:id="R283d321ca78446e4"/>
    <p:sldId xmlns:r="http://schemas.openxmlformats.org/officeDocument/2006/relationships" id="264" r:id="R2ba77bb9a4fd46e5"/>
    <p:sldId xmlns:r="http://schemas.openxmlformats.org/officeDocument/2006/relationships" id="265" r:id="Ra068f61bf54e446b"/>
    <p:sldId xmlns:r="http://schemas.openxmlformats.org/officeDocument/2006/relationships" id="266" r:id="R242eb7350259428b"/>
    <p:sldId xmlns:r="http://schemas.openxmlformats.org/officeDocument/2006/relationships" id="267" r:id="R017d5c7bcdfe4d88"/>
    <p:sldId xmlns:r="http://schemas.openxmlformats.org/officeDocument/2006/relationships" id="268" r:id="Ra3e66d4223454106"/>
    <p:sldId xmlns:r="http://schemas.openxmlformats.org/officeDocument/2006/relationships" id="269" r:id="Rc72f9d1f2a7a459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78d826a8544df6" /><Relationship Type="http://schemas.openxmlformats.org/officeDocument/2006/relationships/slideMaster" Target="/ppt/slideMasters/slideMaster1.xml" Id="R997c0b5f02b54bfe" /><Relationship Type="http://schemas.openxmlformats.org/officeDocument/2006/relationships/slideMaster" Target="/ppt/slideMasters/slideMaster2.xml" Id="R1a1e3335fd6a4da1" /><Relationship Type="http://schemas.openxmlformats.org/officeDocument/2006/relationships/notesMaster" Target="/ppt/notesMasters/notesMaster1.xml" Id="R55484c8ac84643a2" /><Relationship Type="http://schemas.openxmlformats.org/officeDocument/2006/relationships/presProps" Target="/ppt/presProps.xml" Id="R199a977a8bd445d4" /><Relationship Type="http://schemas.openxmlformats.org/officeDocument/2006/relationships/tableStyles" Target="/ppt/tableStyles.xml" Id="R5589eef485c04fdb" /><Relationship Type="http://schemas.openxmlformats.org/officeDocument/2006/relationships/slide" Target="/ppt/slides/slide1.xml" Id="R26bed737e3574245" /><Relationship Type="http://schemas.openxmlformats.org/officeDocument/2006/relationships/slide" Target="/ppt/slides/slide2.xml" Id="R4a2b2dbe96354a0f" /><Relationship Type="http://schemas.openxmlformats.org/officeDocument/2006/relationships/slide" Target="/ppt/slides/slide3.xml" Id="R10fbd87ff7bb4ade" /><Relationship Type="http://schemas.openxmlformats.org/officeDocument/2006/relationships/slide" Target="/ppt/slides/slide4.xml" Id="Rd369dd566d6243bb" /><Relationship Type="http://schemas.openxmlformats.org/officeDocument/2006/relationships/slide" Target="/ppt/slides/slide5.xml" Id="R9553930bacf742f8" /><Relationship Type="http://schemas.openxmlformats.org/officeDocument/2006/relationships/slide" Target="/ppt/slides/slide6.xml" Id="R4b2fdc07ea424b09" /><Relationship Type="http://schemas.openxmlformats.org/officeDocument/2006/relationships/slide" Target="/ppt/slides/slide7.xml" Id="Rfcbb13b4a4f94fbf" /><Relationship Type="http://schemas.openxmlformats.org/officeDocument/2006/relationships/slide" Target="/ppt/slides/slide8.xml" Id="R283d321ca78446e4" /><Relationship Type="http://schemas.openxmlformats.org/officeDocument/2006/relationships/slide" Target="/ppt/slides/slide9.xml" Id="R2ba77bb9a4fd46e5" /><Relationship Type="http://schemas.openxmlformats.org/officeDocument/2006/relationships/slide" Target="/ppt/slides/slide10.xml" Id="Ra068f61bf54e446b" /><Relationship Type="http://schemas.openxmlformats.org/officeDocument/2006/relationships/slide" Target="/ppt/slides/slide11.xml" Id="R242eb7350259428b" /><Relationship Type="http://schemas.openxmlformats.org/officeDocument/2006/relationships/slide" Target="/ppt/slides/slide12.xml" Id="R017d5c7bcdfe4d88" /><Relationship Type="http://schemas.openxmlformats.org/officeDocument/2006/relationships/slide" Target="/ppt/slides/slide13.xml" Id="Ra3e66d4223454106" /><Relationship Type="http://schemas.openxmlformats.org/officeDocument/2006/relationships/slide" Target="/ppt/slides/slide14.xml" Id="Rc72f9d1f2a7a45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73108dadd494e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3c78960bdd4df0" /><Relationship Type="http://schemas.openxmlformats.org/officeDocument/2006/relationships/notesMaster" Target="/ppt/notesMasters/notesMaster1.xml" Id="R1c5815fc4a734a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2b105f4db0411e" /><Relationship Type="http://schemas.openxmlformats.org/officeDocument/2006/relationships/notesMaster" Target="/ppt/notesMasters/notesMaster1.xml" Id="Rfdea2316931e47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0ec87bd5244f72" /><Relationship Type="http://schemas.openxmlformats.org/officeDocument/2006/relationships/notesMaster" Target="/ppt/notesMasters/notesMaster1.xml" Id="R5c8a38a4d8164e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6cf2518f164c67" /><Relationship Type="http://schemas.openxmlformats.org/officeDocument/2006/relationships/notesMaster" Target="/ppt/notesMasters/notesMaster1.xml" Id="Rb3ea9867d46945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99470a2d3e4101" /><Relationship Type="http://schemas.openxmlformats.org/officeDocument/2006/relationships/notesMaster" Target="/ppt/notesMasters/notesMaster1.xml" Id="R2a10dc830ebb4a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e29bdb25e84715" /><Relationship Type="http://schemas.openxmlformats.org/officeDocument/2006/relationships/notesMaster" Target="/ppt/notesMasters/notesMaster1.xml" Id="Rafadd4b6492341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e4d7299dcc4c2b" /><Relationship Type="http://schemas.openxmlformats.org/officeDocument/2006/relationships/notesMaster" Target="/ppt/notesMasters/notesMaster1.xml" Id="R36453667800144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658ac6234a4a3e" /><Relationship Type="http://schemas.openxmlformats.org/officeDocument/2006/relationships/notesMaster" Target="/ppt/notesMasters/notesMaster1.xml" Id="R666711cc410642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57a7cdfbf9403d" /><Relationship Type="http://schemas.openxmlformats.org/officeDocument/2006/relationships/notesMaster" Target="/ppt/notesMasters/notesMaster1.xml" Id="R576e081c7c054b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de7954ff0f42ba" /><Relationship Type="http://schemas.openxmlformats.org/officeDocument/2006/relationships/notesMaster" Target="/ppt/notesMasters/notesMaster1.xml" Id="Rd94ca6d38e9f46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0fab5a02d84ac8" /><Relationship Type="http://schemas.openxmlformats.org/officeDocument/2006/relationships/notesMaster" Target="/ppt/notesMasters/notesMaster1.xml" Id="Ref739e9367ad4e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e5bedaaa1c406c" /><Relationship Type="http://schemas.openxmlformats.org/officeDocument/2006/relationships/notesMaster" Target="/ppt/notesMasters/notesMaster1.xml" Id="Rcb540bbde4044c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9acb7cd18940b0" /><Relationship Type="http://schemas.openxmlformats.org/officeDocument/2006/relationships/notesMaster" Target="/ppt/notesMasters/notesMaster1.xml" Id="Ra93db81f562240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c9b1d35c6c401f" /><Relationship Type="http://schemas.openxmlformats.org/officeDocument/2006/relationships/notesMaster" Target="/ppt/notesMasters/notesMaster1.xml" Id="R36a28c7c53ce4b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asking students to name the physical quantity that is unknown before they name a numerical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that the residual is not a new physical law. It is the model prediction compared with the target, expressed in metres.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Week05/.agent/lecture-slides/codex-ppt/assets/strict/equations/model_residual.png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sign as a directional cue on the low-angle branch: a negative residual is too short and a positive residual is too long.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Week05/.agent/lecture-slides/codex-ppt/assets/strict/equations/signs.png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graph quantitatively. The low-angle bracket is the chosen Core route; the higher crossing is not developed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Week05/.agent/lecture-slides/codex-ppt/assets/strict/week05_projectile_residual.png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after the midpoint. Students should explain why the midpoint value alone is not enough; the endpoint sign change is the invariant.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four rows aloud. The important habit is to recompute the midpoint, evaluate it, and update exactly one endpoint.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Week05/.agent/lecture-slides/codex-ppt/assets/strict/tables/bisection_first_four.png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each line in the scaffold and ask which physical decision it represents. The code is short because the algorithm is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Week05/.agent/lecture-slides/codex-ppt/assets/strict/code/bisection_scaffold.png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stopping rule is one residual test. Then substitute the angle back into the original model so the result has physical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Week05/.agent/lecture-slides/codex-ppt/assets/strict/equations/validation.png; Week05/.agent/lecture-slides/codex-ppt/assets/strict/tables/bisection_validation.png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Newton as a tangent prediction. Keep the degree-to-radian factor visible; the slope is measured in metres per degree.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Week05/.agent/lecture-slides/codex-ppt/assets/strict/equations/newton_update_slope.png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table row by row. At the fourth evaluation the residual is already well below the one-millimetre tolerance.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Week05/.agent/lecture-slides/codex-ppt/assets/strict/tables/newton_trace.png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Working exposure. Fewer evaluations do not make Newton automatically more correct; both methods still need residual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Week05/.agent/lecture-slides/codex-ppt/assets/strict/tables/method_comparison.png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failure state with [30,40]. Both endpoint residuals are positive, so the bracket has lost the sign change and must be repaired.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transfer explicit: change the physical model, keep the residual habit. Students should be able to identify the unknown and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  <a:p xmlns:a="http://schemas.openxmlformats.org/drawingml/2006/main">
            <a:r>
              <a:t>- Visual/equation asset: Week05/.agent/lecture-slides/codex-ppt/assets/strict/equations/transfer_residuals.png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four prompts as retrieval. Do not provide the answer key; ask students to explain the chain in their own words before practical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05 course materials: Week05/README.md and Week05/.agent/manifests/Week05_Content_Manifest.md</a:t>
            </a:r>
          </a:p>
          <a:p xmlns:a="http://schemas.openxmlformats.org/drawingml/2006/main">
            <a:r>
              <a:t>- Demonstration source: Week05/Week05_Lecture_Demonstration_Root_Finding_for_Projectile_Range.m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e6b5b2fd924d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84e190cfc943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a5bbcc766149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b534ad5b4f44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e3370cb2b7446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CE487BE1-EAC4-4233-A86B-D5E45C702F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729161A9-542D-4A02-986E-0C91338B5D6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8FC82273-B142-42E3-90EF-B90A4084822F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Open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course tag treatment">
            <a:extLst xmlns:a="http://schemas.openxmlformats.org/drawingml/2006/main">
              <a:ext uri="{FF2B5EF4-FFF2-40B4-BE49-F238E27FC236}">
                <a16:creationId xmlns:a16="http://schemas.microsoft.com/office/drawing/2014/main" id="{C970D001-18B3-4C08-BD81-2EA64264FDD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095375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1950" b="1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CB07F723-4669-4504-939A-2225C5CEC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61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A5588E87-C009-4001-95A8-3DDBD40003D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5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Content T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96009640-822E-4F51-BA56-74FF8D3D5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D1F7E078-62FE-425C-BBF3-02A3B42D011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970A2395-3444-46A6-8C53-774C06DEEB21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Content T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BB77BCC3-B6C9-4F2C-B44F-402F50F38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6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5CCE7C86-DC5E-41F3-AC1A-B25CCD182AB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3F59F9FC-79B9-4DCB-8585-53A715049F73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Content T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F1CABB71-339A-41E7-AD02-24FB68EF9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2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C93D684E-5C72-4851-9ABA-2BECEF4DECD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0F7B378E-BF41-4D32-A704-25DBEEF51E0F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eab8880ac04cc4" /><Relationship Type="http://schemas.openxmlformats.org/officeDocument/2006/relationships/slideLayout" Target="/ppt/slideLayouts/slideLayout1.xml" Id="R8d570edb9659465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8566fcc2f1a4023" /><Relationship Type="http://schemas.openxmlformats.org/officeDocument/2006/relationships/slideLayout" Target="/ppt/slideLayouts/slideLayout2.xml" Id="R65152e70dbe6440b" /><Relationship Type="http://schemas.openxmlformats.org/officeDocument/2006/relationships/slideLayout" Target="/ppt/slideLayouts/slideLayout3.xml" Id="R40eb86b2eb52479e" /><Relationship Type="http://schemas.openxmlformats.org/officeDocument/2006/relationships/slideLayout" Target="/ppt/slideLayouts/slideLayout4.xml" Id="R0a15239c1bf34ea9" /><Relationship Type="http://schemas.openxmlformats.org/officeDocument/2006/relationships/slideLayout" Target="/ppt/slideLayouts/slideLayout5.xml" Id="Rb3f6181cdb5649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787735D3-2169-4C50-B0B0-5827C20AB2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8BAA908-C6D7-4FBA-9B4B-C2C7641ED4F0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0AE49B81-E30E-47BD-A92E-A9E988E4B74A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570edb965946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HY4605 Borderless White Mas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3ED83AF2-928F-4EF9-BF93-E2C342E68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B88668E9-4AA3-4EB7-A069-35C3066A129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EE87D9E0-C4C5-4799-86EA-09A7E319F9EE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65152e70dbe6440b"/>
    <p:sldLayoutId xmlns:r="http://schemas.openxmlformats.org/officeDocument/2006/relationships" id="2147483652" r:id="R40eb86b2eb52479e"/>
    <p:sldLayoutId xmlns:r="http://schemas.openxmlformats.org/officeDocument/2006/relationships" id="2147483653" r:id="R0a15239c1bf34ea9"/>
    <p:sldLayoutId xmlns:r="http://schemas.openxmlformats.org/officeDocument/2006/relationships" id="2147483654" r:id="Rb3f6181cdb56492b"/>
  </p:sldLayoutIdLst>
</p:sldMaster>
</file>

<file path=ppt/slideMasters/theme/theme2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2f458f7fb249ca" /><Relationship Type="http://schemas.openxmlformats.org/officeDocument/2006/relationships/notesSlide" Target="/ppt/notesSlides/notesSlide1.xml" Id="R6f73d408e1aa45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e33dee7631f4804" /><Relationship Type="http://schemas.openxmlformats.org/officeDocument/2006/relationships/image" Target="/ppt/media/image.png" Id="R6b368a8fe6f440ef" /><Relationship Type="http://schemas.openxmlformats.org/officeDocument/2006/relationships/notesSlide" Target="/ppt/notesSlides/notesSlide2.xml" Id="Rd5e2ea5cc19545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c5516b9f36b40e3" /><Relationship Type="http://schemas.openxmlformats.org/officeDocument/2006/relationships/notesSlide" Target="/ppt/notesSlides/notesSlide3.xml" Id="R2c361ae9037e4a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9743a956bd04c33" /><Relationship Type="http://schemas.openxmlformats.org/officeDocument/2006/relationships/image" Target="/ppt/media/image2.png" Id="Rdcf908db97d34712" /><Relationship Type="http://schemas.openxmlformats.org/officeDocument/2006/relationships/notesSlide" Target="/ppt/notesSlides/notesSlide4.xml" Id="R21bf69a2349c4c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56370aecde4c3e" /><Relationship Type="http://schemas.openxmlformats.org/officeDocument/2006/relationships/notesSlide" Target="/ppt/notesSlides/notesSlide5.xml" Id="R77195dc5909348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fad56382eb04347" /><Relationship Type="http://schemas.openxmlformats.org/officeDocument/2006/relationships/notesSlide" Target="/ppt/notesSlides/notesSlide6.xml" Id="R7d7e716fcd3c49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c9ebf121a0d4008" /><Relationship Type="http://schemas.openxmlformats.org/officeDocument/2006/relationships/notesSlide" Target="/ppt/notesSlides/notesSlide7.xml" Id="R08ce0be39f664d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a6ec4e3760b4d37" /><Relationship Type="http://schemas.openxmlformats.org/officeDocument/2006/relationships/image" Target="/ppt/media/image3.png" Id="Rbbd189a90d4a411b" /><Relationship Type="http://schemas.openxmlformats.org/officeDocument/2006/relationships/notesSlide" Target="/ppt/notesSlides/notesSlide8.xml" Id="Rc6277a27d8164b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119ab25e3124bc6" /><Relationship Type="http://schemas.openxmlformats.org/officeDocument/2006/relationships/image" Target="/ppt/media/image4.png" Id="R113fade2c94c460c" /><Relationship Type="http://schemas.openxmlformats.org/officeDocument/2006/relationships/notesSlide" Target="/ppt/notesSlides/notesSlide9.xml" Id="R763d10674d384e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4e8d773f7f4789" /><Relationship Type="http://schemas.openxmlformats.org/officeDocument/2006/relationships/notesSlide" Target="/ppt/notesSlides/notesSlide10.xml" Id="Rd61f195d909d4c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61d7383f8554e8e" /><Relationship Type="http://schemas.openxmlformats.org/officeDocument/2006/relationships/notesSlide" Target="/ppt/notesSlides/notesSlide11.xml" Id="R1b7a8d7ac13c4c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2266650007749f2" /><Relationship Type="http://schemas.openxmlformats.org/officeDocument/2006/relationships/notesSlide" Target="/ppt/notesSlides/notesSlide12.xml" Id="R26f08418514349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1c66a4969a04838" /><Relationship Type="http://schemas.openxmlformats.org/officeDocument/2006/relationships/image" Target="/ppt/media/image5.png" Id="R4753210cd3544a89" /><Relationship Type="http://schemas.openxmlformats.org/officeDocument/2006/relationships/notesSlide" Target="/ppt/notesSlides/notesSlide13.xml" Id="R04cf9259463a42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b3c51e8622487e" /><Relationship Type="http://schemas.openxmlformats.org/officeDocument/2006/relationships/notesSlide" Target="/ppt/notesSlides/notesSlide14.xml" Id="Rfc0b39ed1f2844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1-course-tag">
            <a:extLst xmlns:a="http://schemas.openxmlformats.org/drawingml/2006/main">
              <a:ext uri="{FF2B5EF4-FFF2-40B4-BE49-F238E27FC236}">
                <a16:creationId xmlns:a16="http://schemas.microsoft.com/office/drawing/2014/main" id="{CE9C0FB2-2D8A-429B-A388-A076A6C9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001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PHY4605 Computational Methods in Physics</a:t>
            </a:r>
          </a:p>
        </p:txBody>
      </p:sp>
      <p:sp>
        <p:nvSpPr>
          <p:cNvPr id="2" name="slide-1-opening-title">
            <a:extLst xmlns:a="http://schemas.openxmlformats.org/drawingml/2006/main">
              <a:ext uri="{FF2B5EF4-FFF2-40B4-BE49-F238E27FC236}">
                <a16:creationId xmlns:a16="http://schemas.microsoft.com/office/drawing/2014/main" id="{6595CF42-9E4E-492E-BF79-48FA8CBB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5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5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From a Physical Target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5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5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to a Checkable Root</a:t>
            </a:r>
          </a:p>
        </p:txBody>
      </p:sp>
      <p:sp>
        <p:nvSpPr>
          <p:cNvPr id="3" name="slide-1-opening-subtitle">
            <a:extLst xmlns:a="http://schemas.openxmlformats.org/drawingml/2006/main">
              <a:ext uri="{FF2B5EF4-FFF2-40B4-BE49-F238E27FC236}">
                <a16:creationId xmlns:a16="http://schemas.microsoft.com/office/drawing/2014/main" id="{F57FF23C-C359-4E14-B7F6-B11393DF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5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Week 5 | Root finding</a:t>
            </a:r>
          </a:p>
        </p:txBody>
      </p:sp>
      <p:sp>
        <p:nvSpPr>
          <p:cNvPr id="4" name="slide-1-question">
            <a:extLst xmlns:a="http://schemas.openxmlformats.org/drawingml/2006/main">
              <a:ext uri="{FF2B5EF4-FFF2-40B4-BE49-F238E27FC236}">
                <a16:creationId xmlns:a16="http://schemas.microsoft.com/office/drawing/2014/main" id="{46FF78CC-C44C-45E5-8F9C-7AF995C8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912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Which launch angle makes the range equal to 35 m?</a:t>
            </a:r>
          </a:p>
        </p:txBody>
      </p:sp>
      <p:sp>
        <p:nvSpPr>
          <p:cNvPr id="5" name="slide-1-given">
            <a:extLst xmlns:a="http://schemas.openxmlformats.org/drawingml/2006/main">
              <a:ext uri="{FF2B5EF4-FFF2-40B4-BE49-F238E27FC236}">
                <a16:creationId xmlns:a16="http://schemas.microsoft.com/office/drawing/2014/main" id="{C2B2124D-B8E6-4A53-A6E3-054CCA75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858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v0 = 20 m/s</a:t>
            </a:r>
          </a:p>
        </p:txBody>
      </p:sp>
      <p:sp>
        <p:nvSpPr>
          <p:cNvPr id="6" name="slide-1-target">
            <a:extLst xmlns:a="http://schemas.openxmlformats.org/drawingml/2006/main">
              <a:ext uri="{FF2B5EF4-FFF2-40B4-BE49-F238E27FC236}">
                <a16:creationId xmlns:a16="http://schemas.microsoft.com/office/drawing/2014/main" id="{3220D6DF-7985-42E6-89B2-17251D53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8580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target range = 35 m</a:t>
            </a:r>
          </a:p>
        </p:txBody>
      </p:sp>
      <p:sp>
        <p:nvSpPr>
          <p:cNvPr id="7" name="slide-1-ground">
            <a:extLst xmlns:a="http://schemas.openxmlformats.org/drawingml/2006/main">
              <a:ext uri="{FF2B5EF4-FFF2-40B4-BE49-F238E27FC236}">
                <a16:creationId xmlns:a16="http://schemas.microsoft.com/office/drawing/2014/main" id="{96E23603-EA17-43B8-B9B4-24D73CD2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000875"/>
            <a:ext cx="4429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F4B57"/>
            </a:solidFill>
            <a:prstDash val="solid"/>
          </a:ln>
        </p:spPr>
      </p:sp>
      <p:sp>
        <p:nvSpPr>
          <p:cNvPr id="8" name="slide-1-arc-1">
            <a:extLst xmlns:a="http://schemas.openxmlformats.org/drawingml/2006/main">
              <a:ext uri="{FF2B5EF4-FFF2-40B4-BE49-F238E27FC236}">
                <a16:creationId xmlns:a16="http://schemas.microsoft.com/office/drawing/2014/main" id="{C75BAEDC-CEA7-4358-9378-8C39652E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040438"/>
            <a:ext cx="317500" cy="960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9" name="slide-1-arc-2">
            <a:extLst xmlns:a="http://schemas.openxmlformats.org/drawingml/2006/main">
              <a:ext uri="{FF2B5EF4-FFF2-40B4-BE49-F238E27FC236}">
                <a16:creationId xmlns:a16="http://schemas.microsoft.com/office/drawing/2014/main" id="{EFF31486-389D-4CA5-A2CD-85154948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750" y="5254625"/>
            <a:ext cx="317500" cy="785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0" name="slide-1-arc-3">
            <a:extLst xmlns:a="http://schemas.openxmlformats.org/drawingml/2006/main">
              <a:ext uri="{FF2B5EF4-FFF2-40B4-BE49-F238E27FC236}">
                <a16:creationId xmlns:a16="http://schemas.microsoft.com/office/drawing/2014/main" id="{E833178A-C157-4E8E-8185-469CA8A7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250" y="4643438"/>
            <a:ext cx="317500" cy="6111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1" name="slide-1-arc-4">
            <a:extLst xmlns:a="http://schemas.openxmlformats.org/drawingml/2006/main">
              <a:ext uri="{FF2B5EF4-FFF2-40B4-BE49-F238E27FC236}">
                <a16:creationId xmlns:a16="http://schemas.microsoft.com/office/drawing/2014/main" id="{F55C32C6-7304-4724-AE91-5DA74B74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206875"/>
            <a:ext cx="317500" cy="436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2" name="slide-1-arc-5">
            <a:extLst xmlns:a="http://schemas.openxmlformats.org/drawingml/2006/main">
              <a:ext uri="{FF2B5EF4-FFF2-40B4-BE49-F238E27FC236}">
                <a16:creationId xmlns:a16="http://schemas.microsoft.com/office/drawing/2014/main" id="{A1D6A559-D38B-4FE3-95BF-22334F37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7250" y="3944938"/>
            <a:ext cx="317500" cy="2619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3" name="slide-1-arc-6">
            <a:extLst xmlns:a="http://schemas.openxmlformats.org/drawingml/2006/main">
              <a:ext uri="{FF2B5EF4-FFF2-40B4-BE49-F238E27FC236}">
                <a16:creationId xmlns:a16="http://schemas.microsoft.com/office/drawing/2014/main" id="{5AE634BA-FA05-45E4-B422-C2054CD8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4750" y="3857625"/>
            <a:ext cx="317500" cy="87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4" name="slide-1-arc-7">
            <a:extLst xmlns:a="http://schemas.openxmlformats.org/drawingml/2006/main">
              <a:ext uri="{FF2B5EF4-FFF2-40B4-BE49-F238E27FC236}">
                <a16:creationId xmlns:a16="http://schemas.microsoft.com/office/drawing/2014/main" id="{00DB4ED8-4F28-430F-8199-7180A6A5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857625"/>
            <a:ext cx="317500" cy="87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5" name="slide-1-arc-8">
            <a:extLst xmlns:a="http://schemas.openxmlformats.org/drawingml/2006/main">
              <a:ext uri="{FF2B5EF4-FFF2-40B4-BE49-F238E27FC236}">
                <a16:creationId xmlns:a16="http://schemas.microsoft.com/office/drawing/2014/main" id="{86BA9A41-A3D9-4319-BE43-E9741BCB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9750" y="3944938"/>
            <a:ext cx="317500" cy="2619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6" name="slide-1-arc-9">
            <a:extLst xmlns:a="http://schemas.openxmlformats.org/drawingml/2006/main">
              <a:ext uri="{FF2B5EF4-FFF2-40B4-BE49-F238E27FC236}">
                <a16:creationId xmlns:a16="http://schemas.microsoft.com/office/drawing/2014/main" id="{661862F5-0D6D-4986-9A4F-1482F27B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7250" y="4206875"/>
            <a:ext cx="317500" cy="436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7" name="slide-1-arc-10">
            <a:extLst xmlns:a="http://schemas.openxmlformats.org/drawingml/2006/main">
              <a:ext uri="{FF2B5EF4-FFF2-40B4-BE49-F238E27FC236}">
                <a16:creationId xmlns:a16="http://schemas.microsoft.com/office/drawing/2014/main" id="{07ED720E-2715-472C-BBDF-7578F0DB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4643438"/>
            <a:ext cx="317500" cy="6111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8" name="slide-1-arc-11">
            <a:extLst xmlns:a="http://schemas.openxmlformats.org/drawingml/2006/main">
              <a:ext uri="{FF2B5EF4-FFF2-40B4-BE49-F238E27FC236}">
                <a16:creationId xmlns:a16="http://schemas.microsoft.com/office/drawing/2014/main" id="{6891DD8B-71D0-4B22-AE5D-634ED45B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0" y="5254625"/>
            <a:ext cx="317500" cy="7858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9" name="slide-1-arc-12">
            <a:extLst xmlns:a="http://schemas.openxmlformats.org/drawingml/2006/main">
              <a:ext uri="{FF2B5EF4-FFF2-40B4-BE49-F238E27FC236}">
                <a16:creationId xmlns:a16="http://schemas.microsoft.com/office/drawing/2014/main" id="{FD01C2B8-CD4E-4FB6-99BC-08D95E92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9750" y="6040438"/>
            <a:ext cx="317500" cy="9604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20" name="slide-1-launch-ball">
            <a:extLst xmlns:a="http://schemas.openxmlformats.org/drawingml/2006/main">
              <a:ext uri="{FF2B5EF4-FFF2-40B4-BE49-F238E27FC236}">
                <a16:creationId xmlns:a16="http://schemas.microsoft.com/office/drawing/2014/main" id="{2108A61F-830C-4116-A9F4-B0691F4E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867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21" name="slide-1-target-ring">
            <a:extLst xmlns:a="http://schemas.openxmlformats.org/drawingml/2006/main">
              <a:ext uri="{FF2B5EF4-FFF2-40B4-BE49-F238E27FC236}">
                <a16:creationId xmlns:a16="http://schemas.microsoft.com/office/drawing/2014/main" id="{D23B5DAE-4EF8-407E-B54A-5FE66BE2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6800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C98A16"/>
            </a:solidFill>
            <a:prstDash val="solid"/>
          </a:ln>
        </p:spPr>
      </p:sp>
      <p:sp>
        <p:nvSpPr>
          <p:cNvPr id="22" name="slide-1-target-stem">
            <a:extLst xmlns:a="http://schemas.openxmlformats.org/drawingml/2006/main">
              <a:ext uri="{FF2B5EF4-FFF2-40B4-BE49-F238E27FC236}">
                <a16:creationId xmlns:a16="http://schemas.microsoft.com/office/drawing/2014/main" id="{3B758352-FE6F-486E-A494-A5B166F4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905500"/>
            <a:ext cx="9525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8A16"/>
            </a:solidFill>
            <a:prstDash val="dash"/>
          </a:ln>
        </p:spPr>
      </p:sp>
      <p:sp>
        <p:nvSpPr>
          <p:cNvPr id="23" name="slide-1-target-label">
            <a:extLst xmlns:a="http://schemas.openxmlformats.org/drawingml/2006/main">
              <a:ext uri="{FF2B5EF4-FFF2-40B4-BE49-F238E27FC236}">
                <a16:creationId xmlns:a16="http://schemas.microsoft.com/office/drawing/2014/main" id="{A9D41286-1F88-4C61-A08B-69571A74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54768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35 m target</a:t>
            </a:r>
          </a:p>
        </p:txBody>
      </p:sp>
      <p:sp>
        <p:nvSpPr>
          <p:cNvPr id="24" name="slide-1-launch-arrow">
            <a:extLst xmlns:a="http://schemas.openxmlformats.org/drawingml/2006/main">
              <a:ext uri="{FF2B5EF4-FFF2-40B4-BE49-F238E27FC236}">
                <a16:creationId xmlns:a16="http://schemas.microsoft.com/office/drawing/2014/main" id="{2505D520-B8AB-485E-8606-3EF68DB0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6191250"/>
            <a:ext cx="5715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25" name="slide-1-speed-label">
            <a:extLst xmlns:a="http://schemas.openxmlformats.org/drawingml/2006/main">
              <a:ext uri="{FF2B5EF4-FFF2-40B4-BE49-F238E27FC236}">
                <a16:creationId xmlns:a16="http://schemas.microsoft.com/office/drawing/2014/main" id="{57B836C9-70A0-410E-9DB6-06643F1D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334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v0 = 20 m/s</a:t>
            </a:r>
          </a:p>
        </p:txBody>
      </p:sp>
      <p:sp>
        <p:nvSpPr>
          <p:cNvPr id="26" name="slide-1-angle-label">
            <a:extLst xmlns:a="http://schemas.openxmlformats.org/drawingml/2006/main">
              <a:ext uri="{FF2B5EF4-FFF2-40B4-BE49-F238E27FC236}">
                <a16:creationId xmlns:a16="http://schemas.microsoft.com/office/drawing/2014/main" id="{14C3DCB2-61F2-4AB0-9A88-2771D221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5722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theta</a:t>
            </a:r>
          </a:p>
        </p:txBody>
      </p:sp>
      <p:sp>
        <p:nvSpPr>
          <p:cNvPr id="27" name="slide-1-angle-marker">
            <a:extLst xmlns:a="http://schemas.openxmlformats.org/drawingml/2006/main">
              <a:ext uri="{FF2B5EF4-FFF2-40B4-BE49-F238E27FC236}">
                <a16:creationId xmlns:a16="http://schemas.microsoft.com/office/drawing/2014/main" id="{57BFEE9A-484E-4AA5-A561-3346BD41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715125"/>
            <a:ext cx="2857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8A16"/>
            </a:solidFill>
            <a:prstDash val="solid"/>
          </a:ln>
        </p:spPr>
      </p:sp>
      <p:sp>
        <p:nvSpPr>
          <p:cNvPr id="28" name="slide-1-chain">
            <a:extLst xmlns:a="http://schemas.openxmlformats.org/drawingml/2006/main">
              <a:ext uri="{FF2B5EF4-FFF2-40B4-BE49-F238E27FC236}">
                <a16:creationId xmlns:a16="http://schemas.microsoft.com/office/drawing/2014/main" id="{DE35E379-A577-4B16-9D31-FA77374F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1915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physical target  →  residual  →  root</a:t>
            </a:r>
          </a:p>
        </p:txBody>
      </p:sp>
    </p:spTree>
    <p:extLst>
      <p:ext uri="{BB962C8B-B14F-4D97-AF65-F5344CB8AC3E}">
        <p14:creationId xmlns:p14="http://schemas.microsoft.com/office/powerpoint/2010/main" val="1594995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378A93E-CBAE-4F5C-915C-077C7FE9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target becomes a residual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36E558E9-2AAF-4090-A3C5-18D9D1E6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C3CD5B21-56F2-424D-8138-FD611F98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Model range minus target range becomes a quantity a solver can drive to zero</a:t>
            </a:r>
          </a:p>
        </p:txBody>
      </p:sp>
      <p:sp>
        <p:nvSpPr>
          <p:cNvPr id="4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D7A01592-9B48-4305-8560-A5A7185D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5" name="slide-2-physical model-stage">
            <a:extLst xmlns:a="http://schemas.openxmlformats.org/drawingml/2006/main">
              <a:ext uri="{FF2B5EF4-FFF2-40B4-BE49-F238E27FC236}">
                <a16:creationId xmlns:a16="http://schemas.microsoft.com/office/drawing/2014/main" id="{63627635-B9F5-477D-9723-57F6A98D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57500"/>
            <a:ext cx="47625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slide-2-physical model-label">
            <a:extLst xmlns:a="http://schemas.openxmlformats.org/drawingml/2006/main">
              <a:ext uri="{FF2B5EF4-FFF2-40B4-BE49-F238E27FC236}">
                <a16:creationId xmlns:a16="http://schemas.microsoft.com/office/drawing/2014/main" id="{8F48D679-40A6-4FFB-BC56-07A77F1E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1432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PHYSICAL MODEL</a:t>
            </a:r>
          </a:p>
        </p:txBody>
      </p:sp>
      <p:sp>
        <p:nvSpPr>
          <p:cNvPr id="7" name="slide-2-physical model-value">
            <a:extLst xmlns:a="http://schemas.openxmlformats.org/drawingml/2006/main">
              <a:ext uri="{FF2B5EF4-FFF2-40B4-BE49-F238E27FC236}">
                <a16:creationId xmlns:a16="http://schemas.microsoft.com/office/drawing/2014/main" id="{F882D5E0-30C0-4AFF-8009-8F548032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52850"/>
            <a:ext cx="4152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R(theta)</a:t>
            </a:r>
          </a:p>
          <a:p xmlns:a="http://schemas.openxmlformats.org/drawingml/2006/main">
            <a:pPr algn="ctr">
              <a:defRPr sz="25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from the projectile</a:t>
            </a:r>
          </a:p>
        </p:txBody>
      </p:sp>
      <p:sp>
        <p:nvSpPr>
          <p:cNvPr id="8" name="slide-2-target condition-stage">
            <a:extLst xmlns:a="http://schemas.openxmlformats.org/drawingml/2006/main">
              <a:ext uri="{FF2B5EF4-FFF2-40B4-BE49-F238E27FC236}">
                <a16:creationId xmlns:a16="http://schemas.microsoft.com/office/drawing/2014/main" id="{AC054278-3587-45B9-9C4F-A982708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7625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9" name="slide-2-target condition-label">
            <a:extLst xmlns:a="http://schemas.openxmlformats.org/drawingml/2006/main">
              <a:ext uri="{FF2B5EF4-FFF2-40B4-BE49-F238E27FC236}">
                <a16:creationId xmlns:a16="http://schemas.microsoft.com/office/drawing/2014/main" id="{DA041FDD-A2D4-436E-8860-915C7380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TARGET CONDITION</a:t>
            </a:r>
          </a:p>
        </p:txBody>
      </p:sp>
      <p:sp>
        <p:nvSpPr>
          <p:cNvPr id="10" name="slide-2-target condition-value">
            <a:extLst xmlns:a="http://schemas.openxmlformats.org/drawingml/2006/main">
              <a:ext uri="{FF2B5EF4-FFF2-40B4-BE49-F238E27FC236}">
                <a16:creationId xmlns:a16="http://schemas.microsoft.com/office/drawing/2014/main" id="{7E09C44E-348E-4B16-916D-D48F08C5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52850"/>
            <a:ext cx="4152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R(theta) = 35 m</a:t>
            </a:r>
          </a:p>
        </p:txBody>
      </p:sp>
      <p:sp>
        <p:nvSpPr>
          <p:cNvPr id="11" name="slide-2-residual zero-stage">
            <a:extLst xmlns:a="http://schemas.openxmlformats.org/drawingml/2006/main">
              <a:ext uri="{FF2B5EF4-FFF2-40B4-BE49-F238E27FC236}">
                <a16:creationId xmlns:a16="http://schemas.microsoft.com/office/drawing/2014/main" id="{B2714337-53E3-4B03-91BC-465BE1D4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2857500"/>
            <a:ext cx="47625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2" name="slide-2-residual zero-label">
            <a:extLst xmlns:a="http://schemas.openxmlformats.org/drawingml/2006/main">
              <a:ext uri="{FF2B5EF4-FFF2-40B4-BE49-F238E27FC236}">
                <a16:creationId xmlns:a16="http://schemas.microsoft.com/office/drawing/2014/main" id="{ED64C6DB-73F1-402D-900B-2793713F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31432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RESIDUAL ZERO</a:t>
            </a:r>
          </a:p>
        </p:txBody>
      </p:sp>
      <p:sp>
        <p:nvSpPr>
          <p:cNvPr id="13" name="slide-2-residual zero-value">
            <a:extLst xmlns:a="http://schemas.openxmlformats.org/drawingml/2006/main">
              <a:ext uri="{FF2B5EF4-FFF2-40B4-BE49-F238E27FC236}">
                <a16:creationId xmlns:a16="http://schemas.microsoft.com/office/drawing/2014/main" id="{DAF9FEC8-C8C4-4A75-B87B-7BC17330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3752850"/>
            <a:ext cx="4152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5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f(theta) = 0</a:t>
            </a:r>
          </a:p>
        </p:txBody>
      </p:sp>
      <p:sp>
        <p:nvSpPr>
          <p:cNvPr id="14" name="slide-2-arrow-1">
            <a:extLst xmlns:a="http://schemas.openxmlformats.org/drawingml/2006/main">
              <a:ext uri="{FF2B5EF4-FFF2-40B4-BE49-F238E27FC236}">
                <a16:creationId xmlns:a16="http://schemas.microsoft.com/office/drawing/2014/main" id="{E72AEC95-199A-4B77-8286-A3ECA87C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2375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lide-2-arrow-2">
            <a:extLst xmlns:a="http://schemas.openxmlformats.org/drawingml/2006/main">
              <a:ext uri="{FF2B5EF4-FFF2-40B4-BE49-F238E27FC236}">
                <a16:creationId xmlns:a16="http://schemas.microsoft.com/office/drawing/2014/main" id="{FF5954C1-E42D-4B48-A216-CF740C76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62375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68a8fe6f440ef"/>
          <a:stretch xmlns:a="http://schemas.openxmlformats.org/drawingml/2006/main"/>
        </p:blipFill>
        <p:spPr>
          <a:xfrm xmlns:a="http://schemas.openxmlformats.org/drawingml/2006/main">
            <a:off x="4869504" y="5572125"/>
            <a:ext cx="8548993" cy="1952625"/>
          </a:xfrm>
          <a:prstGeom xmlns:a="http://schemas.openxmlformats.org/drawingml/2006/main" prst="rect">
            <a:avLst/>
          </a:prstGeom>
        </p:spPr>
      </p:pic>
      <p:sp>
        <p:nvSpPr>
          <p:cNvPr id="17" name="slide-2-units-strip">
            <a:extLst xmlns:a="http://schemas.openxmlformats.org/drawingml/2006/main">
              <a:ext uri="{FF2B5EF4-FFF2-40B4-BE49-F238E27FC236}">
                <a16:creationId xmlns:a16="http://schemas.microsoft.com/office/drawing/2014/main" id="{A2A635DD-FF3E-4C16-AA7E-45FFA83C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858125"/>
            <a:ext cx="118110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18" name="slide-2-units">
            <a:extLst xmlns:a="http://schemas.openxmlformats.org/drawingml/2006/main">
              <a:ext uri="{FF2B5EF4-FFF2-40B4-BE49-F238E27FC236}">
                <a16:creationId xmlns:a16="http://schemas.microsoft.com/office/drawing/2014/main" id="{679964A8-C20D-48BE-986E-E82CD297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0391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root variable: theta (degree)    |    residual: metres</a:t>
            </a:r>
          </a:p>
        </p:txBody>
      </p:sp>
    </p:spTree>
    <p:extLst>
      <p:ext uri="{BB962C8B-B14F-4D97-AF65-F5344CB8AC3E}">
        <p14:creationId xmlns:p14="http://schemas.microsoft.com/office/powerpoint/2010/main" val="29980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61DD697-3F02-4524-ACD8-F44CB634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residual sign tells you which way to move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06825946-CE7C-4124-9CBC-CA276A2C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4039F89D-DADE-4867-94D2-EB72194A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sign is a physical error: below target or above target</a:t>
            </a:r>
          </a:p>
        </p:txBody>
      </p:sp>
      <p:sp>
        <p:nvSpPr>
          <p:cNvPr id="4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511BABFA-40F8-431F-9793-55B70905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5" name="slide-3-sign-map">
            <a:extLst xmlns:a="http://schemas.openxmlformats.org/drawingml/2006/main">
              <a:ext uri="{FF2B5EF4-FFF2-40B4-BE49-F238E27FC236}">
                <a16:creationId xmlns:a16="http://schemas.microsoft.com/office/drawing/2014/main" id="{C417D34A-4503-4727-9C43-80FED0B7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7239000" cy="5429250"/>
          </a:xfrm>
          <a:prstGeom xmlns:a="http://schemas.openxmlformats.org/drawingml/2006/main" prst="roundRect">
            <a:avLst>
              <a:gd name="adj" fmla="val 386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slide-3-sign-heading">
            <a:extLst xmlns:a="http://schemas.openxmlformats.org/drawingml/2006/main">
              <a:ext uri="{FF2B5EF4-FFF2-40B4-BE49-F238E27FC236}">
                <a16:creationId xmlns:a16="http://schemas.microsoft.com/office/drawing/2014/main" id="{989387D6-AF4B-404F-B69D-2EA20842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Read the sign as a range error</a:t>
            </a:r>
          </a:p>
        </p:txBody>
      </p:sp>
      <p:sp>
        <p:nvSpPr>
          <p:cNvPr id="7" name="slide-3-sign-line">
            <a:extLst xmlns:a="http://schemas.openxmlformats.org/drawingml/2006/main">
              <a:ext uri="{FF2B5EF4-FFF2-40B4-BE49-F238E27FC236}">
                <a16:creationId xmlns:a16="http://schemas.microsoft.com/office/drawing/2014/main" id="{813D0C97-3F0B-47D7-A5C5-17F4C2A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5524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B2B4C"/>
            </a:solidFill>
            <a:prstDash val="solid"/>
          </a:ln>
        </p:spPr>
      </p:sp>
      <p:sp>
        <p:nvSpPr>
          <p:cNvPr id="8" name="slide-3-negative-half">
            <a:extLst xmlns:a="http://schemas.openxmlformats.org/drawingml/2006/main">
              <a:ext uri="{FF2B5EF4-FFF2-40B4-BE49-F238E27FC236}">
                <a16:creationId xmlns:a16="http://schemas.microsoft.com/office/drawing/2014/main" id="{03C50600-D72F-4779-841E-0F1B9F58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4825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F6DB2"/>
            </a:solidFill>
            <a:prstDash val="solid"/>
          </a:ln>
        </p:spPr>
      </p:sp>
      <p:sp>
        <p:nvSpPr>
          <p:cNvPr id="9" name="slide-3-positive-half">
            <a:extLst xmlns:a="http://schemas.openxmlformats.org/drawingml/2006/main">
              <a:ext uri="{FF2B5EF4-FFF2-40B4-BE49-F238E27FC236}">
                <a16:creationId xmlns:a16="http://schemas.microsoft.com/office/drawing/2014/main" id="{A17D18C6-41AA-467C-A525-3888789B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482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C98A16"/>
            </a:solidFill>
            <a:prstDash val="solid"/>
          </a:ln>
        </p:spPr>
      </p:sp>
      <p:sp>
        <p:nvSpPr>
          <p:cNvPr id="10" name="slide-3-zero-marker">
            <a:extLst xmlns:a="http://schemas.openxmlformats.org/drawingml/2006/main">
              <a:ext uri="{FF2B5EF4-FFF2-40B4-BE49-F238E27FC236}">
                <a16:creationId xmlns:a16="http://schemas.microsoft.com/office/drawing/2014/main" id="{D7DCB538-C25F-420B-A073-8C7C0F6F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95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B2B4C"/>
            </a:solidFill>
            <a:prstDash val="solid"/>
          </a:ln>
        </p:spPr>
      </p:sp>
      <p:sp>
        <p:nvSpPr>
          <p:cNvPr id="11" name="slide-3-negative-sign">
            <a:extLst xmlns:a="http://schemas.openxmlformats.org/drawingml/2006/main">
              <a:ext uri="{FF2B5EF4-FFF2-40B4-BE49-F238E27FC236}">
                <a16:creationId xmlns:a16="http://schemas.microsoft.com/office/drawing/2014/main" id="{6DC13911-F062-48AD-8E3C-2910D84A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338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f(theta) &lt; 0</a:t>
            </a:r>
          </a:p>
        </p:txBody>
      </p:sp>
      <p:sp>
        <p:nvSpPr>
          <p:cNvPr id="12" name="slide-3-negative-body">
            <a:extLst xmlns:a="http://schemas.openxmlformats.org/drawingml/2006/main">
              <a:ext uri="{FF2B5EF4-FFF2-40B4-BE49-F238E27FC236}">
                <a16:creationId xmlns:a16="http://schemas.microsoft.com/office/drawing/2014/main" id="{6F1A8EAE-0763-4455-BFC1-3D96AA33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768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range below</a:t>
            </a:r>
          </a:p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target</a:t>
            </a:r>
          </a:p>
        </p:txBody>
      </p:sp>
      <p:sp>
        <p:nvSpPr>
          <p:cNvPr id="13" name="slide-3-zero-sign">
            <a:extLst xmlns:a="http://schemas.openxmlformats.org/drawingml/2006/main">
              <a:ext uri="{FF2B5EF4-FFF2-40B4-BE49-F238E27FC236}">
                <a16:creationId xmlns:a16="http://schemas.microsoft.com/office/drawing/2014/main" id="{52878C20-020F-41C2-BC1C-C02F4DCB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338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f(theta) = 0</a:t>
            </a:r>
          </a:p>
        </p:txBody>
      </p:sp>
      <p:sp>
        <p:nvSpPr>
          <p:cNvPr id="14" name="slide-3-zero-body">
            <a:extLst xmlns:a="http://schemas.openxmlformats.org/drawingml/2006/main">
              <a:ext uri="{FF2B5EF4-FFF2-40B4-BE49-F238E27FC236}">
                <a16:creationId xmlns:a16="http://schemas.microsoft.com/office/drawing/2014/main" id="{859AB5CC-FAB3-4152-B1CA-0AC68E1C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768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exact target</a:t>
            </a:r>
          </a:p>
        </p:txBody>
      </p:sp>
      <p:sp>
        <p:nvSpPr>
          <p:cNvPr id="15" name="slide-3-positive-sign">
            <a:extLst xmlns:a="http://schemas.openxmlformats.org/drawingml/2006/main">
              <a:ext uri="{FF2B5EF4-FFF2-40B4-BE49-F238E27FC236}">
                <a16:creationId xmlns:a16="http://schemas.microsoft.com/office/drawing/2014/main" id="{DD09DEDC-AEC9-4261-8213-F32ECFB4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33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f(theta) &gt; 0</a:t>
            </a:r>
          </a:p>
        </p:txBody>
      </p:sp>
      <p:sp>
        <p:nvSpPr>
          <p:cNvPr id="16" name="slide-3-positive-body">
            <a:extLst xmlns:a="http://schemas.openxmlformats.org/drawingml/2006/main">
              <a:ext uri="{FF2B5EF4-FFF2-40B4-BE49-F238E27FC236}">
                <a16:creationId xmlns:a16="http://schemas.microsoft.com/office/drawing/2014/main" id="{D5242652-B847-4C98-BD5B-015DFC00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768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range above</a:t>
            </a:r>
          </a:p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target</a:t>
            </a:r>
          </a:p>
        </p:txBody>
      </p:sp>
      <p:sp>
        <p:nvSpPr>
          <p:cNvPr id="17" name="slide-3-branch-note">
            <a:extLst xmlns:a="http://schemas.openxmlformats.org/drawingml/2006/main">
              <a:ext uri="{FF2B5EF4-FFF2-40B4-BE49-F238E27FC236}">
                <a16:creationId xmlns:a16="http://schemas.microsoft.com/office/drawing/2014/main" id="{B23EA060-7447-4633-A9F2-4F2F39F4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7151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On the low-angle branch</a:t>
            </a:r>
          </a:p>
        </p:txBody>
      </p:sp>
      <p:sp>
        <p:nvSpPr>
          <p:cNvPr id="18" name="slide-3-move-panel">
            <a:extLst xmlns:a="http://schemas.openxmlformats.org/drawingml/2006/main">
              <a:ext uri="{FF2B5EF4-FFF2-40B4-BE49-F238E27FC236}">
                <a16:creationId xmlns:a16="http://schemas.microsoft.com/office/drawing/2014/main" id="{614F1325-2622-4426-98D7-F62CEFF3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71750"/>
            <a:ext cx="8096250" cy="5429250"/>
          </a:xfrm>
          <a:prstGeom xmlns:a="http://schemas.openxmlformats.org/drawingml/2006/main" prst="roundRect">
            <a:avLst>
              <a:gd name="adj" fmla="val 3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19" name="slide-3-move-heading">
            <a:extLst xmlns:a="http://schemas.openxmlformats.org/drawingml/2006/main">
              <a:ext uri="{FF2B5EF4-FFF2-40B4-BE49-F238E27FC236}">
                <a16:creationId xmlns:a16="http://schemas.microsoft.com/office/drawing/2014/main" id="{58402AF0-3D80-4355-ABE4-7805F3C2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05125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Turn sign into a direction</a:t>
            </a:r>
          </a:p>
        </p:txBody>
      </p:sp>
      <p:sp>
        <p:nvSpPr>
          <p:cNvPr id="20" name="slide-3-move-blue">
            <a:extLst xmlns:a="http://schemas.openxmlformats.org/drawingml/2006/main">
              <a:ext uri="{FF2B5EF4-FFF2-40B4-BE49-F238E27FC236}">
                <a16:creationId xmlns:a16="http://schemas.microsoft.com/office/drawing/2014/main" id="{F9FF9F05-29DD-41EB-A0BF-23D08CC6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95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21" name="slide-3-move-blue-text">
            <a:extLst xmlns:a="http://schemas.openxmlformats.org/drawingml/2006/main">
              <a:ext uri="{FF2B5EF4-FFF2-40B4-BE49-F238E27FC236}">
                <a16:creationId xmlns:a16="http://schemas.microsoft.com/office/drawing/2014/main" id="{13D92F83-FE0B-4176-A1E6-004AB4AC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576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negative residual</a:t>
            </a:r>
          </a:p>
        </p:txBody>
      </p:sp>
      <p:sp>
        <p:nvSpPr>
          <p:cNvPr id="22" name="slide-3-move-blue-body">
            <a:extLst xmlns:a="http://schemas.openxmlformats.org/drawingml/2006/main">
              <a:ext uri="{FF2B5EF4-FFF2-40B4-BE49-F238E27FC236}">
                <a16:creationId xmlns:a16="http://schemas.microsoft.com/office/drawing/2014/main" id="{C5FAD5E2-DAA8-4AE8-AB3A-0F5D9ADE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386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model falls short of 35 m</a:t>
            </a:r>
          </a:p>
        </p:txBody>
      </p:sp>
      <p:sp>
        <p:nvSpPr>
          <p:cNvPr id="23" name="slide-3-move-arrow-up">
            <a:extLst xmlns:a="http://schemas.openxmlformats.org/drawingml/2006/main">
              <a:ext uri="{FF2B5EF4-FFF2-40B4-BE49-F238E27FC236}">
                <a16:creationId xmlns:a16="http://schemas.microsoft.com/office/drawing/2014/main" id="{C3E810C3-A57C-41F7-B67A-84D70B1D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lide-3-move-up-text">
            <a:extLst xmlns:a="http://schemas.openxmlformats.org/drawingml/2006/main">
              <a:ext uri="{FF2B5EF4-FFF2-40B4-BE49-F238E27FC236}">
                <a16:creationId xmlns:a16="http://schemas.microsoft.com/office/drawing/2014/main" id="{EA9DD44C-5332-4F4E-86FF-4865D7AA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768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move to a larger angle on this branch</a:t>
            </a:r>
          </a:p>
        </p:txBody>
      </p:sp>
      <p:sp>
        <p:nvSpPr>
          <p:cNvPr id="25" name="slide-3-move-gold">
            <a:extLst xmlns:a="http://schemas.openxmlformats.org/drawingml/2006/main">
              <a:ext uri="{FF2B5EF4-FFF2-40B4-BE49-F238E27FC236}">
                <a16:creationId xmlns:a16="http://schemas.microsoft.com/office/drawing/2014/main" id="{A19E57CB-68E5-4AA7-8F05-FF1E40E9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5800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26" name="slide-3-move-gold-text">
            <a:extLst xmlns:a="http://schemas.openxmlformats.org/drawingml/2006/main">
              <a:ext uri="{FF2B5EF4-FFF2-40B4-BE49-F238E27FC236}">
                <a16:creationId xmlns:a16="http://schemas.microsoft.com/office/drawing/2014/main" id="{E654B1C4-0CD6-4744-B5A1-AEAE8860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626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positive residual</a:t>
            </a:r>
          </a:p>
        </p:txBody>
      </p:sp>
      <p:sp>
        <p:nvSpPr>
          <p:cNvPr id="27" name="slide-3-move-gold-body">
            <a:extLst xmlns:a="http://schemas.openxmlformats.org/drawingml/2006/main">
              <a:ext uri="{FF2B5EF4-FFF2-40B4-BE49-F238E27FC236}">
                <a16:creationId xmlns:a16="http://schemas.microsoft.com/office/drawing/2014/main" id="{7B0FB8B4-58CF-4D28-B635-E2ECE072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1436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model overshoots 35 m</a:t>
            </a:r>
          </a:p>
        </p:txBody>
      </p:sp>
      <p:sp>
        <p:nvSpPr>
          <p:cNvPr id="28" name="slide-3-move-arrow-down">
            <a:extLst xmlns:a="http://schemas.openxmlformats.org/drawingml/2006/main">
              <a:ext uri="{FF2B5EF4-FFF2-40B4-BE49-F238E27FC236}">
                <a16:creationId xmlns:a16="http://schemas.microsoft.com/office/drawing/2014/main" id="{08FADA89-4E91-4AEF-8811-ABA27A4B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8580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lide-3-move-down-text">
            <a:extLst xmlns:a="http://schemas.openxmlformats.org/drawingml/2006/main">
              <a:ext uri="{FF2B5EF4-FFF2-40B4-BE49-F238E27FC236}">
                <a16:creationId xmlns:a16="http://schemas.microsoft.com/office/drawing/2014/main" id="{F14A5F7D-7A02-4697-A543-2061DB93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818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move to a smaller angle on this branch</a:t>
            </a:r>
          </a:p>
        </p:txBody>
      </p:sp>
    </p:spTree>
    <p:extLst>
      <p:ext uri="{BB962C8B-B14F-4D97-AF65-F5344CB8AC3E}">
        <p14:creationId xmlns:p14="http://schemas.microsoft.com/office/powerpoint/2010/main" val="1577626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48206FA-9A7E-4272-90BC-7A450472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graph gives us a bracket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5E4603AB-D3BC-419E-A534-DA4C7A5E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E4D31B52-D6C2-42BB-BB51-D29A47D3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 sign change marks the low-angle interval we will keep</a:t>
            </a:r>
          </a:p>
        </p:txBody>
      </p:sp>
      <p:sp>
        <p:nvSpPr>
          <p:cNvPr id="4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D7004643-1100-40FD-AA0D-AB41E91C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5" name="slide-4-bracket-panel">
            <a:extLst xmlns:a="http://schemas.openxmlformats.org/drawingml/2006/main">
              <a:ext uri="{FF2B5EF4-FFF2-40B4-BE49-F238E27FC236}">
                <a16:creationId xmlns:a16="http://schemas.microsoft.com/office/drawing/2014/main" id="{D0B70CA7-6236-459F-BD7E-52C72B88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4048125" cy="5810250"/>
          </a:xfrm>
          <a:prstGeom xmlns:a="http://schemas.openxmlformats.org/drawingml/2006/main" prst="roundRect">
            <a:avLst>
              <a:gd name="adj" fmla="val 5176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slide-4-panel-heading">
            <a:extLst xmlns:a="http://schemas.openxmlformats.org/drawingml/2006/main">
              <a:ext uri="{FF2B5EF4-FFF2-40B4-BE49-F238E27FC236}">
                <a16:creationId xmlns:a16="http://schemas.microsoft.com/office/drawing/2014/main" id="{0CD7102F-377F-4E98-97FA-BFF7827A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Scan before solving</a:t>
            </a:r>
          </a:p>
        </p:txBody>
      </p:sp>
      <p:sp>
        <p:nvSpPr>
          <p:cNvPr id="7" name="slide-4-scan">
            <a:extLst xmlns:a="http://schemas.openxmlformats.org/drawingml/2006/main">
              <a:ext uri="{FF2B5EF4-FFF2-40B4-BE49-F238E27FC236}">
                <a16:creationId xmlns:a16="http://schemas.microsoft.com/office/drawing/2014/main" id="{4064FEFA-ABA0-48D5-B31C-BFA3AF2A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theta = 10:1:70 degree</a:t>
            </a:r>
          </a:p>
        </p:txBody>
      </p:sp>
      <p:sp>
        <p:nvSpPr>
          <p:cNvPr id="8" name="slide-4-panel-rule">
            <a:extLst xmlns:a="http://schemas.openxmlformats.org/drawingml/2006/main">
              <a:ext uri="{FF2B5EF4-FFF2-40B4-BE49-F238E27FC236}">
                <a16:creationId xmlns:a16="http://schemas.microsoft.com/office/drawing/2014/main" id="{CAA58850-2AB8-4E29-80DA-78689049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3381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9" name="slide-4-left-endpoint">
            <a:extLst xmlns:a="http://schemas.openxmlformats.org/drawingml/2006/main">
              <a:ext uri="{FF2B5EF4-FFF2-40B4-BE49-F238E27FC236}">
                <a16:creationId xmlns:a16="http://schemas.microsoft.com/office/drawing/2014/main" id="{77782C7B-9CE4-485C-B033-30831771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025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f(20 degree) = -8.7905 m</a:t>
            </a:r>
          </a:p>
        </p:txBody>
      </p:sp>
      <p:sp>
        <p:nvSpPr>
          <p:cNvPr id="10" name="slide-4-right-endpoint">
            <a:extLst xmlns:a="http://schemas.openxmlformats.org/drawingml/2006/main">
              <a:ext uri="{FF2B5EF4-FFF2-40B4-BE49-F238E27FC236}">
                <a16:creationId xmlns:a16="http://schemas.microsoft.com/office/drawing/2014/main" id="{488D7725-33AF-43DA-B93E-6A1E6EDD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338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025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f(40 degree) = +5.1553 m</a:t>
            </a:r>
          </a:p>
        </p:txBody>
      </p:sp>
      <p:sp>
        <p:nvSpPr>
          <p:cNvPr id="11" name="slide-4-opposite">
            <a:extLst xmlns:a="http://schemas.openxmlformats.org/drawingml/2006/main">
              <a:ext uri="{FF2B5EF4-FFF2-40B4-BE49-F238E27FC236}">
                <a16:creationId xmlns:a16="http://schemas.microsoft.com/office/drawing/2014/main" id="{5CEB3DDC-53EE-4F45-AD1B-6476881D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72250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opposite signs</a:t>
            </a:r>
          </a:p>
        </p:txBody>
      </p:sp>
      <p:sp>
        <p:nvSpPr>
          <p:cNvPr id="12" name="slide-4-bracket">
            <a:extLst xmlns:a="http://schemas.openxmlformats.org/drawingml/2006/main">
              <a:ext uri="{FF2B5EF4-FFF2-40B4-BE49-F238E27FC236}">
                <a16:creationId xmlns:a16="http://schemas.microsoft.com/office/drawing/2014/main" id="{B2873FDA-7308-4A76-A9E5-B5621172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00875"/>
            <a:ext cx="338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bracket = [20, 40] degree</a:t>
            </a:r>
          </a:p>
        </p:txBody>
      </p:sp>
      <p:sp>
        <p:nvSpPr>
          <p:cNvPr id="13" name="slide-4-prompt">
            <a:extLst xmlns:a="http://schemas.openxmlformats.org/drawingml/2006/main">
              <a:ext uri="{FF2B5EF4-FFF2-40B4-BE49-F238E27FC236}">
                <a16:creationId xmlns:a16="http://schemas.microsoft.com/office/drawing/2014/main" id="{44FCE929-4CBC-4088-A8E4-F6D57457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6287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0" i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Where does f(theta) cross zero?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908db97d34712"/>
          <a:stretch xmlns:a="http://schemas.openxmlformats.org/drawingml/2006/main"/>
        </p:blipFill>
        <p:spPr>
          <a:xfrm xmlns:a="http://schemas.openxmlformats.org/drawingml/2006/main">
            <a:off x="6512470" y="2381250"/>
            <a:ext cx="9501685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15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E3F8EB9-676B-4729-AA5E-ABD3AC8A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Bisection keeps a sign change alive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EFE755B0-AA5B-4F0C-BE4A-382933EF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AC001FEB-988B-4824-9055-AAFDAC9C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Bracket first, test the midpoint, keep the half that still straddles zero</a:t>
            </a:r>
          </a:p>
        </p:txBody>
      </p:sp>
      <p:sp>
        <p:nvSpPr>
          <p:cNvPr id="4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2750E7BD-0BE2-4B4C-B1B9-C36D9A66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5" name="slide-5-top-label">
            <a:extLst xmlns:a="http://schemas.openxmlformats.org/drawingml/2006/main">
              <a:ext uri="{FF2B5EF4-FFF2-40B4-BE49-F238E27FC236}">
                <a16:creationId xmlns:a16="http://schemas.microsoft.com/office/drawing/2014/main" id="{090BC127-5F24-4EFE-81DE-703B4AC4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start with [20, 40] degree</a:t>
            </a:r>
          </a:p>
        </p:txBody>
      </p:sp>
      <p:sp>
        <p:nvSpPr>
          <p:cNvPr id="6" name="slide-5-top-line">
            <a:extLst xmlns:a="http://schemas.openxmlformats.org/drawingml/2006/main">
              <a:ext uri="{FF2B5EF4-FFF2-40B4-BE49-F238E27FC236}">
                <a16:creationId xmlns:a16="http://schemas.microsoft.com/office/drawing/2014/main" id="{4190C7B2-6849-4D82-9506-8DC4FE18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67125"/>
            <a:ext cx="361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B2B4C"/>
            </a:solidFill>
            <a:prstDash val="solid"/>
          </a:ln>
        </p:spPr>
      </p:sp>
      <p:sp>
        <p:nvSpPr>
          <p:cNvPr id="7" name="slide-5-top-left">
            <a:extLst xmlns:a="http://schemas.openxmlformats.org/drawingml/2006/main">
              <a:ext uri="{FF2B5EF4-FFF2-40B4-BE49-F238E27FC236}">
                <a16:creationId xmlns:a16="http://schemas.microsoft.com/office/drawing/2014/main" id="{AFA02166-20EC-4B5F-ABA9-19E9324A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8" name="slide-5-top-zero">
            <a:extLst xmlns:a="http://schemas.openxmlformats.org/drawingml/2006/main">
              <a:ext uri="{FF2B5EF4-FFF2-40B4-BE49-F238E27FC236}">
                <a16:creationId xmlns:a16="http://schemas.microsoft.com/office/drawing/2014/main" id="{028050FE-4D64-47B5-B968-2E85F7E9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B2B4C"/>
            </a:solidFill>
            <a:prstDash val="solid"/>
          </a:ln>
        </p:spPr>
      </p:sp>
      <p:sp>
        <p:nvSpPr>
          <p:cNvPr id="9" name="slide-5-top-right">
            <a:extLst xmlns:a="http://schemas.openxmlformats.org/drawingml/2006/main">
              <a:ext uri="{FF2B5EF4-FFF2-40B4-BE49-F238E27FC236}">
                <a16:creationId xmlns:a16="http://schemas.microsoft.com/office/drawing/2014/main" id="{2228D1A3-4AC9-4A42-8DD5-0F0CC351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10" name="slide-5-top-left-label">
            <a:extLst xmlns:a="http://schemas.openxmlformats.org/drawingml/2006/main">
              <a:ext uri="{FF2B5EF4-FFF2-40B4-BE49-F238E27FC236}">
                <a16:creationId xmlns:a16="http://schemas.microsoft.com/office/drawing/2014/main" id="{1B5DBD37-4BE1-42BF-A183-13978E95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433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725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f(20) &lt; 0</a:t>
            </a:r>
          </a:p>
        </p:txBody>
      </p:sp>
      <p:sp>
        <p:nvSpPr>
          <p:cNvPr id="11" name="slide-5-top-right-label">
            <a:extLst xmlns:a="http://schemas.openxmlformats.org/drawingml/2006/main">
              <a:ext uri="{FF2B5EF4-FFF2-40B4-BE49-F238E27FC236}">
                <a16:creationId xmlns:a16="http://schemas.microsoft.com/office/drawing/2014/main" id="{32AB141C-9C47-427E-8467-69333565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433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725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f(40) &gt; 0</a:t>
            </a:r>
          </a:p>
        </p:txBody>
      </p:sp>
      <p:sp>
        <p:nvSpPr>
          <p:cNvPr id="12" name="slide-5-arrow-1">
            <a:extLst xmlns:a="http://schemas.openxmlformats.org/drawingml/2006/main">
              <a:ext uri="{FF2B5EF4-FFF2-40B4-BE49-F238E27FC236}">
                <a16:creationId xmlns:a16="http://schemas.microsoft.com/office/drawing/2014/main" id="{4CFBAA37-8A06-4E95-BB20-23B05800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2425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lide-5-mid-label">
            <a:extLst xmlns:a="http://schemas.openxmlformats.org/drawingml/2006/main">
              <a:ext uri="{FF2B5EF4-FFF2-40B4-BE49-F238E27FC236}">
                <a16:creationId xmlns:a16="http://schemas.microsoft.com/office/drawing/2014/main" id="{7D24165B-410D-4BAD-98DE-FD1C3653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670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test midpoint 30 degree</a:t>
            </a:r>
          </a:p>
        </p:txBody>
      </p:sp>
      <p:sp>
        <p:nvSpPr>
          <p:cNvPr id="14" name="slide-5-mid-line">
            <a:extLst xmlns:a="http://schemas.openxmlformats.org/drawingml/2006/main">
              <a:ext uri="{FF2B5EF4-FFF2-40B4-BE49-F238E27FC236}">
                <a16:creationId xmlns:a16="http://schemas.microsoft.com/office/drawing/2014/main" id="{A8BC8E29-AD46-4C73-B811-09FC5A3B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67125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B2B4C"/>
            </a:solidFill>
            <a:prstDash val="solid"/>
          </a:ln>
        </p:spPr>
      </p:sp>
      <p:sp>
        <p:nvSpPr>
          <p:cNvPr id="15" name="slide-5-mid-left">
            <a:extLst xmlns:a="http://schemas.openxmlformats.org/drawingml/2006/main">
              <a:ext uri="{FF2B5EF4-FFF2-40B4-BE49-F238E27FC236}">
                <a16:creationId xmlns:a16="http://schemas.microsoft.com/office/drawing/2014/main" id="{33E35755-13C1-4C48-826B-89799378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16" name="slide-5-mid-point">
            <a:extLst xmlns:a="http://schemas.openxmlformats.org/drawingml/2006/main">
              <a:ext uri="{FF2B5EF4-FFF2-40B4-BE49-F238E27FC236}">
                <a16:creationId xmlns:a16="http://schemas.microsoft.com/office/drawing/2014/main" id="{7C4B3E7B-0A21-4F2E-A31D-90BDB5A9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486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17" name="slide-5-mid-right">
            <a:extLst xmlns:a="http://schemas.openxmlformats.org/drawingml/2006/main">
              <a:ext uri="{FF2B5EF4-FFF2-40B4-BE49-F238E27FC236}">
                <a16:creationId xmlns:a16="http://schemas.microsoft.com/office/drawing/2014/main" id="{23BAD2DC-9C8E-4BE2-8BC1-E943AB77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18" name="slide-5-mid-value">
            <a:extLst xmlns:a="http://schemas.openxmlformats.org/drawingml/2006/main">
              <a:ext uri="{FF2B5EF4-FFF2-40B4-BE49-F238E27FC236}">
                <a16:creationId xmlns:a16="http://schemas.microsoft.com/office/drawing/2014/main" id="{FF42024D-0037-47D9-A65E-5851F196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43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f(30) = +0.31194 m</a:t>
            </a:r>
          </a:p>
        </p:txBody>
      </p:sp>
      <p:sp>
        <p:nvSpPr>
          <p:cNvPr id="19" name="slide-5-arrow-2">
            <a:extLst xmlns:a="http://schemas.openxmlformats.org/drawingml/2006/main">
              <a:ext uri="{FF2B5EF4-FFF2-40B4-BE49-F238E27FC236}">
                <a16:creationId xmlns:a16="http://schemas.microsoft.com/office/drawing/2014/main" id="{9737BFA1-33F8-439C-B8E8-9D724AA8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52425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lide-5-keep-label">
            <a:extLst xmlns:a="http://schemas.openxmlformats.org/drawingml/2006/main">
              <a:ext uri="{FF2B5EF4-FFF2-40B4-BE49-F238E27FC236}">
                <a16:creationId xmlns:a16="http://schemas.microsoft.com/office/drawing/2014/main" id="{B540A04A-87B7-4846-81DC-374777AD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667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keep the sign-changing half</a:t>
            </a:r>
          </a:p>
        </p:txBody>
      </p:sp>
      <p:sp>
        <p:nvSpPr>
          <p:cNvPr id="21" name="slide-5-keep-line">
            <a:extLst xmlns:a="http://schemas.openxmlformats.org/drawingml/2006/main">
              <a:ext uri="{FF2B5EF4-FFF2-40B4-BE49-F238E27FC236}">
                <a16:creationId xmlns:a16="http://schemas.microsoft.com/office/drawing/2014/main" id="{16C4F63C-14AA-4C61-A427-5C6C3934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667125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E8E45"/>
            </a:solidFill>
            <a:prstDash val="solid"/>
          </a:ln>
        </p:spPr>
      </p:sp>
      <p:sp>
        <p:nvSpPr>
          <p:cNvPr id="22" name="slide-5-keep-left">
            <a:extLst xmlns:a="http://schemas.openxmlformats.org/drawingml/2006/main">
              <a:ext uri="{FF2B5EF4-FFF2-40B4-BE49-F238E27FC236}">
                <a16:creationId xmlns:a16="http://schemas.microsoft.com/office/drawing/2014/main" id="{0451136F-0134-4D6E-8634-C19F5F6B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solidFill>
              <a:srgbClr val="3E8E45"/>
            </a:solidFill>
            <a:prstDash val="solid"/>
          </a:ln>
        </p:spPr>
      </p:sp>
      <p:sp>
        <p:nvSpPr>
          <p:cNvPr id="23" name="slide-5-keep-right">
            <a:extLst xmlns:a="http://schemas.openxmlformats.org/drawingml/2006/main">
              <a:ext uri="{FF2B5EF4-FFF2-40B4-BE49-F238E27FC236}">
                <a16:creationId xmlns:a16="http://schemas.microsoft.com/office/drawing/2014/main" id="{C6627628-371D-4969-BE40-855B6BCF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3505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solidFill>
              <a:srgbClr val="3E8E45"/>
            </a:solidFill>
            <a:prstDash val="solid"/>
          </a:ln>
        </p:spPr>
      </p:sp>
      <p:sp>
        <p:nvSpPr>
          <p:cNvPr id="24" name="slide-5-keep-value">
            <a:extLst xmlns:a="http://schemas.openxmlformats.org/drawingml/2006/main">
              <a:ext uri="{FF2B5EF4-FFF2-40B4-BE49-F238E27FC236}">
                <a16:creationId xmlns:a16="http://schemas.microsoft.com/office/drawing/2014/main" id="{49019A7D-E9C9-41F9-97F1-03749919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1433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new bracket [20, 30] degree</a:t>
            </a:r>
          </a:p>
        </p:txBody>
      </p:sp>
      <p:sp>
        <p:nvSpPr>
          <p:cNvPr id="25" name="slide-5-step-1">
            <a:extLst xmlns:a="http://schemas.openxmlformats.org/drawingml/2006/main">
              <a:ext uri="{FF2B5EF4-FFF2-40B4-BE49-F238E27FC236}">
                <a16:creationId xmlns:a16="http://schemas.microsoft.com/office/drawing/2014/main" id="{41DCE3EF-F397-4651-A146-AC609EC9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305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26" name="slide-5-step-1-number">
            <a:extLst xmlns:a="http://schemas.openxmlformats.org/drawingml/2006/main">
              <a:ext uri="{FF2B5EF4-FFF2-40B4-BE49-F238E27FC236}">
                <a16:creationId xmlns:a16="http://schemas.microsoft.com/office/drawing/2014/main" id="{CC8CAA3C-E905-42EC-99E2-221A4E74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6343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27" name="slide-5-step-1-heading">
            <a:extLst xmlns:a="http://schemas.openxmlformats.org/drawingml/2006/main">
              <a:ext uri="{FF2B5EF4-FFF2-40B4-BE49-F238E27FC236}">
                <a16:creationId xmlns:a16="http://schemas.microsoft.com/office/drawing/2014/main" id="{58FAC823-FB16-41B8-8B20-9BB42AF1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6305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choose endpoints</a:t>
            </a:r>
          </a:p>
        </p:txBody>
      </p:sp>
      <p:sp>
        <p:nvSpPr>
          <p:cNvPr id="28" name="slide-5-step-1-body">
            <a:extLst xmlns:a="http://schemas.openxmlformats.org/drawingml/2006/main">
              <a:ext uri="{FF2B5EF4-FFF2-40B4-BE49-F238E27FC236}">
                <a16:creationId xmlns:a16="http://schemas.microsoft.com/office/drawing/2014/main" id="{B38F48D9-6F4E-432B-A209-A429B582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67246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opposite signs</a:t>
            </a:r>
          </a:p>
        </p:txBody>
      </p:sp>
      <p:sp>
        <p:nvSpPr>
          <p:cNvPr id="29" name="slide-5-step-2">
            <a:extLst xmlns:a="http://schemas.openxmlformats.org/drawingml/2006/main">
              <a:ext uri="{FF2B5EF4-FFF2-40B4-BE49-F238E27FC236}">
                <a16:creationId xmlns:a16="http://schemas.microsoft.com/office/drawing/2014/main" id="{C7F458BD-5E14-4B35-906E-344DB4AC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305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30" name="slide-5-step-2-number">
            <a:extLst xmlns:a="http://schemas.openxmlformats.org/drawingml/2006/main">
              <a:ext uri="{FF2B5EF4-FFF2-40B4-BE49-F238E27FC236}">
                <a16:creationId xmlns:a16="http://schemas.microsoft.com/office/drawing/2014/main" id="{AEA71F83-CCF4-495F-88A7-DFD22B6E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343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31" name="slide-5-step-2-heading">
            <a:extLst xmlns:a="http://schemas.openxmlformats.org/drawingml/2006/main">
              <a:ext uri="{FF2B5EF4-FFF2-40B4-BE49-F238E27FC236}">
                <a16:creationId xmlns:a16="http://schemas.microsoft.com/office/drawing/2014/main" id="{5286189E-6B2E-4A16-A905-8EC41591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05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compute midpoint</a:t>
            </a:r>
          </a:p>
        </p:txBody>
      </p:sp>
      <p:sp>
        <p:nvSpPr>
          <p:cNvPr id="32" name="slide-5-step-2-body">
            <a:extLst xmlns:a="http://schemas.openxmlformats.org/drawingml/2006/main">
              <a:ext uri="{FF2B5EF4-FFF2-40B4-BE49-F238E27FC236}">
                <a16:creationId xmlns:a16="http://schemas.microsoft.com/office/drawing/2014/main" id="{5E0251FF-3166-48C9-A10C-40D86F76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7246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 = (a + b)/2</a:t>
            </a:r>
          </a:p>
        </p:txBody>
      </p:sp>
      <p:sp>
        <p:nvSpPr>
          <p:cNvPr id="33" name="slide-5-step-3">
            <a:extLst xmlns:a="http://schemas.openxmlformats.org/drawingml/2006/main">
              <a:ext uri="{FF2B5EF4-FFF2-40B4-BE49-F238E27FC236}">
                <a16:creationId xmlns:a16="http://schemas.microsoft.com/office/drawing/2014/main" id="{335B1786-AF48-48C7-A60B-96DD4E8C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305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34" name="slide-5-step-3-number">
            <a:extLst xmlns:a="http://schemas.openxmlformats.org/drawingml/2006/main">
              <a:ext uri="{FF2B5EF4-FFF2-40B4-BE49-F238E27FC236}">
                <a16:creationId xmlns:a16="http://schemas.microsoft.com/office/drawing/2014/main" id="{95EF5B29-E557-4D86-BEEB-5AD102DB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6343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35" name="slide-5-step-3-heading">
            <a:extLst xmlns:a="http://schemas.openxmlformats.org/drawingml/2006/main">
              <a:ext uri="{FF2B5EF4-FFF2-40B4-BE49-F238E27FC236}">
                <a16:creationId xmlns:a16="http://schemas.microsoft.com/office/drawing/2014/main" id="{D6DE9DF1-BC85-4722-AE84-72C81DA6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305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evaluate residual</a:t>
            </a:r>
          </a:p>
        </p:txBody>
      </p:sp>
      <p:sp>
        <p:nvSpPr>
          <p:cNvPr id="36" name="slide-5-step-3-body">
            <a:extLst xmlns:a="http://schemas.openxmlformats.org/drawingml/2006/main">
              <a:ext uri="{FF2B5EF4-FFF2-40B4-BE49-F238E27FC236}">
                <a16:creationId xmlns:a16="http://schemas.microsoft.com/office/drawing/2014/main" id="{1F160566-8D44-4063-9E51-80A235EB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7246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read f(m)</a:t>
            </a:r>
          </a:p>
        </p:txBody>
      </p:sp>
      <p:sp>
        <p:nvSpPr>
          <p:cNvPr id="37" name="slide-5-step-4">
            <a:extLst xmlns:a="http://schemas.openxmlformats.org/drawingml/2006/main">
              <a:ext uri="{FF2B5EF4-FFF2-40B4-BE49-F238E27FC236}">
                <a16:creationId xmlns:a16="http://schemas.microsoft.com/office/drawing/2014/main" id="{2272E28E-9BE5-4989-963E-993B04D0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305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solidFill>
              <a:srgbClr val="3E8E45"/>
            </a:solidFill>
            <a:prstDash val="solid"/>
          </a:ln>
        </p:spPr>
      </p:sp>
      <p:sp>
        <p:nvSpPr>
          <p:cNvPr id="38" name="slide-5-step-4-number">
            <a:extLst xmlns:a="http://schemas.openxmlformats.org/drawingml/2006/main">
              <a:ext uri="{FF2B5EF4-FFF2-40B4-BE49-F238E27FC236}">
                <a16:creationId xmlns:a16="http://schemas.microsoft.com/office/drawing/2014/main" id="{21760980-877C-4B68-86F7-BDF66EA3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6343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39" name="slide-5-step-4-heading">
            <a:extLst xmlns:a="http://schemas.openxmlformats.org/drawingml/2006/main">
              <a:ext uri="{FF2B5EF4-FFF2-40B4-BE49-F238E27FC236}">
                <a16:creationId xmlns:a16="http://schemas.microsoft.com/office/drawing/2014/main" id="{B2EF18D6-640D-4C5E-BE39-E2531563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6305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keep the sign change</a:t>
            </a:r>
          </a:p>
        </p:txBody>
      </p:sp>
      <p:sp>
        <p:nvSpPr>
          <p:cNvPr id="40" name="slide-5-step-4-body">
            <a:extLst xmlns:a="http://schemas.openxmlformats.org/drawingml/2006/main">
              <a:ext uri="{FF2B5EF4-FFF2-40B4-BE49-F238E27FC236}">
                <a16:creationId xmlns:a16="http://schemas.microsoft.com/office/drawing/2014/main" id="{B4B114F7-F826-4267-A56C-6C77D050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6825" y="67246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replace one endpoint</a:t>
            </a:r>
          </a:p>
        </p:txBody>
      </p:sp>
      <p:sp>
        <p:nvSpPr>
          <p:cNvPr id="41" name="slide-5-question-box">
            <a:extLst xmlns:a="http://schemas.openxmlformats.org/drawingml/2006/main">
              <a:ext uri="{FF2B5EF4-FFF2-40B4-BE49-F238E27FC236}">
                <a16:creationId xmlns:a16="http://schemas.microsoft.com/office/drawing/2014/main" id="{02F5E2F0-2DE8-4AAE-BE84-1276E4BC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53375"/>
            <a:ext cx="148590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42" name="slide-5-question">
            <a:extLst xmlns:a="http://schemas.openxmlformats.org/drawingml/2006/main">
              <a:ext uri="{FF2B5EF4-FFF2-40B4-BE49-F238E27FC236}">
                <a16:creationId xmlns:a16="http://schemas.microsoft.com/office/drawing/2014/main" id="{A30AEC3A-EE1C-4C7F-85D9-AB1AEA24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81057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Why is the midpoint not enough?</a:t>
            </a:r>
          </a:p>
        </p:txBody>
      </p:sp>
      <p:sp>
        <p:nvSpPr>
          <p:cNvPr id="43" name="slide-5-answer">
            <a:extLst xmlns:a="http://schemas.openxmlformats.org/drawingml/2006/main">
              <a:ext uri="{FF2B5EF4-FFF2-40B4-BE49-F238E27FC236}">
                <a16:creationId xmlns:a16="http://schemas.microsoft.com/office/drawing/2014/main" id="{9B45D14C-C585-49C6-B9C6-DD06FEA8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10577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7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Because bisection needs a bracket whose endpoint residuals have opposite signs.</a:t>
            </a:r>
          </a:p>
        </p:txBody>
      </p:sp>
    </p:spTree>
    <p:extLst>
      <p:ext uri="{BB962C8B-B14F-4D97-AF65-F5344CB8AC3E}">
        <p14:creationId xmlns:p14="http://schemas.microsoft.com/office/powerpoint/2010/main" val="981358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0EDD7F24-80D0-4035-B75F-56BBCA6A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Bisection shrinks the bracket</a:t>
            </a:r>
          </a:p>
        </p:txBody>
      </p:sp>
      <p:sp>
        <p:nvSpPr>
          <p:cNvPr id="2" name="slide-6-title-rule">
            <a:extLst xmlns:a="http://schemas.openxmlformats.org/drawingml/2006/main">
              <a:ext uri="{FF2B5EF4-FFF2-40B4-BE49-F238E27FC236}">
                <a16:creationId xmlns:a16="http://schemas.microsoft.com/office/drawing/2014/main" id="{ED881B9A-52F5-410A-AEC9-39F092C5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01A32F50-7866-4ACA-A22E-02287193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Every row repeats the same four decisions</a:t>
            </a:r>
          </a:p>
        </p:txBody>
      </p:sp>
      <p:sp>
        <p:nvSpPr>
          <p:cNvPr id="4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33949010-3F1E-4AC8-9A9C-BD17BDC9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  <p:sp>
        <p:nvSpPr>
          <p:cNvPr id="5" name="slide-6-algorithm">
            <a:extLst xmlns:a="http://schemas.openxmlformats.org/drawingml/2006/main">
              <a:ext uri="{FF2B5EF4-FFF2-40B4-BE49-F238E27FC236}">
                <a16:creationId xmlns:a16="http://schemas.microsoft.com/office/drawing/2014/main" id="{68AF5AF0-9724-45DF-9302-29BE7553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24125"/>
            <a:ext cx="4476750" cy="5572125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slide-6-algorithm-heading">
            <a:extLst xmlns:a="http://schemas.openxmlformats.org/drawingml/2006/main">
              <a:ext uri="{FF2B5EF4-FFF2-40B4-BE49-F238E27FC236}">
                <a16:creationId xmlns:a16="http://schemas.microsoft.com/office/drawing/2014/main" id="{655AD959-5F68-461F-87B3-C672B1E1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Plain-language algorithm</a:t>
            </a:r>
          </a:p>
        </p:txBody>
      </p:sp>
      <p:sp>
        <p:nvSpPr>
          <p:cNvPr id="7" name="slide-6-alg-1">
            <a:extLst xmlns:a="http://schemas.openxmlformats.org/drawingml/2006/main">
              <a:ext uri="{FF2B5EF4-FFF2-40B4-BE49-F238E27FC236}">
                <a16:creationId xmlns:a16="http://schemas.microsoft.com/office/drawing/2014/main" id="{B41235A8-6906-4FC6-B629-9CF7451C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390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8" name="slide-6-alg-num-1">
            <a:extLst xmlns:a="http://schemas.openxmlformats.org/drawingml/2006/main">
              <a:ext uri="{FF2B5EF4-FFF2-40B4-BE49-F238E27FC236}">
                <a16:creationId xmlns:a16="http://schemas.microsoft.com/office/drawing/2014/main" id="{0A38A96C-EFF9-4A62-899C-AB12D287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3909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9" name="slide-6-alg-text-1">
            <a:extLst xmlns:a="http://schemas.openxmlformats.org/drawingml/2006/main">
              <a:ext uri="{FF2B5EF4-FFF2-40B4-BE49-F238E27FC236}">
                <a16:creationId xmlns:a16="http://schemas.microsoft.com/office/drawing/2014/main" id="{E64CCDD1-4ACE-46E0-B8A3-324B37DD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4004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7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Start with opposite endpoint signs</a:t>
            </a:r>
          </a:p>
        </p:txBody>
      </p:sp>
      <p:sp>
        <p:nvSpPr>
          <p:cNvPr id="10" name="slide-6-alg-line-1">
            <a:extLst xmlns:a="http://schemas.openxmlformats.org/drawingml/2006/main">
              <a:ext uri="{FF2B5EF4-FFF2-40B4-BE49-F238E27FC236}">
                <a16:creationId xmlns:a16="http://schemas.microsoft.com/office/drawing/2014/main" id="{54E7585E-EF23-486A-A23A-2CCDCE28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57625"/>
            <a:ext cx="952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11" name="slide-6-alg-2">
            <a:extLst xmlns:a="http://schemas.openxmlformats.org/drawingml/2006/main">
              <a:ext uri="{FF2B5EF4-FFF2-40B4-BE49-F238E27FC236}">
                <a16:creationId xmlns:a16="http://schemas.microsoft.com/office/drawing/2014/main" id="{66390FAE-87EC-4877-B557-88BA4276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171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12" name="slide-6-alg-num-2">
            <a:extLst xmlns:a="http://schemas.openxmlformats.org/drawingml/2006/main">
              <a:ext uri="{FF2B5EF4-FFF2-40B4-BE49-F238E27FC236}">
                <a16:creationId xmlns:a16="http://schemas.microsoft.com/office/drawing/2014/main" id="{04685C41-EB7F-4B46-8AC0-DAA5FB8F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171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13" name="slide-6-alg-text-2">
            <a:extLst xmlns:a="http://schemas.openxmlformats.org/drawingml/2006/main">
              <a:ext uri="{FF2B5EF4-FFF2-40B4-BE49-F238E27FC236}">
                <a16:creationId xmlns:a16="http://schemas.microsoft.com/office/drawing/2014/main" id="{984F85F7-E497-4218-AA63-8F738AC5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814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7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Compute the midpoint</a:t>
            </a:r>
          </a:p>
        </p:txBody>
      </p:sp>
      <p:sp>
        <p:nvSpPr>
          <p:cNvPr id="14" name="slide-6-alg-line-2">
            <a:extLst xmlns:a="http://schemas.openxmlformats.org/drawingml/2006/main">
              <a:ext uri="{FF2B5EF4-FFF2-40B4-BE49-F238E27FC236}">
                <a16:creationId xmlns:a16="http://schemas.microsoft.com/office/drawing/2014/main" id="{C9C258CA-07A5-43D0-938E-EC4B6066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38675"/>
            <a:ext cx="952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15" name="slide-6-alg-3">
            <a:extLst xmlns:a="http://schemas.openxmlformats.org/drawingml/2006/main">
              <a:ext uri="{FF2B5EF4-FFF2-40B4-BE49-F238E27FC236}">
                <a16:creationId xmlns:a16="http://schemas.microsoft.com/office/drawing/2014/main" id="{13B36908-19AE-486C-BD1B-411799E5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53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16" name="slide-6-alg-num-3">
            <a:extLst xmlns:a="http://schemas.openxmlformats.org/drawingml/2006/main">
              <a:ext uri="{FF2B5EF4-FFF2-40B4-BE49-F238E27FC236}">
                <a16:creationId xmlns:a16="http://schemas.microsoft.com/office/drawing/2014/main" id="{E8B52D8B-199B-4484-B2D6-94AFC921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53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7" name="slide-6-alg-text-3">
            <a:extLst xmlns:a="http://schemas.openxmlformats.org/drawingml/2006/main">
              <a:ext uri="{FF2B5EF4-FFF2-40B4-BE49-F238E27FC236}">
                <a16:creationId xmlns:a16="http://schemas.microsoft.com/office/drawing/2014/main" id="{6B33E638-E011-4E7A-ADBD-4C78B5DE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625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7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Evaluate f(mid)</a:t>
            </a:r>
          </a:p>
        </p:txBody>
      </p:sp>
      <p:sp>
        <p:nvSpPr>
          <p:cNvPr id="18" name="slide-6-alg-line-3">
            <a:extLst xmlns:a="http://schemas.openxmlformats.org/drawingml/2006/main">
              <a:ext uri="{FF2B5EF4-FFF2-40B4-BE49-F238E27FC236}">
                <a16:creationId xmlns:a16="http://schemas.microsoft.com/office/drawing/2014/main" id="{C8072857-0714-4F6C-8B04-150EFF03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19725"/>
            <a:ext cx="952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19" name="slide-6-alg-4">
            <a:extLst xmlns:a="http://schemas.openxmlformats.org/drawingml/2006/main">
              <a:ext uri="{FF2B5EF4-FFF2-40B4-BE49-F238E27FC236}">
                <a16:creationId xmlns:a16="http://schemas.microsoft.com/office/drawing/2014/main" id="{43EFBD9F-2666-4AE9-8B95-53A16650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734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20" name="slide-6-alg-num-4">
            <a:extLst xmlns:a="http://schemas.openxmlformats.org/drawingml/2006/main">
              <a:ext uri="{FF2B5EF4-FFF2-40B4-BE49-F238E27FC236}">
                <a16:creationId xmlns:a16="http://schemas.microsoft.com/office/drawing/2014/main" id="{0B885EC3-2CCC-4A1B-A3DD-D76B9EFE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73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21" name="slide-6-alg-text-4">
            <a:extLst xmlns:a="http://schemas.openxmlformats.org/drawingml/2006/main">
              <a:ext uri="{FF2B5EF4-FFF2-40B4-BE49-F238E27FC236}">
                <a16:creationId xmlns:a16="http://schemas.microsoft.com/office/drawing/2014/main" id="{66C1C133-53DF-440B-858E-9DD204E3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435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7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Replace one endpoint</a:t>
            </a:r>
          </a:p>
        </p:txBody>
      </p:sp>
      <p:sp>
        <p:nvSpPr>
          <p:cNvPr id="22" name="slide-6-alg-line-4">
            <a:extLst xmlns:a="http://schemas.openxmlformats.org/drawingml/2006/main">
              <a:ext uri="{FF2B5EF4-FFF2-40B4-BE49-F238E27FC236}">
                <a16:creationId xmlns:a16="http://schemas.microsoft.com/office/drawing/2014/main" id="{DFAC5E46-FC2D-4EE5-86C0-3306BF0B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200775"/>
            <a:ext cx="9525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23" name="slide-6-alg-5">
            <a:extLst xmlns:a="http://schemas.openxmlformats.org/drawingml/2006/main">
              <a:ext uri="{FF2B5EF4-FFF2-40B4-BE49-F238E27FC236}">
                <a16:creationId xmlns:a16="http://schemas.microsoft.com/office/drawing/2014/main" id="{D39607D6-83BC-4A76-8398-6CBE74CB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5151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solidFill>
              <a:srgbClr val="3E8E45"/>
            </a:solidFill>
            <a:prstDash val="solid"/>
          </a:ln>
        </p:spPr>
      </p:sp>
      <p:sp>
        <p:nvSpPr>
          <p:cNvPr id="24" name="slide-6-alg-num-5">
            <a:extLst xmlns:a="http://schemas.openxmlformats.org/drawingml/2006/main">
              <a:ext uri="{FF2B5EF4-FFF2-40B4-BE49-F238E27FC236}">
                <a16:creationId xmlns:a16="http://schemas.microsoft.com/office/drawing/2014/main" id="{EFCFAFEB-E2EA-491E-86EB-A37AAD33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515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25" name="slide-6-alg-text-5">
            <a:extLst xmlns:a="http://schemas.openxmlformats.org/drawingml/2006/main">
              <a:ext uri="{FF2B5EF4-FFF2-40B4-BE49-F238E27FC236}">
                <a16:creationId xmlns:a16="http://schemas.microsoft.com/office/drawing/2014/main" id="{A1E070B1-E599-4007-9AF2-96106EDD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5246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7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Repeat with the smaller bracket</a:t>
            </a:r>
          </a:p>
        </p:txBody>
      </p:sp>
      <p:sp>
        <p:nvSpPr>
          <p:cNvPr id="26" name="slide-6-invariant">
            <a:extLst xmlns:a="http://schemas.openxmlformats.org/drawingml/2006/main">
              <a:ext uri="{FF2B5EF4-FFF2-40B4-BE49-F238E27FC236}">
                <a16:creationId xmlns:a16="http://schemas.microsoft.com/office/drawing/2014/main" id="{394A1C0D-4D3A-4F8E-BBF2-E3933D6D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5247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725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invariant: f(a) and f(b) keep opposite signs</a:t>
            </a:r>
          </a:p>
        </p:txBody>
      </p:sp>
      <p:sp>
        <p:nvSpPr>
          <p:cNvPr id="27" name="slide-6-table-bg">
            <a:extLst xmlns:a="http://schemas.openxmlformats.org/drawingml/2006/main">
              <a:ext uri="{FF2B5EF4-FFF2-40B4-BE49-F238E27FC236}">
                <a16:creationId xmlns:a16="http://schemas.microsoft.com/office/drawing/2014/main" id="{9884A0C3-FAE7-4C4F-92C1-5A4942CC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11001375" cy="3962400"/>
          </a:xfrm>
          <a:prstGeom xmlns:a="http://schemas.openxmlformats.org/drawingml/2006/main" prst="roundRect">
            <a:avLst>
              <a:gd name="adj" fmla="val 52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28" name="slide-6-table-v-0">
            <a:extLst xmlns:a="http://schemas.openxmlformats.org/drawingml/2006/main">
              <a:ext uri="{FF2B5EF4-FFF2-40B4-BE49-F238E27FC236}">
                <a16:creationId xmlns:a16="http://schemas.microsoft.com/office/drawing/2014/main" id="{68A93C1A-E51C-4AD4-91F2-1C059929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24125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29" name="slide-6-table-v-1">
            <a:extLst xmlns:a="http://schemas.openxmlformats.org/drawingml/2006/main">
              <a:ext uri="{FF2B5EF4-FFF2-40B4-BE49-F238E27FC236}">
                <a16:creationId xmlns:a16="http://schemas.microsoft.com/office/drawing/2014/main" id="{6FCD6E0F-3081-4603-8CE4-5B78D163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24125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30" name="slide-6-table-v-2">
            <a:extLst xmlns:a="http://schemas.openxmlformats.org/drawingml/2006/main">
              <a:ext uri="{FF2B5EF4-FFF2-40B4-BE49-F238E27FC236}">
                <a16:creationId xmlns:a16="http://schemas.microsoft.com/office/drawing/2014/main" id="{43B186A1-C4DF-48AA-A95E-9087E6E6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2524125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31" name="slide-6-table-v-3">
            <a:extLst xmlns:a="http://schemas.openxmlformats.org/drawingml/2006/main">
              <a:ext uri="{FF2B5EF4-FFF2-40B4-BE49-F238E27FC236}">
                <a16:creationId xmlns:a16="http://schemas.microsoft.com/office/drawing/2014/main" id="{AC3D21F3-8428-4598-A2A8-FFAE94F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2524125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32" name="slide-6-table-header-rule">
            <a:extLst xmlns:a="http://schemas.openxmlformats.org/drawingml/2006/main">
              <a:ext uri="{FF2B5EF4-FFF2-40B4-BE49-F238E27FC236}">
                <a16:creationId xmlns:a16="http://schemas.microsoft.com/office/drawing/2014/main" id="{E07F7A8F-1663-4931-A774-597BA4A0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11001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33" name="slide-6-table-h-1">
            <a:extLst xmlns:a="http://schemas.openxmlformats.org/drawingml/2006/main">
              <a:ext uri="{FF2B5EF4-FFF2-40B4-BE49-F238E27FC236}">
                <a16:creationId xmlns:a16="http://schemas.microsoft.com/office/drawing/2014/main" id="{32B073E0-92DC-484B-AAF2-EFC385B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11001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C"/>
            </a:solidFill>
            <a:prstDash val="solid"/>
          </a:ln>
        </p:spPr>
      </p:sp>
      <p:sp>
        <p:nvSpPr>
          <p:cNvPr id="34" name="slide-6-table-h-2">
            <a:extLst xmlns:a="http://schemas.openxmlformats.org/drawingml/2006/main">
              <a:ext uri="{FF2B5EF4-FFF2-40B4-BE49-F238E27FC236}">
                <a16:creationId xmlns:a16="http://schemas.microsoft.com/office/drawing/2014/main" id="{5A06DC6B-4624-4345-B7A4-3700E2A9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48225"/>
            <a:ext cx="11001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C"/>
            </a:solidFill>
            <a:prstDash val="solid"/>
          </a:ln>
        </p:spPr>
      </p:sp>
      <p:sp>
        <p:nvSpPr>
          <p:cNvPr id="35" name="slide-6-table-h-3">
            <a:extLst xmlns:a="http://schemas.openxmlformats.org/drawingml/2006/main">
              <a:ext uri="{FF2B5EF4-FFF2-40B4-BE49-F238E27FC236}">
                <a16:creationId xmlns:a16="http://schemas.microsoft.com/office/drawing/2014/main" id="{A7B540EF-B2DB-4230-BBF1-CED09B3C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67375"/>
            <a:ext cx="11001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C"/>
            </a:solidFill>
            <a:prstDash val="solid"/>
          </a:ln>
        </p:spPr>
      </p:sp>
      <p:sp>
        <p:nvSpPr>
          <p:cNvPr id="36" name="slide-6-table-0-0">
            <a:extLst xmlns:a="http://schemas.openxmlformats.org/drawingml/2006/main">
              <a:ext uri="{FF2B5EF4-FFF2-40B4-BE49-F238E27FC236}">
                <a16:creationId xmlns:a16="http://schemas.microsoft.com/office/drawing/2014/main" id="{3F499FB7-A5E2-41CC-B2C5-DE1857D0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574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iteration</a:t>
            </a:r>
          </a:p>
        </p:txBody>
      </p:sp>
      <p:sp>
        <p:nvSpPr>
          <p:cNvPr id="37" name="slide-6-table-0-1">
            <a:extLst xmlns:a="http://schemas.openxmlformats.org/drawingml/2006/main">
              <a:ext uri="{FF2B5EF4-FFF2-40B4-BE49-F238E27FC236}">
                <a16:creationId xmlns:a16="http://schemas.microsoft.com/office/drawing/2014/main" id="{F638734A-F571-43F4-BBC7-8DB93043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657475"/>
            <a:ext cx="2228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current bracket (degree)</a:t>
            </a:r>
          </a:p>
        </p:txBody>
      </p:sp>
      <p:sp>
        <p:nvSpPr>
          <p:cNvPr id="38" name="slide-6-table-0-2">
            <a:extLst xmlns:a="http://schemas.openxmlformats.org/drawingml/2006/main">
              <a:ext uri="{FF2B5EF4-FFF2-40B4-BE49-F238E27FC236}">
                <a16:creationId xmlns:a16="http://schemas.microsoft.com/office/drawing/2014/main" id="{10CA918E-AE0A-4839-A715-5B6BD2C9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6574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midpoint (degree)</a:t>
            </a:r>
          </a:p>
        </p:txBody>
      </p:sp>
      <p:sp>
        <p:nvSpPr>
          <p:cNvPr id="39" name="slide-6-table-0-3">
            <a:extLst xmlns:a="http://schemas.openxmlformats.org/drawingml/2006/main">
              <a:ext uri="{FF2B5EF4-FFF2-40B4-BE49-F238E27FC236}">
                <a16:creationId xmlns:a16="http://schemas.microsoft.com/office/drawing/2014/main" id="{664B9FF3-A580-4FB3-883D-AA60D60F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265747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f(mid) (m)</a:t>
            </a:r>
          </a:p>
        </p:txBody>
      </p:sp>
      <p:sp>
        <p:nvSpPr>
          <p:cNvPr id="40" name="slide-6-table-0-4">
            <a:extLst xmlns:a="http://schemas.openxmlformats.org/drawingml/2006/main">
              <a:ext uri="{FF2B5EF4-FFF2-40B4-BE49-F238E27FC236}">
                <a16:creationId xmlns:a16="http://schemas.microsoft.com/office/drawing/2014/main" id="{80B7A980-6994-4037-84FF-5B7078D3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2657475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keep</a:t>
            </a:r>
          </a:p>
        </p:txBody>
      </p:sp>
      <p:sp>
        <p:nvSpPr>
          <p:cNvPr id="41" name="slide-6-table-1-0">
            <a:extLst xmlns:a="http://schemas.openxmlformats.org/drawingml/2006/main">
              <a:ext uri="{FF2B5EF4-FFF2-40B4-BE49-F238E27FC236}">
                <a16:creationId xmlns:a16="http://schemas.microsoft.com/office/drawing/2014/main" id="{807CCB75-65A3-4B9B-A7AC-4922CABB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43275"/>
            <a:ext cx="847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42" name="slide-6-table-1-1">
            <a:extLst xmlns:a="http://schemas.openxmlformats.org/drawingml/2006/main">
              <a:ext uri="{FF2B5EF4-FFF2-40B4-BE49-F238E27FC236}">
                <a16:creationId xmlns:a16="http://schemas.microsoft.com/office/drawing/2014/main" id="{300DBA9E-641D-4662-A8CF-1510FBD3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343275"/>
            <a:ext cx="2228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[20, 40]</a:t>
            </a:r>
          </a:p>
        </p:txBody>
      </p:sp>
      <p:sp>
        <p:nvSpPr>
          <p:cNvPr id="43" name="slide-6-table-1-2">
            <a:extLst xmlns:a="http://schemas.openxmlformats.org/drawingml/2006/main">
              <a:ext uri="{FF2B5EF4-FFF2-40B4-BE49-F238E27FC236}">
                <a16:creationId xmlns:a16="http://schemas.microsoft.com/office/drawing/2014/main" id="{BC6CCADF-B925-4CD7-B30A-43D587B2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43275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30</a:t>
            </a:r>
          </a:p>
        </p:txBody>
      </p:sp>
      <p:sp>
        <p:nvSpPr>
          <p:cNvPr id="44" name="slide-6-table-1-3">
            <a:extLst xmlns:a="http://schemas.openxmlformats.org/drawingml/2006/main">
              <a:ext uri="{FF2B5EF4-FFF2-40B4-BE49-F238E27FC236}">
                <a16:creationId xmlns:a16="http://schemas.microsoft.com/office/drawing/2014/main" id="{8DC38C9D-B1AB-4453-825A-E3995589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33432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+0.31194</a:t>
            </a:r>
          </a:p>
        </p:txBody>
      </p:sp>
      <p:sp>
        <p:nvSpPr>
          <p:cNvPr id="45" name="slide-6-table-1-4">
            <a:extLst xmlns:a="http://schemas.openxmlformats.org/drawingml/2006/main">
              <a:ext uri="{FF2B5EF4-FFF2-40B4-BE49-F238E27FC236}">
                <a16:creationId xmlns:a16="http://schemas.microsoft.com/office/drawing/2014/main" id="{D73CDCDB-3B2F-4320-9D01-E04DD805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3343275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[20, 30]</a:t>
            </a:r>
          </a:p>
        </p:txBody>
      </p:sp>
      <p:sp>
        <p:nvSpPr>
          <p:cNvPr id="46" name="slide-6-table-2-0">
            <a:extLst xmlns:a="http://schemas.openxmlformats.org/drawingml/2006/main">
              <a:ext uri="{FF2B5EF4-FFF2-40B4-BE49-F238E27FC236}">
                <a16:creationId xmlns:a16="http://schemas.microsoft.com/office/drawing/2014/main" id="{7857425A-075B-4A6B-950E-10263A61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62425"/>
            <a:ext cx="847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47" name="slide-6-table-2-1">
            <a:extLst xmlns:a="http://schemas.openxmlformats.org/drawingml/2006/main">
              <a:ext uri="{FF2B5EF4-FFF2-40B4-BE49-F238E27FC236}">
                <a16:creationId xmlns:a16="http://schemas.microsoft.com/office/drawing/2014/main" id="{39EEDB0F-2DBF-4182-A865-B491F49D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162425"/>
            <a:ext cx="2228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[20, 30]</a:t>
            </a:r>
          </a:p>
        </p:txBody>
      </p:sp>
      <p:sp>
        <p:nvSpPr>
          <p:cNvPr id="48" name="slide-6-table-2-2">
            <a:extLst xmlns:a="http://schemas.openxmlformats.org/drawingml/2006/main">
              <a:ext uri="{FF2B5EF4-FFF2-40B4-BE49-F238E27FC236}">
                <a16:creationId xmlns:a16="http://schemas.microsoft.com/office/drawing/2014/main" id="{108C1707-6177-4CA9-98C1-77E05B04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162425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25</a:t>
            </a:r>
          </a:p>
        </p:txBody>
      </p:sp>
      <p:sp>
        <p:nvSpPr>
          <p:cNvPr id="49" name="slide-6-table-2-3">
            <a:extLst xmlns:a="http://schemas.openxmlformats.org/drawingml/2006/main">
              <a:ext uri="{FF2B5EF4-FFF2-40B4-BE49-F238E27FC236}">
                <a16:creationId xmlns:a16="http://schemas.microsoft.com/office/drawing/2014/main" id="{795FD4F3-266D-494D-BB4A-6406A1E3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416242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-3.7648</a:t>
            </a:r>
          </a:p>
        </p:txBody>
      </p:sp>
      <p:sp>
        <p:nvSpPr>
          <p:cNvPr id="50" name="slide-6-table-2-4">
            <a:extLst xmlns:a="http://schemas.openxmlformats.org/drawingml/2006/main">
              <a:ext uri="{FF2B5EF4-FFF2-40B4-BE49-F238E27FC236}">
                <a16:creationId xmlns:a16="http://schemas.microsoft.com/office/drawing/2014/main" id="{C4E521FE-74C7-4D07-889B-BDA5F1AC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4162425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[25, 30]</a:t>
            </a:r>
          </a:p>
        </p:txBody>
      </p:sp>
      <p:sp>
        <p:nvSpPr>
          <p:cNvPr id="51" name="slide-6-table-3-0">
            <a:extLst xmlns:a="http://schemas.openxmlformats.org/drawingml/2006/main">
              <a:ext uri="{FF2B5EF4-FFF2-40B4-BE49-F238E27FC236}">
                <a16:creationId xmlns:a16="http://schemas.microsoft.com/office/drawing/2014/main" id="{384D8C69-ADCC-4A34-BAB7-1903A731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81575"/>
            <a:ext cx="847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52" name="slide-6-table-3-1">
            <a:extLst xmlns:a="http://schemas.openxmlformats.org/drawingml/2006/main">
              <a:ext uri="{FF2B5EF4-FFF2-40B4-BE49-F238E27FC236}">
                <a16:creationId xmlns:a16="http://schemas.microsoft.com/office/drawing/2014/main" id="{25AD0140-D84C-4060-8C6D-42D8EE5A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981575"/>
            <a:ext cx="2228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[25, 30]</a:t>
            </a:r>
          </a:p>
        </p:txBody>
      </p:sp>
      <p:sp>
        <p:nvSpPr>
          <p:cNvPr id="53" name="slide-6-table-3-2">
            <a:extLst xmlns:a="http://schemas.openxmlformats.org/drawingml/2006/main">
              <a:ext uri="{FF2B5EF4-FFF2-40B4-BE49-F238E27FC236}">
                <a16:creationId xmlns:a16="http://schemas.microsoft.com/office/drawing/2014/main" id="{FE3219A4-1B9E-4592-9C5E-26AD84A8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981575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27.5</a:t>
            </a:r>
          </a:p>
        </p:txBody>
      </p:sp>
      <p:sp>
        <p:nvSpPr>
          <p:cNvPr id="54" name="slide-6-table-3-3">
            <a:extLst xmlns:a="http://schemas.openxmlformats.org/drawingml/2006/main">
              <a:ext uri="{FF2B5EF4-FFF2-40B4-BE49-F238E27FC236}">
                <a16:creationId xmlns:a16="http://schemas.microsoft.com/office/drawing/2014/main" id="{8F82C0CC-ADB0-49B4-A3CF-02F12065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498157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-1.5993</a:t>
            </a:r>
          </a:p>
        </p:txBody>
      </p:sp>
      <p:sp>
        <p:nvSpPr>
          <p:cNvPr id="55" name="slide-6-table-3-4">
            <a:extLst xmlns:a="http://schemas.openxmlformats.org/drawingml/2006/main">
              <a:ext uri="{FF2B5EF4-FFF2-40B4-BE49-F238E27FC236}">
                <a16:creationId xmlns:a16="http://schemas.microsoft.com/office/drawing/2014/main" id="{04EE86B1-0E71-4E6A-A56B-DE1E8533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4981575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[27.5, 30]</a:t>
            </a:r>
          </a:p>
        </p:txBody>
      </p:sp>
      <p:sp>
        <p:nvSpPr>
          <p:cNvPr id="56" name="slide-6-table-4-0">
            <a:extLst xmlns:a="http://schemas.openxmlformats.org/drawingml/2006/main">
              <a:ext uri="{FF2B5EF4-FFF2-40B4-BE49-F238E27FC236}">
                <a16:creationId xmlns:a16="http://schemas.microsoft.com/office/drawing/2014/main" id="{27AA125B-C1EE-435B-898F-F8BF3836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800725"/>
            <a:ext cx="847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57" name="slide-6-table-4-1">
            <a:extLst xmlns:a="http://schemas.openxmlformats.org/drawingml/2006/main">
              <a:ext uri="{FF2B5EF4-FFF2-40B4-BE49-F238E27FC236}">
                <a16:creationId xmlns:a16="http://schemas.microsoft.com/office/drawing/2014/main" id="{F51D3DF8-B192-41DB-B59C-4121C463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800725"/>
            <a:ext cx="2228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[27.5, 30]</a:t>
            </a:r>
          </a:p>
        </p:txBody>
      </p:sp>
      <p:sp>
        <p:nvSpPr>
          <p:cNvPr id="58" name="slide-6-table-4-2">
            <a:extLst xmlns:a="http://schemas.openxmlformats.org/drawingml/2006/main">
              <a:ext uri="{FF2B5EF4-FFF2-40B4-BE49-F238E27FC236}">
                <a16:creationId xmlns:a16="http://schemas.microsoft.com/office/drawing/2014/main" id="{7198168D-9DFE-4627-854F-A3961681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800725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28.75</a:t>
            </a:r>
          </a:p>
        </p:txBody>
      </p:sp>
      <p:sp>
        <p:nvSpPr>
          <p:cNvPr id="59" name="slide-6-table-4-3">
            <a:extLst xmlns:a="http://schemas.openxmlformats.org/drawingml/2006/main">
              <a:ext uri="{FF2B5EF4-FFF2-40B4-BE49-F238E27FC236}">
                <a16:creationId xmlns:a16="http://schemas.microsoft.com/office/drawing/2014/main" id="{A6135257-67F8-477E-AB3B-A8A40B6E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5800725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-0.61095</a:t>
            </a:r>
          </a:p>
        </p:txBody>
      </p:sp>
      <p:sp>
        <p:nvSpPr>
          <p:cNvPr id="60" name="slide-6-table-4-4">
            <a:extLst xmlns:a="http://schemas.openxmlformats.org/drawingml/2006/main">
              <a:ext uri="{FF2B5EF4-FFF2-40B4-BE49-F238E27FC236}">
                <a16:creationId xmlns:a16="http://schemas.microsoft.com/office/drawing/2014/main" id="{2E801CC1-FF8D-49F3-9302-9FD67355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5800725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[28.75, 30]</a:t>
            </a:r>
          </a:p>
        </p:txBody>
      </p:sp>
      <p:sp>
        <p:nvSpPr>
          <p:cNvPr id="61" name="slide-6-takeaway">
            <a:extLst xmlns:a="http://schemas.openxmlformats.org/drawingml/2006/main">
              <a:ext uri="{FF2B5EF4-FFF2-40B4-BE49-F238E27FC236}">
                <a16:creationId xmlns:a16="http://schemas.microsoft.com/office/drawing/2014/main" id="{19EBE2F7-20BA-40AE-B784-D729E786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810625"/>
            <a:ext cx="14859000" cy="781050"/>
          </a:xfrm>
          <a:prstGeom xmlns:a="http://schemas.openxmlformats.org/drawingml/2006/main" prst="roundRect">
            <a:avLst>
              <a:gd name="adj" fmla="val 26829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62" name="slide-6-takeaway-text">
            <a:extLst xmlns:a="http://schemas.openxmlformats.org/drawingml/2006/main">
              <a:ext uri="{FF2B5EF4-FFF2-40B4-BE49-F238E27FC236}">
                <a16:creationId xmlns:a16="http://schemas.microsoft.com/office/drawing/2014/main" id="{24986AA5-090C-486D-BB98-7D3CC5D0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20175"/>
            <a:ext cx="1419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The bracket width halves; the sign change is the invariant</a:t>
            </a:r>
          </a:p>
        </p:txBody>
      </p:sp>
    </p:spTree>
    <p:extLst>
      <p:ext uri="{BB962C8B-B14F-4D97-AF65-F5344CB8AC3E}">
        <p14:creationId xmlns:p14="http://schemas.microsoft.com/office/powerpoint/2010/main" val="13427382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0E7C2BC7-FC49-4301-8B6F-886AE3D4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scaffold makes each decision visible</a:t>
            </a:r>
          </a:p>
        </p:txBody>
      </p:sp>
      <p:sp>
        <p:nvSpPr>
          <p:cNvPr id="2" name="slide-7-title-rule">
            <a:extLst xmlns:a="http://schemas.openxmlformats.org/drawingml/2006/main">
              <a:ext uri="{FF2B5EF4-FFF2-40B4-BE49-F238E27FC236}">
                <a16:creationId xmlns:a16="http://schemas.microsoft.com/office/drawing/2014/main" id="{A953CDD3-D309-488F-810C-9D1DC234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67954229-3639-400F-BA98-5D05EBF9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loop is short because the physical decision is explicit</a:t>
            </a:r>
          </a:p>
        </p:txBody>
      </p:sp>
      <p:sp>
        <p:nvSpPr>
          <p:cNvPr id="4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58009B20-D4BC-4BF6-9DB5-C1B68E93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  <p:sp>
        <p:nvSpPr>
          <p:cNvPr id="5" name="slide-7-pseudocode">
            <a:extLst xmlns:a="http://schemas.openxmlformats.org/drawingml/2006/main">
              <a:ext uri="{FF2B5EF4-FFF2-40B4-BE49-F238E27FC236}">
                <a16:creationId xmlns:a16="http://schemas.microsoft.com/office/drawing/2014/main" id="{24884565-A539-44E4-B3D0-EF8D8808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5000625" cy="5572125"/>
          </a:xfrm>
          <a:prstGeom xmlns:a="http://schemas.openxmlformats.org/drawingml/2006/main" prst="roundRect">
            <a:avLst>
              <a:gd name="adj" fmla="val 419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slide-7-pseudo-heading">
            <a:extLst xmlns:a="http://schemas.openxmlformats.org/drawingml/2006/main">
              <a:ext uri="{FF2B5EF4-FFF2-40B4-BE49-F238E27FC236}">
                <a16:creationId xmlns:a16="http://schemas.microsoft.com/office/drawing/2014/main" id="{A1E77BDF-4DDB-458B-9B7C-EC677BFF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Read the loop in plain language</a:t>
            </a:r>
          </a:p>
        </p:txBody>
      </p:sp>
      <p:sp>
        <p:nvSpPr>
          <p:cNvPr id="7" name="slide-7-pseudo-1">
            <a:extLst xmlns:a="http://schemas.openxmlformats.org/drawingml/2006/main">
              <a:ext uri="{FF2B5EF4-FFF2-40B4-BE49-F238E27FC236}">
                <a16:creationId xmlns:a16="http://schemas.microsoft.com/office/drawing/2014/main" id="{CB9D3857-52B5-482B-9962-58C9EB8B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05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8" name="slide-7-pseudo-num-1">
            <a:extLst xmlns:a="http://schemas.openxmlformats.org/drawingml/2006/main">
              <a:ext uri="{FF2B5EF4-FFF2-40B4-BE49-F238E27FC236}">
                <a16:creationId xmlns:a16="http://schemas.microsoft.com/office/drawing/2014/main" id="{32061537-8F66-4D21-A838-B15FAEC0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052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5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9" name="slide-7-pseudo-text-1">
            <a:extLst xmlns:a="http://schemas.openxmlformats.org/drawingml/2006/main">
              <a:ext uri="{FF2B5EF4-FFF2-40B4-BE49-F238E27FC236}">
                <a16:creationId xmlns:a16="http://schemas.microsoft.com/office/drawing/2014/main" id="{CE8B7125-B0C7-42BC-923C-0C6BD587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147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choose left and right</a:t>
            </a:r>
          </a:p>
        </p:txBody>
      </p:sp>
      <p:sp>
        <p:nvSpPr>
          <p:cNvPr id="10" name="slide-7-pseudo-line-1">
            <a:extLst xmlns:a="http://schemas.openxmlformats.org/drawingml/2006/main">
              <a:ext uri="{FF2B5EF4-FFF2-40B4-BE49-F238E27FC236}">
                <a16:creationId xmlns:a16="http://schemas.microsoft.com/office/drawing/2014/main" id="{D9FCF0D7-E7CE-466C-BFE4-533984CF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43350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11" name="slide-7-pseudo-2">
            <a:extLst xmlns:a="http://schemas.openxmlformats.org/drawingml/2006/main">
              <a:ext uri="{FF2B5EF4-FFF2-40B4-BE49-F238E27FC236}">
                <a16:creationId xmlns:a16="http://schemas.microsoft.com/office/drawing/2014/main" id="{581C7C46-CA55-4A9C-9593-CC76A692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48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12" name="slide-7-pseudo-num-2">
            <a:extLst xmlns:a="http://schemas.openxmlformats.org/drawingml/2006/main">
              <a:ext uri="{FF2B5EF4-FFF2-40B4-BE49-F238E27FC236}">
                <a16:creationId xmlns:a16="http://schemas.microsoft.com/office/drawing/2014/main" id="{C47BD74D-C8E9-4A68-B1CA-E6C69516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48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5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13" name="slide-7-pseudo-text-2">
            <a:extLst xmlns:a="http://schemas.openxmlformats.org/drawingml/2006/main">
              <a:ext uri="{FF2B5EF4-FFF2-40B4-BE49-F238E27FC236}">
                <a16:creationId xmlns:a16="http://schemas.microsoft.com/office/drawing/2014/main" id="{DC0BFAED-9A95-41E5-ABC6-E90969DA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576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compute midpoint</a:t>
            </a:r>
          </a:p>
        </p:txBody>
      </p:sp>
      <p:sp>
        <p:nvSpPr>
          <p:cNvPr id="14" name="slide-7-pseudo-line-2">
            <a:extLst xmlns:a="http://schemas.openxmlformats.org/drawingml/2006/main">
              <a:ext uri="{FF2B5EF4-FFF2-40B4-BE49-F238E27FC236}">
                <a16:creationId xmlns:a16="http://schemas.microsoft.com/office/drawing/2014/main" id="{DF4DA92A-6C30-4BC0-95F0-885C530F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86300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15" name="slide-7-pseudo-3">
            <a:extLst xmlns:a="http://schemas.openxmlformats.org/drawingml/2006/main">
              <a:ext uri="{FF2B5EF4-FFF2-40B4-BE49-F238E27FC236}">
                <a16:creationId xmlns:a16="http://schemas.microsoft.com/office/drawing/2014/main" id="{9D082220-9DAF-48B8-88F5-BB8F88FA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91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16" name="slide-7-pseudo-num-3">
            <a:extLst xmlns:a="http://schemas.openxmlformats.org/drawingml/2006/main">
              <a:ext uri="{FF2B5EF4-FFF2-40B4-BE49-F238E27FC236}">
                <a16:creationId xmlns:a16="http://schemas.microsoft.com/office/drawing/2014/main" id="{DFE43EBE-6982-48B4-B1E3-98BEE0CC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911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5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7" name="slide-7-pseudo-text-3">
            <a:extLst xmlns:a="http://schemas.openxmlformats.org/drawingml/2006/main">
              <a:ext uri="{FF2B5EF4-FFF2-40B4-BE49-F238E27FC236}">
                <a16:creationId xmlns:a16="http://schemas.microsoft.com/office/drawing/2014/main" id="{1375C181-1EC0-4E28-8FE3-D4FE36E3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00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evaluate residual</a:t>
            </a:r>
          </a:p>
        </p:txBody>
      </p:sp>
      <p:sp>
        <p:nvSpPr>
          <p:cNvPr id="18" name="slide-7-pseudo-line-3">
            <a:extLst xmlns:a="http://schemas.openxmlformats.org/drawingml/2006/main">
              <a:ext uri="{FF2B5EF4-FFF2-40B4-BE49-F238E27FC236}">
                <a16:creationId xmlns:a16="http://schemas.microsoft.com/office/drawing/2014/main" id="{222AD397-E087-41A0-A245-893AB5D8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29250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19" name="slide-7-pseudo-4">
            <a:extLst xmlns:a="http://schemas.openxmlformats.org/drawingml/2006/main">
              <a:ext uri="{FF2B5EF4-FFF2-40B4-BE49-F238E27FC236}">
                <a16:creationId xmlns:a16="http://schemas.microsoft.com/office/drawing/2014/main" id="{0CA1B37B-2F68-4AE6-9B85-87A4A0EF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34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solidFill>
              <a:srgbClr val="3E8E45"/>
            </a:solidFill>
            <a:prstDash val="solid"/>
          </a:ln>
        </p:spPr>
      </p:sp>
      <p:sp>
        <p:nvSpPr>
          <p:cNvPr id="20" name="slide-7-pseudo-num-4">
            <a:extLst xmlns:a="http://schemas.openxmlformats.org/drawingml/2006/main">
              <a:ext uri="{FF2B5EF4-FFF2-40B4-BE49-F238E27FC236}">
                <a16:creationId xmlns:a16="http://schemas.microsoft.com/office/drawing/2014/main" id="{AE79D39A-E3FC-4CBF-B9B6-8860B332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34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5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21" name="slide-7-pseudo-text-4">
            <a:extLst xmlns:a="http://schemas.openxmlformats.org/drawingml/2006/main">
              <a:ext uri="{FF2B5EF4-FFF2-40B4-BE49-F238E27FC236}">
                <a16:creationId xmlns:a16="http://schemas.microsoft.com/office/drawing/2014/main" id="{2EAAA0A0-00B1-4E45-B9C5-12D09642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435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if small, stop</a:t>
            </a:r>
          </a:p>
        </p:txBody>
      </p:sp>
      <p:sp>
        <p:nvSpPr>
          <p:cNvPr id="22" name="slide-7-pseudo-line-4">
            <a:extLst xmlns:a="http://schemas.openxmlformats.org/drawingml/2006/main">
              <a:ext uri="{FF2B5EF4-FFF2-40B4-BE49-F238E27FC236}">
                <a16:creationId xmlns:a16="http://schemas.microsoft.com/office/drawing/2014/main" id="{9954F750-7406-4BF2-9D33-F16F389F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72200"/>
            <a:ext cx="9525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dash"/>
          </a:ln>
        </p:spPr>
      </p:sp>
      <p:sp>
        <p:nvSpPr>
          <p:cNvPr id="23" name="slide-7-pseudo-5">
            <a:extLst xmlns:a="http://schemas.openxmlformats.org/drawingml/2006/main">
              <a:ext uri="{FF2B5EF4-FFF2-40B4-BE49-F238E27FC236}">
                <a16:creationId xmlns:a16="http://schemas.microsoft.com/office/drawing/2014/main" id="{D09828B8-FAAD-4A51-B764-96D5C82D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477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24" name="slide-7-pseudo-num-5">
            <a:extLst xmlns:a="http://schemas.openxmlformats.org/drawingml/2006/main">
              <a:ext uri="{FF2B5EF4-FFF2-40B4-BE49-F238E27FC236}">
                <a16:creationId xmlns:a16="http://schemas.microsoft.com/office/drawing/2014/main" id="{26AD0C9B-3391-460D-9801-96D94FA4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477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5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25" name="slide-7-pseudo-text-5">
            <a:extLst xmlns:a="http://schemas.openxmlformats.org/drawingml/2006/main">
              <a:ext uri="{FF2B5EF4-FFF2-40B4-BE49-F238E27FC236}">
                <a16:creationId xmlns:a16="http://schemas.microsoft.com/office/drawing/2014/main" id="{8119222A-818C-48DE-875C-FB6DB01B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4865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otherwise keep the sign change</a:t>
            </a:r>
          </a:p>
        </p:txBody>
      </p:sp>
      <p:sp>
        <p:nvSpPr>
          <p:cNvPr id="26" name="slide-7-tolerance">
            <a:extLst xmlns:a="http://schemas.openxmlformats.org/drawingml/2006/main">
              <a:ext uri="{FF2B5EF4-FFF2-40B4-BE49-F238E27FC236}">
                <a16:creationId xmlns:a16="http://schemas.microsoft.com/office/drawing/2014/main" id="{3AA8F1F2-4758-4713-8C5B-2BDC27EE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524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E8E45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1" i="0">
                <a:solidFill>
                  <a:srgbClr val="3E8E45"/>
                </a:solidFill>
                <a:latin typeface="IBM Plex Mono"/>
                <a:ea typeface="IBM Plex Mono"/>
                <a:cs typeface="IBM Plex Mono"/>
              </a:rPr>
              <a:t>tolerance_m = 1e-3 m</a:t>
            </a:r>
          </a:p>
        </p:txBody>
      </p:sp>
      <p:sp>
        <p:nvSpPr>
          <p:cNvPr id="27" name="slide-7-code-box">
            <a:extLst xmlns:a="http://schemas.openxmlformats.org/drawingml/2006/main">
              <a:ext uri="{FF2B5EF4-FFF2-40B4-BE49-F238E27FC236}">
                <a16:creationId xmlns:a16="http://schemas.microsoft.com/office/drawing/2014/main" id="{E39B407E-857D-4DEF-AA03-F40D6733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10525125" cy="5572125"/>
          </a:xfrm>
          <a:prstGeom xmlns:a="http://schemas.openxmlformats.org/drawingml/2006/main" prst="roundRect">
            <a:avLst>
              <a:gd name="adj" fmla="val 3761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28" name="slide-7-code-label">
            <a:extLst xmlns:a="http://schemas.openxmlformats.org/drawingml/2006/main">
              <a:ext uri="{FF2B5EF4-FFF2-40B4-BE49-F238E27FC236}">
                <a16:creationId xmlns:a16="http://schemas.microsoft.com/office/drawing/2014/main" id="{2342EC75-D525-4304-8A20-A3A00476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MATLAB</a:t>
            </a:r>
          </a:p>
        </p:txBody>
      </p:sp>
      <p:sp>
        <p:nvSpPr>
          <p:cNvPr id="29" name="slide-7-code">
            <a:extLst xmlns:a="http://schemas.openxmlformats.org/drawingml/2006/main">
              <a:ext uri="{FF2B5EF4-FFF2-40B4-BE49-F238E27FC236}">
                <a16:creationId xmlns:a16="http://schemas.microsoft.com/office/drawing/2014/main" id="{B5CD2C65-1BCE-4133-A610-59904066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76625"/>
            <a:ext cx="9810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mid_deg = (left_deg + right_deg)/2;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f_mid_m = (v0_mps^2/g_mps2)*sind(2*mid_deg) - target_m;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if abs(f_mid_m) &lt; tolerance_m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    break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end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f_left_m = (v0_mps^2/g_mps2)*sind(2*left_deg) - target_m;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if f_left_m*f_mid_m &lt; 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    right_deg = mid_deg;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else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    left_deg = mid_deg;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end</a:t>
            </a:r>
          </a:p>
        </p:txBody>
      </p:sp>
      <p:sp>
        <p:nvSpPr>
          <p:cNvPr id="30" name="slide-7-code-prompt">
            <a:extLst xmlns:a="http://schemas.openxmlformats.org/drawingml/2006/main">
              <a:ext uri="{FF2B5EF4-FFF2-40B4-BE49-F238E27FC236}">
                <a16:creationId xmlns:a16="http://schemas.microsoft.com/office/drawing/2014/main" id="{DEBCFE13-EAEC-42DC-A513-7B31FEE1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524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800" b="0" i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Which line protects the bracket?</a:t>
            </a:r>
          </a:p>
        </p:txBody>
      </p:sp>
    </p:spTree>
    <p:extLst>
      <p:ext uri="{BB962C8B-B14F-4D97-AF65-F5344CB8AC3E}">
        <p14:creationId xmlns:p14="http://schemas.microsoft.com/office/powerpoint/2010/main" val="13427382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EFD0D4C5-3F69-4996-9A64-9BF310F9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Stop once, then substitute back</a:t>
            </a:r>
          </a:p>
        </p:txBody>
      </p:sp>
      <p:sp>
        <p:nvSpPr>
          <p:cNvPr id="2" name="slide-8-title-rule">
            <a:extLst xmlns:a="http://schemas.openxmlformats.org/drawingml/2006/main">
              <a:ext uri="{FF2B5EF4-FFF2-40B4-BE49-F238E27FC236}">
                <a16:creationId xmlns:a16="http://schemas.microsoft.com/office/drawing/2014/main" id="{D072ADD3-42E8-4CDA-B312-F0FBA2DE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AED6EBAA-BC22-4971-92A8-B26E6D55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 numerical angle matters only if it satisfies the original condition</a:t>
            </a:r>
          </a:p>
        </p:txBody>
      </p:sp>
      <p:sp>
        <p:nvSpPr>
          <p:cNvPr id="4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C5974C0F-8397-4D94-8B60-D30500BA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  <p:sp>
        <p:nvSpPr>
          <p:cNvPr id="5" name="slide-8-stop">
            <a:extLst xmlns:a="http://schemas.openxmlformats.org/drawingml/2006/main">
              <a:ext uri="{FF2B5EF4-FFF2-40B4-BE49-F238E27FC236}">
                <a16:creationId xmlns:a16="http://schemas.microsoft.com/office/drawing/2014/main" id="{CCA6DEB8-8412-4C32-AE18-469C102F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19375"/>
            <a:ext cx="4953000" cy="5286375"/>
          </a:xfrm>
          <a:prstGeom xmlns:a="http://schemas.openxmlformats.org/drawingml/2006/main" prst="roundRect">
            <a:avLst>
              <a:gd name="adj" fmla="val 423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6" name="slide-8-stop-heading">
            <a:extLst xmlns:a="http://schemas.openxmlformats.org/drawingml/2006/main">
              <a:ext uri="{FF2B5EF4-FFF2-40B4-BE49-F238E27FC236}">
                <a16:creationId xmlns:a16="http://schemas.microsoft.com/office/drawing/2014/main" id="{C7BFE44F-0023-484D-BAE5-62160C70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003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One Core stopping rule</a:t>
            </a:r>
          </a:p>
        </p:txBody>
      </p:sp>
      <p:sp>
        <p:nvSpPr>
          <p:cNvPr id="7" name="slide-8-stop-rule">
            <a:extLst xmlns:a="http://schemas.openxmlformats.org/drawingml/2006/main">
              <a:ext uri="{FF2B5EF4-FFF2-40B4-BE49-F238E27FC236}">
                <a16:creationId xmlns:a16="http://schemas.microsoft.com/office/drawing/2014/main" id="{11D56DB4-4EC2-4117-B545-1F347A41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052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C98A16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 i="0">
                <a:solidFill>
                  <a:srgbClr val="C98A16"/>
                </a:solidFill>
                <a:latin typeface="IBM Plex Mono"/>
                <a:ea typeface="IBM Plex Mono"/>
                <a:cs typeface="IBM Plex Mono"/>
              </a:rPr>
              <a:t>abs(f_mid_m) &lt; 1e-3 m</a:t>
            </a:r>
          </a:p>
        </p:txBody>
      </p:sp>
      <p:sp>
        <p:nvSpPr>
          <p:cNvPr id="8" name="slide-8-stop-explain">
            <a:extLst xmlns:a="http://schemas.openxmlformats.org/drawingml/2006/main">
              <a:ext uri="{FF2B5EF4-FFF2-40B4-BE49-F238E27FC236}">
                <a16:creationId xmlns:a16="http://schemas.microsoft.com/office/drawing/2014/main" id="{E9DE6018-4410-4810-801D-EB8E63B5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577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residual is an error in range, so the tolerance is measured in metres.</a:t>
            </a:r>
          </a:p>
        </p:txBody>
      </p:sp>
      <p:sp>
        <p:nvSpPr>
          <p:cNvPr id="9" name="slide-8-stop-arrow">
            <a:extLst xmlns:a="http://schemas.openxmlformats.org/drawingml/2006/main">
              <a:ext uri="{FF2B5EF4-FFF2-40B4-BE49-F238E27FC236}">
                <a16:creationId xmlns:a16="http://schemas.microsoft.com/office/drawing/2014/main" id="{47117174-F3F1-456B-B9AB-1E2816F9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381750"/>
            <a:ext cx="95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8A16"/>
            </a:solidFill>
            <a:prstDash val="solid"/>
          </a:ln>
        </p:spPr>
      </p:sp>
      <p:sp>
        <p:nvSpPr>
          <p:cNvPr id="10" name="slide-8-stop-pass">
            <a:extLst xmlns:a="http://schemas.openxmlformats.org/drawingml/2006/main">
              <a:ext uri="{FF2B5EF4-FFF2-40B4-BE49-F238E27FC236}">
                <a16:creationId xmlns:a16="http://schemas.microsoft.com/office/drawing/2014/main" id="{4CCA2B9D-BEB5-40C8-AF81-5427FE1C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866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then validate the root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189a90d4a411b"/>
          <a:stretch xmlns:a="http://schemas.openxmlformats.org/drawingml/2006/main"/>
        </p:blipFill>
        <p:spPr>
          <a:xfrm xmlns:a="http://schemas.openxmlformats.org/drawingml/2006/main">
            <a:off x="7096125" y="3174582"/>
            <a:ext cx="8286750" cy="2556711"/>
          </a:xfrm>
          <a:prstGeom xmlns:a="http://schemas.openxmlformats.org/drawingml/2006/main" prst="rect">
            <a:avLst/>
          </a:prstGeom>
        </p:spPr>
      </p:pic>
      <p:sp>
        <p:nvSpPr>
          <p:cNvPr id="12" name="slide-8-validation-box">
            <a:extLst xmlns:a="http://schemas.openxmlformats.org/drawingml/2006/main">
              <a:ext uri="{FF2B5EF4-FFF2-40B4-BE49-F238E27FC236}">
                <a16:creationId xmlns:a16="http://schemas.microsoft.com/office/drawing/2014/main" id="{DC4D5B77-0159-443F-925A-897CBD49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191250"/>
            <a:ext cx="100965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3" name="slide-8-validation-title">
            <a:extLst xmlns:a="http://schemas.openxmlformats.org/drawingml/2006/main">
              <a:ext uri="{FF2B5EF4-FFF2-40B4-BE49-F238E27FC236}">
                <a16:creationId xmlns:a16="http://schemas.microsoft.com/office/drawing/2014/main" id="{5A5C69C8-E6D9-4F54-A95C-5344EFB1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477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VALIDATION</a:t>
            </a:r>
          </a:p>
        </p:txBody>
      </p:sp>
      <p:sp>
        <p:nvSpPr>
          <p:cNvPr id="14" name="slide-8-validation-values">
            <a:extLst xmlns:a="http://schemas.openxmlformats.org/drawingml/2006/main">
              <a:ext uri="{FF2B5EF4-FFF2-40B4-BE49-F238E27FC236}">
                <a16:creationId xmlns:a16="http://schemas.microsoft.com/office/drawing/2014/main" id="{5FAEDAF0-E654-467A-9A63-3351620E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7000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79256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1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theta* = 29.5679 degree    |    R(theta*) = 35.0004 m    |    f(theta*) = +4.1164e-4 m</a:t>
            </a:r>
          </a:p>
        </p:txBody>
      </p:sp>
      <p:sp>
        <p:nvSpPr>
          <p:cNvPr id="15" name="slide-8-takeaway">
            <a:extLst xmlns:a="http://schemas.openxmlformats.org/drawingml/2006/main">
              <a:ext uri="{FF2B5EF4-FFF2-40B4-BE49-F238E27FC236}">
                <a16:creationId xmlns:a16="http://schemas.microsoft.com/office/drawing/2014/main" id="{BA348C88-5DDF-490F-8860-589AA43E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810625"/>
            <a:ext cx="14859000" cy="781050"/>
          </a:xfrm>
          <a:prstGeom xmlns:a="http://schemas.openxmlformats.org/drawingml/2006/main" prst="roundRect">
            <a:avLst>
              <a:gd name="adj" fmla="val 26829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6" name="slide-8-takeaway-text">
            <a:extLst xmlns:a="http://schemas.openxmlformats.org/drawingml/2006/main">
              <a:ext uri="{FF2B5EF4-FFF2-40B4-BE49-F238E27FC236}">
                <a16:creationId xmlns:a16="http://schemas.microsoft.com/office/drawing/2014/main" id="{FFA710BB-ED8A-45CE-8CCE-99A93B4F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20175"/>
            <a:ext cx="1419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The root is useful because substitution returns the target range</a:t>
            </a:r>
          </a:p>
        </p:txBody>
      </p:sp>
    </p:spTree>
    <p:extLst>
      <p:ext uri="{BB962C8B-B14F-4D97-AF65-F5344CB8AC3E}">
        <p14:creationId xmlns:p14="http://schemas.microsoft.com/office/powerpoint/2010/main" val="11348158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226CDEF5-CDEB-408C-98F3-926EDBBB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Newton follows the local tangent</a:t>
            </a:r>
          </a:p>
        </p:txBody>
      </p:sp>
      <p:sp>
        <p:nvSpPr>
          <p:cNvPr id="2" name="slide-9-title-rule">
            <a:extLst xmlns:a="http://schemas.openxmlformats.org/drawingml/2006/main">
              <a:ext uri="{FF2B5EF4-FFF2-40B4-BE49-F238E27FC236}">
                <a16:creationId xmlns:a16="http://schemas.microsoft.com/office/drawing/2014/main" id="{65A6C2E3-1191-438F-A6FB-60376FE1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9-subtitle">
            <a:extLst xmlns:a="http://schemas.openxmlformats.org/drawingml/2006/main">
              <a:ext uri="{FF2B5EF4-FFF2-40B4-BE49-F238E27FC236}">
                <a16:creationId xmlns:a16="http://schemas.microsoft.com/office/drawing/2014/main" id="{514EE4D5-566E-4AD1-8617-77B9FAFA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One estimate plus a local slope gives the next angle</a:t>
            </a:r>
          </a:p>
        </p:txBody>
      </p:sp>
      <p:sp>
        <p:nvSpPr>
          <p:cNvPr id="4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969C9B68-AE8E-4F6D-9E3B-D5AD11CB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  <p:sp>
        <p:nvSpPr>
          <p:cNvPr id="5" name="slide-9-curve-area">
            <a:extLst xmlns:a="http://schemas.openxmlformats.org/drawingml/2006/main">
              <a:ext uri="{FF2B5EF4-FFF2-40B4-BE49-F238E27FC236}">
                <a16:creationId xmlns:a16="http://schemas.microsoft.com/office/drawing/2014/main" id="{004884D9-47D4-45EB-BFE5-50E1021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8334375" cy="5667375"/>
          </a:xfrm>
          <a:prstGeom xmlns:a="http://schemas.openxmlformats.org/drawingml/2006/main" prst="roundRect">
            <a:avLst>
              <a:gd name="adj" fmla="val 3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6" name="slide-9-curve-heading">
            <a:extLst xmlns:a="http://schemas.openxmlformats.org/drawingml/2006/main">
              <a:ext uri="{FF2B5EF4-FFF2-40B4-BE49-F238E27FC236}">
                <a16:creationId xmlns:a16="http://schemas.microsoft.com/office/drawing/2014/main" id="{93E7CC77-8D20-47E4-82D3-C1DD906F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tangent predicts the next angle</a:t>
            </a:r>
          </a:p>
        </p:txBody>
      </p:sp>
      <p:sp>
        <p:nvSpPr>
          <p:cNvPr id="7" name="slide-9-axis-x">
            <a:extLst xmlns:a="http://schemas.openxmlformats.org/drawingml/2006/main">
              <a:ext uri="{FF2B5EF4-FFF2-40B4-BE49-F238E27FC236}">
                <a16:creationId xmlns:a16="http://schemas.microsoft.com/office/drawing/2014/main" id="{D467155A-C4B5-4F6B-8156-3FCBD18A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86500"/>
            <a:ext cx="628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F4B57"/>
            </a:solidFill>
            <a:prstDash val="solid"/>
          </a:ln>
        </p:spPr>
      </p:sp>
      <p:sp>
        <p:nvSpPr>
          <p:cNvPr id="8" name="slide-9-axis-y">
            <a:extLst xmlns:a="http://schemas.openxmlformats.org/drawingml/2006/main">
              <a:ext uri="{FF2B5EF4-FFF2-40B4-BE49-F238E27FC236}">
                <a16:creationId xmlns:a16="http://schemas.microsoft.com/office/drawing/2014/main" id="{FA0837FC-0865-4420-A964-3399FAA2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9525" cy="2571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F4B57"/>
            </a:solidFill>
            <a:prstDash val="solid"/>
          </a:ln>
        </p:spPr>
      </p:sp>
      <p:sp>
        <p:nvSpPr>
          <p:cNvPr id="9" name="slide-9-axis-x-label">
            <a:extLst xmlns:a="http://schemas.openxmlformats.org/drawingml/2006/main">
              <a:ext uri="{FF2B5EF4-FFF2-40B4-BE49-F238E27FC236}">
                <a16:creationId xmlns:a16="http://schemas.microsoft.com/office/drawing/2014/main" id="{36DB1C30-BCCC-43F6-89CA-C5C179C4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7124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theta (degree)</a:t>
            </a:r>
          </a:p>
        </p:txBody>
      </p:sp>
      <p:sp>
        <p:nvSpPr>
          <p:cNvPr id="10" name="slide-9-axis-y-label">
            <a:extLst xmlns:a="http://schemas.openxmlformats.org/drawingml/2006/main">
              <a:ext uri="{FF2B5EF4-FFF2-40B4-BE49-F238E27FC236}">
                <a16:creationId xmlns:a16="http://schemas.microsoft.com/office/drawing/2014/main" id="{2F0986FC-465B-4E74-98C0-DA954D39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76750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f(theta) (m)</a:t>
            </a:r>
          </a:p>
        </p:txBody>
      </p:sp>
      <p:sp>
        <p:nvSpPr>
          <p:cNvPr id="11" name="slide-9-zero-line">
            <a:extLst xmlns:a="http://schemas.openxmlformats.org/drawingml/2006/main">
              <a:ext uri="{FF2B5EF4-FFF2-40B4-BE49-F238E27FC236}">
                <a16:creationId xmlns:a16="http://schemas.microsoft.com/office/drawing/2014/main" id="{446EB0B8-C048-4B8E-8CBA-FC54DEBB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86500"/>
            <a:ext cx="628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E8E45"/>
            </a:solidFill>
            <a:prstDash val="dash"/>
          </a:ln>
        </p:spPr>
      </p:sp>
      <p:sp>
        <p:nvSpPr>
          <p:cNvPr id="12" name="slide-9-zero-label">
            <a:extLst xmlns:a="http://schemas.openxmlformats.org/drawingml/2006/main">
              <a:ext uri="{FF2B5EF4-FFF2-40B4-BE49-F238E27FC236}">
                <a16:creationId xmlns:a16="http://schemas.microsoft.com/office/drawing/2014/main" id="{6FF482A8-0791-4D75-BA79-AAD73CA3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019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f(theta) = 0</a:t>
            </a:r>
          </a:p>
        </p:txBody>
      </p:sp>
      <p:sp>
        <p:nvSpPr>
          <p:cNvPr id="13" name="slide-9-curve-1">
            <a:extLst xmlns:a="http://schemas.openxmlformats.org/drawingml/2006/main">
              <a:ext uri="{FF2B5EF4-FFF2-40B4-BE49-F238E27FC236}">
                <a16:creationId xmlns:a16="http://schemas.microsoft.com/office/drawing/2014/main" id="{7E4D5077-2588-4431-A650-D1715DDA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23994"/>
            <a:ext cx="510886" cy="1851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4" name="slide-9-curve-2">
            <a:extLst xmlns:a="http://schemas.openxmlformats.org/drawingml/2006/main">
              <a:ext uri="{FF2B5EF4-FFF2-40B4-BE49-F238E27FC236}">
                <a16:creationId xmlns:a16="http://schemas.microsoft.com/office/drawing/2014/main" id="{71B7A10D-F097-49BD-BC39-D8C340F6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36" y="4709160"/>
            <a:ext cx="510886" cy="1748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5" name="slide-9-curve-3">
            <a:extLst xmlns:a="http://schemas.openxmlformats.org/drawingml/2006/main">
              <a:ext uri="{FF2B5EF4-FFF2-40B4-BE49-F238E27FC236}">
                <a16:creationId xmlns:a16="http://schemas.microsoft.com/office/drawing/2014/main" id="{B5436BC0-4368-4F17-84C2-D0E76382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23" y="4884039"/>
            <a:ext cx="510886" cy="1748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6" name="slide-9-curve-4">
            <a:extLst xmlns:a="http://schemas.openxmlformats.org/drawingml/2006/main">
              <a:ext uri="{FF2B5EF4-FFF2-40B4-BE49-F238E27FC236}">
                <a16:creationId xmlns:a16="http://schemas.microsoft.com/office/drawing/2014/main" id="{54E1CAB8-AD95-4752-B101-59DE95BD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409" y="5058918"/>
            <a:ext cx="510886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7" name="slide-9-curve-5">
            <a:extLst xmlns:a="http://schemas.openxmlformats.org/drawingml/2006/main">
              <a:ext uri="{FF2B5EF4-FFF2-40B4-BE49-F238E27FC236}">
                <a16:creationId xmlns:a16="http://schemas.microsoft.com/office/drawing/2014/main" id="{CD08D83D-2DDA-45C1-AF47-D25B9052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295" y="5223510"/>
            <a:ext cx="510886" cy="123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8" name="slide-9-curve-6">
            <a:extLst xmlns:a="http://schemas.openxmlformats.org/drawingml/2006/main">
              <a:ext uri="{FF2B5EF4-FFF2-40B4-BE49-F238E27FC236}">
                <a16:creationId xmlns:a16="http://schemas.microsoft.com/office/drawing/2014/main" id="{F4770EB2-6F7E-4252-8904-664D97D5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182" y="5346954"/>
            <a:ext cx="510886" cy="1028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19" name="slide-9-curve-7">
            <a:extLst xmlns:a="http://schemas.openxmlformats.org/drawingml/2006/main">
              <a:ext uri="{FF2B5EF4-FFF2-40B4-BE49-F238E27FC236}">
                <a16:creationId xmlns:a16="http://schemas.microsoft.com/office/drawing/2014/main" id="{E6F9D77A-7642-48B4-A1C0-945436BE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068" y="5449824"/>
            <a:ext cx="510886" cy="92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20" name="slide-9-curve-8">
            <a:extLst xmlns:a="http://schemas.openxmlformats.org/drawingml/2006/main">
              <a:ext uri="{FF2B5EF4-FFF2-40B4-BE49-F238E27FC236}">
                <a16:creationId xmlns:a16="http://schemas.microsoft.com/office/drawing/2014/main" id="{9FD5C8B2-A386-44C4-B172-AE60C9A0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7955" y="5542407"/>
            <a:ext cx="510886" cy="822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21" name="slide-9-curve-9">
            <a:extLst xmlns:a="http://schemas.openxmlformats.org/drawingml/2006/main">
              <a:ext uri="{FF2B5EF4-FFF2-40B4-BE49-F238E27FC236}">
                <a16:creationId xmlns:a16="http://schemas.microsoft.com/office/drawing/2014/main" id="{04AA590B-38A1-4782-ADB5-58DAD2C7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841" y="5624703"/>
            <a:ext cx="510886" cy="51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22" name="slide-9-curve-10">
            <a:extLst xmlns:a="http://schemas.openxmlformats.org/drawingml/2006/main">
              <a:ext uri="{FF2B5EF4-FFF2-40B4-BE49-F238E27FC236}">
                <a16:creationId xmlns:a16="http://schemas.microsoft.com/office/drawing/2014/main" id="{121E7867-19A5-47A9-938C-6D62EAF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727" y="5676138"/>
            <a:ext cx="510886" cy="411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23" name="slide-9-curve-11">
            <a:extLst xmlns:a="http://schemas.openxmlformats.org/drawingml/2006/main">
              <a:ext uri="{FF2B5EF4-FFF2-40B4-BE49-F238E27FC236}">
                <a16:creationId xmlns:a16="http://schemas.microsoft.com/office/drawing/2014/main" id="{0933C4DC-0CA3-4D71-824C-32BD3FF9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614" y="5717286"/>
            <a:ext cx="510886" cy="102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DB2"/>
            </a:solidFill>
            <a:prstDash val="solid"/>
          </a:ln>
        </p:spPr>
      </p:sp>
      <p:sp>
        <p:nvSpPr>
          <p:cNvPr id="24" name="slide-9-tangent">
            <a:extLst xmlns:a="http://schemas.openxmlformats.org/drawingml/2006/main">
              <a:ext uri="{FF2B5EF4-FFF2-40B4-BE49-F238E27FC236}">
                <a16:creationId xmlns:a16="http://schemas.microsoft.com/office/drawing/2014/main" id="{B360A97E-8DF1-4E90-9232-238CAB44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585" y="6204204"/>
            <a:ext cx="3286125" cy="25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8A16"/>
            </a:solidFill>
            <a:prstDash val="dash"/>
          </a:ln>
        </p:spPr>
      </p:sp>
      <p:sp>
        <p:nvSpPr>
          <p:cNvPr id="25" name="slide-9-current-point">
            <a:extLst xmlns:a="http://schemas.openxmlformats.org/drawingml/2006/main">
              <a:ext uri="{FF2B5EF4-FFF2-40B4-BE49-F238E27FC236}">
                <a16:creationId xmlns:a16="http://schemas.microsoft.com/office/drawing/2014/main" id="{3DFB6629-95A5-45DC-8C83-7AFA2FE7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5223129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26" name="slide-9-next-point">
            <a:extLst xmlns:a="http://schemas.openxmlformats.org/drawingml/2006/main">
              <a:ext uri="{FF2B5EF4-FFF2-40B4-BE49-F238E27FC236}">
                <a16:creationId xmlns:a16="http://schemas.microsoft.com/office/drawing/2014/main" id="{D8AE6490-C96E-4D96-B7C2-26ED7E0D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4052" y="6153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27" name="slide-9-current-guide">
            <a:extLst xmlns:a="http://schemas.openxmlformats.org/drawingml/2006/main">
              <a:ext uri="{FF2B5EF4-FFF2-40B4-BE49-F238E27FC236}">
                <a16:creationId xmlns:a16="http://schemas.microsoft.com/office/drawing/2014/main" id="{821EDDBF-1D52-423D-899F-F5FED610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835" y="5346954"/>
            <a:ext cx="9525" cy="9395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DB2"/>
            </a:solidFill>
            <a:prstDash val="dash"/>
          </a:ln>
        </p:spPr>
      </p:sp>
      <p:sp>
        <p:nvSpPr>
          <p:cNvPr id="28" name="slide-9-next-guide">
            <a:extLst xmlns:a="http://schemas.openxmlformats.org/drawingml/2006/main">
              <a:ext uri="{FF2B5EF4-FFF2-40B4-BE49-F238E27FC236}">
                <a16:creationId xmlns:a16="http://schemas.microsoft.com/office/drawing/2014/main" id="{C1CB1E89-8901-4E09-92DA-83E81838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7402" y="6286500"/>
            <a:ext cx="95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29" name="slide-9-current-label">
            <a:extLst xmlns:a="http://schemas.openxmlformats.org/drawingml/2006/main">
              <a:ext uri="{FF2B5EF4-FFF2-40B4-BE49-F238E27FC236}">
                <a16:creationId xmlns:a16="http://schemas.microsoft.com/office/drawing/2014/main" id="{3F378BCE-F1D7-406B-9315-865AF9AF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4537329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current angle</a:t>
            </a:r>
          </a:p>
          <a:p xmlns:a="http://schemas.openxmlformats.org/drawingml/2006/main">
            <a:pPr algn="ctr">
              <a:defRPr sz="16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25 degree</a:t>
            </a:r>
          </a:p>
        </p:txBody>
      </p:sp>
      <p:sp>
        <p:nvSpPr>
          <p:cNvPr id="30" name="slide-9-next-label">
            <a:extLst xmlns:a="http://schemas.openxmlformats.org/drawingml/2006/main">
              <a:ext uri="{FF2B5EF4-FFF2-40B4-BE49-F238E27FC236}">
                <a16:creationId xmlns:a16="http://schemas.microsoft.com/office/drawing/2014/main" id="{A3C498C6-90AC-43A5-800A-6412AE43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902" y="6619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next estimate</a:t>
            </a:r>
          </a:p>
          <a:p xmlns:a="http://schemas.openxmlformats.org/drawingml/2006/main">
            <a:pPr algn="ctr">
              <a:defRPr sz="165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29.115 degree</a:t>
            </a:r>
          </a:p>
        </p:txBody>
      </p:sp>
      <p:sp>
        <p:nvSpPr>
          <p:cNvPr id="31" name="slide-9-slope-label">
            <a:extLst xmlns:a="http://schemas.openxmlformats.org/drawingml/2006/main">
              <a:ext uri="{FF2B5EF4-FFF2-40B4-BE49-F238E27FC236}">
                <a16:creationId xmlns:a16="http://schemas.microsoft.com/office/drawing/2014/main" id="{D4FB2184-F36F-4D93-8A64-C586F8AD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085" y="5489829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local slope</a:t>
            </a:r>
          </a:p>
        </p:txBody>
      </p:sp>
      <p:sp>
        <p:nvSpPr>
          <p:cNvPr id="32" name="slide-9-equation-box">
            <a:extLst xmlns:a="http://schemas.openxmlformats.org/drawingml/2006/main">
              <a:ext uri="{FF2B5EF4-FFF2-40B4-BE49-F238E27FC236}">
                <a16:creationId xmlns:a16="http://schemas.microsoft.com/office/drawing/2014/main" id="{3B595FB1-2DD9-4684-A723-A22555B7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14625"/>
            <a:ext cx="7096125" cy="4048125"/>
          </a:xfrm>
          <a:prstGeom xmlns:a="http://schemas.openxmlformats.org/drawingml/2006/main" prst="roundRect">
            <a:avLst>
              <a:gd name="adj" fmla="val 517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fade2c94c460c"/>
          <a:stretch xmlns:a="http://schemas.openxmlformats.org/drawingml/2006/main"/>
        </p:blipFill>
        <p:spPr>
          <a:xfrm xmlns:a="http://schemas.openxmlformats.org/drawingml/2006/main">
            <a:off x="10477500" y="3592180"/>
            <a:ext cx="6334125" cy="1816765"/>
          </a:xfrm>
          <a:prstGeom xmlns:a="http://schemas.openxmlformats.org/drawingml/2006/main" prst="rect">
            <a:avLst/>
          </a:prstGeom>
        </p:spPr>
      </p:pic>
      <p:sp>
        <p:nvSpPr>
          <p:cNvPr id="34" name="slide-9-unit-callout">
            <a:extLst xmlns:a="http://schemas.openxmlformats.org/drawingml/2006/main">
              <a:ext uri="{FF2B5EF4-FFF2-40B4-BE49-F238E27FC236}">
                <a16:creationId xmlns:a16="http://schemas.microsoft.com/office/drawing/2014/main" id="{EFAD189F-286E-47C6-B4C0-F3B5EDBB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007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slope unit = metres per degree</a:t>
            </a:r>
          </a:p>
        </p:txBody>
      </p:sp>
      <p:sp>
        <p:nvSpPr>
          <p:cNvPr id="35" name="slide-9-prompt-box">
            <a:extLst xmlns:a="http://schemas.openxmlformats.org/drawingml/2006/main">
              <a:ext uri="{FF2B5EF4-FFF2-40B4-BE49-F238E27FC236}">
                <a16:creationId xmlns:a16="http://schemas.microsoft.com/office/drawing/2014/main" id="{FE2EFFD5-A410-4AE6-9D2C-8C6FC0D8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143750"/>
            <a:ext cx="7096125" cy="1095375"/>
          </a:xfrm>
          <a:prstGeom xmlns:a="http://schemas.openxmlformats.org/drawingml/2006/main" prst="roundRect">
            <a:avLst>
              <a:gd name="adj" fmla="val 1913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36" name="slide-9-prompt">
            <a:extLst xmlns:a="http://schemas.openxmlformats.org/drawingml/2006/main">
              <a:ext uri="{FF2B5EF4-FFF2-40B4-BE49-F238E27FC236}">
                <a16:creationId xmlns:a16="http://schemas.microsoft.com/office/drawing/2014/main" id="{869B7E63-A12C-457A-8A56-F47BFFCB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477125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What does the slope measure?</a:t>
            </a:r>
          </a:p>
        </p:txBody>
      </p:sp>
    </p:spTree>
    <p:extLst>
      <p:ext uri="{BB962C8B-B14F-4D97-AF65-F5344CB8AC3E}">
        <p14:creationId xmlns:p14="http://schemas.microsoft.com/office/powerpoint/2010/main" val="14088702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9FD32A40-DA1C-403A-8B66-2083D454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Newton can jump close to the root</a:t>
            </a:r>
          </a:p>
        </p:txBody>
      </p:sp>
      <p:sp>
        <p:nvSpPr>
          <p:cNvPr id="2" name="slide-10-title-rule">
            <a:extLst xmlns:a="http://schemas.openxmlformats.org/drawingml/2006/main">
              <a:ext uri="{FF2B5EF4-FFF2-40B4-BE49-F238E27FC236}">
                <a16:creationId xmlns:a16="http://schemas.microsoft.com/office/drawing/2014/main" id="{5777A530-5E8F-4533-8696-5A33FA32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10-subtitle">
            <a:extLst xmlns:a="http://schemas.openxmlformats.org/drawingml/2006/main">
              <a:ext uri="{FF2B5EF4-FFF2-40B4-BE49-F238E27FC236}">
                <a16:creationId xmlns:a16="http://schemas.microsoft.com/office/drawing/2014/main" id="{C436FCE1-A56A-4F92-8CC3-6063E2F0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Four evaluations move from 25 degree to a validated root</a:t>
            </a:r>
          </a:p>
        </p:txBody>
      </p:sp>
      <p:sp>
        <p:nvSpPr>
          <p:cNvPr id="4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AE10B32B-2FD9-4AC6-B558-FC28BF5A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  <p:sp>
        <p:nvSpPr>
          <p:cNvPr id="5" name="slide-10-table-heading">
            <a:extLst xmlns:a="http://schemas.openxmlformats.org/drawingml/2006/main">
              <a:ext uri="{FF2B5EF4-FFF2-40B4-BE49-F238E27FC236}">
                <a16:creationId xmlns:a16="http://schemas.microsoft.com/office/drawing/2014/main" id="{2BDA9B36-749D-4097-A93E-8A3196A9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Trace the current estimate, residual, slope, and next estimate</a:t>
            </a:r>
          </a:p>
        </p:txBody>
      </p:sp>
      <p:sp>
        <p:nvSpPr>
          <p:cNvPr id="6" name="slide-10-table-bg">
            <a:extLst xmlns:a="http://schemas.openxmlformats.org/drawingml/2006/main">
              <a:ext uri="{FF2B5EF4-FFF2-40B4-BE49-F238E27FC236}">
                <a16:creationId xmlns:a16="http://schemas.microsoft.com/office/drawing/2014/main" id="{9C4C42F8-79E9-418E-8D2B-010A56B8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12096750" cy="3962400"/>
          </a:xfrm>
          <a:prstGeom xmlns:a="http://schemas.openxmlformats.org/drawingml/2006/main" prst="roundRect">
            <a:avLst>
              <a:gd name="adj" fmla="val 52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7" name="slide-10-table-v-0">
            <a:extLst xmlns:a="http://schemas.openxmlformats.org/drawingml/2006/main">
              <a:ext uri="{FF2B5EF4-FFF2-40B4-BE49-F238E27FC236}">
                <a16:creationId xmlns:a16="http://schemas.microsoft.com/office/drawing/2014/main" id="{7DD5BA90-C3B4-440F-8CBD-1DFADD13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38500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8" name="slide-10-table-v-1">
            <a:extLst xmlns:a="http://schemas.openxmlformats.org/drawingml/2006/main">
              <a:ext uri="{FF2B5EF4-FFF2-40B4-BE49-F238E27FC236}">
                <a16:creationId xmlns:a16="http://schemas.microsoft.com/office/drawing/2014/main" id="{F21E280C-304D-4685-B1FB-AD3DF751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9" name="slide-10-table-v-2">
            <a:extLst xmlns:a="http://schemas.openxmlformats.org/drawingml/2006/main">
              <a:ext uri="{FF2B5EF4-FFF2-40B4-BE49-F238E27FC236}">
                <a16:creationId xmlns:a16="http://schemas.microsoft.com/office/drawing/2014/main" id="{D991C1EF-BE9F-48A6-A522-9F766BE7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10" name="slide-10-table-v-3">
            <a:extLst xmlns:a="http://schemas.openxmlformats.org/drawingml/2006/main">
              <a:ext uri="{FF2B5EF4-FFF2-40B4-BE49-F238E27FC236}">
                <a16:creationId xmlns:a16="http://schemas.microsoft.com/office/drawing/2014/main" id="{B214A7D1-1D3E-43E0-B904-008C6FEB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38500"/>
            <a:ext cx="9525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4BE"/>
            </a:solidFill>
            <a:prstDash val="solid"/>
          </a:ln>
        </p:spPr>
      </p:sp>
      <p:sp>
        <p:nvSpPr>
          <p:cNvPr id="11" name="slide-10-table-header-rule">
            <a:extLst xmlns:a="http://schemas.openxmlformats.org/drawingml/2006/main">
              <a:ext uri="{FF2B5EF4-FFF2-40B4-BE49-F238E27FC236}">
                <a16:creationId xmlns:a16="http://schemas.microsoft.com/office/drawing/2014/main" id="{32912B5A-E67C-43ED-989F-EA7EADC0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24300"/>
            <a:ext cx="1209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12" name="slide-10-table-h-1">
            <a:extLst xmlns:a="http://schemas.openxmlformats.org/drawingml/2006/main">
              <a:ext uri="{FF2B5EF4-FFF2-40B4-BE49-F238E27FC236}">
                <a16:creationId xmlns:a16="http://schemas.microsoft.com/office/drawing/2014/main" id="{4CB5FC6D-D986-42E1-BD2B-A46CE5B8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43450"/>
            <a:ext cx="1209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C"/>
            </a:solidFill>
            <a:prstDash val="solid"/>
          </a:ln>
        </p:spPr>
      </p:sp>
      <p:sp>
        <p:nvSpPr>
          <p:cNvPr id="13" name="slide-10-table-h-2">
            <a:extLst xmlns:a="http://schemas.openxmlformats.org/drawingml/2006/main">
              <a:ext uri="{FF2B5EF4-FFF2-40B4-BE49-F238E27FC236}">
                <a16:creationId xmlns:a16="http://schemas.microsoft.com/office/drawing/2014/main" id="{97BBC2E7-D284-4070-9FC7-30355029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62600"/>
            <a:ext cx="1209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C"/>
            </a:solidFill>
            <a:prstDash val="solid"/>
          </a:ln>
        </p:spPr>
      </p:sp>
      <p:sp>
        <p:nvSpPr>
          <p:cNvPr id="14" name="slide-10-table-h-3">
            <a:extLst xmlns:a="http://schemas.openxmlformats.org/drawingml/2006/main">
              <a:ext uri="{FF2B5EF4-FFF2-40B4-BE49-F238E27FC236}">
                <a16:creationId xmlns:a16="http://schemas.microsoft.com/office/drawing/2014/main" id="{A82E7440-736D-4B98-801B-B7F1C7C6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381750"/>
            <a:ext cx="1209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EC"/>
            </a:solidFill>
            <a:prstDash val="solid"/>
          </a:ln>
        </p:spPr>
      </p:sp>
      <p:sp>
        <p:nvSpPr>
          <p:cNvPr id="15" name="slide-10-table-0-0">
            <a:extLst xmlns:a="http://schemas.openxmlformats.org/drawingml/2006/main">
              <a:ext uri="{FF2B5EF4-FFF2-40B4-BE49-F238E27FC236}">
                <a16:creationId xmlns:a16="http://schemas.microsoft.com/office/drawing/2014/main" id="{C0B11EDF-FBC2-4011-8F34-56E32247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7185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eval</a:t>
            </a:r>
          </a:p>
        </p:txBody>
      </p:sp>
      <p:sp>
        <p:nvSpPr>
          <p:cNvPr id="16" name="slide-10-table-0-1">
            <a:extLst xmlns:a="http://schemas.openxmlformats.org/drawingml/2006/main">
              <a:ext uri="{FF2B5EF4-FFF2-40B4-BE49-F238E27FC236}">
                <a16:creationId xmlns:a16="http://schemas.microsoft.com/office/drawing/2014/main" id="{39B00ABE-6D2F-4FC2-9644-E90041CF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3718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theta (degree)</a:t>
            </a:r>
          </a:p>
        </p:txBody>
      </p:sp>
      <p:sp>
        <p:nvSpPr>
          <p:cNvPr id="17" name="slide-10-table-0-2">
            <a:extLst xmlns:a="http://schemas.openxmlformats.org/drawingml/2006/main">
              <a:ext uri="{FF2B5EF4-FFF2-40B4-BE49-F238E27FC236}">
                <a16:creationId xmlns:a16="http://schemas.microsoft.com/office/drawing/2014/main" id="{D29D52CD-422A-428E-9B49-B9AFD4C2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71850"/>
            <a:ext cx="2562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f(theta) (m)</a:t>
            </a:r>
          </a:p>
        </p:txBody>
      </p:sp>
      <p:sp>
        <p:nvSpPr>
          <p:cNvPr id="18" name="slide-10-table-0-3">
            <a:extLst xmlns:a="http://schemas.openxmlformats.org/drawingml/2006/main">
              <a:ext uri="{FF2B5EF4-FFF2-40B4-BE49-F238E27FC236}">
                <a16:creationId xmlns:a16="http://schemas.microsoft.com/office/drawing/2014/main" id="{E074DDCC-5CDA-4CC6-AB40-3668530D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2657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slope (m/degree)</a:t>
            </a:r>
          </a:p>
        </p:txBody>
      </p:sp>
      <p:sp>
        <p:nvSpPr>
          <p:cNvPr id="19" name="slide-10-table-0-4">
            <a:extLst xmlns:a="http://schemas.openxmlformats.org/drawingml/2006/main">
              <a:ext uri="{FF2B5EF4-FFF2-40B4-BE49-F238E27FC236}">
                <a16:creationId xmlns:a16="http://schemas.microsoft.com/office/drawing/2014/main" id="{BD5AC2EE-A76A-4EC4-BC98-02958CEF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7185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next theta (degree)</a:t>
            </a:r>
          </a:p>
        </p:txBody>
      </p:sp>
      <p:sp>
        <p:nvSpPr>
          <p:cNvPr id="20" name="slide-10-table-1-0">
            <a:extLst xmlns:a="http://schemas.openxmlformats.org/drawingml/2006/main">
              <a:ext uri="{FF2B5EF4-FFF2-40B4-BE49-F238E27FC236}">
                <a16:creationId xmlns:a16="http://schemas.microsoft.com/office/drawing/2014/main" id="{F26E8F7F-B755-4A66-A0A4-C6D04FC8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5765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21" name="slide-10-table-1-1">
            <a:extLst xmlns:a="http://schemas.openxmlformats.org/drawingml/2006/main">
              <a:ext uri="{FF2B5EF4-FFF2-40B4-BE49-F238E27FC236}">
                <a16:creationId xmlns:a16="http://schemas.microsoft.com/office/drawing/2014/main" id="{8143576E-049F-49E8-AB31-228A01E7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0576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25.000</a:t>
            </a:r>
          </a:p>
        </p:txBody>
      </p:sp>
      <p:sp>
        <p:nvSpPr>
          <p:cNvPr id="22" name="slide-10-table-1-2">
            <a:extLst xmlns:a="http://schemas.openxmlformats.org/drawingml/2006/main">
              <a:ext uri="{FF2B5EF4-FFF2-40B4-BE49-F238E27FC236}">
                <a16:creationId xmlns:a16="http://schemas.microsoft.com/office/drawing/2014/main" id="{79FA5722-5455-4694-9C56-7044E223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57650"/>
            <a:ext cx="2562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-3.7648</a:t>
            </a:r>
          </a:p>
        </p:txBody>
      </p:sp>
      <p:sp>
        <p:nvSpPr>
          <p:cNvPr id="23" name="slide-10-table-1-3">
            <a:extLst xmlns:a="http://schemas.openxmlformats.org/drawingml/2006/main">
              <a:ext uri="{FF2B5EF4-FFF2-40B4-BE49-F238E27FC236}">
                <a16:creationId xmlns:a16="http://schemas.microsoft.com/office/drawing/2014/main" id="{D7E9CEC3-E1F7-4AF3-AB3D-B0B6B1B3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57650"/>
            <a:ext cx="2657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0.91488</a:t>
            </a:r>
          </a:p>
        </p:txBody>
      </p:sp>
      <p:sp>
        <p:nvSpPr>
          <p:cNvPr id="24" name="slide-10-table-1-4">
            <a:extLst xmlns:a="http://schemas.openxmlformats.org/drawingml/2006/main">
              <a:ext uri="{FF2B5EF4-FFF2-40B4-BE49-F238E27FC236}">
                <a16:creationId xmlns:a16="http://schemas.microsoft.com/office/drawing/2014/main" id="{2BCB7B7E-D4B8-4AF8-B673-C9AB3547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576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29.115</a:t>
            </a:r>
          </a:p>
        </p:txBody>
      </p:sp>
      <p:sp>
        <p:nvSpPr>
          <p:cNvPr id="25" name="slide-10-table-2-0">
            <a:extLst xmlns:a="http://schemas.openxmlformats.org/drawingml/2006/main">
              <a:ext uri="{FF2B5EF4-FFF2-40B4-BE49-F238E27FC236}">
                <a16:creationId xmlns:a16="http://schemas.microsoft.com/office/drawing/2014/main" id="{4474D49B-C906-46DC-BF23-C0E48085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7680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26" name="slide-10-table-2-1">
            <a:extLst xmlns:a="http://schemas.openxmlformats.org/drawingml/2006/main">
              <a:ext uri="{FF2B5EF4-FFF2-40B4-BE49-F238E27FC236}">
                <a16:creationId xmlns:a16="http://schemas.microsoft.com/office/drawing/2014/main" id="{A6FEBA8D-F218-4D79-B8C8-E12EA71A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8768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29.115</a:t>
            </a:r>
          </a:p>
        </p:txBody>
      </p:sp>
      <p:sp>
        <p:nvSpPr>
          <p:cNvPr id="27" name="slide-10-table-2-2">
            <a:extLst xmlns:a="http://schemas.openxmlformats.org/drawingml/2006/main">
              <a:ext uri="{FF2B5EF4-FFF2-40B4-BE49-F238E27FC236}">
                <a16:creationId xmlns:a16="http://schemas.microsoft.com/office/drawing/2014/main" id="{E4D24256-B3A3-4808-9E64-0170EE12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76800"/>
            <a:ext cx="2562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-0.33461</a:t>
            </a:r>
          </a:p>
        </p:txBody>
      </p:sp>
      <p:sp>
        <p:nvSpPr>
          <p:cNvPr id="28" name="slide-10-table-2-3">
            <a:extLst xmlns:a="http://schemas.openxmlformats.org/drawingml/2006/main">
              <a:ext uri="{FF2B5EF4-FFF2-40B4-BE49-F238E27FC236}">
                <a16:creationId xmlns:a16="http://schemas.microsoft.com/office/drawing/2014/main" id="{0C4942E4-A4A5-4305-993E-BC67D96F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2657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0.74939</a:t>
            </a:r>
          </a:p>
        </p:txBody>
      </p:sp>
      <p:sp>
        <p:nvSpPr>
          <p:cNvPr id="29" name="slide-10-table-2-4">
            <a:extLst xmlns:a="http://schemas.openxmlformats.org/drawingml/2006/main">
              <a:ext uri="{FF2B5EF4-FFF2-40B4-BE49-F238E27FC236}">
                <a16:creationId xmlns:a16="http://schemas.microsoft.com/office/drawing/2014/main" id="{3255B111-ED14-492F-BFC9-17CA43EC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768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29.562</a:t>
            </a:r>
          </a:p>
        </p:txBody>
      </p:sp>
      <p:sp>
        <p:nvSpPr>
          <p:cNvPr id="30" name="slide-10-table-3-0">
            <a:extLst xmlns:a="http://schemas.openxmlformats.org/drawingml/2006/main">
              <a:ext uri="{FF2B5EF4-FFF2-40B4-BE49-F238E27FC236}">
                <a16:creationId xmlns:a16="http://schemas.microsoft.com/office/drawing/2014/main" id="{C4F3B404-3BCF-404B-9684-960659CC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69595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31" name="slide-10-table-3-1">
            <a:extLst xmlns:a="http://schemas.openxmlformats.org/drawingml/2006/main">
              <a:ext uri="{FF2B5EF4-FFF2-40B4-BE49-F238E27FC236}">
                <a16:creationId xmlns:a16="http://schemas.microsoft.com/office/drawing/2014/main" id="{2868C86B-FC79-4BB2-9E11-6DD7F4B7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6959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29.562</a:t>
            </a:r>
          </a:p>
        </p:txBody>
      </p:sp>
      <p:sp>
        <p:nvSpPr>
          <p:cNvPr id="32" name="slide-10-table-3-2">
            <a:extLst xmlns:a="http://schemas.openxmlformats.org/drawingml/2006/main">
              <a:ext uri="{FF2B5EF4-FFF2-40B4-BE49-F238E27FC236}">
                <a16:creationId xmlns:a16="http://schemas.microsoft.com/office/drawing/2014/main" id="{ABE4C091-E1A6-4BF0-8172-75312DEC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695950"/>
            <a:ext cx="2562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-0.0042242</a:t>
            </a:r>
          </a:p>
        </p:txBody>
      </p:sp>
      <p:sp>
        <p:nvSpPr>
          <p:cNvPr id="33" name="slide-10-table-3-3">
            <a:extLst xmlns:a="http://schemas.openxmlformats.org/drawingml/2006/main">
              <a:ext uri="{FF2B5EF4-FFF2-40B4-BE49-F238E27FC236}">
                <a16:creationId xmlns:a16="http://schemas.microsoft.com/office/drawing/2014/main" id="{062C5C74-2952-46B5-94F6-13E36BEF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95950"/>
            <a:ext cx="2657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0.73044</a:t>
            </a:r>
          </a:p>
        </p:txBody>
      </p:sp>
      <p:sp>
        <p:nvSpPr>
          <p:cNvPr id="34" name="slide-10-table-3-4">
            <a:extLst xmlns:a="http://schemas.openxmlformats.org/drawingml/2006/main">
              <a:ext uri="{FF2B5EF4-FFF2-40B4-BE49-F238E27FC236}">
                <a16:creationId xmlns:a16="http://schemas.microsoft.com/office/drawing/2014/main" id="{CD20611E-33EF-4625-9F50-C23658B8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6959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29.567</a:t>
            </a:r>
          </a:p>
        </p:txBody>
      </p:sp>
      <p:sp>
        <p:nvSpPr>
          <p:cNvPr id="35" name="slide-10-table-4-0">
            <a:extLst xmlns:a="http://schemas.openxmlformats.org/drawingml/2006/main">
              <a:ext uri="{FF2B5EF4-FFF2-40B4-BE49-F238E27FC236}">
                <a16:creationId xmlns:a16="http://schemas.microsoft.com/office/drawing/2014/main" id="{8A4FE905-BC70-471C-B48E-438DC978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51510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36" name="slide-10-table-4-1">
            <a:extLst xmlns:a="http://schemas.openxmlformats.org/drawingml/2006/main">
              <a:ext uri="{FF2B5EF4-FFF2-40B4-BE49-F238E27FC236}">
                <a16:creationId xmlns:a16="http://schemas.microsoft.com/office/drawing/2014/main" id="{81F1D0B0-B298-4AD6-9C4A-4F1215E0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5151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29.567</a:t>
            </a:r>
          </a:p>
        </p:txBody>
      </p:sp>
      <p:sp>
        <p:nvSpPr>
          <p:cNvPr id="37" name="slide-10-table-4-2">
            <a:extLst xmlns:a="http://schemas.openxmlformats.org/drawingml/2006/main">
              <a:ext uri="{FF2B5EF4-FFF2-40B4-BE49-F238E27FC236}">
                <a16:creationId xmlns:a16="http://schemas.microsoft.com/office/drawing/2014/main" id="{DF95B944-DB8C-4079-AAFE-54296704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515100"/>
            <a:ext cx="2562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-7.1308e-7</a:t>
            </a:r>
          </a:p>
        </p:txBody>
      </p:sp>
      <p:sp>
        <p:nvSpPr>
          <p:cNvPr id="38" name="slide-10-table-4-3">
            <a:extLst xmlns:a="http://schemas.openxmlformats.org/drawingml/2006/main">
              <a:ext uri="{FF2B5EF4-FFF2-40B4-BE49-F238E27FC236}">
                <a16:creationId xmlns:a16="http://schemas.microsoft.com/office/drawing/2014/main" id="{758634C5-43C4-42C7-9240-7E31F764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515100"/>
            <a:ext cx="26574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0.73019</a:t>
            </a:r>
          </a:p>
        </p:txBody>
      </p:sp>
      <p:sp>
        <p:nvSpPr>
          <p:cNvPr id="39" name="slide-10-table-4-4">
            <a:extLst xmlns:a="http://schemas.openxmlformats.org/drawingml/2006/main">
              <a:ext uri="{FF2B5EF4-FFF2-40B4-BE49-F238E27FC236}">
                <a16:creationId xmlns:a16="http://schemas.microsoft.com/office/drawing/2014/main" id="{A934C199-6510-4E5E-AA25-9327CAC1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5151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stop</a:t>
            </a:r>
          </a:p>
        </p:txBody>
      </p:sp>
      <p:sp>
        <p:nvSpPr>
          <p:cNvPr id="40" name="slide-10-trace-note">
            <a:extLst xmlns:a="http://schemas.openxmlformats.org/drawingml/2006/main">
              <a:ext uri="{FF2B5EF4-FFF2-40B4-BE49-F238E27FC236}">
                <a16:creationId xmlns:a16="http://schemas.microsoft.com/office/drawing/2014/main" id="{A5C4072D-319C-49FE-B60B-0C4C0D4B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238500"/>
            <a:ext cx="3667125" cy="4095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41" name="slide-10-note-heading">
            <a:extLst xmlns:a="http://schemas.openxmlformats.org/drawingml/2006/main">
              <a:ext uri="{FF2B5EF4-FFF2-40B4-BE49-F238E27FC236}">
                <a16:creationId xmlns:a16="http://schemas.microsoft.com/office/drawing/2014/main" id="{2AEAC538-4C5A-498C-B694-6E4F5667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619500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Each row</a:t>
            </a:r>
          </a:p>
        </p:txBody>
      </p:sp>
      <p:sp>
        <p:nvSpPr>
          <p:cNvPr id="42" name="slide-10-note-body">
            <a:extLst xmlns:a="http://schemas.openxmlformats.org/drawingml/2006/main">
              <a:ext uri="{FF2B5EF4-FFF2-40B4-BE49-F238E27FC236}">
                <a16:creationId xmlns:a16="http://schemas.microsoft.com/office/drawing/2014/main" id="{8E36866A-246D-4607-BBD5-7FD0B0F0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333875"/>
            <a:ext cx="2905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evaluate</a:t>
            </a:r>
          </a:p>
          <a:p xmlns:a="http://schemas.openxmlformats.org/drawingml/2006/main">
            <a:pPr algn="ctr">
              <a:defRPr sz="22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↓</a:t>
            </a:r>
          </a:p>
          <a:p xmlns:a="http://schemas.openxmlformats.org/drawingml/2006/main">
            <a:pPr algn="ctr">
              <a:defRPr sz="22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slope</a:t>
            </a:r>
          </a:p>
          <a:p xmlns:a="http://schemas.openxmlformats.org/drawingml/2006/main">
            <a:pPr algn="ctr">
              <a:defRPr sz="22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↓</a:t>
            </a:r>
          </a:p>
          <a:p xmlns:a="http://schemas.openxmlformats.org/drawingml/2006/main">
            <a:pPr algn="ctr">
              <a:defRPr sz="225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update</a:t>
            </a:r>
          </a:p>
        </p:txBody>
      </p:sp>
      <p:sp>
        <p:nvSpPr>
          <p:cNvPr id="43" name="slide-10-note-prompt">
            <a:extLst xmlns:a="http://schemas.openxmlformats.org/drawingml/2006/main">
              <a:ext uri="{FF2B5EF4-FFF2-40B4-BE49-F238E27FC236}">
                <a16:creationId xmlns:a16="http://schemas.microsoft.com/office/drawing/2014/main" id="{704B6345-FF31-4436-9429-E9B19043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667500"/>
            <a:ext cx="309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725" b="0" i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What changes between rows?</a:t>
            </a:r>
          </a:p>
        </p:txBody>
      </p:sp>
      <p:sp>
        <p:nvSpPr>
          <p:cNvPr id="44" name="slide-10-takeaway">
            <a:extLst xmlns:a="http://schemas.openxmlformats.org/drawingml/2006/main">
              <a:ext uri="{FF2B5EF4-FFF2-40B4-BE49-F238E27FC236}">
                <a16:creationId xmlns:a16="http://schemas.microsoft.com/office/drawing/2014/main" id="{792F89FF-6062-477A-A058-8EAA0862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810625"/>
            <a:ext cx="14859000" cy="781050"/>
          </a:xfrm>
          <a:prstGeom xmlns:a="http://schemas.openxmlformats.org/drawingml/2006/main" prst="roundRect">
            <a:avLst>
              <a:gd name="adj" fmla="val 26829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45" name="slide-10-takeaway-text">
            <a:extLst xmlns:a="http://schemas.openxmlformats.org/drawingml/2006/main">
              <a:ext uri="{FF2B5EF4-FFF2-40B4-BE49-F238E27FC236}">
                <a16:creationId xmlns:a16="http://schemas.microsoft.com/office/drawing/2014/main" id="{3A3BD423-BF70-4B7E-AF04-553E1A69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020175"/>
            <a:ext cx="1419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At eval 4, |f(theta)| = 7.1308e-7 m &lt; 1e-3 m</a:t>
            </a:r>
          </a:p>
        </p:txBody>
      </p:sp>
    </p:spTree>
    <p:extLst>
      <p:ext uri="{BB962C8B-B14F-4D97-AF65-F5344CB8AC3E}">
        <p14:creationId xmlns:p14="http://schemas.microsoft.com/office/powerpoint/2010/main" val="13427382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D80D992E-4100-4388-AA9C-40C18884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Working exposure: same root, different route</a:t>
            </a:r>
          </a:p>
        </p:txBody>
      </p:sp>
      <p:sp>
        <p:nvSpPr>
          <p:cNvPr id="2" name="slide-11-title-rule">
            <a:extLst xmlns:a="http://schemas.openxmlformats.org/drawingml/2006/main">
              <a:ext uri="{FF2B5EF4-FFF2-40B4-BE49-F238E27FC236}">
                <a16:creationId xmlns:a16="http://schemas.microsoft.com/office/drawing/2014/main" id="{B767EB31-C435-423A-AAB8-7EE18F68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11-subtitle">
            <a:extLst xmlns:a="http://schemas.openxmlformats.org/drawingml/2006/main">
              <a:ext uri="{FF2B5EF4-FFF2-40B4-BE49-F238E27FC236}">
                <a16:creationId xmlns:a16="http://schemas.microsoft.com/office/drawing/2014/main" id="{04B7C730-ED7E-496D-B044-EC373AD1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Bisection is guarded; Newton is locally fast</a:t>
            </a:r>
          </a:p>
        </p:txBody>
      </p:sp>
      <p:sp>
        <p:nvSpPr>
          <p:cNvPr id="4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8D60633B-C584-4F20-BF7E-7A060F5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  <p:sp>
        <p:nvSpPr>
          <p:cNvPr id="5" name="slide-11-bisection">
            <a:extLst xmlns:a="http://schemas.openxmlformats.org/drawingml/2006/main">
              <a:ext uri="{FF2B5EF4-FFF2-40B4-BE49-F238E27FC236}">
                <a16:creationId xmlns:a16="http://schemas.microsoft.com/office/drawing/2014/main" id="{2DD5322C-1907-4437-9838-C4D1E1C8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62250"/>
            <a:ext cx="733425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slide-11-bisection-heading">
            <a:extLst xmlns:a="http://schemas.openxmlformats.org/drawingml/2006/main">
              <a:ext uri="{FF2B5EF4-FFF2-40B4-BE49-F238E27FC236}">
                <a16:creationId xmlns:a16="http://schemas.microsoft.com/office/drawing/2014/main" id="{ECA8DEE0-0692-47FE-991E-90E757B6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BISECTION</a:t>
            </a:r>
          </a:p>
        </p:txBody>
      </p:sp>
      <p:sp>
        <p:nvSpPr>
          <p:cNvPr id="7" name="slide-11-bisection-count">
            <a:extLst xmlns:a="http://schemas.openxmlformats.org/drawingml/2006/main">
              <a:ext uri="{FF2B5EF4-FFF2-40B4-BE49-F238E27FC236}">
                <a16:creationId xmlns:a16="http://schemas.microsoft.com/office/drawing/2014/main" id="{E6E5A0AF-0ACE-4BB6-8733-EC540B38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067175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8" name="slide-11-bisection-count-number">
            <a:extLst xmlns:a="http://schemas.openxmlformats.org/drawingml/2006/main">
              <a:ext uri="{FF2B5EF4-FFF2-40B4-BE49-F238E27FC236}">
                <a16:creationId xmlns:a16="http://schemas.microsoft.com/office/drawing/2014/main" id="{7E5B4255-DBA1-4DFD-8E25-47A5339B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14825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39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13</a:t>
            </a:r>
          </a:p>
        </p:txBody>
      </p:sp>
      <p:sp>
        <p:nvSpPr>
          <p:cNvPr id="9" name="slide-11-bisection-count-label">
            <a:extLst xmlns:a="http://schemas.openxmlformats.org/drawingml/2006/main">
              <a:ext uri="{FF2B5EF4-FFF2-40B4-BE49-F238E27FC236}">
                <a16:creationId xmlns:a16="http://schemas.microsoft.com/office/drawing/2014/main" id="{76E6E008-4693-434A-989B-E8A6F897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624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recorded</a:t>
            </a:r>
          </a:p>
          <a:p xmlns:a="http://schemas.openxmlformats.org/drawingml/2006/main">
            <a:pPr algn="l">
              <a:defRPr sz="19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iterations</a:t>
            </a:r>
          </a:p>
        </p:txBody>
      </p:sp>
      <p:sp>
        <p:nvSpPr>
          <p:cNvPr id="10" name="slide-11-bisection-body">
            <a:extLst xmlns:a="http://schemas.openxmlformats.org/drawingml/2006/main">
              <a:ext uri="{FF2B5EF4-FFF2-40B4-BE49-F238E27FC236}">
                <a16:creationId xmlns:a16="http://schemas.microsoft.com/office/drawing/2014/main" id="{04503D4A-134F-4D16-A42A-B90A5276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57875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0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preserves a sign-changing bracket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0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needs a valid endpoint pair</a:t>
            </a:r>
          </a:p>
        </p:txBody>
      </p:sp>
      <p:sp>
        <p:nvSpPr>
          <p:cNvPr id="11" name="slide-11-newton">
            <a:extLst xmlns:a="http://schemas.openxmlformats.org/drawingml/2006/main">
              <a:ext uri="{FF2B5EF4-FFF2-40B4-BE49-F238E27FC236}">
                <a16:creationId xmlns:a16="http://schemas.microsoft.com/office/drawing/2014/main" id="{BAA29F00-9115-4C98-AD3C-9F11F249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62250"/>
            <a:ext cx="733425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2" name="slide-11-newton-heading">
            <a:extLst xmlns:a="http://schemas.openxmlformats.org/drawingml/2006/main">
              <a:ext uri="{FF2B5EF4-FFF2-40B4-BE49-F238E27FC236}">
                <a16:creationId xmlns:a16="http://schemas.microsoft.com/office/drawing/2014/main" id="{DA4C38B4-4658-46F7-A9C7-C853486D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19087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NEWTON</a:t>
            </a:r>
          </a:p>
        </p:txBody>
      </p:sp>
      <p:sp>
        <p:nvSpPr>
          <p:cNvPr id="13" name="slide-11-newton-count">
            <a:extLst xmlns:a="http://schemas.openxmlformats.org/drawingml/2006/main">
              <a:ext uri="{FF2B5EF4-FFF2-40B4-BE49-F238E27FC236}">
                <a16:creationId xmlns:a16="http://schemas.microsoft.com/office/drawing/2014/main" id="{02729748-F90A-4CE6-983D-37AF1764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067175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14" name="slide-11-newton-count-number">
            <a:extLst xmlns:a="http://schemas.openxmlformats.org/drawingml/2006/main">
              <a:ext uri="{FF2B5EF4-FFF2-40B4-BE49-F238E27FC236}">
                <a16:creationId xmlns:a16="http://schemas.microsoft.com/office/drawing/2014/main" id="{7E2DE61F-FE96-4DC5-A6B2-55782023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314825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3900" b="1" i="0">
                <a:solidFill>
                  <a:srgbClr val="FFFFFF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5" name="slide-11-newton-count-label">
            <a:extLst xmlns:a="http://schemas.openxmlformats.org/drawingml/2006/main">
              <a:ext uri="{FF2B5EF4-FFF2-40B4-BE49-F238E27FC236}">
                <a16:creationId xmlns:a16="http://schemas.microsoft.com/office/drawing/2014/main" id="{F4F13E76-D30E-4678-B394-0AC76DE9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43624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recorded</a:t>
            </a:r>
          </a:p>
          <a:p xmlns:a="http://schemas.openxmlformats.org/drawingml/2006/main">
            <a:pPr algn="l">
              <a:defRPr sz="19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evaluations</a:t>
            </a:r>
          </a:p>
        </p:txBody>
      </p:sp>
      <p:sp>
        <p:nvSpPr>
          <p:cNvPr id="16" name="slide-11-newton-body">
            <a:extLst xmlns:a="http://schemas.openxmlformats.org/drawingml/2006/main">
              <a:ext uri="{FF2B5EF4-FFF2-40B4-BE49-F238E27FC236}">
                <a16:creationId xmlns:a16="http://schemas.microsoft.com/office/drawing/2014/main" id="{CAFDCCDE-8F2B-477D-837F-E4632EDA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857875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0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same low-angle root from 25 degree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0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needs a useful slope and start</a:t>
            </a:r>
          </a:p>
        </p:txBody>
      </p:sp>
      <p:sp>
        <p:nvSpPr>
          <p:cNvPr id="17" name="slide-11-shared-validation">
            <a:extLst xmlns:a="http://schemas.openxmlformats.org/drawingml/2006/main">
              <a:ext uri="{FF2B5EF4-FFF2-40B4-BE49-F238E27FC236}">
                <a16:creationId xmlns:a16="http://schemas.microsoft.com/office/drawing/2014/main" id="{AF0E772B-0346-4DDB-B6AB-F333E3FF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953375"/>
            <a:ext cx="135255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8" name="slide-11-shared-validation-text">
            <a:extLst xmlns:a="http://schemas.openxmlformats.org/drawingml/2006/main">
              <a:ext uri="{FF2B5EF4-FFF2-40B4-BE49-F238E27FC236}">
                <a16:creationId xmlns:a16="http://schemas.microsoft.com/office/drawing/2014/main" id="{8BADDE78-F061-4B02-8A97-157DC2AB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124825"/>
            <a:ext cx="1257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Both still require residual validation</a:t>
            </a:r>
          </a:p>
        </p:txBody>
      </p:sp>
    </p:spTree>
    <p:extLst>
      <p:ext uri="{BB962C8B-B14F-4D97-AF65-F5344CB8AC3E}">
        <p14:creationId xmlns:p14="http://schemas.microsoft.com/office/powerpoint/2010/main" val="1259842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1F712B25-7735-4B33-AFD2-C8964798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midpoint is not enough: the bracket must change sign</a:t>
            </a:r>
          </a:p>
        </p:txBody>
      </p:sp>
      <p:sp>
        <p:nvSpPr>
          <p:cNvPr id="2" name="slide-12-title-rule">
            <a:extLst xmlns:a="http://schemas.openxmlformats.org/drawingml/2006/main">
              <a:ext uri="{FF2B5EF4-FFF2-40B4-BE49-F238E27FC236}">
                <a16:creationId xmlns:a16="http://schemas.microsoft.com/office/drawing/2014/main" id="{98579628-6BEF-44EE-9A1D-A0B74A1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12-subtitle">
            <a:extLst xmlns:a="http://schemas.openxmlformats.org/drawingml/2006/main">
              <a:ext uri="{FF2B5EF4-FFF2-40B4-BE49-F238E27FC236}">
                <a16:creationId xmlns:a16="http://schemas.microsoft.com/office/drawing/2014/main" id="{2E57D4AA-10B3-476A-9A31-E74C17C0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method only works when the endpoints still have opposite signs</a:t>
            </a:r>
          </a:p>
        </p:txBody>
      </p:sp>
      <p:sp>
        <p:nvSpPr>
          <p:cNvPr id="4" name="slide-12-number">
            <a:extLst xmlns:a="http://schemas.openxmlformats.org/drawingml/2006/main">
              <a:ext uri="{FF2B5EF4-FFF2-40B4-BE49-F238E27FC236}">
                <a16:creationId xmlns:a16="http://schemas.microsoft.com/office/drawing/2014/main" id="{2B0280F0-D595-404B-94D0-BA2FB038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12</a:t>
            </a:r>
          </a:p>
        </p:txBody>
      </p:sp>
      <p:sp>
        <p:nvSpPr>
          <p:cNvPr id="5" name="slide-12-current-heading">
            <a:extLst xmlns:a="http://schemas.openxmlformats.org/drawingml/2006/main">
              <a:ext uri="{FF2B5EF4-FFF2-40B4-BE49-F238E27FC236}">
                <a16:creationId xmlns:a16="http://schemas.microsoft.com/office/drawing/2014/main" id="{341C74F9-DC58-4D78-B1ED-D57E7D1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Current bracket</a:t>
            </a:r>
          </a:p>
        </p:txBody>
      </p:sp>
      <p:sp>
        <p:nvSpPr>
          <p:cNvPr id="6" name="slide-12-current-line">
            <a:extLst xmlns:a="http://schemas.openxmlformats.org/drawingml/2006/main">
              <a:ext uri="{FF2B5EF4-FFF2-40B4-BE49-F238E27FC236}">
                <a16:creationId xmlns:a16="http://schemas.microsoft.com/office/drawing/2014/main" id="{140D0788-5F40-44CA-8483-1278404F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3381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B2B4C"/>
            </a:solidFill>
            <a:prstDash val="solid"/>
          </a:ln>
        </p:spPr>
      </p:sp>
      <p:sp>
        <p:nvSpPr>
          <p:cNvPr id="7" name="slide-12-current-left">
            <a:extLst xmlns:a="http://schemas.openxmlformats.org/drawingml/2006/main">
              <a:ext uri="{FF2B5EF4-FFF2-40B4-BE49-F238E27FC236}">
                <a16:creationId xmlns:a16="http://schemas.microsoft.com/office/drawing/2014/main" id="{5101E076-3E10-435A-9D0D-1639CC36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362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0">
            <a:solidFill>
              <a:srgbClr val="2F6DB2"/>
            </a:solidFill>
            <a:prstDash val="solid"/>
          </a:ln>
        </p:spPr>
      </p:sp>
      <p:sp>
        <p:nvSpPr>
          <p:cNvPr id="8" name="slide-12-current-mid">
            <a:extLst xmlns:a="http://schemas.openxmlformats.org/drawingml/2006/main">
              <a:ext uri="{FF2B5EF4-FFF2-40B4-BE49-F238E27FC236}">
                <a16:creationId xmlns:a16="http://schemas.microsoft.com/office/drawing/2014/main" id="{2B84BD79-2930-4AD7-A512-FA4046FB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362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9" name="slide-12-current-right">
            <a:extLst xmlns:a="http://schemas.openxmlformats.org/drawingml/2006/main">
              <a:ext uri="{FF2B5EF4-FFF2-40B4-BE49-F238E27FC236}">
                <a16:creationId xmlns:a16="http://schemas.microsoft.com/office/drawing/2014/main" id="{67DB7318-E4B5-439D-9055-1075C382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62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16"/>
          </a:solidFill>
          <a:ln xmlns:a="http://schemas.openxmlformats.org/drawingml/2006/main" w="0">
            <a:solidFill>
              <a:srgbClr val="C98A16"/>
            </a:solidFill>
            <a:prstDash val="solid"/>
          </a:ln>
        </p:spPr>
      </p:sp>
      <p:sp>
        <p:nvSpPr>
          <p:cNvPr id="10" name="slide-12-current-label">
            <a:extLst xmlns:a="http://schemas.openxmlformats.org/drawingml/2006/main">
              <a:ext uri="{FF2B5EF4-FFF2-40B4-BE49-F238E27FC236}">
                <a16:creationId xmlns:a16="http://schemas.microsoft.com/office/drawing/2014/main" id="{5F138D92-3A44-4C7C-8E0C-812CE3DA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48125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025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[20, 40] degree</a:t>
            </a:r>
          </a:p>
        </p:txBody>
      </p:sp>
      <p:sp>
        <p:nvSpPr>
          <p:cNvPr id="11" name="slide-12-current-values">
            <a:extLst xmlns:a="http://schemas.openxmlformats.org/drawingml/2006/main">
              <a:ext uri="{FF2B5EF4-FFF2-40B4-BE49-F238E27FC236}">
                <a16:creationId xmlns:a16="http://schemas.microsoft.com/office/drawing/2014/main" id="{E55EEF32-4721-4359-97B1-B684FE58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19625"/>
            <a:ext cx="4238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267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3F4B57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0" i="0">
                <a:solidFill>
                  <a:srgbClr val="3F4B57"/>
                </a:solidFill>
                <a:latin typeface="IBM Plex Mono"/>
                <a:ea typeface="IBM Plex Mono"/>
                <a:cs typeface="IBM Plex Mono"/>
              </a:rPr>
              <a:t>f(20) &lt; 0       f(30) &gt; 0       f(40) &gt; 0</a:t>
            </a:r>
          </a:p>
        </p:txBody>
      </p:sp>
      <p:sp>
        <p:nvSpPr>
          <p:cNvPr id="12" name="slide-12-arrow">
            <a:extLst xmlns:a="http://schemas.openxmlformats.org/drawingml/2006/main">
              <a:ext uri="{FF2B5EF4-FFF2-40B4-BE49-F238E27FC236}">
                <a16:creationId xmlns:a16="http://schemas.microsoft.com/office/drawing/2014/main" id="{CCD22BE4-D84B-469F-ACEF-B3E48273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lide-12-bad-box">
            <a:extLst xmlns:a="http://schemas.openxmlformats.org/drawingml/2006/main">
              <a:ext uri="{FF2B5EF4-FFF2-40B4-BE49-F238E27FC236}">
                <a16:creationId xmlns:a16="http://schemas.microsoft.com/office/drawing/2014/main" id="{81E27F10-7F41-41CB-8A8D-27F2D857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4810125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19050">
            <a:solidFill>
              <a:srgbClr val="B3262E"/>
            </a:solidFill>
            <a:prstDash val="solid"/>
          </a:ln>
        </p:spPr>
      </p:sp>
      <p:sp>
        <p:nvSpPr>
          <p:cNvPr id="14" name="slide-12-bad-heading">
            <a:extLst xmlns:a="http://schemas.openxmlformats.org/drawingml/2006/main">
              <a:ext uri="{FF2B5EF4-FFF2-40B4-BE49-F238E27FC236}">
                <a16:creationId xmlns:a16="http://schemas.microsoft.com/office/drawing/2014/main" id="{FC3B3A4F-A5C1-479C-AD8A-282242D2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B3262E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B3262E"/>
                </a:solidFill>
                <a:latin typeface="Nunito"/>
                <a:ea typeface="Nunito"/>
                <a:cs typeface="Nunito"/>
              </a:rPr>
              <a:t>BAD UPDATE</a:t>
            </a:r>
          </a:p>
        </p:txBody>
      </p:sp>
      <p:sp>
        <p:nvSpPr>
          <p:cNvPr id="15" name="slide-12-bad-bracket">
            <a:extLst xmlns:a="http://schemas.openxmlformats.org/drawingml/2006/main">
              <a:ext uri="{FF2B5EF4-FFF2-40B4-BE49-F238E27FC236}">
                <a16:creationId xmlns:a16="http://schemas.microsoft.com/office/drawing/2014/main" id="{4FA683DA-972B-44A6-A857-7C77E3FC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B3262E"/>
                </a:solidFill>
                <a:latin typeface="IBM Plex Mono"/>
                <a:ea typeface="IBM Plex Mono"/>
                <a:cs typeface="IBM Plex Mono"/>
              </a:defRPr>
            </a:pPr>
            <a:r>
              <a:rPr sz="2400" b="1" i="0">
                <a:solidFill>
                  <a:srgbClr val="B3262E"/>
                </a:solidFill>
                <a:latin typeface="IBM Plex Mono"/>
                <a:ea typeface="IBM Plex Mono"/>
                <a:cs typeface="IBM Plex Mono"/>
              </a:rPr>
              <a:t>[30, 40] degree</a:t>
            </a:r>
          </a:p>
        </p:txBody>
      </p:sp>
      <p:sp>
        <p:nvSpPr>
          <p:cNvPr id="16" name="slide-12-bad-reason">
            <a:extLst xmlns:a="http://schemas.openxmlformats.org/drawingml/2006/main">
              <a:ext uri="{FF2B5EF4-FFF2-40B4-BE49-F238E27FC236}">
                <a16:creationId xmlns:a16="http://schemas.microsoft.com/office/drawing/2014/main" id="{023219A0-0F57-4141-87B9-00AB2C10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24375"/>
            <a:ext cx="3952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both endpoint residuals are positive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no sign change remains</a:t>
            </a:r>
          </a:p>
        </p:txBody>
      </p:sp>
      <p:sp>
        <p:nvSpPr>
          <p:cNvPr id="17" name="slide-12-arrow-repair">
            <a:extLst xmlns:a="http://schemas.openxmlformats.org/drawingml/2006/main">
              <a:ext uri="{FF2B5EF4-FFF2-40B4-BE49-F238E27FC236}">
                <a16:creationId xmlns:a16="http://schemas.microsoft.com/office/drawing/2014/main" id="{8E5AC8DD-002E-491B-BCC7-1A1C13D8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333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lide-12-good-box">
            <a:extLst xmlns:a="http://schemas.openxmlformats.org/drawingml/2006/main">
              <a:ext uri="{FF2B5EF4-FFF2-40B4-BE49-F238E27FC236}">
                <a16:creationId xmlns:a16="http://schemas.microsoft.com/office/drawing/2014/main" id="{B4A7C3EC-7F54-44A4-A340-0EE4CE03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2524125"/>
            <a:ext cx="3381375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9" name="slide-12-good-heading">
            <a:extLst xmlns:a="http://schemas.openxmlformats.org/drawingml/2006/main">
              <a:ext uri="{FF2B5EF4-FFF2-40B4-BE49-F238E27FC236}">
                <a16:creationId xmlns:a16="http://schemas.microsoft.com/office/drawing/2014/main" id="{2964137C-BFC7-4B6C-9F65-F9FB8C29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9527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REPAIR</a:t>
            </a:r>
          </a:p>
        </p:txBody>
      </p:sp>
      <p:sp>
        <p:nvSpPr>
          <p:cNvPr id="20" name="slide-12-good-bracket">
            <a:extLst xmlns:a="http://schemas.openxmlformats.org/drawingml/2006/main">
              <a:ext uri="{FF2B5EF4-FFF2-40B4-BE49-F238E27FC236}">
                <a16:creationId xmlns:a16="http://schemas.microsoft.com/office/drawing/2014/main" id="{495F0D71-6B11-4A06-BF74-E210DB60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8100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E8E45"/>
                </a:solidFill>
                <a:latin typeface="IBM Plex Mono"/>
                <a:ea typeface="IBM Plex Mono"/>
                <a:cs typeface="IBM Plex Mono"/>
              </a:defRPr>
            </a:pPr>
            <a:r>
              <a:rPr sz="2100" b="1" i="0">
                <a:solidFill>
                  <a:srgbClr val="3E8E45"/>
                </a:solidFill>
                <a:latin typeface="IBM Plex Mono"/>
                <a:ea typeface="IBM Plex Mono"/>
                <a:cs typeface="IBM Plex Mono"/>
              </a:rPr>
              <a:t>[20, 30] degree</a:t>
            </a:r>
          </a:p>
        </p:txBody>
      </p:sp>
      <p:sp>
        <p:nvSpPr>
          <p:cNvPr id="21" name="slide-12-good-reason">
            <a:extLst xmlns:a="http://schemas.openxmlformats.org/drawingml/2006/main">
              <a:ext uri="{FF2B5EF4-FFF2-40B4-BE49-F238E27FC236}">
                <a16:creationId xmlns:a16="http://schemas.microsoft.com/office/drawing/2014/main" id="{D2C53817-A211-4EE3-AA18-1CD1E0E0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461962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f(20) &lt; 0</a:t>
            </a:r>
          </a:p>
          <a:p xmlns:a="http://schemas.openxmlformats.org/drawingml/2006/main">
            <a:pPr algn="ctr">
              <a:defRPr sz="1875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0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f(30) &gt; 0</a:t>
            </a:r>
          </a:p>
        </p:txBody>
      </p:sp>
      <p:sp>
        <p:nvSpPr>
          <p:cNvPr id="22" name="slide-12-check-box">
            <a:extLst xmlns:a="http://schemas.openxmlformats.org/drawingml/2006/main">
              <a:ext uri="{FF2B5EF4-FFF2-40B4-BE49-F238E27FC236}">
                <a16:creationId xmlns:a16="http://schemas.microsoft.com/office/drawing/2014/main" id="{3A9C5770-8451-4980-AD64-745EF4E3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667500"/>
            <a:ext cx="138112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23" name="slide-12-check-heading">
            <a:extLst xmlns:a="http://schemas.openxmlformats.org/drawingml/2006/main">
              <a:ext uri="{FF2B5EF4-FFF2-40B4-BE49-F238E27FC236}">
                <a16:creationId xmlns:a16="http://schemas.microsoft.com/office/drawing/2014/main" id="{A1286DD3-4EE1-432C-8974-1BBD0BDB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0008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95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CHECK AFTER EVERY UPDATE</a:t>
            </a:r>
          </a:p>
        </p:txBody>
      </p:sp>
      <p:sp>
        <p:nvSpPr>
          <p:cNvPr id="24" name="slide-12-check-rule">
            <a:extLst xmlns:a="http://schemas.openxmlformats.org/drawingml/2006/main">
              <a:ext uri="{FF2B5EF4-FFF2-40B4-BE49-F238E27FC236}">
                <a16:creationId xmlns:a16="http://schemas.microsoft.com/office/drawing/2014/main" id="{505F2A30-F535-4168-A244-D74BC4F1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9246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400" b="1" i="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f(a) * f(b) &lt; 0</a:t>
            </a:r>
          </a:p>
        </p:txBody>
      </p:sp>
      <p:sp>
        <p:nvSpPr>
          <p:cNvPr id="25" name="slide-12-check-body">
            <a:extLst xmlns:a="http://schemas.openxmlformats.org/drawingml/2006/main">
              <a:ext uri="{FF2B5EF4-FFF2-40B4-BE49-F238E27FC236}">
                <a16:creationId xmlns:a16="http://schemas.microsoft.com/office/drawing/2014/main" id="{B91856C9-AF30-4B5F-8821-E7FA934F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00087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72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If the signs agree, the bracket is not safe</a:t>
            </a:r>
          </a:p>
        </p:txBody>
      </p:sp>
    </p:spTree>
    <p:extLst>
      <p:ext uri="{BB962C8B-B14F-4D97-AF65-F5344CB8AC3E}">
        <p14:creationId xmlns:p14="http://schemas.microsoft.com/office/powerpoint/2010/main" val="11348158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B1C884E4-56E4-4F37-BD72-F1566E46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residual pattern transfers to new physics</a:t>
            </a:r>
          </a:p>
        </p:txBody>
      </p:sp>
      <p:sp>
        <p:nvSpPr>
          <p:cNvPr id="2" name="slide-13-title-rule">
            <a:extLst xmlns:a="http://schemas.openxmlformats.org/drawingml/2006/main">
              <a:ext uri="{FF2B5EF4-FFF2-40B4-BE49-F238E27FC236}">
                <a16:creationId xmlns:a16="http://schemas.microsoft.com/office/drawing/2014/main" id="{641F9658-CDE5-43ED-A76F-186490E6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13-subtitle">
            <a:extLst xmlns:a="http://schemas.openxmlformats.org/drawingml/2006/main">
              <a:ext uri="{FF2B5EF4-FFF2-40B4-BE49-F238E27FC236}">
                <a16:creationId xmlns:a16="http://schemas.microsoft.com/office/drawing/2014/main" id="{38EF5B10-A993-4D55-8CBE-282792D7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Change the model; keep the reasoning chain</a:t>
            </a:r>
          </a:p>
        </p:txBody>
      </p:sp>
      <p:sp>
        <p:nvSpPr>
          <p:cNvPr id="4" name="slide-13-number">
            <a:extLst xmlns:a="http://schemas.openxmlformats.org/drawingml/2006/main">
              <a:ext uri="{FF2B5EF4-FFF2-40B4-BE49-F238E27FC236}">
                <a16:creationId xmlns:a16="http://schemas.microsoft.com/office/drawing/2014/main" id="{B462BE39-90B5-4795-956E-FADCE2AD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13</a:t>
            </a:r>
          </a:p>
        </p:txBody>
      </p:sp>
      <p:sp>
        <p:nvSpPr>
          <p:cNvPr id="5" name="slide-13-chain">
            <a:extLst xmlns:a="http://schemas.openxmlformats.org/drawingml/2006/main">
              <a:ext uri="{FF2B5EF4-FFF2-40B4-BE49-F238E27FC236}">
                <a16:creationId xmlns:a16="http://schemas.microsoft.com/office/drawing/2014/main" id="{3CB89689-0C7D-4971-9C10-8706A05E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609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physical target  →  residual  →  root  →  validation</a:t>
            </a:r>
          </a:p>
        </p:txBody>
      </p:sp>
      <p:sp>
        <p:nvSpPr>
          <p:cNvPr id="6" name="slide-13-thin-lens">
            <a:extLst xmlns:a="http://schemas.openxmlformats.org/drawingml/2006/main">
              <a:ext uri="{FF2B5EF4-FFF2-40B4-BE49-F238E27FC236}">
                <a16:creationId xmlns:a16="http://schemas.microsoft.com/office/drawing/2014/main" id="{9C6E5D53-4313-4314-8BAF-05AA99C8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77152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7" name="slide-13-thin-lens-heading">
            <a:extLst xmlns:a="http://schemas.openxmlformats.org/drawingml/2006/main">
              <a:ext uri="{FF2B5EF4-FFF2-40B4-BE49-F238E27FC236}">
                <a16:creationId xmlns:a16="http://schemas.microsoft.com/office/drawing/2014/main" id="{F5217051-9D23-4586-94AD-9FE5E95F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THIN LENS</a:t>
            </a:r>
          </a:p>
        </p:txBody>
      </p:sp>
      <p:sp>
        <p:nvSpPr>
          <p:cNvPr id="8" name="slide-13-thin-lens-target">
            <a:extLst xmlns:a="http://schemas.openxmlformats.org/drawingml/2006/main">
              <a:ext uri="{FF2B5EF4-FFF2-40B4-BE49-F238E27FC236}">
                <a16:creationId xmlns:a16="http://schemas.microsoft.com/office/drawing/2014/main" id="{5ECAC163-7E01-4B7D-AFD9-9BD348C1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target: image distance</a:t>
            </a:r>
          </a:p>
        </p:txBody>
      </p:sp>
      <p:sp>
        <p:nvSpPr>
          <p:cNvPr id="9" name="slide-13-thin-lens-unknown">
            <a:extLst xmlns:a="http://schemas.openxmlformats.org/drawingml/2006/main">
              <a:ext uri="{FF2B5EF4-FFF2-40B4-BE49-F238E27FC236}">
                <a16:creationId xmlns:a16="http://schemas.microsoft.com/office/drawing/2014/main" id="{06DE2277-3836-4D75-9C74-8373C3A0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025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unknown: d_i</a:t>
            </a:r>
          </a:p>
        </p:txBody>
      </p:sp>
      <p:sp>
        <p:nvSpPr>
          <p:cNvPr id="10" name="slide-13-thin-lens-check">
            <a:extLst xmlns:a="http://schemas.openxmlformats.org/drawingml/2006/main">
              <a:ext uri="{FF2B5EF4-FFF2-40B4-BE49-F238E27FC236}">
                <a16:creationId xmlns:a16="http://schemas.microsoft.com/office/drawing/2014/main" id="{60597A36-BE0F-4130-8E39-BCFF19E8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960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875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validate by substitution into the lens equation</a:t>
            </a:r>
          </a:p>
        </p:txBody>
      </p:sp>
      <p:sp>
        <p:nvSpPr>
          <p:cNvPr id="11" name="slide-13-rc">
            <a:extLst xmlns:a="http://schemas.openxmlformats.org/drawingml/2006/main">
              <a:ext uri="{FF2B5EF4-FFF2-40B4-BE49-F238E27FC236}">
                <a16:creationId xmlns:a16="http://schemas.microsoft.com/office/drawing/2014/main" id="{EAC0D5F2-DDE2-46B2-82E9-43746DBB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86125"/>
            <a:ext cx="77152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2" name="slide-13-rc-heading">
            <a:extLst xmlns:a="http://schemas.openxmlformats.org/drawingml/2006/main">
              <a:ext uri="{FF2B5EF4-FFF2-40B4-BE49-F238E27FC236}">
                <a16:creationId xmlns:a16="http://schemas.microsoft.com/office/drawing/2014/main" id="{D08C2E1A-4ABD-4631-ADB1-7F02DC7A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671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4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RC THRESHOLD</a:t>
            </a:r>
          </a:p>
        </p:txBody>
      </p:sp>
      <p:sp>
        <p:nvSpPr>
          <p:cNvPr id="13" name="slide-13-rc-target">
            <a:extLst xmlns:a="http://schemas.openxmlformats.org/drawingml/2006/main">
              <a:ext uri="{FF2B5EF4-FFF2-40B4-BE49-F238E27FC236}">
                <a16:creationId xmlns:a16="http://schemas.microsoft.com/office/drawing/2014/main" id="{4FEDEF09-3898-417E-B8CA-1A70572E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767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target: threshold voltage</a:t>
            </a:r>
          </a:p>
        </p:txBody>
      </p:sp>
      <p:sp>
        <p:nvSpPr>
          <p:cNvPr id="14" name="slide-13-rc-unknown">
            <a:extLst xmlns:a="http://schemas.openxmlformats.org/drawingml/2006/main">
              <a:ext uri="{FF2B5EF4-FFF2-40B4-BE49-F238E27FC236}">
                <a16:creationId xmlns:a16="http://schemas.microsoft.com/office/drawing/2014/main" id="{11D9C92C-97A5-4EB6-B970-DB1A6A55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0062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025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unknown: t</a:t>
            </a:r>
          </a:p>
        </p:txBody>
      </p:sp>
      <p:sp>
        <p:nvSpPr>
          <p:cNvPr id="15" name="slide-13-rc-check">
            <a:extLst xmlns:a="http://schemas.openxmlformats.org/drawingml/2006/main">
              <a:ext uri="{FF2B5EF4-FFF2-40B4-BE49-F238E27FC236}">
                <a16:creationId xmlns:a16="http://schemas.microsoft.com/office/drawing/2014/main" id="{4821B78B-2884-4E3A-AC00-AEA7DF25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960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875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validate by checking V(t) against the target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3210cd3544a89"/>
          <a:stretch xmlns:a="http://schemas.openxmlformats.org/drawingml/2006/main"/>
        </p:blipFill>
        <p:spPr>
          <a:xfrm xmlns:a="http://schemas.openxmlformats.org/drawingml/2006/main">
            <a:off x="7178701" y="7477125"/>
            <a:ext cx="3930599" cy="100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702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F74625CB-670D-47BE-AA25-1870E180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Exit ticket: explain a root to a future you</a:t>
            </a:r>
          </a:p>
        </p:txBody>
      </p:sp>
      <p:sp>
        <p:nvSpPr>
          <p:cNvPr id="2" name="slide-14-title-rule">
            <a:extLst xmlns:a="http://schemas.openxmlformats.org/drawingml/2006/main">
              <a:ext uri="{FF2B5EF4-FFF2-40B4-BE49-F238E27FC236}">
                <a16:creationId xmlns:a16="http://schemas.microsoft.com/office/drawing/2014/main" id="{01D7936B-B91E-4631-AF9C-6D41FE12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09700"/>
            <a:ext cx="1504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3" name="slide-14-subtitle">
            <a:extLst xmlns:a="http://schemas.openxmlformats.org/drawingml/2006/main">
              <a:ext uri="{FF2B5EF4-FFF2-40B4-BE49-F238E27FC236}">
                <a16:creationId xmlns:a16="http://schemas.microsoft.com/office/drawing/2014/main" id="{41A435A2-CE3C-49CA-918C-271D3F47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Define it, bracket it, update it, check it</a:t>
            </a:r>
          </a:p>
        </p:txBody>
      </p:sp>
      <p:sp>
        <p:nvSpPr>
          <p:cNvPr id="4" name="slide-14-number">
            <a:extLst xmlns:a="http://schemas.openxmlformats.org/drawingml/2006/main">
              <a:ext uri="{FF2B5EF4-FFF2-40B4-BE49-F238E27FC236}">
                <a16:creationId xmlns:a16="http://schemas.microsoft.com/office/drawing/2014/main" id="{E1A2EBED-53A5-43FE-9BFD-286B3BB8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 i="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0" i="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14</a:t>
            </a:r>
          </a:p>
        </p:txBody>
      </p:sp>
      <p:sp>
        <p:nvSpPr>
          <p:cNvPr id="5" name="slide-14-define-card">
            <a:extLst xmlns:a="http://schemas.openxmlformats.org/drawingml/2006/main">
              <a:ext uri="{FF2B5EF4-FFF2-40B4-BE49-F238E27FC236}">
                <a16:creationId xmlns:a16="http://schemas.microsoft.com/office/drawing/2014/main" id="{7346305C-C547-4C49-B7FF-A5BF9FF1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57500"/>
            <a:ext cx="3429000" cy="447675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slide-14-define-icon">
            <a:extLst xmlns:a="http://schemas.openxmlformats.org/drawingml/2006/main">
              <a:ext uri="{FF2B5EF4-FFF2-40B4-BE49-F238E27FC236}">
                <a16:creationId xmlns:a16="http://schemas.microsoft.com/office/drawing/2014/main" id="{92B529B9-3F7D-46CF-B79C-1FDBBDE6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623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7" name="slide-14-define-icon-text">
            <a:extLst xmlns:a="http://schemas.openxmlformats.org/drawingml/2006/main">
              <a:ext uri="{FF2B5EF4-FFF2-40B4-BE49-F238E27FC236}">
                <a16:creationId xmlns:a16="http://schemas.microsoft.com/office/drawing/2014/main" id="{0E345563-67D5-4F7B-BB77-6AFFABA7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47662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7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=</a:t>
            </a:r>
          </a:p>
        </p:txBody>
      </p:sp>
      <p:sp>
        <p:nvSpPr>
          <p:cNvPr id="8" name="slide-14-define-label">
            <a:extLst xmlns:a="http://schemas.openxmlformats.org/drawingml/2006/main">
              <a:ext uri="{FF2B5EF4-FFF2-40B4-BE49-F238E27FC236}">
                <a16:creationId xmlns:a16="http://schemas.microsoft.com/office/drawing/2014/main" id="{F62CDD4A-F124-42B5-8CE8-08D5D312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2F6DB2"/>
                </a:solidFill>
                <a:latin typeface="Nunito"/>
                <a:ea typeface="Nunito"/>
                <a:cs typeface="Nunito"/>
              </a:rPr>
              <a:t>DEFINE</a:t>
            </a:r>
          </a:p>
        </p:txBody>
      </p:sp>
      <p:sp>
        <p:nvSpPr>
          <p:cNvPr id="9" name="slide-14-define-prompt">
            <a:extLst xmlns:a="http://schemas.openxmlformats.org/drawingml/2006/main">
              <a:ext uri="{FF2B5EF4-FFF2-40B4-BE49-F238E27FC236}">
                <a16:creationId xmlns:a16="http://schemas.microsoft.com/office/drawing/2014/main" id="{58A06782-F31F-4144-B0A5-CAF12002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47687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write the physical target</a:t>
            </a:r>
          </a:p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and residual</a:t>
            </a:r>
          </a:p>
        </p:txBody>
      </p:sp>
      <p:sp>
        <p:nvSpPr>
          <p:cNvPr id="10" name="slide-14-bracket-card">
            <a:extLst xmlns:a="http://schemas.openxmlformats.org/drawingml/2006/main">
              <a:ext uri="{FF2B5EF4-FFF2-40B4-BE49-F238E27FC236}">
                <a16:creationId xmlns:a16="http://schemas.microsoft.com/office/drawing/2014/main" id="{B5D2B172-08C6-4916-B7F0-B667911B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3429000" cy="447675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sp>
        <p:nvSpPr>
          <p:cNvPr id="11" name="slide-14-bracket-icon">
            <a:extLst xmlns:a="http://schemas.openxmlformats.org/drawingml/2006/main">
              <a:ext uri="{FF2B5EF4-FFF2-40B4-BE49-F238E27FC236}">
                <a16:creationId xmlns:a16="http://schemas.microsoft.com/office/drawing/2014/main" id="{4196A9B5-C312-4D72-A85F-43BB1C1F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623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B2B4C"/>
            </a:solidFill>
            <a:prstDash val="solid"/>
          </a:ln>
        </p:spPr>
      </p:sp>
      <p:sp>
        <p:nvSpPr>
          <p:cNvPr id="12" name="slide-14-bracket-icon-text">
            <a:extLst xmlns:a="http://schemas.openxmlformats.org/drawingml/2006/main">
              <a:ext uri="{FF2B5EF4-FFF2-40B4-BE49-F238E27FC236}">
                <a16:creationId xmlns:a16="http://schemas.microsoft.com/office/drawing/2014/main" id="{3CD632A9-55C3-4707-B91C-A0008EC5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7662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7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&lt; &gt;</a:t>
            </a:r>
          </a:p>
        </p:txBody>
      </p:sp>
      <p:sp>
        <p:nvSpPr>
          <p:cNvPr id="13" name="slide-14-bracket-label">
            <a:extLst xmlns:a="http://schemas.openxmlformats.org/drawingml/2006/main">
              <a:ext uri="{FF2B5EF4-FFF2-40B4-BE49-F238E27FC236}">
                <a16:creationId xmlns:a16="http://schemas.microsoft.com/office/drawing/2014/main" id="{EF5BE0DA-1732-49D8-9E8B-D1AAB2A5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67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BRACKET</a:t>
            </a:r>
          </a:p>
        </p:txBody>
      </p:sp>
      <p:sp>
        <p:nvSpPr>
          <p:cNvPr id="14" name="slide-14-bracket-prompt">
            <a:extLst xmlns:a="http://schemas.openxmlformats.org/drawingml/2006/main">
              <a:ext uri="{FF2B5EF4-FFF2-40B4-BE49-F238E27FC236}">
                <a16:creationId xmlns:a16="http://schemas.microsoft.com/office/drawing/2014/main" id="{DD8CAE43-2EEB-4B9D-B220-6CE768CA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47687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explain what opposite</a:t>
            </a:r>
          </a:p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endpoint signs mean</a:t>
            </a:r>
          </a:p>
        </p:txBody>
      </p:sp>
      <p:sp>
        <p:nvSpPr>
          <p:cNvPr id="15" name="slide-14-update-card">
            <a:extLst xmlns:a="http://schemas.openxmlformats.org/drawingml/2006/main">
              <a:ext uri="{FF2B5EF4-FFF2-40B4-BE49-F238E27FC236}">
                <a16:creationId xmlns:a16="http://schemas.microsoft.com/office/drawing/2014/main" id="{19A29D40-081C-4033-A525-9F25858E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57500"/>
            <a:ext cx="3429000" cy="447675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6" name="slide-14-update-icon">
            <a:extLst xmlns:a="http://schemas.openxmlformats.org/drawingml/2006/main">
              <a:ext uri="{FF2B5EF4-FFF2-40B4-BE49-F238E27FC236}">
                <a16:creationId xmlns:a16="http://schemas.microsoft.com/office/drawing/2014/main" id="{D7D7C5CA-336A-4B92-8693-6F645217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3623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98A16"/>
            </a:solidFill>
            <a:prstDash val="solid"/>
          </a:ln>
        </p:spPr>
      </p:sp>
      <p:sp>
        <p:nvSpPr>
          <p:cNvPr id="17" name="slide-14-update-icon-text">
            <a:extLst xmlns:a="http://schemas.openxmlformats.org/drawingml/2006/main">
              <a:ext uri="{FF2B5EF4-FFF2-40B4-BE49-F238E27FC236}">
                <a16:creationId xmlns:a16="http://schemas.microsoft.com/office/drawing/2014/main" id="{06112E70-CC2E-46EE-8D40-2C848523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7662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7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→</a:t>
            </a:r>
          </a:p>
        </p:txBody>
      </p:sp>
      <p:sp>
        <p:nvSpPr>
          <p:cNvPr id="18" name="slide-14-update-label">
            <a:extLst xmlns:a="http://schemas.openxmlformats.org/drawingml/2006/main">
              <a:ext uri="{FF2B5EF4-FFF2-40B4-BE49-F238E27FC236}">
                <a16:creationId xmlns:a16="http://schemas.microsoft.com/office/drawing/2014/main" id="{7BB3BE65-810D-4EFE-BD4C-20CEB191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667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C98A16"/>
                </a:solidFill>
                <a:latin typeface="Nunito"/>
                <a:ea typeface="Nunito"/>
                <a:cs typeface="Nunito"/>
              </a:rPr>
              <a:t>UPDATE</a:t>
            </a:r>
          </a:p>
        </p:txBody>
      </p:sp>
      <p:sp>
        <p:nvSpPr>
          <p:cNvPr id="19" name="slide-14-update-prompt">
            <a:extLst xmlns:a="http://schemas.openxmlformats.org/drawingml/2006/main">
              <a:ext uri="{FF2B5EF4-FFF2-40B4-BE49-F238E27FC236}">
                <a16:creationId xmlns:a16="http://schemas.microsoft.com/office/drawing/2014/main" id="{0720A249-20B4-4694-8CA7-4356369E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47687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describe one bisection midpoint</a:t>
            </a:r>
          </a:p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or Newton tangent step</a:t>
            </a:r>
          </a:p>
        </p:txBody>
      </p:sp>
      <p:sp>
        <p:nvSpPr>
          <p:cNvPr id="20" name="slide-14-check-card">
            <a:extLst xmlns:a="http://schemas.openxmlformats.org/drawingml/2006/main">
              <a:ext uri="{FF2B5EF4-FFF2-40B4-BE49-F238E27FC236}">
                <a16:creationId xmlns:a16="http://schemas.microsoft.com/office/drawing/2014/main" id="{F2BE58AD-5B0E-4EBA-8DC3-85B19266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857500"/>
            <a:ext cx="3429000" cy="447675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21" name="slide-14-check-icon">
            <a:extLst xmlns:a="http://schemas.openxmlformats.org/drawingml/2006/main">
              <a:ext uri="{FF2B5EF4-FFF2-40B4-BE49-F238E27FC236}">
                <a16:creationId xmlns:a16="http://schemas.microsoft.com/office/drawing/2014/main" id="{266D177F-4642-4632-8F1A-A6DC5AFD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3623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E8E45"/>
            </a:solidFill>
            <a:prstDash val="solid"/>
          </a:ln>
        </p:spPr>
      </p:sp>
      <p:sp>
        <p:nvSpPr>
          <p:cNvPr id="22" name="slide-14-check-icon-text">
            <a:extLst xmlns:a="http://schemas.openxmlformats.org/drawingml/2006/main">
              <a:ext uri="{FF2B5EF4-FFF2-40B4-BE49-F238E27FC236}">
                <a16:creationId xmlns:a16="http://schemas.microsoft.com/office/drawing/2014/main" id="{145FD389-DBFB-4B13-A38E-DED20209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476625"/>
            <a:ext cx="99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70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✓</a:t>
            </a:r>
          </a:p>
        </p:txBody>
      </p:sp>
      <p:sp>
        <p:nvSpPr>
          <p:cNvPr id="23" name="slide-14-check-label">
            <a:extLst xmlns:a="http://schemas.openxmlformats.org/drawingml/2006/main">
              <a:ext uri="{FF2B5EF4-FFF2-40B4-BE49-F238E27FC236}">
                <a16:creationId xmlns:a16="http://schemas.microsoft.com/office/drawing/2014/main" id="{C0831638-E19A-4A0A-AA48-A7054F11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667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100" b="1" i="0">
                <a:solidFill>
                  <a:srgbClr val="3E8E45"/>
                </a:solidFill>
                <a:latin typeface="Nunito"/>
                <a:ea typeface="Nunito"/>
                <a:cs typeface="Nunito"/>
              </a:rPr>
              <a:t>CHECK</a:t>
            </a:r>
          </a:p>
        </p:txBody>
      </p:sp>
      <p:sp>
        <p:nvSpPr>
          <p:cNvPr id="24" name="slide-14-check-prompt">
            <a:extLst xmlns:a="http://schemas.openxmlformats.org/drawingml/2006/main">
              <a:ext uri="{FF2B5EF4-FFF2-40B4-BE49-F238E27FC236}">
                <a16:creationId xmlns:a16="http://schemas.microsoft.com/office/drawing/2014/main" id="{F0516DC0-D7F1-4952-9921-1E1277C8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547687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substitute the root into the residual</a:t>
            </a:r>
          </a:p>
          <a:p xmlns:a="http://schemas.openxmlformats.org/drawingml/2006/main">
            <a:pPr algn="ctr">
              <a:defRPr sz="1800" b="0" i="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 b="0" i="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and state its physical unit</a:t>
            </a:r>
          </a:p>
        </p:txBody>
      </p:sp>
      <p:sp>
        <p:nvSpPr>
          <p:cNvPr id="25" name="slide-14-transfer-ribbon">
            <a:extLst xmlns:a="http://schemas.openxmlformats.org/drawingml/2006/main">
              <a:ext uri="{FF2B5EF4-FFF2-40B4-BE49-F238E27FC236}">
                <a16:creationId xmlns:a16="http://schemas.microsoft.com/office/drawing/2014/main" id="{82D28C9B-CCC3-40FA-B22D-7B226C5C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858125"/>
            <a:ext cx="131445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26" name="slide-14-transfer-text">
            <a:extLst xmlns:a="http://schemas.openxmlformats.org/drawingml/2006/main">
              <a:ext uri="{FF2B5EF4-FFF2-40B4-BE49-F238E27FC236}">
                <a16:creationId xmlns:a16="http://schemas.microsoft.com/office/drawing/2014/main" id="{4EF79935-895B-47B6-96CD-4CCB966A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039100"/>
            <a:ext cx="1238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75" b="1" i="0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practical transfer: projectile range  •  thin lens  •  RC threshold</a:t>
            </a:r>
          </a:p>
        </p:txBody>
      </p:sp>
    </p:spTree>
    <p:extLst>
      <p:ext uri="{BB962C8B-B14F-4D97-AF65-F5344CB8AC3E}">
        <p14:creationId xmlns:p14="http://schemas.microsoft.com/office/powerpoint/2010/main" val="504528141"/>
      </p:ext>
    </p:extLst>
  </p:cSld>
</p:sld>
</file>

<file path=ppt/theme/theme1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2026-09-02T15:40:51.3290000Z</dcterms:created>
  <dcterms:modified xsi:type="dcterms:W3CDTF">2026-09-02T15:40:51.3290000Z</dcterms:modified>
</coreProperties>
</file>
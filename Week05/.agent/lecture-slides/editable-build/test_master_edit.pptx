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912056b3604f26" /><Relationship Type="http://schemas.openxmlformats.org/officeDocument/2006/relationships/extended-properties" Target="/docProps/app.xml" Id="R95f708c82f524c7e" /><Relationship Type="http://schemas.openxmlformats.org/officeDocument/2006/relationships/officeDocument" Target="/ppt/presentation.xml" Id="R49fb36cd0d1f49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fe1c3967234a56"/>
    <p:sldMasterId xmlns:r="http://schemas.openxmlformats.org/officeDocument/2006/relationships" id="2147483650" r:id="Raf3f031f01604f70"/>
  </p:sldMasterIdLst>
  <p:notesMasterIdLst>
    <p:notesMasterId xmlns:r="http://schemas.openxmlformats.org/officeDocument/2006/relationships" r:id="Rcc073c6adcba4f8f"/>
  </p:notesMasterIdLst>
  <p:sldIdLst>
    <p:sldId xmlns:r="http://schemas.openxmlformats.org/officeDocument/2006/relationships" id="256" r:id="R0d5be314b6be459f"/>
    <p:sldId xmlns:r="http://schemas.openxmlformats.org/officeDocument/2006/relationships" id="257" r:id="R9e1e122958d043e8"/>
    <p:sldId xmlns:r="http://schemas.openxmlformats.org/officeDocument/2006/relationships" id="258" r:id="Rc9845789ff784fdc"/>
    <p:sldId xmlns:r="http://schemas.openxmlformats.org/officeDocument/2006/relationships" id="259" r:id="Rbfda5be94c3e4750"/>
    <p:sldId xmlns:r="http://schemas.openxmlformats.org/officeDocument/2006/relationships" id="260" r:id="R0687d3c8fef540a5"/>
    <p:sldId xmlns:r="http://schemas.openxmlformats.org/officeDocument/2006/relationships" id="261" r:id="R7cd799cd0f53419e"/>
    <p:sldId xmlns:r="http://schemas.openxmlformats.org/officeDocument/2006/relationships" id="262" r:id="R9f581bcbf510438b"/>
    <p:sldId xmlns:r="http://schemas.openxmlformats.org/officeDocument/2006/relationships" id="263" r:id="Rf52396d52ed34fa7"/>
    <p:sldId xmlns:r="http://schemas.openxmlformats.org/officeDocument/2006/relationships" id="264" r:id="Rcecbea41ebb0453f"/>
    <p:sldId xmlns:r="http://schemas.openxmlformats.org/officeDocument/2006/relationships" id="265" r:id="R64a71409c5da4735"/>
    <p:sldId xmlns:r="http://schemas.openxmlformats.org/officeDocument/2006/relationships" id="266" r:id="R73c42f228f93434c"/>
    <p:sldId xmlns:r="http://schemas.openxmlformats.org/officeDocument/2006/relationships" id="267" r:id="R8c33f02c87ef4383"/>
    <p:sldId xmlns:r="http://schemas.openxmlformats.org/officeDocument/2006/relationships" id="268" r:id="Rd5222706dcbd4bce"/>
    <p:sldId xmlns:r="http://schemas.openxmlformats.org/officeDocument/2006/relationships" id="269" r:id="Raac8878b35504512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38f2225a4b4251" /><Relationship Type="http://schemas.openxmlformats.org/officeDocument/2006/relationships/slideMaster" Target="/ppt/slideMasters/slideMaster1.xml" Id="R7cfe1c3967234a56" /><Relationship Type="http://schemas.openxmlformats.org/officeDocument/2006/relationships/slideMaster" Target="/ppt/slideMasters/slideMaster2.xml" Id="Raf3f031f01604f70" /><Relationship Type="http://schemas.openxmlformats.org/officeDocument/2006/relationships/notesMaster" Target="/ppt/notesMasters/notesMaster1.xml" Id="Rcc073c6adcba4f8f" /><Relationship Type="http://schemas.openxmlformats.org/officeDocument/2006/relationships/presProps" Target="/ppt/presProps.xml" Id="R48823d714fdf4659" /><Relationship Type="http://schemas.openxmlformats.org/officeDocument/2006/relationships/tableStyles" Target="/ppt/tableStyles.xml" Id="R62e444884ad142ed" /><Relationship Type="http://schemas.openxmlformats.org/officeDocument/2006/relationships/slide" Target="/ppt/slides/slide1.xml" Id="R0d5be314b6be459f" /><Relationship Type="http://schemas.openxmlformats.org/officeDocument/2006/relationships/slide" Target="/ppt/slides/slide2.xml" Id="R9e1e122958d043e8" /><Relationship Type="http://schemas.openxmlformats.org/officeDocument/2006/relationships/slide" Target="/ppt/slides/slide3.xml" Id="Rc9845789ff784fdc" /><Relationship Type="http://schemas.openxmlformats.org/officeDocument/2006/relationships/slide" Target="/ppt/slides/slide4.xml" Id="Rbfda5be94c3e4750" /><Relationship Type="http://schemas.openxmlformats.org/officeDocument/2006/relationships/slide" Target="/ppt/slides/slide5.xml" Id="R0687d3c8fef540a5" /><Relationship Type="http://schemas.openxmlformats.org/officeDocument/2006/relationships/slide" Target="/ppt/slides/slide6.xml" Id="R7cd799cd0f53419e" /><Relationship Type="http://schemas.openxmlformats.org/officeDocument/2006/relationships/slide" Target="/ppt/slides/slide7.xml" Id="R9f581bcbf510438b" /><Relationship Type="http://schemas.openxmlformats.org/officeDocument/2006/relationships/slide" Target="/ppt/slides/slide8.xml" Id="Rf52396d52ed34fa7" /><Relationship Type="http://schemas.openxmlformats.org/officeDocument/2006/relationships/slide" Target="/ppt/slides/slide9.xml" Id="Rcecbea41ebb0453f" /><Relationship Type="http://schemas.openxmlformats.org/officeDocument/2006/relationships/slide" Target="/ppt/slides/slide10.xml" Id="R64a71409c5da4735" /><Relationship Type="http://schemas.openxmlformats.org/officeDocument/2006/relationships/slide" Target="/ppt/slides/slide11.xml" Id="R73c42f228f93434c" /><Relationship Type="http://schemas.openxmlformats.org/officeDocument/2006/relationships/slide" Target="/ppt/slides/slide12.xml" Id="R8c33f02c87ef4383" /><Relationship Type="http://schemas.openxmlformats.org/officeDocument/2006/relationships/slide" Target="/ppt/slides/slide13.xml" Id="Rd5222706dcbd4bce" /><Relationship Type="http://schemas.openxmlformats.org/officeDocument/2006/relationships/slide" Target="/ppt/slides/slide14.xml" Id="Raac8878b355045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42499b150b744f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d242543f6c43fb" /><Relationship Type="http://schemas.openxmlformats.org/officeDocument/2006/relationships/notesMaster" Target="/ppt/notesMasters/notesMaster1.xml" Id="Rc3045b199e8147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d6039664214bf8" /><Relationship Type="http://schemas.openxmlformats.org/officeDocument/2006/relationships/notesMaster" Target="/ppt/notesMasters/notesMaster1.xml" Id="Rb280f19d37884d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eb79604df4ce1" /><Relationship Type="http://schemas.openxmlformats.org/officeDocument/2006/relationships/notesMaster" Target="/ppt/notesMasters/notesMaster1.xml" Id="Ra0ffc3eb7c154e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7f368b8d4b49f6" /><Relationship Type="http://schemas.openxmlformats.org/officeDocument/2006/relationships/notesMaster" Target="/ppt/notesMasters/notesMaster1.xml" Id="R48ccab4c6c6f46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7bb717fd194e28" /><Relationship Type="http://schemas.openxmlformats.org/officeDocument/2006/relationships/notesMaster" Target="/ppt/notesMasters/notesMaster1.xml" Id="Rdc37f32762ec44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1a7a268a454354" /><Relationship Type="http://schemas.openxmlformats.org/officeDocument/2006/relationships/notesMaster" Target="/ppt/notesMasters/notesMaster1.xml" Id="Re2822cad1a8643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9bdcea20224900" /><Relationship Type="http://schemas.openxmlformats.org/officeDocument/2006/relationships/notesMaster" Target="/ppt/notesMasters/notesMaster1.xml" Id="Ra1acf01f93c243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97267f527144cd" /><Relationship Type="http://schemas.openxmlformats.org/officeDocument/2006/relationships/notesMaster" Target="/ppt/notesMasters/notesMaster1.xml" Id="Rb492075febfd4e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5773f8658944e4" /><Relationship Type="http://schemas.openxmlformats.org/officeDocument/2006/relationships/notesMaster" Target="/ppt/notesMasters/notesMaster1.xml" Id="R8db392fcd54347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b47de4406a4b45" /><Relationship Type="http://schemas.openxmlformats.org/officeDocument/2006/relationships/notesMaster" Target="/ppt/notesMasters/notesMaster1.xml" Id="R64d263bad83043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5dd20d12924312" /><Relationship Type="http://schemas.openxmlformats.org/officeDocument/2006/relationships/notesMaster" Target="/ppt/notesMasters/notesMaster1.xml" Id="R5eaad9eacd2543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0d3231d890490a" /><Relationship Type="http://schemas.openxmlformats.org/officeDocument/2006/relationships/notesMaster" Target="/ppt/notesMasters/notesMaster1.xml" Id="Rd5a271a388bc43c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602bf4a7cb4902" /><Relationship Type="http://schemas.openxmlformats.org/officeDocument/2006/relationships/notesMaster" Target="/ppt/notesMasters/notesMaster1.xml" Id="R37e0fd04d6be45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6935f5f15c4c9e" /><Relationship Type="http://schemas.openxmlformats.org/officeDocument/2006/relationships/notesMaster" Target="/ppt/notesMasters/notesMaster1.xml" Id="Rd84e29f291934e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OpenAI ImageGen; PHY4605 Matte Scientific Cutaway visual-only projectile illustration; generated 2026-08-31</a:t>
            </a:r>
          </a:p>
          <a:p xmlns:a="http://schemas.openxmlformats.org/drawingml/2006/main">
            <a:r>
              <a:t>- Standard constant-acceleration kinematics; lecturer-authored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PHY4605 Course Topic and Difficulty Blueprint</a:t>
            </a:r>
          </a:p>
          <a:p xmlns:a="http://schemas.openxmlformats.org/drawingml/2006/main">
            <a:r>
              <a:t>- OpenAI ImageGen; PHY4605 Matte Scientific Cutaway visual-only eleven-sample motion illustration aligned with the editable index rail; generated 2026-08-31</a:t>
            </a:r>
          </a:p>
          <a:p xmlns:a="http://schemas.openxmlformats.org/drawingml/2006/main">
            <a:r>
              <a:t>- LaTeX array-moment assets: `array-moment-start.tex`, `array-moment-peak.tex`, and `array-moment-end.tex`; rendered by `render-equations-diagrams`; transparent PNGs inserted in the three editable callout cards;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arrayStart: TeX `t(1)=0.0\,\mathrm{s}`; SVG `.agent/lecture-slide-system/assets/equations/array-moment-start.svg`; PNG `.agent/lecture-slide-system/assets/equations/array-moment-start.png`; foreground `#2F6DB2`; target `258 × 42 px`; fit/crop `contain`; alt `LaTeX-rendered expression t(1)=0.0\,\mathrm{s}`; QA `render-equations-diagrams, PNG scale 6, retained TeX/SVG`</a:t>
            </a:r>
          </a:p>
          <a:p xmlns:a="http://schemas.openxmlformats.org/drawingml/2006/main">
            <a:r>
              <a:t>- arrayPeak: TeX `t(6)=2.0\,\mathrm{s}`; SVG `.agent/lecture-slide-system/assets/equations/array-moment-peak.svg`; PNG `.agent/lecture-slide-system/assets/equations/array-moment-peak.png`; foreground `#C98A16`; target `258 × 42 px`; fit/crop `contain`; alt `LaTeX-rendered expression t(6)=2.0\,\mathrm{s}`; QA `render-equations-diagrams, PNG scale 6, retained TeX/SVG`</a:t>
            </a:r>
          </a:p>
          <a:p xmlns:a="http://schemas.openxmlformats.org/drawingml/2006/main">
            <a:r>
              <a:t>- arrayEnd: TeX `t(11)=4.0\,\mathrm{s}`; SVG `.agent/lecture-slide-system/assets/equations/array-moment-end.svg`; PNG `.agent/lecture-slide-system/assets/equations/array-moment-end.png`; foreground `#3E8E45`; target `258 × 42 px`; fit/crop `contain`; alt `LaTeX-rendered expression t(11)=4.0\,\mathrm{s}`;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y(t) = 20t - 4.905t^2</a:t>
            </a:r>
          </a:p>
          <a:p xmlns:a="http://schemas.openxmlformats.org/drawingml/2006/main">
            <a:r>
              <a:t>- MATLAB figure `assets/matlab-figures/height_time_evidence.png`, generated by `source/generate_master_matlab_figures.m` from retained `height_time_evidence_data.mat` and `.csv`; title, axes, and all figure text use the LaTeX interpreter</a:t>
            </a:r>
          </a:p>
          <a:p xmlns:a="http://schemas.openxmlformats.org/drawingml/2006/main">
            <a:r>
              <a:t>- LaTeX equation assets: `height-zero.tex` and `height-near-zero.tex`; rendered by `render-equations-diagrams`; transparent PNGs inserted with editable explanatory labels; asset directory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`#2F6DB2`; target `300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heightNearZero: TeX `y\approx 0\,\mathrm{m}`; SVG `.agent/lecture-slide-system/assets/equations/height-near-zero.svg`; PNG `.agent/lecture-slide-system/assets/equations/height-near-zero.png`; foreground `#2F6DB2`; target `300 × 48 px`; fit/crop `contain`; alt `LaTeX-rendered expression y is approximately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initial-condition validation for vertical motion</a:t>
            </a:r>
          </a:p>
          <a:p xmlns:a="http://schemas.openxmlformats.org/drawingml/2006/main">
            <a:r>
              <a:t>- LaTeX display assets: `launch-time.tex`, `height-zero.tex`, and `computed-first-value.tex`; rendered by `render-equations-diagrams`; transparent PNGs inserted with alt text and matching SVG/TeX retained in `.agent/lecture-slide-system/assets/equations`</a:t>
            </a:r>
          </a:p>
          <a:p xmlns:a="http://schemas.openxmlformats.org/drawingml/2006/main">
            <a:r>
              <a:t>- OpenAI ImageGen; PHY4605 Matte Scientific Cutaway visual-only launch-boundary illustration;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launchTime: TeX `t=0\,\mathrm{s}`; SVG `.agent/lecture-slide-system/assets/equations/launch-time.svg`; PNG `.agent/lecture-slide-system/assets/equations/launch-time.png`; foreground `#0B2B4C`; target `255 × 42 px`; fit/crop `contain`; alt `LaTeX-rendered expression t equals zero seconds`; QA `render-equations-diagrams, PNG scale 6, retained TeX/SVG`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`#0B2B4C`; target `255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computedFirstValue: TeX `y(1)=0.000\,\mathrm{m}`; SVG `.agent/lecture-slide-system/assets/equations/computed-first-value.svg`; PNG `.agent/lecture-slide-system/assets/equations/computed-first-value.png`; foreground `#3E8E45`; target `520 × 48 px`; fit/crop `contain`; alt `LaTeX-rendered validation result y of one equals zero point zero zero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SI units for one-dimensional vertical motion</a:t>
            </a:r>
          </a:p>
          <a:p xmlns:a="http://schemas.openxmlformats.org/drawingml/2006/main">
            <a:r>
              <a:t>- LaTeX symbol/unit assets: `symbol-*.tex` and `unit-*.tex`; rendered by `render-equations-diagrams`; transparent PNGs inserted as display-math assets;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symbolT: TeX `t`; SVG `.agent/lecture-slide-system/assets/equations/symbol-t.svg`; PNG `.agent/lecture-slide-system/assets/equations/symbol-t.png`; foreground `#2F6DB2`; target `110 × 48 px`; fit/crop `contain`; alt `LaTeX-rendered symbol t`; QA `render-equations-diagrams, PNG scale 6, retained TeX/SVG`</a:t>
            </a:r>
          </a:p>
          <a:p xmlns:a="http://schemas.openxmlformats.org/drawingml/2006/main">
            <a:r>
              <a:t>- unitS: TeX `\mathrm{s}`; SVG `.agent/lecture-slide-system/assets/equations/unit-s.svg`; PNG `.agent/lecture-slide-system/assets/equations/unit-s.png`; foreground `#3F4B57`; target `42 × 17 px`; fit/crop `contain`; alt `LaTeX-rendered SI unit \mathrm{s}`; QA `render-equations-diagrams, PNG scale 6, retained TeX/SVG`</a:t>
            </a:r>
          </a:p>
          <a:p xmlns:a="http://schemas.openxmlformats.org/drawingml/2006/main">
            <a:r>
              <a:t>- symbolY: TeX `y`; SVG `.agent/lecture-slide-system/assets/equations/symbol-y.svg`; PNG `.agent/lecture-slide-system/assets/equations/symbol-y.png`; foreground `#2A9D9F`; target `110 × 48 px`; fit/crop `contain`; alt `LaTeX-rendered symbol y`; QA `render-equations-diagrams, PNG scale 6, retained TeX/SVG`</a:t>
            </a:r>
          </a:p>
          <a:p xmlns:a="http://schemas.openxmlformats.org/drawingml/2006/main">
            <a:r>
              <a:t>- unitM: TeX `\mathrm{m}`; SVG `.agent/lecture-slide-system/assets/equations/unit-m.svg`; PNG `.agent/lecture-slide-system/assets/equations/unit-m.png`; foreground `#3F4B57`; target `42 × 17 px`; fit/crop `contain`; alt `LaTeX-rendered SI unit \mathrm{m}`; QA `render-equations-diagrams, PNG scale 6, retained TeX/SVG`</a:t>
            </a:r>
          </a:p>
          <a:p xmlns:a="http://schemas.openxmlformats.org/drawingml/2006/main">
            <a:r>
              <a:t>- symbolV0: TeX `v_0`; SVG `.agent/lecture-slide-system/assets/equations/symbol-v0.svg`; PNG `.agent/lecture-slide-system/assets/equations/symbol-v0.png`; foreground `#C98A16`; target `110 × 48 px`; fit/crop `contain`; alt `LaTeX-rendered symbol v_0`; QA `render-equations-diagrams, PNG scale 6, retained TeX/SVG`</a:t>
            </a:r>
          </a:p>
          <a:p xmlns:a="http://schemas.openxmlformats.org/drawingml/2006/main">
            <a:r>
              <a:t>- unitMs1: TeX `\mathrm{m\,s^{-1}}`; SVG `.agent/lecture-slide-system/assets/equations/unit-ms1.svg`; PNG `.agent/lecture-slide-system/assets/equations/unit-ms1.png`; foreground `#3F4B57`; target `160 × 26 px`; fit/crop `contain`; alt `LaTeX-rendered SI unit \mathrm{m\,s^{-1}}`; QA `render-equations-diagrams, PNG scale 6, retained TeX/SVG`</a:t>
            </a:r>
          </a:p>
          <a:p xmlns:a="http://schemas.openxmlformats.org/drawingml/2006/main">
            <a:r>
              <a:t>- symbolG: TeX `g`; SVG `.agent/lecture-slide-system/assets/equations/symbol-g.svg`; PNG `.agent/lecture-slide-system/assets/equations/symbol-g.png`; foreground `#6F4B9B`; target `110 × 48 px`; fit/crop `contain`; alt `LaTeX-rendered symbol g`; QA `render-equations-diagrams, PNG scale 6, retained TeX/SVG`</a:t>
            </a:r>
          </a:p>
          <a:p xmlns:a="http://schemas.openxmlformats.org/drawingml/2006/main">
            <a:r>
              <a:t>- unitMs2: TeX `\mathrm{m\,s^{-2}}`; SVG `.agent/lecture-slide-system/assets/equations/unit-ms2.svg`; PNG `.agent/lecture-slide-system/assets/equations/unit-ms2.png`; foreground `#3F4B57`; target `160 × 26 px`; fit/crop `contain`; alt `LaTeX-rendered SI unit \mathrm{m\,s^{-2}}`;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MATLAB documentation: array operators and plot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MATLAB documentation: array operators and plot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initial-condition validation for vertical motion</a:t>
            </a:r>
          </a:p>
          <a:p xmlns:a="http://schemas.openxmlformats.org/drawingml/2006/main">
            <a:r>
              <a:t>- LaTeX display assets: `launch-time.tex`, `height-zero.tex`, and `computed-first-value.tex`; rendered by `render-equations-diagrams`; transparent PNGs inserted with alt text and matching SVG/TeX retained in `.agent/lecture-slide-system/assets/equations`</a:t>
            </a:r>
          </a:p>
          <a:p xmlns:a="http://schemas.openxmlformats.org/drawingml/2006/main">
            <a:r>
              <a:t>- OpenAI ImageGen; PHY4605 Matte Scientific Cutaway visual-only launch-boundary illustration;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launchTime: TeX `t=0\,\mathrm{s}`; SVG `.agent/lecture-slide-system/assets/equations/launch-time.svg`; PNG `.agent/lecture-slide-system/assets/equations/launch-time.png`; foreground `#0B2B4C`; target `255 × 42 px`; fit/crop `contain`; alt `LaTeX-rendered expression t equals zero seconds`; QA `render-equations-diagrams, PNG scale 6, retained TeX/SVG`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`#0B2B4C`; target `255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computedFirstValue: TeX `y(1)=0.000\,\mathrm{m}`; SVG `.agent/lecture-slide-system/assets/equations/computed-first-value.svg`; PNG `.agent/lecture-slide-system/assets/equations/computed-first-value.png`; foreground `#3E8E45`; target `520 × 48 px`; fit/crop `contain`; alt `LaTeX-rendered validation result y of one equals zero point zero zero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 equation</a:t>
            </a:r>
          </a:p>
          <a:p xmlns:a="http://schemas.openxmlformats.org/drawingml/2006/main">
            <a:r>
              <a:t>- LaTeX equation assets: `vertical-motion-position-equation.tex`, `term-y0.tex`, `term-v0t.tex`, `term-gravity.tex`, and `term-position.tex`; renderer `render-equations-diagrams`; transparent PNG fallback inserted after retaining matching SVG; foreground colours are encoded by semantic term role; target boxes use fit-contain; alt text attached; asset directory `.agent/lecture-slide-system/assets/equations`</a:t>
            </a:r>
          </a:p>
          <a:p xmlns:a="http://schemas.openxmlformats.org/drawingml/2006/main">
            <a:r>
              <a:t>- OpenAI ImageGen; PHY4605 Matte Scientific Cutaway visual-only strictly vertical y(t) time-sequence illustration, with no horizontal projectile path;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position: TeX `y(t)=y_0+v_0t-\frac{1}{2}gt^2`; SVG `.agent/lecture-slide-system/assets/equations/vertical-motion-position-equation.svg`; PNG `.agent/lecture-slide-system/assets/equations/vertical-motion-position-equation.png`; foreground `#0B2B4C`; target `700 × 144 px`; fit/crop `contain`; alt `LaTeX-rendered equation: y of t equals y subscript zero plus v subscript zero t minus one half g t squared`; QA `render-equations-diagrams, PNG scale 6, retained TeX/SVG`</a:t>
            </a:r>
          </a:p>
          <a:p xmlns:a="http://schemas.openxmlformats.org/drawingml/2006/main">
            <a:r>
              <a:t>- termY0: TeX `y_0`; SVG `.agent/lecture-slide-system/assets/equations/term-y0.svg`; PNG `.agent/lecture-slide-system/assets/equations/term-y0.png`; foreground `#0B2B4C`; target `302 × 48 px`; fit/crop `contain`; alt `LaTeX-rendered equation term y_0`; QA `render-equations-diagrams, PNG scale 6, retained TeX/SVG`</a:t>
            </a:r>
          </a:p>
          <a:p xmlns:a="http://schemas.openxmlformats.org/drawingml/2006/main">
            <a:r>
              <a:t>- termV0t: TeX `v_0t`; SVG `.agent/lecture-slide-system/assets/equations/term-v0t.svg`; PNG `.agent/lecture-slide-system/assets/equations/term-v0t.png`; foreground `#2F6DB2`; target `302 × 48 px`; fit/crop `contain`; alt `LaTeX-rendered equation term v_0t`; QA `render-equations-diagrams, PNG scale 6, retained TeX/SVG`</a:t>
            </a:r>
          </a:p>
          <a:p xmlns:a="http://schemas.openxmlformats.org/drawingml/2006/main">
            <a:r>
              <a:t>- termGravity: TeX `-\frac{1}{2}gt^2`; SVG `.agent/lecture-slide-system/assets/equations/term-gravity.svg`; PNG `.agent/lecture-slide-system/assets/equations/term-gravity.png`; foreground `#C98A16`; target `302 × 90 px`; fit/crop `contain`; alt `LaTeX-rendered equation term -\frac{1}{2}gt^2`; QA `render-equations-diagrams, PNG scale 6, retained TeX/SVG`</a:t>
            </a:r>
          </a:p>
          <a:p xmlns:a="http://schemas.openxmlformats.org/drawingml/2006/main">
            <a:r>
              <a:t>- termPosition: TeX `y(t)`; SVG `.agent/lecture-slide-system/assets/equations/term-position.svg`; PNG `.agent/lecture-slide-system/assets/equations/term-position.png`; foreground `#3E8E45`; target `302 × 48 px`; fit/crop `contain`; alt `LaTeX-rendered equation term y(t)`;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MATLAB documentation: array operators and plot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kinematics; comparison calculated for v0 = 20 m/s and 15 m/s</a:t>
            </a:r>
          </a:p>
          <a:p xmlns:a="http://schemas.openxmlformats.org/drawingml/2006/main">
            <a:r>
              <a:t>- MATLAB figure `assets/matlab-figures/launch_speed_comparison.png`, generated by `source/generate_master_matlab_figures.m` from retained `launch_speed_comparison_data.mat` and `.csv`; title, axes, legend, and all figure text use the LaTeX interpreter</a:t>
            </a:r>
          </a:p>
          <a:p xmlns:a="http://schemas.openxmlformats.org/drawingml/2006/main">
            <a:r>
              <a:t>- LaTeX display assets: `comparison-v0.tex` and `comparison-g-y0.tex`; rendered by `render-equations-diagrams`; transparent PNGs inserted for the changed/fixed parameter labels; matching SVG and TeX retained in `.agent/lecture-slide-system/assets/equations`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comparisonV0: TeX `v_0`; SVG `.agent/lecture-slide-system/assets/equations/comparison-v0.svg`; PNG `.agent/lecture-slide-system/assets/equations/comparison-v0.png`; foreground `#2F6DB2`; target `58 × 34 px`; fit/crop `contain`; alt `LaTeX-rendered symbol v subscript zero`; QA `render-equations-diagrams, PNG scale 6, retained TeX/SVG`</a:t>
            </a:r>
          </a:p>
          <a:p xmlns:a="http://schemas.openxmlformats.org/drawingml/2006/main">
            <a:r>
              <a:t>- comparisonGY0: TeX `g,\;y_0`; SVG `.agent/lecture-slide-system/assets/equations/comparison-g-y0.svg`; PNG `.agent/lecture-slide-system/assets/equations/comparison-g-y0.png`; foreground `#697684`; target `130 × 34 px`; fit/crop `contain`; alt `LaTeX-rendered expression g and y subscript zero`;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initial-condition validation for vertical motion</a:t>
            </a:r>
          </a:p>
          <a:p xmlns:a="http://schemas.openxmlformats.org/drawingml/2006/main">
            <a:r>
              <a:t>- LaTeX display assets: `launch-time.tex`, `height-zero.tex`, and `computed-first-value.tex`; rendered by `render-equations-diagrams`; transparent PNGs inserted with alt text and matching SVG/TeX retained in `.agent/lecture-slide-system/assets/equations`</a:t>
            </a:r>
          </a:p>
          <a:p xmlns:a="http://schemas.openxmlformats.org/drawingml/2006/main">
            <a:r>
              <a:t>- OpenAI ImageGen; PHY4605 Matte Scientific Cutaway visual-only launch-boundary illustration;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launchTime: TeX `t=0\,\mathrm{s}`; SVG `.agent/lecture-slide-system/assets/equations/launch-time.svg`; PNG `.agent/lecture-slide-system/assets/equations/launch-time.png`; foreground `#0B2B4C`; target `255 × 42 px`; fit/crop `contain`; alt `LaTeX-rendered expression t equals zero seconds`; QA `render-equations-diagrams, PNG scale 6, retained TeX/SVG`</a:t>
            </a:r>
          </a:p>
          <a:p xmlns:a="http://schemas.openxmlformats.org/drawingml/2006/main">
            <a:r>
              <a:t>- heightZero: TeX `y=0\,\mathrm{m}`; SVG `.agent/lecture-slide-system/assets/equations/height-zero.svg`; PNG `.agent/lecture-slide-system/assets/equations/height-zero.png`; foreground `#0B2B4C`; target `255 × 48 px`; fit/crop `contain`; alt `LaTeX-rendered expression y equals zero metres`; QA `render-equations-diagrams, PNG scale 6, retained TeX/SVG`</a:t>
            </a:r>
          </a:p>
          <a:p xmlns:a="http://schemas.openxmlformats.org/drawingml/2006/main">
            <a:r>
              <a:t>- computedFirstValue: TeX `y(1)=0.000\,\mathrm{m}`; SVG `.agent/lecture-slide-system/assets/equations/computed-first-value.svg`; PNG `.agent/lecture-slide-system/assets/equations/computed-first-value.png`; foreground `#3E8E45`; target `520 × 48 px`; fit/crop `contain`; alt `LaTeX-rendered validation result y of one equals zero point zero zero zero metres`;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Standard constant-acceleration kinematics equation</a:t>
            </a:r>
          </a:p>
          <a:p xmlns:a="http://schemas.openxmlformats.org/drawingml/2006/main">
            <a:r>
              <a:t>- LaTeX equation assets: `vertical-motion-position-equation.tex`, `term-y0.tex`, `term-v0t.tex`, `term-gravity.tex`, and `term-position.tex`; renderer `render-equations-diagrams`; transparent PNG fallback inserted after retaining matching SVG; foreground colours are encoded by semantic term role; target boxes use fit-contain; alt text attached; asset directory `.agent/lecture-slide-system/assets/equations`</a:t>
            </a:r>
          </a:p>
          <a:p xmlns:a="http://schemas.openxmlformats.org/drawingml/2006/main">
            <a:r>
              <a:t>- OpenAI ImageGen; PHY4605 Matte Scientific Cutaway visual-only strictly vertical y(t) time-sequence illustration, with no horizontal projectile path; generated 2026-08-31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[Equation provenance]</a:t>
            </a:r>
          </a:p>
          <a:p xmlns:a="http://schemas.openxmlformats.org/drawingml/2006/main">
            <a:r>
              <a:t>- position: TeX `y(t)=y_0+v_0t-\frac{1}{2}gt^2`; SVG `.agent/lecture-slide-system/assets/equations/vertical-motion-position-equation.svg`; PNG `.agent/lecture-slide-system/assets/equations/vertical-motion-position-equation.png`; foreground `#0B2B4C`; target `700 × 144 px`; fit/crop `contain`; alt `LaTeX-rendered equation: y of t equals y subscript zero plus v subscript zero t minus one half g t squared`; QA `render-equations-diagrams, PNG scale 6, retained TeX/SVG`</a:t>
            </a:r>
          </a:p>
          <a:p xmlns:a="http://schemas.openxmlformats.org/drawingml/2006/main">
            <a:r>
              <a:t>- termY0: TeX `y_0`; SVG `.agent/lecture-slide-system/assets/equations/term-y0.svg`; PNG `.agent/lecture-slide-system/assets/equations/term-y0.png`; foreground `#0B2B4C`; target `302 × 48 px`; fit/crop `contain`; alt `LaTeX-rendered equation term y_0`; QA `render-equations-diagrams, PNG scale 6, retained TeX/SVG`</a:t>
            </a:r>
          </a:p>
          <a:p xmlns:a="http://schemas.openxmlformats.org/drawingml/2006/main">
            <a:r>
              <a:t>- termV0t: TeX `v_0t`; SVG `.agent/lecture-slide-system/assets/equations/term-v0t.svg`; PNG `.agent/lecture-slide-system/assets/equations/term-v0t.png`; foreground `#2F6DB2`; target `302 × 48 px`; fit/crop `contain`; alt `LaTeX-rendered equation term v_0t`; QA `render-equations-diagrams, PNG scale 6, retained TeX/SVG`</a:t>
            </a:r>
          </a:p>
          <a:p xmlns:a="http://schemas.openxmlformats.org/drawingml/2006/main">
            <a:r>
              <a:t>- termGravity: TeX `-\frac{1}{2}gt^2`; SVG `.agent/lecture-slide-system/assets/equations/term-gravity.svg`; PNG `.agent/lecture-slide-system/assets/equations/term-gravity.png`; foreground `#C98A16`; target `302 × 90 px`; fit/crop `contain`; alt `LaTeX-rendered equation term -\frac{1}{2}gt^2`; QA `render-equations-diagrams, PNG scale 6, retained TeX/SVG`</a:t>
            </a:r>
          </a:p>
          <a:p xmlns:a="http://schemas.openxmlformats.org/drawingml/2006/main">
            <a:r>
              <a:t>- termPosition: TeX `y(t)`; SVG `.agent/lecture-slide-system/assets/equations/term-position.svg`; PNG `.agent/lecture-slide-system/assets/equations/term-position.png`; foreground `#3E8E45`; target `302 × 48 px`; fit/crop `contain`; alt `LaTeX-rendered equation term y(t)`; QA `render-equations-diagrams, PNG scale 6, retained TeX/SVG`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PHY4605 Lecture Slide Deck Design Specification</a:t>
            </a:r>
          </a:p>
          <a:p xmlns:a="http://schemas.openxmlformats.org/drawingml/2006/main">
            <a:r>
              <a:t>- PHY4605 editable master proof review checkpoint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0afb6775042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a6811978d4436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5cc1c1d9496474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20a758b7214ad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ecacfab2e944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CE487BE1-EAC4-4233-A86B-D5E45C702F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729161A9-542D-4A02-986E-0C91338B5D67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8FC82273-B142-42E3-90EF-B90A4084822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Openin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course tag treatment">
            <a:extLst xmlns:a="http://schemas.openxmlformats.org/drawingml/2006/main">
              <a:ext uri="{FF2B5EF4-FFF2-40B4-BE49-F238E27FC236}">
                <a16:creationId xmlns:a16="http://schemas.microsoft.com/office/drawing/2014/main" id="{C970D001-18B3-4C08-BD81-2EA64264FDD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095375" y="12001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1950" b="1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CB07F723-4669-4504-939A-2225C5CEC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2333625"/>
            <a:ext cx="10287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A5588E87-C009-4001-95A8-3DDBD40003D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4524375"/>
            <a:ext cx="1123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5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Content T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96009640-822E-4F51-BA56-74FF8D3D56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D1F7E078-62FE-425C-BBF3-02A3B42D011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970A2395-3444-46A6-8C53-774C06DEEB21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Content T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BB77BCC3-B6C9-4F2C-B44F-402F50F38B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6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5CCE7C86-DC5E-41F3-AC1A-B25CCD182ABF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3F59F9FC-79B9-4DCB-8585-53A715049F73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Content T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F1CABB71-339A-41E7-AD02-24FB68EF9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42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C93D684E-5C72-4851-9ABA-2BECEF4DECD1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0F7B378E-BF41-4D32-A704-25DBEEF51E0F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0b056a656a4840" /><Relationship Type="http://schemas.openxmlformats.org/officeDocument/2006/relationships/slideLayout" Target="/ppt/slideLayouts/slideLayout1.xml" Id="R641e6156fb204da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2a00cf4c15c4cd0" /><Relationship Type="http://schemas.openxmlformats.org/officeDocument/2006/relationships/slideLayout" Target="/ppt/slideLayouts/slideLayout2.xml" Id="R6ffd4c0b0fd64967" /><Relationship Type="http://schemas.openxmlformats.org/officeDocument/2006/relationships/slideLayout" Target="/ppt/slideLayouts/slideLayout3.xml" Id="Rea8e418649864345" /><Relationship Type="http://schemas.openxmlformats.org/officeDocument/2006/relationships/slideLayout" Target="/ppt/slideLayouts/slideLayout4.xml" Id="R6af7ed50bbd640de" /><Relationship Type="http://schemas.openxmlformats.org/officeDocument/2006/relationships/slideLayout" Target="/ppt/slideLayouts/slideLayout5.xml" Id="R95e0668ef60648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787735D3-2169-4C50-B0B0-5827C20AB2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E8BAA908-C6D7-4FBA-9B4B-C2C7641ED4F0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0AE49B81-E30E-47BD-A92E-A9E988E4B74A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1e6156fb204d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PHY4605 Borderless White Mast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3ED83AF2-928F-4EF9-BF93-E2C342E68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endParaRPr sz="510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B88668E9-4AA3-4EB7-A069-35C3066A129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endParaRPr sz="22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12" name="PHY4605 inherited slide-number treatment">
            <a:extLst xmlns:a="http://schemas.openxmlformats.org/drawingml/2006/main">
              <a:ext uri="{FF2B5EF4-FFF2-40B4-BE49-F238E27FC236}">
                <a16:creationId xmlns:a16="http://schemas.microsoft.com/office/drawing/2014/main" id="{EE87D9E0-C4C5-4799-86EA-09A7E319F9EE}"/>
              </a:ext>
            </a:extLst>
          </p:cNvPr>
          <p:cNvSpPr>
            <a:spLocks xmlns:a="http://schemas.openxmlformats.org/drawingml/2006/main" noGrp="1"/>
          </p:cNvSpPr>
          <p:nvPr>
            <p:ph type="sldNum" idx="0"/>
          </p:nvPr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endParaRPr sz="1650">
              <a:solidFill>
                <a:srgbClr val="697684"/>
              </a:solidFill>
              <a:latin typeface="Nunito"/>
              <a:ea typeface="Nunito"/>
              <a:cs typeface="Nunito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6ffd4c0b0fd64967"/>
    <p:sldLayoutId xmlns:r="http://schemas.openxmlformats.org/officeDocument/2006/relationships" id="2147483652" r:id="Rea8e418649864345"/>
    <p:sldLayoutId xmlns:r="http://schemas.openxmlformats.org/officeDocument/2006/relationships" id="2147483653" r:id="R6af7ed50bbd640de"/>
    <p:sldLayoutId xmlns:r="http://schemas.openxmlformats.org/officeDocument/2006/relationships" id="2147483654" r:id="R95e0668ef60648e5"/>
  </p:sldLayoutIdLst>
</p:sldMaster>
</file>

<file path=ppt/slideMasters/theme/theme2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08703ca439459d" /><Relationship Type="http://schemas.openxmlformats.org/officeDocument/2006/relationships/image" Target="/ppt/media/image.png" Id="Rdaf0832787e94734" /><Relationship Type="http://schemas.openxmlformats.org/officeDocument/2006/relationships/notesSlide" Target="/ppt/notesSlides/notesSlide1.xml" Id="R595488b42cc64a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865804362bb48e2" /><Relationship Type="http://schemas.openxmlformats.org/officeDocument/2006/relationships/image" Target="/ppt/media/image2.png" Id="R8d728bac00fc448b" /><Relationship Type="http://schemas.openxmlformats.org/officeDocument/2006/relationships/image" Target="/ppt/media/image3.png" Id="R36f6046c091f469b" /><Relationship Type="http://schemas.openxmlformats.org/officeDocument/2006/relationships/image" Target="/ppt/media/image4.png" Id="R9ae85959e662474a" /><Relationship Type="http://schemas.openxmlformats.org/officeDocument/2006/relationships/image" Target="/ppt/media/image5.png" Id="R8ccb4442459a4855" /><Relationship Type="http://schemas.openxmlformats.org/officeDocument/2006/relationships/notesSlide" Target="/ppt/notesSlides/notesSlide2.xml" Id="R266fd24303c046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80c5e287f474cf1" /><Relationship Type="http://schemas.openxmlformats.org/officeDocument/2006/relationships/image" Target="/ppt/media/image6.png" Id="R2c94379ba45d457f" /><Relationship Type="http://schemas.openxmlformats.org/officeDocument/2006/relationships/image" Target="/ppt/media/image7.png" Id="R2ffa97bfa1f04ffc" /><Relationship Type="http://schemas.openxmlformats.org/officeDocument/2006/relationships/image" Target="/ppt/media/image8.png" Id="Ra2ef7df7b4b94bfb" /><Relationship Type="http://schemas.openxmlformats.org/officeDocument/2006/relationships/notesSlide" Target="/ppt/notesSlides/notesSlide3.xml" Id="R9e6a99e9622e4f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4d9e7353b5a4182" /><Relationship Type="http://schemas.openxmlformats.org/officeDocument/2006/relationships/image" Target="/ppt/media/image9.png" Id="Reb541ec20be34b2a" /><Relationship Type="http://schemas.openxmlformats.org/officeDocument/2006/relationships/image" Target="/ppt/media/image10.png" Id="Rf8c1ae46e3154285" /><Relationship Type="http://schemas.openxmlformats.org/officeDocument/2006/relationships/image" Target="/ppt/media/image11.png" Id="R8833a6fdb309421a" /><Relationship Type="http://schemas.openxmlformats.org/officeDocument/2006/relationships/image" Target="/ppt/media/image12.png" Id="R484430709f814733" /><Relationship Type="http://schemas.openxmlformats.org/officeDocument/2006/relationships/notesSlide" Target="/ppt/notesSlides/notesSlide4.xml" Id="R8c2fc3f5d3bb4f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5dd50d17634653" /><Relationship Type="http://schemas.openxmlformats.org/officeDocument/2006/relationships/image" Target="/ppt/media/image13.png" Id="Re85a8b6c1d464037" /><Relationship Type="http://schemas.openxmlformats.org/officeDocument/2006/relationships/image" Target="/ppt/media/image14.png" Id="R214dc2be7c034fb9" /><Relationship Type="http://schemas.openxmlformats.org/officeDocument/2006/relationships/image" Target="/ppt/media/image15.png" Id="Raf0a662a4e81429a" /><Relationship Type="http://schemas.openxmlformats.org/officeDocument/2006/relationships/image" Target="/ppt/media/image16.png" Id="Rc19bf208a9c34a56" /><Relationship Type="http://schemas.openxmlformats.org/officeDocument/2006/relationships/image" Target="/ppt/media/image17.png" Id="Rac0e569cc69d45c7" /><Relationship Type="http://schemas.openxmlformats.org/officeDocument/2006/relationships/image" Target="/ppt/media/image18.png" Id="Rb40ac568cd1442a5" /><Relationship Type="http://schemas.openxmlformats.org/officeDocument/2006/relationships/image" Target="/ppt/media/image19.png" Id="R22a816043c7644d8" /><Relationship Type="http://schemas.openxmlformats.org/officeDocument/2006/relationships/image" Target="/ppt/media/image20.png" Id="Raf0d16b636734827" /><Relationship Type="http://schemas.openxmlformats.org/officeDocument/2006/relationships/notesSlide" Target="/ppt/notesSlides/notesSlide5.xml" Id="R43d5f49f540245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ee0201eaee94d77" /><Relationship Type="http://schemas.openxmlformats.org/officeDocument/2006/relationships/notesSlide" Target="/ppt/notesSlides/notesSlide6.xml" Id="R7f2ea5b83839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b0673903474629" /><Relationship Type="http://schemas.openxmlformats.org/officeDocument/2006/relationships/notesSlide" Target="/ppt/notesSlides/notesSlide7.xml" Id="R441be95f425847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6ad6fc4d72346e8" /><Relationship Type="http://schemas.openxmlformats.org/officeDocument/2006/relationships/image" Target="/ppt/media/image9.png" Id="R22fdb2f367984605" /><Relationship Type="http://schemas.openxmlformats.org/officeDocument/2006/relationships/image" Target="/ppt/media/image10.png" Id="R7c6f68f814c74616" /><Relationship Type="http://schemas.openxmlformats.org/officeDocument/2006/relationships/image" Target="/ppt/media/image11.png" Id="Rfe5d8343e5bc4104" /><Relationship Type="http://schemas.openxmlformats.org/officeDocument/2006/relationships/image" Target="/ppt/media/image12.png" Id="R62f1bd8a2aff49ab" /><Relationship Type="http://schemas.openxmlformats.org/officeDocument/2006/relationships/notesSlide" Target="/ppt/notesSlides/notesSlide8.xml" Id="R5e9a625f702f4fa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22442fa07b4822" /><Relationship Type="http://schemas.openxmlformats.org/officeDocument/2006/relationships/image" Target="/ppt/media/image21.png" Id="R4a947a2e417d44b8" /><Relationship Type="http://schemas.openxmlformats.org/officeDocument/2006/relationships/image" Target="/ppt/media/image22.png" Id="Ra699ad86498943ec" /><Relationship Type="http://schemas.openxmlformats.org/officeDocument/2006/relationships/image" Target="/ppt/media/image23.png" Id="R3835980fc31846c5" /><Relationship Type="http://schemas.openxmlformats.org/officeDocument/2006/relationships/image" Target="/ppt/media/image24.png" Id="R79826ef98a4c417b" /><Relationship Type="http://schemas.openxmlformats.org/officeDocument/2006/relationships/image" Target="/ppt/media/image25.png" Id="Rb71c9c4395f04617" /><Relationship Type="http://schemas.openxmlformats.org/officeDocument/2006/relationships/image" Target="/ppt/media/image26.png" Id="R72c0f6b39ec34664" /><Relationship Type="http://schemas.openxmlformats.org/officeDocument/2006/relationships/notesSlide" Target="/ppt/notesSlides/notesSlide9.xml" Id="R0884ce57a9fd40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9e0df4757a4b8f" /><Relationship Type="http://schemas.openxmlformats.org/officeDocument/2006/relationships/notesSlide" Target="/ppt/notesSlides/notesSlide10.xml" Id="R1ec284065d814b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822a3441d8c4d6f" /><Relationship Type="http://schemas.openxmlformats.org/officeDocument/2006/relationships/image" Target="/ppt/media/image27.png" Id="R970467b9141a49d2" /><Relationship Type="http://schemas.openxmlformats.org/officeDocument/2006/relationships/image" Target="/ppt/media/image28.png" Id="Ra95aa15828f84252" /><Relationship Type="http://schemas.openxmlformats.org/officeDocument/2006/relationships/image" Target="/ppt/media/image29.png" Id="Radd4934ca7ab4890" /><Relationship Type="http://schemas.openxmlformats.org/officeDocument/2006/relationships/notesSlide" Target="/ppt/notesSlides/notesSlide11.xml" Id="R829caff010ef4c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c814d3953cb43ba" /><Relationship Type="http://schemas.openxmlformats.org/officeDocument/2006/relationships/image" Target="/ppt/media/image9.png" Id="Rea2ea944ed884c9f" /><Relationship Type="http://schemas.openxmlformats.org/officeDocument/2006/relationships/image" Target="/ppt/media/image10.png" Id="R4f20ae4603bb4747" /><Relationship Type="http://schemas.openxmlformats.org/officeDocument/2006/relationships/image" Target="/ppt/media/image11.png" Id="R4df0ef392aa04f5c" /><Relationship Type="http://schemas.openxmlformats.org/officeDocument/2006/relationships/image" Target="/ppt/media/image12.png" Id="R4668cfc05db4456e" /><Relationship Type="http://schemas.openxmlformats.org/officeDocument/2006/relationships/notesSlide" Target="/ppt/notesSlides/notesSlide12.xml" Id="Rd868741b609642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12451c59204a83" /><Relationship Type="http://schemas.openxmlformats.org/officeDocument/2006/relationships/image" Target="/ppt/media/image21.png" Id="Rc4aec9b7de074ffb" /><Relationship Type="http://schemas.openxmlformats.org/officeDocument/2006/relationships/image" Target="/ppt/media/image22.png" Id="R8eaa15af4fb04e48" /><Relationship Type="http://schemas.openxmlformats.org/officeDocument/2006/relationships/image" Target="/ppt/media/image23.png" Id="R8ab5f49ca18149c9" /><Relationship Type="http://schemas.openxmlformats.org/officeDocument/2006/relationships/image" Target="/ppt/media/image24.png" Id="Rb443024a0bd84fb3" /><Relationship Type="http://schemas.openxmlformats.org/officeDocument/2006/relationships/image" Target="/ppt/media/image25.png" Id="Rf4b4d75a7dcd466a" /><Relationship Type="http://schemas.openxmlformats.org/officeDocument/2006/relationships/image" Target="/ppt/media/image26.png" Id="R7d36ac5cb886407b" /><Relationship Type="http://schemas.openxmlformats.org/officeDocument/2006/relationships/notesSlide" Target="/ppt/notesSlides/notesSlide13.xml" Id="R9a7ead48a49945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b2e6676df2a4d2a" /><Relationship Type="http://schemas.openxmlformats.org/officeDocument/2006/relationships/notesSlide" Target="/ppt/notesSlides/notesSlide14.xml" Id="R7b1c1b21091445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visual-projectil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0832787e94734"/>
          <a:stretch xmlns:a="http://schemas.openxmlformats.org/drawingml/2006/main"/>
        </p:blipFill>
        <p:spPr>
          <a:xfrm xmlns:a="http://schemas.openxmlformats.org/drawingml/2006/main">
            <a:off x="12747625" y="1905000"/>
            <a:ext cx="3365500" cy="5048250"/>
          </a:xfrm>
          <a:prstGeom xmlns:a="http://schemas.openxmlformats.org/drawingml/2006/main" prst="rect">
            <a:avLst/>
          </a:prstGeom>
        </p:spPr>
      </p:pic>
      <p:sp>
        <p:nvSpPr>
          <p:cNvPr id="20" name="PHY4605 inherited title treatment">
            <a:extLst xmlns:a="http://schemas.openxmlformats.org/drawingml/2006/main">
              <a:ext uri="{FF2B5EF4-FFF2-40B4-BE49-F238E27FC236}">
                <a16:creationId xmlns:a16="http://schemas.microsoft.com/office/drawing/2014/main" id="{CB07F723-4669-4504-939A-2225C5CEC8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61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From a Physical Target to a Checkable Root</a:t>
            </a:r>
            <a:endParaRPr sz="6150" b="1">
              <a:solidFill>
                <a:srgbClr val="0B2B4C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1" name="PHY4605 inherited subtitle treatment">
            <a:extLst xmlns:a="http://schemas.openxmlformats.org/drawingml/2006/main">
              <a:ext uri="{FF2B5EF4-FFF2-40B4-BE49-F238E27FC236}">
                <a16:creationId xmlns:a16="http://schemas.microsoft.com/office/drawing/2014/main" id="{A5588E87-C009-4001-95A8-3DDBD40003D9}"/>
              </a:ext>
            </a:extLst>
          </p:cNvPr>
          <p:cNvSpPr>
            <a:spLocks xmlns:a="http://schemas.openxmlformats.org/drawingml/2006/main" noGrp="1"/>
          </p:cNvSpPr>
          <p:nvPr>
            <p:ph type="sub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Week 5 | Projectile range as a checkable residual</a:t>
            </a:r>
            <a:endParaRPr sz="2550">
              <a:solidFill>
                <a:srgbClr val="3F4B57"/>
              </a:solidFill>
              <a:latin typeface="Nunito"/>
              <a:ea typeface="Nunito"/>
              <a:cs typeface="Nunito"/>
            </a:endParaRPr>
          </a:p>
        </p:txBody>
      </p:sp>
      <p:sp>
        <p:nvSpPr>
          <p:cNvPr id="22" name="test-box">
            <a:extLst xmlns:a="http://schemas.openxmlformats.org/drawingml/2006/main">
              <a:ext uri="{FF2B5EF4-FFF2-40B4-BE49-F238E27FC236}">
                <a16:creationId xmlns:a16="http://schemas.microsoft.com/office/drawing/2014/main" id="{78DEBE8C-A889-4D85-A157-8F11DFD5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0"/>
            <a:ext cx="5715000" cy="1143000"/>
          </a:xfrm>
          <a:prstGeom xmlns:a="http://schemas.openxmlformats.org/drawingml/2006/main" prst="roundRect">
            <a:avLst>
              <a:gd name="adj" fmla="val 1833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  <p:txBody>
          <a:bodyPr xmlns:a="http://schemas.openxmlformats.org/drawingml/2006/main" lIns="228600" tIns="152400" rIns="228600" bIns="1524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Editable test box</a:t>
            </a:r>
          </a:p>
        </p:txBody>
      </p:sp>
    </p:spTree>
    <p:extLst>
      <p:ext uri="{BB962C8B-B14F-4D97-AF65-F5344CB8AC3E}">
        <p14:creationId xmlns:p14="http://schemas.microsoft.com/office/powerpoint/2010/main" val="15949950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T1">
            <a:extLst xmlns:a="http://schemas.openxmlformats.org/drawingml/2006/main">
              <a:ext uri="{FF2B5EF4-FFF2-40B4-BE49-F238E27FC236}">
                <a16:creationId xmlns:a16="http://schemas.microsoft.com/office/drawing/2014/main" id="{BB593B5A-0F05-4188-A590-0AD5A0C1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Arrays store physical moments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C9983D9D-7E6C-44BB-9310-7549D160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Each index identifies one measurement time</a:t>
            </a:r>
          </a:p>
        </p:txBody>
      </p:sp>
      <p:pic>
        <p:nvPicPr>
          <p:cNvPr id="59" name="visual-array-mo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28bac00fc448b"/>
          <a:stretch xmlns:a="http://schemas.openxmlformats.org/drawingml/2006/main"/>
        </p:blipFill>
        <p:spPr>
          <a:xfrm xmlns:a="http://schemas.openxmlformats.org/drawingml/2006/main">
            <a:off x="4653199" y="2047875"/>
            <a:ext cx="8981603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D43EB-01AA-4F24-94F6-D8292AE8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476875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AB4B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DE747-0669-43AF-895F-1A7A2EEF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5457D1-41F8-4AA6-973E-FEF3F059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EC19F-1316-4BB3-990C-7FB4B43C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CD317-C9D4-4105-A147-85A3DC5C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EA819-FFF2-45E7-A86A-6BA75EE3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E04C7-8E5B-453D-90D7-483A68AA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3ED37C-04B4-4941-9C82-3020724C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66040-6D5A-4384-B50F-32D1C2D0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E23CD-AB86-4D7F-A2A5-FF589E2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0AC9D-A1AE-4EA5-BC76-A0ABA52A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1AFF2-F2A2-4252-B6D2-F213F7C8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F9D8FC-848B-47A7-BB22-E3695C90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D0404-BADC-4C82-B3D3-DBD6038E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24E6E6-AE2C-43A2-913B-33643A1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A5ECA6-B1AA-4D25-AA4B-CC4AE97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11E6AF-CB3C-4952-B9B3-D428F0D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36A11-BB6A-4855-8908-842CDD6C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0FA0E9-F935-41F4-BD4C-FDC9DA5F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E96B6-A868-4003-BEC0-0C7ED6B5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FB2A96-1D14-48BC-A057-C360A09C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8FBA5D-682D-4C82-BAC3-9876A309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33A42-0950-4A3F-9FE8-19A8057C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1BC53C-4BCF-4271-9958-720A95D1E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FDF911-4DB8-4515-A5F2-15F28AE3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84CFF8-F1BA-4597-B65F-1CC68991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43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8FCFFE-41E9-4AF8-8A19-67E694CF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F2660E-797F-49BC-AAD0-4CF6492B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0C7352-5AA7-4E2C-B8FC-BB4617EE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766686-2329-4B98-8597-7675AA08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381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8BD6B-617C-4A52-ABEB-5C8EC26F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10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19CCCA-08AA-46BD-9E1B-B01B532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172075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EF5F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DAF6EE-DE75-49C0-9F45-0589839B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53054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DB2"/>
          </a:solidFill>
          <a:ln xmlns:a="http://schemas.openxmlformats.org/drawingml/2006/main" w="28575">
            <a:solidFill>
              <a:srgbClr val="2F6DB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8395C0-A61D-45BF-B536-A73F9361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58388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D7EF1B-1327-41EF-BD15-410DEB22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6F1CBD-CFC6-45D2-B77C-5917656D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launch</a:t>
            </a:r>
          </a:p>
        </p:txBody>
      </p:sp>
      <p:pic>
        <p:nvPicPr>
          <p:cNvPr id="96" name="equation-arraySt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6046c091f469b"/>
          <a:stretch xmlns:a="http://schemas.openxmlformats.org/drawingml/2006/main"/>
        </p:blipFill>
        <p:spPr>
          <a:xfrm xmlns:a="http://schemas.openxmlformats.org/drawingml/2006/main">
            <a:off x="402307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E6C616-E7D8-4C9C-8A18-33B6611A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condition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06C5C9-8910-4F80-A429-E7CE0C79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810CD8-0177-457D-882F-11F00427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middle</a:t>
            </a:r>
          </a:p>
        </p:txBody>
      </p:sp>
      <p:pic>
        <p:nvPicPr>
          <p:cNvPr id="100" name="equation-arrayPea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e85959e662474a"/>
          <a:stretch xmlns:a="http://schemas.openxmlformats.org/drawingml/2006/main"/>
        </p:blipFill>
        <p:spPr>
          <a:xfrm xmlns:a="http://schemas.openxmlformats.org/drawingml/2006/main">
            <a:off x="8118828" y="6953250"/>
            <a:ext cx="1936044" cy="4000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2980F8-8523-41E2-857C-2FC2BD9E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at the peak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B6F3DE-FB92-42E6-AA0F-866C28B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6286500"/>
            <a:ext cx="29527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870DB9-C351-4370-A374-1B2C8796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6496050"/>
            <a:ext cx="245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end</a:t>
            </a:r>
          </a:p>
        </p:txBody>
      </p:sp>
      <p:pic>
        <p:nvPicPr>
          <p:cNvPr id="104" name="equation-arrayEn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b4442459a4855"/>
          <a:stretch xmlns:a="http://schemas.openxmlformats.org/drawingml/2006/main"/>
        </p:blipFill>
        <p:spPr>
          <a:xfrm xmlns:a="http://schemas.openxmlformats.org/drawingml/2006/main">
            <a:off x="12113331" y="6953250"/>
            <a:ext cx="2138539" cy="40005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000621-1AB5-425C-AC36-97F6E244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74485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near return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FE54BD-1401-4DF8-957D-B6E4712B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number in parentheses selects one physical moment from the array</a:t>
            </a:r>
          </a:p>
        </p:txBody>
      </p:sp>
      <p:sp>
        <p:nvSpPr>
          <p:cNvPr id="51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FDA11671-9C8E-401D-86B9-37422B89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980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T2">
            <a:extLst xmlns:a="http://schemas.openxmlformats.org/drawingml/2006/main">
              <a:ext uri="{FF2B5EF4-FFF2-40B4-BE49-F238E27FC236}">
                <a16:creationId xmlns:a16="http://schemas.microsoft.com/office/drawing/2014/main" id="{1E6F3FFC-3BB1-4B19-9449-BB398594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labelled plot turns values into evidence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D618E7E2-4E45-47EB-A3BA-00CD4F03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Axes, units, and shape must agree with the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6DA71-4C9F-4507-B05F-3E944E06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4000500" cy="5429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BCF20-887B-40A8-8F6B-B1007CC9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38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Before plotting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9D741B-6682-4D1A-9C65-97B29A1B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14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starts at</a:t>
            </a:r>
          </a:p>
        </p:txBody>
      </p:sp>
      <p:pic>
        <p:nvPicPr>
          <p:cNvPr id="24" name="equation-prediction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94379ba45d457f"/>
          <a:stretch xmlns:a="http://schemas.openxmlformats.org/drawingml/2006/main"/>
        </p:blipFill>
        <p:spPr>
          <a:xfrm xmlns:a="http://schemas.openxmlformats.org/drawingml/2006/main">
            <a:off x="1994481" y="4076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2A8CB-472F-4A14-B2FE-5AA7D801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8387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rises 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13A9F-7EB6-419D-9E39-74F11AE7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238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one maximum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2F3D1B-4077-4B31-907A-89312249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962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returns to</a:t>
            </a:r>
          </a:p>
        </p:txBody>
      </p:sp>
      <p:pic>
        <p:nvPicPr>
          <p:cNvPr id="28" name="equation-prediction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fa97bfa1f04ffc"/>
          <a:stretch xmlns:a="http://schemas.openxmlformats.org/drawingml/2006/main"/>
        </p:blipFill>
        <p:spPr>
          <a:xfrm xmlns:a="http://schemas.openxmlformats.org/drawingml/2006/main">
            <a:off x="1997701" y="6324600"/>
            <a:ext cx="1738648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27D01-CA9F-4284-B7E3-8817D59E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7067550"/>
            <a:ext cx="23812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prediction first</a:t>
            </a:r>
          </a:p>
        </p:txBody>
      </p:sp>
      <p:pic>
        <p:nvPicPr>
          <p:cNvPr id="30" name="matlab-height-time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f7df7b4b94bfb"/>
          <a:stretch xmlns:a="http://schemas.openxmlformats.org/drawingml/2006/main"/>
        </p:blipFill>
        <p:spPr>
          <a:xfrm xmlns:a="http://schemas.openxmlformats.org/drawingml/2006/main">
            <a:off x="6475992" y="2381250"/>
            <a:ext cx="9336515" cy="5810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CDB1B-B810-47A9-83D9-0CC0D73E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83058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Does the curve match all three predictions?</a:t>
            </a:r>
          </a:p>
        </p:txBody>
      </p:sp>
      <p:sp>
        <p:nvSpPr>
          <p:cNvPr id="1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A75AF0E-228A-4296-8AAD-BC2C4DEF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7626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3">
            <a:extLst xmlns:a="http://schemas.openxmlformats.org/drawingml/2006/main">
              <a:ext uri="{FF2B5EF4-FFF2-40B4-BE49-F238E27FC236}">
                <a16:creationId xmlns:a16="http://schemas.microsoft.com/office/drawing/2014/main" id="{626D4692-587E-46D7-A738-BAC0EDD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boundary check can reveal an error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that a smooth curve hides</a:t>
            </a:r>
          </a:p>
        </p:txBody>
      </p:sp>
      <p:sp>
        <p:nvSpPr>
          <p:cNvPr id="2" name="subtitle-T3">
            <a:extLst xmlns:a="http://schemas.openxmlformats.org/drawingml/2006/main">
              <a:ext uri="{FF2B5EF4-FFF2-40B4-BE49-F238E27FC236}">
                <a16:creationId xmlns:a16="http://schemas.microsoft.com/office/drawing/2014/main" id="{A4C51AAB-71DD-4F63-9231-D4CF084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 known condition before trusting the full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0175-720F-4FF7-A398-582A154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Known condition</a:t>
            </a:r>
          </a:p>
        </p:txBody>
      </p:sp>
      <p:pic>
        <p:nvPicPr>
          <p:cNvPr id="26" name="visual-launch-bounda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41ec20be34b2a"/>
          <a:stretch xmlns:a="http://schemas.openxmlformats.org/drawingml/2006/main"/>
        </p:blipFill>
        <p:spPr>
          <a:xfrm xmlns:a="http://schemas.openxmlformats.org/drawingml/2006/main">
            <a:off x="1539875" y="3571875"/>
            <a:ext cx="2254250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20FE-3EE3-41BC-BE8F-3900D85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95625" cy="31432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EDE8E-1500-49D3-82EC-6D4835F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launch</a:t>
            </a:r>
          </a:p>
        </p:txBody>
      </p:sp>
      <p:pic>
        <p:nvPicPr>
          <p:cNvPr id="29" name="equation-launch-ti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1ae46e3154285"/>
          <a:stretch xmlns:a="http://schemas.openxmlformats.org/drawingml/2006/main"/>
        </p:blipFill>
        <p:spPr>
          <a:xfrm xmlns:a="http://schemas.openxmlformats.org/drawingml/2006/main">
            <a:off x="5319713" y="4810125"/>
            <a:ext cx="160020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01C5-3553-4AA7-BFA4-04C5B3F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530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must give</a:t>
            </a:r>
          </a:p>
        </p:txBody>
      </p:sp>
      <p:pic>
        <p:nvPicPr>
          <p:cNvPr id="31" name="equation-launch-he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3a6fdb309421a"/>
          <a:stretch xmlns:a="http://schemas.openxmlformats.org/drawingml/2006/main"/>
        </p:blipFill>
        <p:spPr>
          <a:xfrm xmlns:a="http://schemas.openxmlformats.org/drawingml/2006/main">
            <a:off x="5247269" y="5981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1276-2AC0-473F-BC87-6A18743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3BDEA-EBFB-464C-8332-38DE8021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34" name="equation-computed-first-valu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430709f814733"/>
          <a:stretch xmlns:a="http://schemas.openxmlformats.org/drawingml/2006/main"/>
        </p:blipFill>
        <p:spPr>
          <a:xfrm xmlns:a="http://schemas.openxmlformats.org/drawingml/2006/main">
            <a:off x="10295819" y="4305300"/>
            <a:ext cx="2935111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6D82C-D7AA-4BF4-BE29-A822F3C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7DB9A-D8DF-4FAE-9B5E-DA2BBD4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array value satisfies the launch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4BDFF-55E8-4D38-AACA-3AB23AE7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24750"/>
            <a:ext cx="15001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45717-616D-496D-A4AD-FA200375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2955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smooth graph is not enough: test at least one value that physics already tells you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A132826-6039-42C7-B945-7CACC58F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T1">
            <a:extLst xmlns:a="http://schemas.openxmlformats.org/drawingml/2006/main">
              <a:ext uri="{FF2B5EF4-FFF2-40B4-BE49-F238E27FC236}">
                <a16:creationId xmlns:a16="http://schemas.microsoft.com/office/drawing/2014/main" id="{E98F86A9-39B1-4A12-8F30-E3A13AB9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Names and units keep the model readable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D5E1EF17-B814-4278-946E-16EDB75D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Translate each physical quantity before writing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F1ADA1-C5A2-4D7A-93DB-EC1ECA81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physics symbol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8989B-D2B4-4CA8-913A-18153574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meaning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89432-8E1A-4597-AB07-CD64382A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MATLAB 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C3D8A-6BE7-48E9-BE52-7A25E462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533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unit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FCC6C-AEC8-4D19-9E86-79DF8BA5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45" name="equation-symbol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a8b6c1d464037"/>
          <a:stretch xmlns:a="http://schemas.openxmlformats.org/drawingml/2006/main"/>
        </p:blipFill>
        <p:spPr>
          <a:xfrm xmlns:a="http://schemas.openxmlformats.org/drawingml/2006/main">
            <a:off x="1872762" y="3352800"/>
            <a:ext cx="254977" cy="457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52D3A-666E-458E-9F0F-7D03B513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813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CB5A2-C43D-481A-BBB4-73F1E69F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623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</a:t>
            </a:r>
          </a:p>
        </p:txBody>
      </p:sp>
      <p:pic>
        <p:nvPicPr>
          <p:cNvPr id="48" name="equation-unit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dc2be7c034fb9"/>
          <a:stretch xmlns:a="http://schemas.openxmlformats.org/drawingml/2006/main"/>
        </p:blipFill>
        <p:spPr>
          <a:xfrm xmlns:a="http://schemas.openxmlformats.org/drawingml/2006/main">
            <a:off x="13179253" y="3533775"/>
            <a:ext cx="140043" cy="1619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6E0CE9-699F-40E3-8263-04889488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2A9D9F"/>
            </a:solidFill>
            <a:prstDash val="solid"/>
          </a:ln>
        </p:spPr>
      </p:sp>
      <p:pic>
        <p:nvPicPr>
          <p:cNvPr id="50" name="equation-symbol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a662a4e81429a"/>
          <a:stretch xmlns:a="http://schemas.openxmlformats.org/drawingml/2006/main"/>
        </p:blipFill>
        <p:spPr>
          <a:xfrm xmlns:a="http://schemas.openxmlformats.org/drawingml/2006/main">
            <a:off x="1827722" y="4572000"/>
            <a:ext cx="345057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78822-E5DA-4D5C-A8E1-2BDC7E3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00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vertical 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D38C02-072A-426F-BE97-E61F2C0A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</a:t>
            </a:r>
          </a:p>
        </p:txBody>
      </p:sp>
      <p:pic>
        <p:nvPicPr>
          <p:cNvPr id="53" name="equation-unit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bf208a9c34a56"/>
          <a:stretch xmlns:a="http://schemas.openxmlformats.org/drawingml/2006/main"/>
        </p:blipFill>
        <p:spPr>
          <a:xfrm xmlns:a="http://schemas.openxmlformats.org/drawingml/2006/main">
            <a:off x="13096346" y="4752975"/>
            <a:ext cx="305858" cy="1619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EE614-E43A-4598-AA21-BEB33E32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816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55" name="equation-symbol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0e569cc69d45c7"/>
          <a:stretch xmlns:a="http://schemas.openxmlformats.org/drawingml/2006/main"/>
        </p:blipFill>
        <p:spPr>
          <a:xfrm xmlns:a="http://schemas.openxmlformats.org/drawingml/2006/main">
            <a:off x="1657350" y="5791200"/>
            <a:ext cx="6858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DAA79B-C3B5-4ABA-B41B-06DFBCFC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8197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initial velocity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4A4A7-CEDD-4D65-86DC-A4158D7C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8007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</a:t>
            </a:r>
          </a:p>
        </p:txBody>
      </p:sp>
      <p:pic>
        <p:nvPicPr>
          <p:cNvPr id="58" name="equation-unit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ac568cd1442a5"/>
          <a:stretch xmlns:a="http://schemas.openxmlformats.org/drawingml/2006/main"/>
        </p:blipFill>
        <p:spPr>
          <a:xfrm xmlns:a="http://schemas.openxmlformats.org/drawingml/2006/main">
            <a:off x="13482181" y="59245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C684C-1C8F-41B8-B2B2-A913ED36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800850"/>
            <a:ext cx="15001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5F1FB"/>
          </a:solidFill>
          <a:ln xmlns:a="http://schemas.openxmlformats.org/drawingml/2006/main" w="19050">
            <a:solidFill>
              <a:srgbClr val="6F4B9B"/>
            </a:solidFill>
            <a:prstDash val="solid"/>
          </a:ln>
        </p:spPr>
      </p:sp>
      <p:pic>
        <p:nvPicPr>
          <p:cNvPr id="60" name="equation-symbol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816043c7644d8"/>
          <a:stretch xmlns:a="http://schemas.openxmlformats.org/drawingml/2006/main"/>
        </p:blipFill>
        <p:spPr>
          <a:xfrm xmlns:a="http://schemas.openxmlformats.org/drawingml/2006/main">
            <a:off x="1832035" y="7010400"/>
            <a:ext cx="336430" cy="4572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145DB-F98D-45A2-AD82-DAFF3723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0389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gravitational acceleration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4FC67B-11B5-4AE8-AA6B-397D368E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0199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2250" b="1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</a:t>
            </a:r>
          </a:p>
        </p:txBody>
      </p:sp>
      <p:pic>
        <p:nvPicPr>
          <p:cNvPr id="63" name="equation-unit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d16b636734827"/>
          <a:stretch xmlns:a="http://schemas.openxmlformats.org/drawingml/2006/main"/>
        </p:blipFill>
        <p:spPr>
          <a:xfrm xmlns:a="http://schemas.openxmlformats.org/drawingml/2006/main">
            <a:off x="13482181" y="7143750"/>
            <a:ext cx="658138" cy="2476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8136D-EAD9-43D6-9418-3E7B5BF6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Readable names reduce syntax mistakes and make unit checks easier</a:t>
            </a:r>
          </a:p>
        </p:txBody>
      </p:sp>
      <p:sp>
        <p:nvSpPr>
          <p:cNvPr id="28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16EE2E2D-DF71-4650-9C47-47148C0F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81358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T1">
            <a:extLst xmlns:a="http://schemas.openxmlformats.org/drawingml/2006/main">
              <a:ext uri="{FF2B5EF4-FFF2-40B4-BE49-F238E27FC236}">
                <a16:creationId xmlns:a16="http://schemas.microsoft.com/office/drawing/2014/main" id="{2087FB78-736C-4348-AC5B-F4D9335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Short code should expose the physics</a:t>
            </a:r>
          </a:p>
        </p:txBody>
      </p:sp>
      <p:sp>
        <p:nvSpPr>
          <p:cNvPr id="2" name="subtitle-T1-slide6">
            <a:extLst xmlns:a="http://schemas.openxmlformats.org/drawingml/2006/main">
              <a:ext uri="{FF2B5EF4-FFF2-40B4-BE49-F238E27FC236}">
                <a16:creationId xmlns:a16="http://schemas.microsoft.com/office/drawing/2014/main" id="{01FD7C05-8F1C-4356-B191-8385848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504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appears before the MATLAB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B700-FCBE-4D7B-B193-42983B5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5E51F-8125-403B-88EF-90E4C43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2272-0769-453E-B725-7C51403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the model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304C-F944-4934-875A-0E2D55C3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EBCA-18C3-4640-BC11-7A2A22C3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A90D-552A-4CB4-B4F9-37394F7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Create an array of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7A6E3-388C-47E6-B6A9-147FA09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7217C-80F1-42B9-8770-B655CF5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241D2-5EA1-4E2A-B374-A64A659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Calculate height at every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EB676-9777-42E4-A40F-B9322AD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9C495-A0C4-41B7-8D8F-957509A2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4D7C7-C1EC-4A74-8C0A-C3A2087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 height against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9B295-D533-496F-BC2E-F335EA0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0C7DC-38B2-40D8-B0E0-27C365A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D7AA6-956E-4988-9068-4B946AE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12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Check the launch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D45BD-582B-4F67-90DD-5BA2DDA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5247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B59E5-E258-4EEB-B3A2-427C2FA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0" name="code-sample">
            <a:extLst xmlns:a="http://schemas.openxmlformats.org/drawingml/2006/main">
              <a:ext uri="{FF2B5EF4-FFF2-40B4-BE49-F238E27FC236}">
                <a16:creationId xmlns:a16="http://schemas.microsoft.com/office/drawing/2014/main" id="{B25BDA36-206B-4736-AFE3-44C5EBE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6572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model parameters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 = 20;       % m/s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  = 9.81;     % m/s^2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array of times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 = linspace(0,4,11);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height at every time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 = v0.*t - 0.5*g.*t.^2;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plot(t,y,'LineWidth',2)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y(1)            % boundary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BF321-33ED-4247-AC0B-0CEF8D9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.* and .^ apply the operation to every array element</a:t>
            </a:r>
          </a:p>
        </p:txBody>
      </p:sp>
      <p:sp>
        <p:nvSpPr>
          <p:cNvPr id="2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E1BB72D-EC00-4835-A035-D4CA47E9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T1">
            <a:extLst xmlns:a="http://schemas.openxmlformats.org/drawingml/2006/main">
              <a:ext uri="{FF2B5EF4-FFF2-40B4-BE49-F238E27FC236}">
                <a16:creationId xmlns:a16="http://schemas.microsoft.com/office/drawing/2014/main" id="{2087FB78-736C-4348-AC5B-F4D9335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Short code should expose the physics</a:t>
            </a:r>
          </a:p>
        </p:txBody>
      </p:sp>
      <p:sp>
        <p:nvSpPr>
          <p:cNvPr id="2" name="subtitle-T1-slide6">
            <a:extLst xmlns:a="http://schemas.openxmlformats.org/drawingml/2006/main">
              <a:ext uri="{FF2B5EF4-FFF2-40B4-BE49-F238E27FC236}">
                <a16:creationId xmlns:a16="http://schemas.microsoft.com/office/drawing/2014/main" id="{01FD7C05-8F1C-4356-B191-8385848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504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appears before the MATLAB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B700-FCBE-4D7B-B193-42983B5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5E51F-8125-403B-88EF-90E4C43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2272-0769-453E-B725-7C51403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the model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304C-F944-4934-875A-0E2D55C3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EBCA-18C3-4640-BC11-7A2A22C3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A90D-552A-4CB4-B4F9-37394F7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Create an array of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7A6E3-388C-47E6-B6A9-147FA09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7217C-80F1-42B9-8770-B655CF5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241D2-5EA1-4E2A-B374-A64A659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Calculate height at every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EB676-9777-42E4-A40F-B9322AD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9C495-A0C4-41B7-8D8F-957509A2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4D7C7-C1EC-4A74-8C0A-C3A2087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 height against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9B295-D533-496F-BC2E-F335EA0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0C7DC-38B2-40D8-B0E0-27C365A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D7AA6-956E-4988-9068-4B946AE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12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Check the launch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D45BD-582B-4F67-90DD-5BA2DDA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5247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B59E5-E258-4EEB-B3A2-427C2FA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0" name="code-sample">
            <a:extLst xmlns:a="http://schemas.openxmlformats.org/drawingml/2006/main">
              <a:ext uri="{FF2B5EF4-FFF2-40B4-BE49-F238E27FC236}">
                <a16:creationId xmlns:a16="http://schemas.microsoft.com/office/drawing/2014/main" id="{B25BDA36-206B-4736-AFE3-44C5EBE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6572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model parameters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 = 20;       % m/s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  = 9.81;     % m/s^2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array of times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 = linspace(0,4,11);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height at every time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 = v0.*t - 0.5*g.*t.^2;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plot(t,y,'LineWidth',2)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y(1)            % boundary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BF321-33ED-4247-AC0B-0CEF8D9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.* and .^ apply the operation to every array element</a:t>
            </a:r>
          </a:p>
        </p:txBody>
      </p:sp>
      <p:sp>
        <p:nvSpPr>
          <p:cNvPr id="2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E1BB72D-EC00-4835-A035-D4CA47E9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3">
            <a:extLst xmlns:a="http://schemas.openxmlformats.org/drawingml/2006/main">
              <a:ext uri="{FF2B5EF4-FFF2-40B4-BE49-F238E27FC236}">
                <a16:creationId xmlns:a16="http://schemas.microsoft.com/office/drawing/2014/main" id="{626D4692-587E-46D7-A738-BAC0EDD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boundary check can reveal an error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that a smooth curve hides</a:t>
            </a:r>
          </a:p>
        </p:txBody>
      </p:sp>
      <p:sp>
        <p:nvSpPr>
          <p:cNvPr id="2" name="subtitle-T3">
            <a:extLst xmlns:a="http://schemas.openxmlformats.org/drawingml/2006/main">
              <a:ext uri="{FF2B5EF4-FFF2-40B4-BE49-F238E27FC236}">
                <a16:creationId xmlns:a16="http://schemas.microsoft.com/office/drawing/2014/main" id="{A4C51AAB-71DD-4F63-9231-D4CF084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 known condition before trusting the full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0175-720F-4FF7-A398-582A154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Known condition</a:t>
            </a:r>
          </a:p>
        </p:txBody>
      </p:sp>
      <p:pic>
        <p:nvPicPr>
          <p:cNvPr id="26" name="visual-launch-bounda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db2f367984605"/>
          <a:stretch xmlns:a="http://schemas.openxmlformats.org/drawingml/2006/main"/>
        </p:blipFill>
        <p:spPr>
          <a:xfrm xmlns:a="http://schemas.openxmlformats.org/drawingml/2006/main">
            <a:off x="1539875" y="3571875"/>
            <a:ext cx="2254250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20FE-3EE3-41BC-BE8F-3900D85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95625" cy="31432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EDE8E-1500-49D3-82EC-6D4835F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launch</a:t>
            </a:r>
          </a:p>
        </p:txBody>
      </p:sp>
      <p:pic>
        <p:nvPicPr>
          <p:cNvPr id="29" name="equation-launch-ti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f68f814c74616"/>
          <a:stretch xmlns:a="http://schemas.openxmlformats.org/drawingml/2006/main"/>
        </p:blipFill>
        <p:spPr>
          <a:xfrm xmlns:a="http://schemas.openxmlformats.org/drawingml/2006/main">
            <a:off x="5319713" y="4810125"/>
            <a:ext cx="160020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01C5-3553-4AA7-BFA4-04C5B3F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530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must give</a:t>
            </a:r>
          </a:p>
        </p:txBody>
      </p:sp>
      <p:pic>
        <p:nvPicPr>
          <p:cNvPr id="31" name="equation-launch-he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d8343e5bc4104"/>
          <a:stretch xmlns:a="http://schemas.openxmlformats.org/drawingml/2006/main"/>
        </p:blipFill>
        <p:spPr>
          <a:xfrm xmlns:a="http://schemas.openxmlformats.org/drawingml/2006/main">
            <a:off x="5247269" y="5981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1276-2AC0-473F-BC87-6A18743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3BDEA-EBFB-464C-8332-38DE8021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34" name="equation-computed-first-valu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1bd8a2aff49ab"/>
          <a:stretch xmlns:a="http://schemas.openxmlformats.org/drawingml/2006/main"/>
        </p:blipFill>
        <p:spPr>
          <a:xfrm xmlns:a="http://schemas.openxmlformats.org/drawingml/2006/main">
            <a:off x="10295819" y="4305300"/>
            <a:ext cx="2935111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6D82C-D7AA-4BF4-BE29-A822F3C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7DB9A-D8DF-4FAE-9B5E-DA2BBD4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array value satisfies the launch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4BDFF-55E8-4D38-AACA-3AB23AE7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24750"/>
            <a:ext cx="15001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45717-616D-496D-A4AD-FA200375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2955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smooth graph is not enough: test at least one value that physics already tells you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A132826-6039-42C7-B945-7CACC58F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T1">
            <a:extLst xmlns:a="http://schemas.openxmlformats.org/drawingml/2006/main">
              <a:ext uri="{FF2B5EF4-FFF2-40B4-BE49-F238E27FC236}">
                <a16:creationId xmlns:a16="http://schemas.microsoft.com/office/drawing/2014/main" id="{03552553-81A1-4CB9-A78E-72FB8C64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equation links each term to motion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8F0BA65A-A136-4AB3-A6BF-E96D7C9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model from left to right before evaluating it</a:t>
            </a:r>
          </a:p>
        </p:txBody>
      </p:sp>
      <p:pic>
        <p:nvPicPr>
          <p:cNvPr id="29" name="equation-position-mod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947a2e417d44b8"/>
          <a:stretch xmlns:a="http://schemas.openxmlformats.org/drawingml/2006/main"/>
        </p:blipFill>
        <p:spPr>
          <a:xfrm xmlns:a="http://schemas.openxmlformats.org/drawingml/2006/main">
            <a:off x="5814753" y="2095500"/>
            <a:ext cx="6658495" cy="1371600"/>
          </a:xfrm>
          <a:prstGeom xmlns:a="http://schemas.openxmlformats.org/drawingml/2006/main" prst="rect">
            <a:avLst/>
          </a:prstGeom>
        </p:spPr>
      </p:pic>
      <p:pic>
        <p:nvPicPr>
          <p:cNvPr id="30" name="visual-equation-mo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9ad86498943ec"/>
          <a:stretch xmlns:a="http://schemas.openxmlformats.org/drawingml/2006/main"/>
        </p:blipFill>
        <p:spPr>
          <a:xfrm xmlns:a="http://schemas.openxmlformats.org/drawingml/2006/main">
            <a:off x="5905500" y="3524250"/>
            <a:ext cx="5334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BE892-BFCE-4512-B667-29D3293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pic>
        <p:nvPicPr>
          <p:cNvPr id="32" name="equation-term-termY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5980fc31846c5"/>
          <a:stretch xmlns:a="http://schemas.openxmlformats.org/drawingml/2006/main"/>
        </p:blipFill>
        <p:spPr>
          <a:xfrm xmlns:a="http://schemas.openxmlformats.org/drawingml/2006/main">
            <a:off x="2438759" y="6781800"/>
            <a:ext cx="646981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2AA3C-D669-4DED-9FBD-468EC36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starting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37D97-AB72-49E2-A076-FF2AD683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35" name="equation-term-termV0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26ef98a4c417b"/>
          <a:stretch xmlns:a="http://schemas.openxmlformats.org/drawingml/2006/main"/>
        </p:blipFill>
        <p:spPr>
          <a:xfrm xmlns:a="http://schemas.openxmlformats.org/drawingml/2006/main">
            <a:off x="6296025" y="6781800"/>
            <a:ext cx="74295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06A77-7343-4E7E-AA8C-9009C33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upward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D9929-8CE6-4BF7-8109-79DD74D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38" name="equation-term-termGravit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c9c4395f04617"/>
          <a:stretch xmlns:a="http://schemas.openxmlformats.org/drawingml/2006/main"/>
        </p:blipFill>
        <p:spPr>
          <a:xfrm xmlns:a="http://schemas.openxmlformats.org/drawingml/2006/main">
            <a:off x="9938905" y="6553200"/>
            <a:ext cx="1267691" cy="85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F71B1-19ED-4D16-AFF9-F1BC485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gravity contribution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680E0-631E-4DD1-9BD0-727B1C4D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41" name="equation-term-termPosi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0f6b39ec34664"/>
          <a:stretch xmlns:a="http://schemas.openxmlformats.org/drawingml/2006/main"/>
        </p:blipFill>
        <p:spPr>
          <a:xfrm xmlns:a="http://schemas.openxmlformats.org/drawingml/2006/main">
            <a:off x="14102644" y="6781800"/>
            <a:ext cx="750711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D14B2-5C2D-465F-8BA7-6359E46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predicted 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55FE2-B657-400A-9750-033FB68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96250"/>
            <a:ext cx="12001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FA7A5-8CC6-4558-9A9C-0AA73BCD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2772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Unit check: every term on the right must have units of metres</a:t>
            </a:r>
          </a:p>
        </p:txBody>
      </p:sp>
      <p:sp>
        <p:nvSpPr>
          <p:cNvPr id="1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D933E66C-55FB-4418-8FFC-E703A2A7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088702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T1">
            <a:extLst xmlns:a="http://schemas.openxmlformats.org/drawingml/2006/main">
              <a:ext uri="{FF2B5EF4-FFF2-40B4-BE49-F238E27FC236}">
                <a16:creationId xmlns:a16="http://schemas.microsoft.com/office/drawing/2014/main" id="{2087FB78-736C-4348-AC5B-F4D93351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Short code should expose the physics</a:t>
            </a:r>
          </a:p>
        </p:txBody>
      </p:sp>
      <p:sp>
        <p:nvSpPr>
          <p:cNvPr id="2" name="subtitle-T1-slide6">
            <a:extLst xmlns:a="http://schemas.openxmlformats.org/drawingml/2006/main">
              <a:ext uri="{FF2B5EF4-FFF2-40B4-BE49-F238E27FC236}">
                <a16:creationId xmlns:a16="http://schemas.microsoft.com/office/drawing/2014/main" id="{01FD7C05-8F1C-4356-B191-83858483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504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algorithm appears before the MATLAB syntax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B700-FCBE-4D7B-B193-42983B59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Plain-language algorithm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5E51F-8125-403B-88EF-90E4C438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D2272-0769-453E-B725-7C514030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31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Choose the model parameters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3304C-F944-4934-875A-0E2D55C3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90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EBCA-18C3-4640-BC11-7A2A22C3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91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EEA90D-552A-4CB4-B4F9-37394F73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67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Create an array of times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7A6E3-388C-47E6-B6A9-147FA09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43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87217C-80F1-42B9-8770-B655CF5F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43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241D2-5EA1-4E2A-B374-A64A6592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219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Calculate height at every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0EB676-9777-42E4-A40F-B9322ADE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959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9C495-A0C4-41B7-8D8F-957509A2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4D7C7-C1EC-4A74-8C0A-C3A2087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Plot height against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E9B295-D533-496F-BC2E-F335EA0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648450"/>
            <a:ext cx="114300" cy="3238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0C7DC-38B2-40D8-B0E0-27C365A1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D7AA6-956E-4988-9068-4B946AEF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124700"/>
            <a:ext cx="561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10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Check the launch value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D45BD-582B-4F67-90DD-5BA2DDA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76500"/>
            <a:ext cx="7524750" cy="54292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4F8FC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EB59E5-E258-4EEB-B3A2-427C2FA8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1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MATLAB</a:t>
            </a:r>
          </a:p>
        </p:txBody>
      </p:sp>
      <p:sp>
        <p:nvSpPr>
          <p:cNvPr id="20" name="code-sample">
            <a:extLst xmlns:a="http://schemas.openxmlformats.org/drawingml/2006/main">
              <a:ext uri="{FF2B5EF4-FFF2-40B4-BE49-F238E27FC236}">
                <a16:creationId xmlns:a16="http://schemas.microsoft.com/office/drawing/2014/main" id="{B25BDA36-206B-4736-AFE3-44C5EBED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90900"/>
            <a:ext cx="6572250" cy="404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model parameters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v0 = 20;       % m/s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g  = 9.81;     % m/s^2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array of times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t = linspace(0,4,11);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% height at every time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 = v0.*t - 0.5*g.*t.^2;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plot(t,y,'LineWidth',2)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defRPr>
            </a:pPr>
            <a:r>
              <a:rPr sz="1950">
                <a:solidFill>
                  <a:srgbClr val="0B2B4C"/>
                </a:solidFill>
                <a:latin typeface="IBM Plex Mono"/>
                <a:ea typeface="IBM Plex Mono"/>
                <a:cs typeface="IBM Plex Mono"/>
              </a:rPr>
              <a:t>y(1)            % boundary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BF321-33ED-4247-AC0B-0CEF8D9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3058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.* and .^ apply the operation to every array element</a:t>
            </a:r>
          </a:p>
        </p:txBody>
      </p:sp>
      <p:sp>
        <p:nvSpPr>
          <p:cNvPr id="2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7E1BB72D-EC00-4835-A035-D4CA47E9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27382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T2">
            <a:extLst xmlns:a="http://schemas.openxmlformats.org/drawingml/2006/main">
              <a:ext uri="{FF2B5EF4-FFF2-40B4-BE49-F238E27FC236}">
                <a16:creationId xmlns:a16="http://schemas.microsoft.com/office/drawing/2014/main" id="{9C19115B-C5C3-4617-93DE-A9E4B990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Changing one parameter reveals the trend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9712B8C4-98F3-4FF5-8AB2-622FF9CE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Keep the model fixed and change only the initial velocity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846BF-4B63-48A6-817C-3404BB6B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57450"/>
            <a:ext cx="28575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controlled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CDC7CE-AE31-4331-9EAB-3A3BDDB8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38500"/>
            <a:ext cx="40005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F85933-8D90-4042-9CAD-EBF4AD85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Ask one focused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A8DCD-F8B6-484A-9D73-9477C0D4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62450"/>
            <a:ext cx="314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What changes when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launch speed changes?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8DA2F-2C15-4579-B33B-0EBF7426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543550"/>
            <a:ext cx="3143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Keep gravity and starting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025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height fixed.</a:t>
            </a:r>
          </a:p>
        </p:txBody>
      </p:sp>
      <p:pic>
        <p:nvPicPr>
          <p:cNvPr id="27" name="matlab-launch-speed-fig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467b9141a49d2"/>
          <a:stretch xmlns:a="http://schemas.openxmlformats.org/drawingml/2006/main"/>
        </p:blipFill>
        <p:spPr>
          <a:xfrm xmlns:a="http://schemas.openxmlformats.org/drawingml/2006/main">
            <a:off x="5779807" y="2381250"/>
            <a:ext cx="10538386" cy="5905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559E2-5A91-48EE-8286-993B347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Higher initial speed → higher peak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99A1C-92AB-430F-9168-6B197F7EF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962900"/>
            <a:ext cx="1095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changed:</a:t>
            </a:r>
          </a:p>
        </p:txBody>
      </p:sp>
      <p:pic>
        <p:nvPicPr>
          <p:cNvPr id="30" name="equation-comparison-v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aa15828f84252"/>
          <a:stretch xmlns:a="http://schemas.openxmlformats.org/drawingml/2006/main"/>
        </p:blipFill>
        <p:spPr>
          <a:xfrm xmlns:a="http://schemas.openxmlformats.org/drawingml/2006/main">
            <a:off x="2271713" y="7943850"/>
            <a:ext cx="485775" cy="3238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0764F-F7DC-458C-84CE-A57FD82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962900"/>
            <a:ext cx="742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697684"/>
                </a:solidFill>
                <a:latin typeface="Nunito"/>
                <a:ea typeface="Nunito"/>
                <a:cs typeface="Nunito"/>
              </a:rPr>
              <a:t>fixed:</a:t>
            </a:r>
          </a:p>
        </p:txBody>
      </p:sp>
      <p:pic>
        <p:nvPicPr>
          <p:cNvPr id="32" name="equation-comparison-fixe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4934ca7ab4890"/>
          <a:stretch xmlns:a="http://schemas.openxmlformats.org/drawingml/2006/main"/>
        </p:blipFill>
        <p:spPr>
          <a:xfrm xmlns:a="http://schemas.openxmlformats.org/drawingml/2006/main">
            <a:off x="3900577" y="7943850"/>
            <a:ext cx="1057095" cy="3238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CF5F4-EE80-48C5-ADBA-19EEC5DF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3629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Observed: the blue curve reaches the higher peak</a:t>
            </a:r>
          </a:p>
        </p:txBody>
      </p:sp>
      <p:sp>
        <p:nvSpPr>
          <p:cNvPr id="15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60785F8A-3507-41CD-B826-5EC45577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598421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T3">
            <a:extLst xmlns:a="http://schemas.openxmlformats.org/drawingml/2006/main">
              <a:ext uri="{FF2B5EF4-FFF2-40B4-BE49-F238E27FC236}">
                <a16:creationId xmlns:a16="http://schemas.microsoft.com/office/drawing/2014/main" id="{626D4692-587E-46D7-A738-BAC0EDD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boundary check can reveal an error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2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that a smooth curve hides</a:t>
            </a:r>
          </a:p>
        </p:txBody>
      </p:sp>
      <p:sp>
        <p:nvSpPr>
          <p:cNvPr id="2" name="subtitle-T3">
            <a:extLst xmlns:a="http://schemas.openxmlformats.org/drawingml/2006/main">
              <a:ext uri="{FF2B5EF4-FFF2-40B4-BE49-F238E27FC236}">
                <a16:creationId xmlns:a16="http://schemas.microsoft.com/office/drawing/2014/main" id="{A4C51AAB-71DD-4F63-9231-D4CF0845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52625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Use a known condition before trusting the full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30175-720F-4FF7-A398-582A1545F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Known condition</a:t>
            </a:r>
          </a:p>
        </p:txBody>
      </p:sp>
      <p:pic>
        <p:nvPicPr>
          <p:cNvPr id="26" name="visual-launch-boundar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2ea944ed884c9f"/>
          <a:stretch xmlns:a="http://schemas.openxmlformats.org/drawingml/2006/main"/>
        </p:blipFill>
        <p:spPr>
          <a:xfrm xmlns:a="http://schemas.openxmlformats.org/drawingml/2006/main">
            <a:off x="1539875" y="3571875"/>
            <a:ext cx="2254250" cy="3381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A320FE-3EE3-41BC-BE8F-3900D85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3095625" cy="3143250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2EDE8E-1500-49D3-82EC-6D4835F8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1480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At launch</a:t>
            </a:r>
          </a:p>
        </p:txBody>
      </p:sp>
      <p:pic>
        <p:nvPicPr>
          <p:cNvPr id="29" name="equation-launch-tim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0ae4603bb4747"/>
          <a:stretch xmlns:a="http://schemas.openxmlformats.org/drawingml/2006/main"/>
        </p:blipFill>
        <p:spPr>
          <a:xfrm xmlns:a="http://schemas.openxmlformats.org/drawingml/2006/main">
            <a:off x="5319713" y="4810125"/>
            <a:ext cx="1600200" cy="400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01C5-3553-4AA7-BFA4-04C5B3F7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553075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9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must give</a:t>
            </a:r>
          </a:p>
        </p:txBody>
      </p:sp>
      <p:pic>
        <p:nvPicPr>
          <p:cNvPr id="31" name="equation-launch-heigh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0ef392aa04f5c"/>
          <a:stretch xmlns:a="http://schemas.openxmlformats.org/drawingml/2006/main"/>
        </p:blipFill>
        <p:spPr>
          <a:xfrm xmlns:a="http://schemas.openxmlformats.org/drawingml/2006/main">
            <a:off x="5247269" y="5981700"/>
            <a:ext cx="1745087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F1276-2AC0-473F-BC87-6A1874311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4800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Computed result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3BDEA-EBFB-464C-8332-38DE8021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723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34" name="equation-computed-first-valu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8cfc05db4456e"/>
          <a:stretch xmlns:a="http://schemas.openxmlformats.org/drawingml/2006/main"/>
        </p:blipFill>
        <p:spPr>
          <a:xfrm xmlns:a="http://schemas.openxmlformats.org/drawingml/2006/main">
            <a:off x="10295819" y="4305300"/>
            <a:ext cx="2935111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36D82C-D7AA-4BF4-BE29-A822F3C9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286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8E4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FFFFFF"/>
                </a:solidFill>
                <a:latin typeface="Nunito"/>
                <a:ea typeface="Nunito"/>
                <a:cs typeface="Nunito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17DB9A-D8DF-4FAE-9B5E-DA2BBD4F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524500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The first array value satisfies the launch condition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4BDFF-55E8-4D38-AACA-3AB23AE7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524750"/>
            <a:ext cx="150018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245717-616D-496D-A4AD-FA200375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2955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A smooth graph is not enough: test at least one value that physics already tells you</a:t>
            </a:r>
          </a:p>
        </p:txBody>
      </p:sp>
      <p:sp>
        <p:nvSpPr>
          <p:cNvPr id="17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3A132826-6039-42C7-B945-7CACC58F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48158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T1">
            <a:extLst xmlns:a="http://schemas.openxmlformats.org/drawingml/2006/main">
              <a:ext uri="{FF2B5EF4-FFF2-40B4-BE49-F238E27FC236}">
                <a16:creationId xmlns:a16="http://schemas.microsoft.com/office/drawing/2014/main" id="{03552553-81A1-4CB9-A78E-72FB8C64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1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51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equation links each term to motion</a:t>
            </a:r>
          </a:p>
        </p:txBody>
      </p:sp>
      <p:sp>
        <p:nvSpPr>
          <p:cNvPr id="2" name="subtitle-T1">
            <a:extLst xmlns:a="http://schemas.openxmlformats.org/drawingml/2006/main">
              <a:ext uri="{FF2B5EF4-FFF2-40B4-BE49-F238E27FC236}">
                <a16:creationId xmlns:a16="http://schemas.microsoft.com/office/drawing/2014/main" id="{8F0BA65A-A136-4AB3-A6BF-E96D7C90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Read the model from left to right before evaluating it</a:t>
            </a:r>
          </a:p>
        </p:txBody>
      </p:sp>
      <p:pic>
        <p:nvPicPr>
          <p:cNvPr id="29" name="equation-position-mode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ec9b7de074ffb"/>
          <a:stretch xmlns:a="http://schemas.openxmlformats.org/drawingml/2006/main"/>
        </p:blipFill>
        <p:spPr>
          <a:xfrm xmlns:a="http://schemas.openxmlformats.org/drawingml/2006/main">
            <a:off x="5814753" y="2095500"/>
            <a:ext cx="6658495" cy="1371600"/>
          </a:xfrm>
          <a:prstGeom xmlns:a="http://schemas.openxmlformats.org/drawingml/2006/main" prst="rect">
            <a:avLst/>
          </a:prstGeom>
        </p:spPr>
      </p:pic>
      <p:pic>
        <p:nvPicPr>
          <p:cNvPr id="30" name="visual-equation-mo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a15af4fb04e48"/>
          <a:stretch xmlns:a="http://schemas.openxmlformats.org/drawingml/2006/main"/>
        </p:blipFill>
        <p:spPr>
          <a:xfrm xmlns:a="http://schemas.openxmlformats.org/drawingml/2006/main">
            <a:off x="5905500" y="3524250"/>
            <a:ext cx="5334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BE892-BFCE-4512-B667-29D3293D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pic>
        <p:nvPicPr>
          <p:cNvPr id="32" name="equation-term-termY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5f49ca18149c9"/>
          <a:stretch xmlns:a="http://schemas.openxmlformats.org/drawingml/2006/main"/>
        </p:blipFill>
        <p:spPr>
          <a:xfrm xmlns:a="http://schemas.openxmlformats.org/drawingml/2006/main">
            <a:off x="2438759" y="6781800"/>
            <a:ext cx="646981" cy="457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2AA3C-D669-4DED-9FBD-468EC36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starting position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37D97-AB72-49E2-A076-FF2AD683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pic>
        <p:nvPicPr>
          <p:cNvPr id="35" name="equation-term-termV0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43024a0bd84fb3"/>
          <a:stretch xmlns:a="http://schemas.openxmlformats.org/drawingml/2006/main"/>
        </p:blipFill>
        <p:spPr>
          <a:xfrm xmlns:a="http://schemas.openxmlformats.org/drawingml/2006/main">
            <a:off x="6296025" y="6781800"/>
            <a:ext cx="742950" cy="4572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E06A77-7343-4E7E-AA8C-9009C33D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upward contribution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D9929-8CE6-4BF7-8109-79DD74D8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pic>
        <p:nvPicPr>
          <p:cNvPr id="38" name="equation-term-termGravit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4d75a7dcd466a"/>
          <a:stretch xmlns:a="http://schemas.openxmlformats.org/drawingml/2006/main"/>
        </p:blipFill>
        <p:spPr>
          <a:xfrm xmlns:a="http://schemas.openxmlformats.org/drawingml/2006/main">
            <a:off x="9938905" y="6553200"/>
            <a:ext cx="1267691" cy="857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F71B1-19ED-4D16-AFF9-F1BC485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gravity contribution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680E0-631E-4DD1-9BD0-727B1C4D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477000"/>
            <a:ext cx="3333750" cy="144780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pic>
        <p:nvPicPr>
          <p:cNvPr id="41" name="equation-term-termPosi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6ac5cb886407b"/>
          <a:stretch xmlns:a="http://schemas.openxmlformats.org/drawingml/2006/main"/>
        </p:blipFill>
        <p:spPr>
          <a:xfrm xmlns:a="http://schemas.openxmlformats.org/drawingml/2006/main">
            <a:off x="14102644" y="6781800"/>
            <a:ext cx="750711" cy="4572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D14B2-5C2D-465F-8BA7-6359E469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7429500"/>
            <a:ext cx="287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8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predicted position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55FE2-B657-400A-9750-033FB683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96250"/>
            <a:ext cx="12001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2F2"/>
          </a:solidFill>
          <a:ln xmlns:a="http://schemas.openxmlformats.org/drawingml/2006/main" w="19050">
            <a:solidFill>
              <a:srgbClr val="B326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FA7A5-8CC6-4558-9A9C-0AA73BCD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827722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B3262E"/>
                </a:solidFill>
                <a:latin typeface="Nunito"/>
                <a:ea typeface="Nunito"/>
                <a:cs typeface="Nunito"/>
              </a:defRPr>
            </a:pPr>
            <a:r>
              <a:rPr sz="2250" b="1">
                <a:solidFill>
                  <a:srgbClr val="B3262E"/>
                </a:solidFill>
                <a:latin typeface="Nunito"/>
                <a:ea typeface="Nunito"/>
                <a:cs typeface="Nunito"/>
              </a:rPr>
              <a:t>Unit check: every term on the right must have units of metres</a:t>
            </a:r>
          </a:p>
        </p:txBody>
      </p:sp>
      <p:sp>
        <p:nvSpPr>
          <p:cNvPr id="19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D933E66C-55FB-4418-8FFC-E703A2A7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088702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-T2">
            <a:extLst xmlns:a="http://schemas.openxmlformats.org/drawingml/2006/main">
              <a:ext uri="{FF2B5EF4-FFF2-40B4-BE49-F238E27FC236}">
                <a16:creationId xmlns:a16="http://schemas.microsoft.com/office/drawing/2014/main" id="{EFE6516B-B2BC-4EE5-A7C1-23524AE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"/>
            <a:ext cx="15049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4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The design system keeps every week coherent</a:t>
            </a:r>
          </a:p>
        </p:txBody>
      </p:sp>
      <p:sp>
        <p:nvSpPr>
          <p:cNvPr id="2" name="subtitle-T2">
            <a:extLst xmlns:a="http://schemas.openxmlformats.org/drawingml/2006/main">
              <a:ext uri="{FF2B5EF4-FFF2-40B4-BE49-F238E27FC236}">
                <a16:creationId xmlns:a16="http://schemas.microsoft.com/office/drawing/2014/main" id="{BD3BFA6F-77F9-485D-97DA-337005A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478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2250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Approve this proof before the Week 1 teaching deck is rebuilt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3A50B-88FF-4FD6-9549-BB8AC645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45EDB-7AAE-4FF6-981B-98DA18E6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98E4E-6527-4973-A6A9-9AA52FE5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75" y="4181475"/>
            <a:ext cx="762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AB4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54A21B-8754-4385-8054-7D12500D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19050">
            <a:solidFill>
              <a:srgbClr val="2F6DB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15C0F-62AE-4217-95C3-4C87891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4B1DCA-AFBE-4BE4-BE41-BD58BC4E9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F6DB2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2F6DB2"/>
                </a:solidFill>
                <a:latin typeface="Nunito"/>
                <a:ea typeface="Nunito"/>
                <a:cs typeface="Nunito"/>
              </a:rPr>
              <a:t>Typography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C4298-B8AD-4CFB-9098-994FC68C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Nunito titles and body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IBM Plex Mono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FA2FA-ED11-49DB-9FFC-E5A2AA3D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7AC6CD-EF28-4482-8432-1852C9A6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F7DC72-E8AD-440C-91D8-55A36558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Structure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3D4C36-2055-4AA2-93F5-6CD19867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T1, T2, and T3 title rules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locked content zones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F580B5-A168-4DBF-9C63-8D51637A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19050">
            <a:solidFill>
              <a:srgbClr val="C98A1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DACC82-FE40-40A8-8E78-EA79C3AC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E2B35-D62E-4872-B43C-5B58FFF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C98A16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C98A16"/>
                </a:solidFill>
                <a:latin typeface="Nunito"/>
                <a:ea typeface="Nunito"/>
                <a:cs typeface="Nunito"/>
              </a:rPr>
              <a:t>Visuals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0084C-0E0B-404D-968F-CB64B443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editable scientific graphics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approved generated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7374B-B8DE-4987-89F8-346558C6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571750"/>
            <a:ext cx="3143250" cy="38100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0FAF7"/>
          </a:solidFill>
          <a:ln xmlns:a="http://schemas.openxmlformats.org/drawingml/2006/main" w="19050">
            <a:solidFill>
              <a:srgbClr val="3E8E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FDD7B-8E97-46B8-BE98-B7729D71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2857500"/>
            <a:ext cx="6096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16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222F9D-A868-4019-963A-595D4C73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3600450"/>
            <a:ext cx="2619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E8E45"/>
                </a:solidFill>
                <a:latin typeface="Nunito"/>
                <a:ea typeface="Nunito"/>
                <a:cs typeface="Nunito"/>
              </a:defRPr>
            </a:pPr>
            <a:r>
              <a:rPr sz="2550" b="1">
                <a:solidFill>
                  <a:srgbClr val="3E8E45"/>
                </a:solidFill>
                <a:latin typeface="Nunito"/>
                <a:ea typeface="Nunito"/>
                <a:cs typeface="Nunito"/>
              </a:rPr>
              <a:t>QA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F3703-AE7E-44B5-A486-E5DEF564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0" y="4429125"/>
            <a:ext cx="26193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render, inspect, and check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>
                <a:solidFill>
                  <a:srgbClr val="3F4B57"/>
                </a:solidFill>
                <a:latin typeface="Nunito"/>
                <a:ea typeface="Nunito"/>
                <a:cs typeface="Nunito"/>
              </a:defRPr>
            </a:pPr>
            <a:r>
              <a:rPr sz="1875">
                <a:solidFill>
                  <a:srgbClr val="3F4B57"/>
                </a:solidFill>
                <a:latin typeface="Nunito"/>
                <a:ea typeface="Nunito"/>
                <a:cs typeface="Nunito"/>
              </a:rPr>
              <a:t>fonts, titles, and overflow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C27A5C-E3DA-461D-8837-0ED8E3BF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48500"/>
            <a:ext cx="15001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19050">
            <a:solidFill>
              <a:srgbClr val="0B2B4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6DC2E-9D4D-4BEC-990E-781BFAACF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372350"/>
            <a:ext cx="1414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B2B4C"/>
                </a:solidFill>
                <a:latin typeface="Nunito"/>
                <a:ea typeface="Nunito"/>
                <a:cs typeface="Nunito"/>
              </a:defRPr>
            </a:pPr>
            <a:r>
              <a:rPr sz="2400" b="1">
                <a:solidFill>
                  <a:srgbClr val="0B2B4C"/>
                </a:solidFill>
                <a:latin typeface="Nunito"/>
                <a:ea typeface="Nunito"/>
                <a:cs typeface="Nunito"/>
              </a:rPr>
              <a:t>Review focus: title character, spacing, component shapes, chart treatment, and visual balance</a:t>
            </a:r>
          </a:p>
        </p:txBody>
      </p:sp>
      <p:sp>
        <p:nvSpPr>
          <p:cNvPr id="2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9673857F-EEFA-40FA-B9EB-CEDD6082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02100" y="92964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>
                <a:solidFill>
                  <a:srgbClr val="697684"/>
                </a:solidFill>
                <a:latin typeface="Nunito"/>
                <a:ea typeface="Nunito"/>
                <a:cs typeface="Nunito"/>
              </a:defRPr>
            </a:pPr>
            <a:r>
              <a:rPr sz="1650">
                <a:solidFill>
                  <a:srgbClr val="697684"/>
                </a:solidFill>
                <a:latin typeface="Nunito"/>
                <a:ea typeface="Nunito"/>
                <a:cs typeface="Nunit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04528141"/>
      </p:ext>
    </p:extLst>
  </p:cSld>
</p:sld>
</file>

<file path=ppt/theme/theme1.xml><?xml version="1.0" encoding="utf-8"?>
<a:theme xmlns:a="http://schemas.openxmlformats.org/drawingml/2006/main" name="ChatGPT">
  <a:themeElements>
    <a:clrScheme name="PHY4605">
      <a:dk1>
        <a:srgbClr val="0B2B4C"/>
      </a:dk1>
      <a:lt1>
        <a:srgbClr val="FFFFFF"/>
      </a:lt1>
      <a:dk2>
        <a:srgbClr val="3F4B57"/>
      </a:dk2>
      <a:lt2>
        <a:srgbClr val="F7F9FB"/>
      </a:lt2>
      <a:accent1>
        <a:srgbClr val="2F6DB2"/>
      </a:accent1>
      <a:accent2>
        <a:srgbClr val="2A9D9F"/>
      </a:accent2>
      <a:accent3>
        <a:srgbClr val="C98A16"/>
      </a:accent3>
      <a:accent4>
        <a:srgbClr val="6F4B9B"/>
      </a:accent4>
      <a:accent5>
        <a:srgbClr val="3E8E45"/>
      </a:accent5>
      <a:accent6>
        <a:srgbClr val="B3262E"/>
      </a:accent6>
      <a:hlink>
        <a:srgbClr val="2F6DB2"/>
      </a:hlink>
      <a:folHlink>
        <a:srgbClr val="6F4B9B"/>
      </a:folHlink>
    </a:clrScheme>
    <a:fontScheme name="Office">
      <a:majorFont>
        <a:latin typeface="Nunito"/>
        <a:ea typeface="Nunito"/>
        <a:cs typeface="Nunito"/>
      </a:majorFont>
      <a:minorFont>
        <a:latin typeface="Nunito"/>
        <a:ea typeface="Nunito"/>
        <a:cs typeface="Nunito"/>
      </a:minorFont>
    </a:fontScheme>
    <a:fmtScheme name="PHY4605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2026-09-02T15:24:09.3110000Z</dcterms:created>
  <dcterms:modified xsi:type="dcterms:W3CDTF">2026-09-02T15:24:09.3110000Z</dcterms:modified>
</coreProperties>
</file>
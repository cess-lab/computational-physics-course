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2733c10fdad401a" /><Relationship Type="http://schemas.openxmlformats.org/officeDocument/2006/relationships/extended-properties" Target="/docProps/app.xml" Id="R426dea16bb824e8c" /><Relationship Type="http://schemas.openxmlformats.org/officeDocument/2006/relationships/officeDocument" Target="/ppt/presentation.xml" Id="Rc5c6e0940f23469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d313dc27d134ff1"/>
    <p:sldMasterId xmlns:r="http://schemas.openxmlformats.org/officeDocument/2006/relationships" id="2147483650" r:id="R519e608000b54f9e"/>
  </p:sldMasterIdLst>
  <p:notesMasterIdLst>
    <p:notesMasterId xmlns:r="http://schemas.openxmlformats.org/officeDocument/2006/relationships" r:id="R5be45b6e3edd4e7e"/>
  </p:notesMasterIdLst>
  <p:sldIdLst>
    <p:sldId xmlns:r="http://schemas.openxmlformats.org/officeDocument/2006/relationships" id="256" r:id="R01a184bd3de548a9"/>
    <p:sldId xmlns:r="http://schemas.openxmlformats.org/officeDocument/2006/relationships" id="257" r:id="Ra024b50bce874a35"/>
    <p:sldId xmlns:r="http://schemas.openxmlformats.org/officeDocument/2006/relationships" id="258" r:id="Rb257c408297c4db0"/>
    <p:sldId xmlns:r="http://schemas.openxmlformats.org/officeDocument/2006/relationships" id="259" r:id="R91514a783d324d37"/>
    <p:sldId xmlns:r="http://schemas.openxmlformats.org/officeDocument/2006/relationships" id="260" r:id="R2923d4a9669d4b55"/>
    <p:sldId xmlns:r="http://schemas.openxmlformats.org/officeDocument/2006/relationships" id="261" r:id="Rc2b896f06be14c7b"/>
    <p:sldId xmlns:r="http://schemas.openxmlformats.org/officeDocument/2006/relationships" id="262" r:id="R2c7061b04d724c45"/>
    <p:sldId xmlns:r="http://schemas.openxmlformats.org/officeDocument/2006/relationships" id="263" r:id="R9d73248be1fa47e5"/>
    <p:sldId xmlns:r="http://schemas.openxmlformats.org/officeDocument/2006/relationships" id="264" r:id="R54a397e4f6c047e3"/>
    <p:sldId xmlns:r="http://schemas.openxmlformats.org/officeDocument/2006/relationships" id="265" r:id="Rd4f4e4e83479463a"/>
    <p:sldId xmlns:r="http://schemas.openxmlformats.org/officeDocument/2006/relationships" id="266" r:id="R9a16c8a3da7a459d"/>
    <p:sldId xmlns:r="http://schemas.openxmlformats.org/officeDocument/2006/relationships" id="267" r:id="R0d37a81829534f67"/>
    <p:sldId xmlns:r="http://schemas.openxmlformats.org/officeDocument/2006/relationships" id="268" r:id="R25366a0bb957401a"/>
    <p:sldId xmlns:r="http://schemas.openxmlformats.org/officeDocument/2006/relationships" id="269" r:id="R6b8df76927d34688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bc82ae467b4437e" /><Relationship Type="http://schemas.openxmlformats.org/officeDocument/2006/relationships/slideMaster" Target="/ppt/slideMasters/slideMaster1.xml" Id="Rbd313dc27d134ff1" /><Relationship Type="http://schemas.openxmlformats.org/officeDocument/2006/relationships/slideMaster" Target="/ppt/slideMasters/slideMaster2.xml" Id="R519e608000b54f9e" /><Relationship Type="http://schemas.openxmlformats.org/officeDocument/2006/relationships/notesMaster" Target="/ppt/notesMasters/notesMaster1.xml" Id="R5be45b6e3edd4e7e" /><Relationship Type="http://schemas.openxmlformats.org/officeDocument/2006/relationships/presProps" Target="/ppt/presProps.xml" Id="Rab9a00ce91e84eaf" /><Relationship Type="http://schemas.openxmlformats.org/officeDocument/2006/relationships/tableStyles" Target="/ppt/tableStyles.xml" Id="Re574053bc9dd4590" /><Relationship Type="http://schemas.openxmlformats.org/officeDocument/2006/relationships/slide" Target="/ppt/slides/slide1.xml" Id="R01a184bd3de548a9" /><Relationship Type="http://schemas.openxmlformats.org/officeDocument/2006/relationships/slide" Target="/ppt/slides/slide2.xml" Id="Ra024b50bce874a35" /><Relationship Type="http://schemas.openxmlformats.org/officeDocument/2006/relationships/slide" Target="/ppt/slides/slide3.xml" Id="Rb257c408297c4db0" /><Relationship Type="http://schemas.openxmlformats.org/officeDocument/2006/relationships/slide" Target="/ppt/slides/slide4.xml" Id="R91514a783d324d37" /><Relationship Type="http://schemas.openxmlformats.org/officeDocument/2006/relationships/slide" Target="/ppt/slides/slide5.xml" Id="R2923d4a9669d4b55" /><Relationship Type="http://schemas.openxmlformats.org/officeDocument/2006/relationships/slide" Target="/ppt/slides/slide6.xml" Id="Rc2b896f06be14c7b" /><Relationship Type="http://schemas.openxmlformats.org/officeDocument/2006/relationships/slide" Target="/ppt/slides/slide7.xml" Id="R2c7061b04d724c45" /><Relationship Type="http://schemas.openxmlformats.org/officeDocument/2006/relationships/slide" Target="/ppt/slides/slide8.xml" Id="R9d73248be1fa47e5" /><Relationship Type="http://schemas.openxmlformats.org/officeDocument/2006/relationships/slide" Target="/ppt/slides/slide9.xml" Id="R54a397e4f6c047e3" /><Relationship Type="http://schemas.openxmlformats.org/officeDocument/2006/relationships/slide" Target="/ppt/slides/slide10.xml" Id="Rd4f4e4e83479463a" /><Relationship Type="http://schemas.openxmlformats.org/officeDocument/2006/relationships/slide" Target="/ppt/slides/slide11.xml" Id="R9a16c8a3da7a459d" /><Relationship Type="http://schemas.openxmlformats.org/officeDocument/2006/relationships/slide" Target="/ppt/slides/slide12.xml" Id="R0d37a81829534f67" /><Relationship Type="http://schemas.openxmlformats.org/officeDocument/2006/relationships/slide" Target="/ppt/slides/slide13.xml" Id="R25366a0bb957401a" /><Relationship Type="http://schemas.openxmlformats.org/officeDocument/2006/relationships/slide" Target="/ppt/slides/slide14.xml" Id="R6b8df76927d3468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b7e0b29a90ac4b2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ChatGPT">
  <a:themeElements>
    <a:clrScheme name="PHY4605">
      <a:dk1>
        <a:srgbClr val="0B2B4C"/>
      </a:dk1>
      <a:lt1>
        <a:srgbClr val="FFFFFF"/>
      </a:lt1>
      <a:dk2>
        <a:srgbClr val="3F4B57"/>
      </a:dk2>
      <a:lt2>
        <a:srgbClr val="F7F9FB"/>
      </a:lt2>
      <a:accent1>
        <a:srgbClr val="2F6DB2"/>
      </a:accent1>
      <a:accent2>
        <a:srgbClr val="2A9D9F"/>
      </a:accent2>
      <a:accent3>
        <a:srgbClr val="C98A16"/>
      </a:accent3>
      <a:accent4>
        <a:srgbClr val="6F4B9B"/>
      </a:accent4>
      <a:accent5>
        <a:srgbClr val="3E8E45"/>
      </a:accent5>
      <a:accent6>
        <a:srgbClr val="B3262E"/>
      </a:accent6>
      <a:hlink>
        <a:srgbClr val="2F6DB2"/>
      </a:hlink>
      <a:folHlink>
        <a:srgbClr val="6F4B9B"/>
      </a:folHlink>
    </a:clrScheme>
    <a:fontScheme name="Office">
      <a:majorFont>
        <a:latin typeface="Nunito"/>
        <a:ea typeface="Nunito"/>
        <a:cs typeface="Nunito"/>
      </a:majorFont>
      <a:minorFont>
        <a:latin typeface="Nunito"/>
        <a:ea typeface="Nunito"/>
        <a:cs typeface="Nunito"/>
      </a:minorFont>
    </a:fontScheme>
    <a:fmtScheme name="PHY4605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663421907d34b2e" /><Relationship Type="http://schemas.openxmlformats.org/officeDocument/2006/relationships/notesMaster" Target="/ppt/notesMasters/notesMaster1.xml" Id="Rd09f1d707e0c42e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b5bd42292bd412a" /><Relationship Type="http://schemas.openxmlformats.org/officeDocument/2006/relationships/notesMaster" Target="/ppt/notesMasters/notesMaster1.xml" Id="R3b19f7d117af420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51ddbc9d11a4bb2" /><Relationship Type="http://schemas.openxmlformats.org/officeDocument/2006/relationships/notesMaster" Target="/ppt/notesMasters/notesMaster1.xml" Id="R09399fd3da1d4e7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428d0c1d4784135" /><Relationship Type="http://schemas.openxmlformats.org/officeDocument/2006/relationships/notesMaster" Target="/ppt/notesMasters/notesMaster1.xml" Id="R2f12dd3142f74ec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f334fd9136343b2" /><Relationship Type="http://schemas.openxmlformats.org/officeDocument/2006/relationships/notesMaster" Target="/ppt/notesMasters/notesMaster1.xml" Id="Re0370828f05f499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144d9491129443f" /><Relationship Type="http://schemas.openxmlformats.org/officeDocument/2006/relationships/notesMaster" Target="/ppt/notesMasters/notesMaster1.xml" Id="R9b1657a32bcf46f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a55d30570b44cee" /><Relationship Type="http://schemas.openxmlformats.org/officeDocument/2006/relationships/notesMaster" Target="/ppt/notesMasters/notesMaster1.xml" Id="Rf91bc64d9f154f1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a183c5fea2742ae" /><Relationship Type="http://schemas.openxmlformats.org/officeDocument/2006/relationships/notesMaster" Target="/ppt/notesMasters/notesMaster1.xml" Id="R6fcdbeff3098484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e6e9fff44d54380" /><Relationship Type="http://schemas.openxmlformats.org/officeDocument/2006/relationships/notesMaster" Target="/ppt/notesMasters/notesMaster1.xml" Id="Rfdf5e51ae9764bf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1fd31833eee4aa7" /><Relationship Type="http://schemas.openxmlformats.org/officeDocument/2006/relationships/notesMaster" Target="/ppt/notesMasters/notesMaster1.xml" Id="R39e93669aa404c5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c6ec1b0e5754145" /><Relationship Type="http://schemas.openxmlformats.org/officeDocument/2006/relationships/notesMaster" Target="/ppt/notesMasters/notesMaster1.xml" Id="R338669dfbf8e41b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3e34cdfbc5b436c" /><Relationship Type="http://schemas.openxmlformats.org/officeDocument/2006/relationships/notesMaster" Target="/ppt/notesMasters/notesMaster1.xml" Id="R568a5eb213e04da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1982ab7134146ec" /><Relationship Type="http://schemas.openxmlformats.org/officeDocument/2006/relationships/notesMaster" Target="/ppt/notesMasters/notesMaster1.xml" Id="Rc984150e2e9549d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0f59369cec74e57" /><Relationship Type="http://schemas.openxmlformats.org/officeDocument/2006/relationships/notesMaster" Target="/ppt/notesMasters/notesMaster1.xml" Id="R167b1d99eda44ae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Week 06 slide 1. Ask students to state the physical quantity and its unit before reading the numerical 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Week06/.agent/lecture-slides/outline.md</a:t>
            </a:r>
          </a:p>
          <a:p xmlns:a="http://schemas.openxmlformats.org/drawingml/2006/main">
            <a:r>
              <a:t>- Week06/.agent/manifests/Week06_Content_Manifest.md</a:t>
            </a:r>
          </a:p>
          <a:p xmlns:a="http://schemas.openxmlformats.org/drawingml/2006/main">
            <a:r>
              <a:t>- Week06/Week06_Lecture_Demonstration_Numerical_Differentiation_of_Vertical_Motion.m</a:t>
            </a:r>
          </a:p>
          <a:p xmlns:a="http://schemas.openxmlformats.org/drawingml/2006/main">
            <a:r>
              <a:t>- PHY4605_Lecture_Slide_Design_Spec.md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Week 06 slide 2. Ask students to state the physical quantity and its unit before reading the numerical 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Week06/.agent/lecture-slides/outline.md</a:t>
            </a:r>
          </a:p>
          <a:p xmlns:a="http://schemas.openxmlformats.org/drawingml/2006/main">
            <a:r>
              <a:t>- Week06/.agent/manifests/Week06_Content_Manifest.md</a:t>
            </a:r>
          </a:p>
          <a:p xmlns:a="http://schemas.openxmlformats.org/drawingml/2006/main">
            <a:r>
              <a:t>- Week06/Week06_Lecture_Demonstration_Numerical_Differentiation_of_Vertical_Motion.m</a:t>
            </a:r>
          </a:p>
          <a:p xmlns:a="http://schemas.openxmlformats.org/drawingml/2006/main">
            <a:r>
              <a:t>- PHY4605_Lecture_Slide_Design_Spec.md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Week 06 slide 3. Ask students to state the physical quantity and its unit before reading the numerical 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Week06/.agent/lecture-slides/outline.md</a:t>
            </a:r>
          </a:p>
          <a:p xmlns:a="http://schemas.openxmlformats.org/drawingml/2006/main">
            <a:r>
              <a:t>- Week06/.agent/manifests/Week06_Content_Manifest.md</a:t>
            </a:r>
          </a:p>
          <a:p xmlns:a="http://schemas.openxmlformats.org/drawingml/2006/main">
            <a:r>
              <a:t>- Week06/Week06_Lecture_Demonstration_Numerical_Differentiation_of_Vertical_Motion.m</a:t>
            </a:r>
          </a:p>
          <a:p xmlns:a="http://schemas.openxmlformats.org/drawingml/2006/main">
            <a:r>
              <a:t>- PHY4605_Lecture_Slide_Design_Spec.md</a:t>
            </a:r>
          </a:p>
          <a:p xmlns:a="http://schemas.openxmlformats.org/drawingml/2006/main">
            <a:r>
              <a:t>- Week06/.agent/lecture-slides/equations/forward-difference.tex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Week 06 slide 4. Ask students to state the physical quantity and its unit before reading the numerical 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Week06/.agent/lecture-slides/outline.md</a:t>
            </a:r>
          </a:p>
          <a:p xmlns:a="http://schemas.openxmlformats.org/drawingml/2006/main">
            <a:r>
              <a:t>- Week06/.agent/manifests/Week06_Content_Manifest.md</a:t>
            </a:r>
          </a:p>
          <a:p xmlns:a="http://schemas.openxmlformats.org/drawingml/2006/main">
            <a:r>
              <a:t>- Week06/Week06_Lecture_Demonstration_Numerical_Differentiation_of_Vertical_Motion.m</a:t>
            </a:r>
          </a:p>
          <a:p xmlns:a="http://schemas.openxmlformats.org/drawingml/2006/main">
            <a:r>
              <a:t>- PHY4605_Lecture_Slide_Design_Spec.md</a:t>
            </a:r>
          </a:p>
          <a:p xmlns:a="http://schemas.openxmlformats.org/drawingml/2006/main">
            <a:r>
              <a:t>- Week06/.agent/lecture-slides/equations/vertical-motion-model.tex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Week 06 slide 5. Ask students to state the physical quantity and its unit before reading the numerical 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Week06/.agent/lecture-slides/outline.md</a:t>
            </a:r>
          </a:p>
          <a:p xmlns:a="http://schemas.openxmlformats.org/drawingml/2006/main">
            <a:r>
              <a:t>- Week06/.agent/manifests/Week06_Content_Manifest.md</a:t>
            </a:r>
          </a:p>
          <a:p xmlns:a="http://schemas.openxmlformats.org/drawingml/2006/main">
            <a:r>
              <a:t>- Week06/Week06_Lecture_Demonstration_Numerical_Differentiation_of_Vertical_Motion.m</a:t>
            </a:r>
          </a:p>
          <a:p xmlns:a="http://schemas.openxmlformats.org/drawingml/2006/main">
            <a:r>
              <a:t>- PHY4605_Lecture_Slide_Design_Spec.md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Week 06 slide 6. Ask students to state the physical quantity and its unit before reading the numerical 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Week06/.agent/lecture-slides/outline.md</a:t>
            </a:r>
          </a:p>
          <a:p xmlns:a="http://schemas.openxmlformats.org/drawingml/2006/main">
            <a:r>
              <a:t>- Week06/.agent/manifests/Week06_Content_Manifest.md</a:t>
            </a:r>
          </a:p>
          <a:p xmlns:a="http://schemas.openxmlformats.org/drawingml/2006/main">
            <a:r>
              <a:t>- Week06/Week06_Lecture_Demonstration_Numerical_Differentiation_of_Vertical_Motion.m</a:t>
            </a:r>
          </a:p>
          <a:p xmlns:a="http://schemas.openxmlformats.org/drawingml/2006/main">
            <a:r>
              <a:t>- PHY4605_Lecture_Slide_Design_Spec.md</a:t>
            </a:r>
          </a:p>
          <a:p xmlns:a="http://schemas.openxmlformats.org/drawingml/2006/main">
            <a:r>
              <a:t>- Week06/.agent/lecture-slides/equations/forward-difference.tex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Week 06 slide 7. Ask students to state the physical quantity and its unit before reading the numerical 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Week06/.agent/lecture-slides/outline.md</a:t>
            </a:r>
          </a:p>
          <a:p xmlns:a="http://schemas.openxmlformats.org/drawingml/2006/main">
            <a:r>
              <a:t>- Week06/.agent/manifests/Week06_Content_Manifest.md</a:t>
            </a:r>
          </a:p>
          <a:p xmlns:a="http://schemas.openxmlformats.org/drawingml/2006/main">
            <a:r>
              <a:t>- Week06/Week06_Lecture_Demonstration_Numerical_Differentiation_of_Vertical_Motion.m</a:t>
            </a:r>
          </a:p>
          <a:p xmlns:a="http://schemas.openxmlformats.org/drawingml/2006/main">
            <a:r>
              <a:t>- PHY4605_Lecture_Slide_Design_Spec.md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Week 06 slide 8. Ask students to state the physical quantity and its unit before reading the numerical 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Week06/.agent/lecture-slides/outline.md</a:t>
            </a:r>
          </a:p>
          <a:p xmlns:a="http://schemas.openxmlformats.org/drawingml/2006/main">
            <a:r>
              <a:t>- Week06/.agent/manifests/Week06_Content_Manifest.md</a:t>
            </a:r>
          </a:p>
          <a:p xmlns:a="http://schemas.openxmlformats.org/drawingml/2006/main">
            <a:r>
              <a:t>- Week06/Week06_Lecture_Demonstration_Numerical_Differentiation_of_Vertical_Motion.m</a:t>
            </a:r>
          </a:p>
          <a:p xmlns:a="http://schemas.openxmlformats.org/drawingml/2006/main">
            <a:r>
              <a:t>- PHY4605_Lecture_Slide_Design_Spec.md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Week 06 slide 9. Ask students to state the physical quantity and its unit before reading the numerical 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Week06/.agent/lecture-slides/outline.md</a:t>
            </a:r>
          </a:p>
          <a:p xmlns:a="http://schemas.openxmlformats.org/drawingml/2006/main">
            <a:r>
              <a:t>- Week06/.agent/manifests/Week06_Content_Manifest.md</a:t>
            </a:r>
          </a:p>
          <a:p xmlns:a="http://schemas.openxmlformats.org/drawingml/2006/main">
            <a:r>
              <a:t>- Week06/Week06_Lecture_Demonstration_Numerical_Differentiation_of_Vertical_Motion.m</a:t>
            </a:r>
          </a:p>
          <a:p xmlns:a="http://schemas.openxmlformats.org/drawingml/2006/main">
            <a:r>
              <a:t>- PHY4605_Lecture_Slide_Design_Spec.md</a:t>
            </a:r>
          </a:p>
          <a:p xmlns:a="http://schemas.openxmlformats.org/drawingml/2006/main">
            <a:r>
              <a:t>- Week06/.agent/matlab/assets/week06_forward_difference_geometry.png; MATLAB-generated evidence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Week 06 slide 10. Ask students to state the physical quantity and its unit before reading the numerical 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Week06/.agent/lecture-slides/outline.md</a:t>
            </a:r>
          </a:p>
          <a:p xmlns:a="http://schemas.openxmlformats.org/drawingml/2006/main">
            <a:r>
              <a:t>- Week06/.agent/manifests/Week06_Content_Manifest.md</a:t>
            </a:r>
          </a:p>
          <a:p xmlns:a="http://schemas.openxmlformats.org/drawingml/2006/main">
            <a:r>
              <a:t>- Week06/Week06_Lecture_Demonstration_Numerical_Differentiation_of_Vertical_Motion.m</a:t>
            </a:r>
          </a:p>
          <a:p xmlns:a="http://schemas.openxmlformats.org/drawingml/2006/main">
            <a:r>
              <a:t>- PHY4605_Lecture_Slide_Design_Spec.md</a:t>
            </a:r>
          </a:p>
          <a:p xmlns:a="http://schemas.openxmlformats.org/drawingml/2006/main">
            <a:r>
              <a:t>- Week06/.agent/lecture-slides/equations/analytic-velocity.tex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Week 06 slide 11. Ask students to state the physical quantity and its unit before reading the numerical 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Week06/.agent/lecture-slides/outline.md</a:t>
            </a:r>
          </a:p>
          <a:p xmlns:a="http://schemas.openxmlformats.org/drawingml/2006/main">
            <a:r>
              <a:t>- Week06/.agent/manifests/Week06_Content_Manifest.md</a:t>
            </a:r>
          </a:p>
          <a:p xmlns:a="http://schemas.openxmlformats.org/drawingml/2006/main">
            <a:r>
              <a:t>- Week06/Week06_Lecture_Demonstration_Numerical_Differentiation_of_Vertical_Motion.m</a:t>
            </a:r>
          </a:p>
          <a:p xmlns:a="http://schemas.openxmlformats.org/drawingml/2006/main">
            <a:r>
              <a:t>- PHY4605_Lecture_Slide_Design_Spec.md</a:t>
            </a:r>
          </a:p>
          <a:p xmlns:a="http://schemas.openxmlformats.org/drawingml/2006/main">
            <a:r>
              <a:t>- Week06/.agent/lecture-slides/equations/absolute-error.tex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Week 06 slide 12. Ask students to state the physical quantity and its unit before reading the numerical 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Week06/.agent/lecture-slides/outline.md</a:t>
            </a:r>
          </a:p>
          <a:p xmlns:a="http://schemas.openxmlformats.org/drawingml/2006/main">
            <a:r>
              <a:t>- Week06/.agent/manifests/Week06_Content_Manifest.md</a:t>
            </a:r>
          </a:p>
          <a:p xmlns:a="http://schemas.openxmlformats.org/drawingml/2006/main">
            <a:r>
              <a:t>- Week06/Week06_Lecture_Demonstration_Numerical_Differentiation_of_Vertical_Motion.m</a:t>
            </a:r>
          </a:p>
          <a:p xmlns:a="http://schemas.openxmlformats.org/drawingml/2006/main">
            <a:r>
              <a:t>- PHY4605_Lecture_Slide_Design_Spec.md</a:t>
            </a:r>
          </a:p>
          <a:p xmlns:a="http://schemas.openxmlformats.org/drawingml/2006/main">
            <a:r>
              <a:t>- Week06/.agent/matlab/assets/week06_forward_difference_geometry.png; MATLAB-generated evidence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Week 06 slide 13. Ask students to state the physical quantity and its unit before reading the numerical 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Week06/.agent/lecture-slides/outline.md</a:t>
            </a:r>
          </a:p>
          <a:p xmlns:a="http://schemas.openxmlformats.org/drawingml/2006/main">
            <a:r>
              <a:t>- Week06/.agent/manifests/Week06_Content_Manifest.md</a:t>
            </a:r>
          </a:p>
          <a:p xmlns:a="http://schemas.openxmlformats.org/drawingml/2006/main">
            <a:r>
              <a:t>- Week06/Week06_Lecture_Demonstration_Numerical_Differentiation_of_Vertical_Motion.m</a:t>
            </a:r>
          </a:p>
          <a:p xmlns:a="http://schemas.openxmlformats.org/drawingml/2006/main">
            <a:r>
              <a:t>- PHY4605_Lecture_Slide_Design_Spec.md</a:t>
            </a:r>
          </a:p>
          <a:p xmlns:a="http://schemas.openxmlformats.org/drawingml/2006/main">
            <a:r>
              <a:t>- Week06/.agent/lecture-slides/equations/central-difference.tex; Week06/.agent/matlab/assets/week06_forward_error_vs_step.png; MATLAB-generated evidence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Week 06 slide 14. Ask students to state the physical quantity and its unit before reading the numerical 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Week06/.agent/lecture-slides/outline.md</a:t>
            </a:r>
          </a:p>
          <a:p xmlns:a="http://schemas.openxmlformats.org/drawingml/2006/main">
            <a:r>
              <a:t>- Week06/.agent/manifests/Week06_Content_Manifest.md</a:t>
            </a:r>
          </a:p>
          <a:p xmlns:a="http://schemas.openxmlformats.org/drawingml/2006/main">
            <a:r>
              <a:t>- Week06/Week06_Lecture_Demonstration_Numerical_Differentiation_of_Vertical_Motion.m</a:t>
            </a:r>
          </a:p>
          <a:p xmlns:a="http://schemas.openxmlformats.org/drawingml/2006/main">
            <a:r>
              <a:t>- PHY4605_Lecture_Slide_Design_Spec.md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317a854a884ee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f4969ad6c9e420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5fa8efa0ed64e1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fa64d7fa7314df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094bc0abe194a1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Y4605 inherited title treatment">
            <a:extLst xmlns:a="http://schemas.openxmlformats.org/drawingml/2006/main">
              <a:ext uri="{FF2B5EF4-FFF2-40B4-BE49-F238E27FC236}">
                <a16:creationId xmlns:a16="http://schemas.microsoft.com/office/drawing/2014/main" id="{324B9039-79E6-4DF8-AD6B-E3F370465B4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95375" y="571500"/>
            <a:ext cx="1504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51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endParaRPr sz="5100" b="1">
              <a:solidFill>
                <a:srgbClr val="0B2B4C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11" name="PHY4605 inherited subtitle treatment">
            <a:extLst xmlns:a="http://schemas.openxmlformats.org/drawingml/2006/main">
              <a:ext uri="{FF2B5EF4-FFF2-40B4-BE49-F238E27FC236}">
                <a16:creationId xmlns:a16="http://schemas.microsoft.com/office/drawing/2014/main" id="{01587EA3-F947-46A8-BC5A-5E2B35305BBD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xfrm xmlns:a="http://schemas.openxmlformats.org/drawingml/2006/main">
            <a:off x="1095375" y="1447800"/>
            <a:ext cx="1504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endParaRPr sz="2250">
              <a:solidFill>
                <a:srgbClr val="3F4B57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12" name="PHY4605 inherited slide-number treatment">
            <a:extLst xmlns:a="http://schemas.openxmlformats.org/drawingml/2006/main">
              <a:ext uri="{FF2B5EF4-FFF2-40B4-BE49-F238E27FC236}">
                <a16:creationId xmlns:a16="http://schemas.microsoft.com/office/drawing/2014/main" id="{35A964CB-F0DF-4D6E-B03F-000547DB4AC2}"/>
              </a:ext>
            </a:extLst>
          </p:cNvPr>
          <p:cNvSpPr>
            <a:spLocks xmlns:a="http://schemas.openxmlformats.org/drawingml/2006/main" noGrp="1"/>
          </p:cNvSpPr>
          <p:nvPr>
            <p:ph type="sldNum" idx="0"/>
          </p:nvPr>
        </p:nvSpPr>
        <p:spPr>
          <a:xfrm xmlns:a="http://schemas.openxmlformats.org/drawingml/2006/main">
            <a:off x="16802100" y="92964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165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endParaRPr sz="1650">
              <a:solidFill>
                <a:srgbClr val="697684"/>
              </a:solidFill>
              <a:latin typeface="Nunito"/>
              <a:ea typeface="Nunito"/>
              <a:cs typeface="Nunito"/>
            </a:endParaRPr>
          </a:p>
        </p:txBody>
      </p:sp>
    </p:spTree>
  </p:cSld>
</p:sldLayout>
</file>

<file path=ppt/slideLayouts/slideLayout2.xml><?xml version="1.0" encoding="utf-8"?>
<p:sldLayout xmlns:p="http://schemas.openxmlformats.org/presentationml/2006/main">
  <p:cSld name="Opening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Y4605 inherited course tag treatment">
            <a:extLst xmlns:a="http://schemas.openxmlformats.org/drawingml/2006/main">
              <a:ext uri="{FF2B5EF4-FFF2-40B4-BE49-F238E27FC236}">
                <a16:creationId xmlns:a16="http://schemas.microsoft.com/office/drawing/2014/main" id="{3E653339-5C42-4ADD-BDFA-322BD58B7F82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1095375" y="12001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endParaRPr sz="1950" b="1">
              <a:solidFill>
                <a:srgbClr val="3F4B57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11" name="PHY4605 inherited title treatment">
            <a:extLst xmlns:a="http://schemas.openxmlformats.org/drawingml/2006/main">
              <a:ext uri="{FF2B5EF4-FFF2-40B4-BE49-F238E27FC236}">
                <a16:creationId xmlns:a16="http://schemas.microsoft.com/office/drawing/2014/main" id="{AF4B793A-4FDF-467A-B839-69FBD98AA8C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95375" y="2333625"/>
            <a:ext cx="10287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615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endParaRPr sz="6150" b="1">
              <a:solidFill>
                <a:srgbClr val="0B2B4C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12" name="PHY4605 inherited subtitle treatment">
            <a:extLst xmlns:a="http://schemas.openxmlformats.org/drawingml/2006/main">
              <a:ext uri="{FF2B5EF4-FFF2-40B4-BE49-F238E27FC236}">
                <a16:creationId xmlns:a16="http://schemas.microsoft.com/office/drawing/2014/main" id="{D372F81A-07AD-47A3-AD15-7742DCCDECEF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xfrm xmlns:a="http://schemas.openxmlformats.org/drawingml/2006/main">
            <a:off x="1095375" y="4524375"/>
            <a:ext cx="11239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25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endParaRPr sz="2550">
              <a:solidFill>
                <a:srgbClr val="3F4B57"/>
              </a:solidFill>
              <a:latin typeface="Nunito"/>
              <a:ea typeface="Nunito"/>
              <a:cs typeface="Nunito"/>
            </a:endParaRPr>
          </a:p>
        </p:txBody>
      </p:sp>
    </p:spTree>
  </p:cSld>
</p:sldLayout>
</file>

<file path=ppt/slideLayouts/slideLayout3.xml><?xml version="1.0" encoding="utf-8"?>
<p:sldLayout xmlns:p="http://schemas.openxmlformats.org/presentationml/2006/main">
  <p:cSld name="Content T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Y4605 inherited title treatment">
            <a:extLst xmlns:a="http://schemas.openxmlformats.org/drawingml/2006/main">
              <a:ext uri="{FF2B5EF4-FFF2-40B4-BE49-F238E27FC236}">
                <a16:creationId xmlns:a16="http://schemas.microsoft.com/office/drawing/2014/main" id="{E5405211-304F-4867-9950-EBE24735F5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95375" y="571500"/>
            <a:ext cx="1504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51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endParaRPr sz="5100" b="1">
              <a:solidFill>
                <a:srgbClr val="0B2B4C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11" name="PHY4605 inherited subtitle treatment">
            <a:extLst xmlns:a="http://schemas.openxmlformats.org/drawingml/2006/main">
              <a:ext uri="{FF2B5EF4-FFF2-40B4-BE49-F238E27FC236}">
                <a16:creationId xmlns:a16="http://schemas.microsoft.com/office/drawing/2014/main" id="{E91CBA08-DF0A-42D9-BFC9-999ECBC00B6C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xfrm xmlns:a="http://schemas.openxmlformats.org/drawingml/2006/main">
            <a:off x="1095375" y="1447800"/>
            <a:ext cx="1504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endParaRPr sz="2250">
              <a:solidFill>
                <a:srgbClr val="3F4B57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12" name="PHY4605 inherited slide-number treatment">
            <a:extLst xmlns:a="http://schemas.openxmlformats.org/drawingml/2006/main">
              <a:ext uri="{FF2B5EF4-FFF2-40B4-BE49-F238E27FC236}">
                <a16:creationId xmlns:a16="http://schemas.microsoft.com/office/drawing/2014/main" id="{F5AF736A-5770-4E67-8962-D97EC015F8E7}"/>
              </a:ext>
            </a:extLst>
          </p:cNvPr>
          <p:cNvSpPr>
            <a:spLocks xmlns:a="http://schemas.openxmlformats.org/drawingml/2006/main" noGrp="1"/>
          </p:cNvSpPr>
          <p:nvPr>
            <p:ph type="sldNum" idx="0"/>
          </p:nvPr>
        </p:nvSpPr>
        <p:spPr>
          <a:xfrm xmlns:a="http://schemas.openxmlformats.org/drawingml/2006/main">
            <a:off x="16802100" y="92964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165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endParaRPr sz="1650">
              <a:solidFill>
                <a:srgbClr val="697684"/>
              </a:solidFill>
              <a:latin typeface="Nunito"/>
              <a:ea typeface="Nunito"/>
              <a:cs typeface="Nunito"/>
            </a:endParaRPr>
          </a:p>
        </p:txBody>
      </p:sp>
    </p:spTree>
  </p:cSld>
</p:sldLayout>
</file>

<file path=ppt/slideLayouts/slideLayout4.xml><?xml version="1.0" encoding="utf-8"?>
<p:sldLayout xmlns:p="http://schemas.openxmlformats.org/presentationml/2006/main">
  <p:cSld name="Content T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Y4605 inherited title treatment">
            <a:extLst xmlns:a="http://schemas.openxmlformats.org/drawingml/2006/main">
              <a:ext uri="{FF2B5EF4-FFF2-40B4-BE49-F238E27FC236}">
                <a16:creationId xmlns:a16="http://schemas.microsoft.com/office/drawing/2014/main" id="{93A0124C-861E-4B0E-B42C-B0A3D3A0F5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95375" y="571500"/>
            <a:ext cx="1504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465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endParaRPr sz="4650" b="1">
              <a:solidFill>
                <a:srgbClr val="0B2B4C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11" name="PHY4605 inherited subtitle treatment">
            <a:extLst xmlns:a="http://schemas.openxmlformats.org/drawingml/2006/main">
              <a:ext uri="{FF2B5EF4-FFF2-40B4-BE49-F238E27FC236}">
                <a16:creationId xmlns:a16="http://schemas.microsoft.com/office/drawing/2014/main" id="{0E94849A-DD89-41DC-AE6A-0A98E68189EA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xfrm xmlns:a="http://schemas.openxmlformats.org/drawingml/2006/main">
            <a:off x="1095375" y="1447800"/>
            <a:ext cx="1504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endParaRPr sz="2250">
              <a:solidFill>
                <a:srgbClr val="3F4B57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12" name="PHY4605 inherited slide-number treatment">
            <a:extLst xmlns:a="http://schemas.openxmlformats.org/drawingml/2006/main">
              <a:ext uri="{FF2B5EF4-FFF2-40B4-BE49-F238E27FC236}">
                <a16:creationId xmlns:a16="http://schemas.microsoft.com/office/drawing/2014/main" id="{C08CD88F-81F9-456E-990C-91CE8FCF9EAF}"/>
              </a:ext>
            </a:extLst>
          </p:cNvPr>
          <p:cNvSpPr>
            <a:spLocks xmlns:a="http://schemas.openxmlformats.org/drawingml/2006/main" noGrp="1"/>
          </p:cNvSpPr>
          <p:nvPr>
            <p:ph type="sldNum" idx="0"/>
          </p:nvPr>
        </p:nvSpPr>
        <p:spPr>
          <a:xfrm xmlns:a="http://schemas.openxmlformats.org/drawingml/2006/main">
            <a:off x="16802100" y="92964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165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endParaRPr sz="1650">
              <a:solidFill>
                <a:srgbClr val="697684"/>
              </a:solidFill>
              <a:latin typeface="Nunito"/>
              <a:ea typeface="Nunito"/>
              <a:cs typeface="Nunito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>
  <p:cSld name="Content T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Y4605 inherited title treatment">
            <a:extLst xmlns:a="http://schemas.openxmlformats.org/drawingml/2006/main">
              <a:ext uri="{FF2B5EF4-FFF2-40B4-BE49-F238E27FC236}">
                <a16:creationId xmlns:a16="http://schemas.microsoft.com/office/drawing/2014/main" id="{E216C124-E8E6-4289-8C19-20414EEFFC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95375" y="571500"/>
            <a:ext cx="150495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42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endParaRPr sz="4200" b="1">
              <a:solidFill>
                <a:srgbClr val="0B2B4C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11" name="PHY4605 inherited subtitle treatment">
            <a:extLst xmlns:a="http://schemas.openxmlformats.org/drawingml/2006/main">
              <a:ext uri="{FF2B5EF4-FFF2-40B4-BE49-F238E27FC236}">
                <a16:creationId xmlns:a16="http://schemas.microsoft.com/office/drawing/2014/main" id="{782CC33A-AF61-4F9E-B7DF-F1026E23D696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xfrm xmlns:a="http://schemas.openxmlformats.org/drawingml/2006/main">
            <a:off x="1095375" y="1952625"/>
            <a:ext cx="1504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endParaRPr sz="2250">
              <a:solidFill>
                <a:srgbClr val="3F4B57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12" name="PHY4605 inherited slide-number treatment">
            <a:extLst xmlns:a="http://schemas.openxmlformats.org/drawingml/2006/main">
              <a:ext uri="{FF2B5EF4-FFF2-40B4-BE49-F238E27FC236}">
                <a16:creationId xmlns:a16="http://schemas.microsoft.com/office/drawing/2014/main" id="{0D54A493-24F1-48A0-B693-2ECD8C02CD90}"/>
              </a:ext>
            </a:extLst>
          </p:cNvPr>
          <p:cNvSpPr>
            <a:spLocks xmlns:a="http://schemas.openxmlformats.org/drawingml/2006/main" noGrp="1"/>
          </p:cNvSpPr>
          <p:nvPr>
            <p:ph type="sldNum" idx="0"/>
          </p:nvPr>
        </p:nvSpPr>
        <p:spPr>
          <a:xfrm xmlns:a="http://schemas.openxmlformats.org/drawingml/2006/main">
            <a:off x="16802100" y="92964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165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endParaRPr sz="1650">
              <a:solidFill>
                <a:srgbClr val="697684"/>
              </a:solidFill>
              <a:latin typeface="Nunito"/>
              <a:ea typeface="Nunito"/>
              <a:cs typeface="Nunito"/>
            </a:endParaRP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22b67b617a5407f" /><Relationship Type="http://schemas.openxmlformats.org/officeDocument/2006/relationships/slideLayout" Target="/ppt/slideLayouts/slideLayout1.xml" Id="Rf7fcb1b0104644c9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227e91efe02f4bcf" /><Relationship Type="http://schemas.openxmlformats.org/officeDocument/2006/relationships/slideLayout" Target="/ppt/slideLayouts/slideLayout2.xml" Id="R10f43a9860ff48c5" /><Relationship Type="http://schemas.openxmlformats.org/officeDocument/2006/relationships/slideLayout" Target="/ppt/slideLayouts/slideLayout3.xml" Id="Raf1c00ba0f9840a0" /><Relationship Type="http://schemas.openxmlformats.org/officeDocument/2006/relationships/slideLayout" Target="/ppt/slideLayouts/slideLayout4.xml" Id="R2e3ebae9d2e64c7e" /><Relationship Type="http://schemas.openxmlformats.org/officeDocument/2006/relationships/slideLayout" Target="/ppt/slideLayouts/slideLayout5.xml" Id="R57526be02710460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Y4605 inherited title treatment">
            <a:extLst xmlns:a="http://schemas.openxmlformats.org/drawingml/2006/main">
              <a:ext uri="{FF2B5EF4-FFF2-40B4-BE49-F238E27FC236}">
                <a16:creationId xmlns:a16="http://schemas.microsoft.com/office/drawing/2014/main" id="{EF15AA1D-AFC1-413B-895A-E40B408DA8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95375" y="571500"/>
            <a:ext cx="1504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51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endParaRPr sz="5100" b="1">
              <a:solidFill>
                <a:srgbClr val="0B2B4C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11" name="PHY4605 inherited subtitle treatment">
            <a:extLst xmlns:a="http://schemas.openxmlformats.org/drawingml/2006/main">
              <a:ext uri="{FF2B5EF4-FFF2-40B4-BE49-F238E27FC236}">
                <a16:creationId xmlns:a16="http://schemas.microsoft.com/office/drawing/2014/main" id="{863AF3D2-9AEF-49D1-8C98-25EFF8A94388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xfrm xmlns:a="http://schemas.openxmlformats.org/drawingml/2006/main">
            <a:off x="1095375" y="1447800"/>
            <a:ext cx="1504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endParaRPr sz="2250">
              <a:solidFill>
                <a:srgbClr val="3F4B57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12" name="PHY4605 inherited slide-number treatment">
            <a:extLst xmlns:a="http://schemas.openxmlformats.org/drawingml/2006/main">
              <a:ext uri="{FF2B5EF4-FFF2-40B4-BE49-F238E27FC236}">
                <a16:creationId xmlns:a16="http://schemas.microsoft.com/office/drawing/2014/main" id="{2C31D86C-DCD1-4415-9E66-7F176C0BBFEB}"/>
              </a:ext>
            </a:extLst>
          </p:cNvPr>
          <p:cNvSpPr>
            <a:spLocks xmlns:a="http://schemas.openxmlformats.org/drawingml/2006/main" noGrp="1"/>
          </p:cNvSpPr>
          <p:nvPr>
            <p:ph type="sldNum" idx="0"/>
          </p:nvPr>
        </p:nvSpPr>
        <p:spPr>
          <a:xfrm xmlns:a="http://schemas.openxmlformats.org/drawingml/2006/main">
            <a:off x="16802100" y="92964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165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endParaRPr sz="1650">
              <a:solidFill>
                <a:srgbClr val="697684"/>
              </a:solidFill>
              <a:latin typeface="Nunito"/>
              <a:ea typeface="Nunito"/>
              <a:cs typeface="Nunito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7fcb1b0104644c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PHY4605 Borderless White Mast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Y4605 inherited title treatment">
            <a:extLst xmlns:a="http://schemas.openxmlformats.org/drawingml/2006/main">
              <a:ext uri="{FF2B5EF4-FFF2-40B4-BE49-F238E27FC236}">
                <a16:creationId xmlns:a16="http://schemas.microsoft.com/office/drawing/2014/main" id="{AF1213F3-EA24-4EB1-AE5E-CE17BE954C8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95375" y="571500"/>
            <a:ext cx="1504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51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endParaRPr sz="5100" b="1">
              <a:solidFill>
                <a:srgbClr val="0B2B4C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11" name="PHY4605 inherited subtitle treatment">
            <a:extLst xmlns:a="http://schemas.openxmlformats.org/drawingml/2006/main">
              <a:ext uri="{FF2B5EF4-FFF2-40B4-BE49-F238E27FC236}">
                <a16:creationId xmlns:a16="http://schemas.microsoft.com/office/drawing/2014/main" id="{BE108FCD-7C56-4455-B5C4-08BE57EC77CB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xfrm xmlns:a="http://schemas.openxmlformats.org/drawingml/2006/main">
            <a:off x="1095375" y="1447800"/>
            <a:ext cx="1504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endParaRPr sz="2250">
              <a:solidFill>
                <a:srgbClr val="3F4B57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12" name="PHY4605 inherited slide-number treatment">
            <a:extLst xmlns:a="http://schemas.openxmlformats.org/drawingml/2006/main">
              <a:ext uri="{FF2B5EF4-FFF2-40B4-BE49-F238E27FC236}">
                <a16:creationId xmlns:a16="http://schemas.microsoft.com/office/drawing/2014/main" id="{3BBF81E6-09E4-4F46-B46A-F88264CB336F}"/>
              </a:ext>
            </a:extLst>
          </p:cNvPr>
          <p:cNvSpPr>
            <a:spLocks xmlns:a="http://schemas.openxmlformats.org/drawingml/2006/main" noGrp="1"/>
          </p:cNvSpPr>
          <p:nvPr>
            <p:ph type="sldNum" idx="0"/>
          </p:nvPr>
        </p:nvSpPr>
        <p:spPr>
          <a:xfrm xmlns:a="http://schemas.openxmlformats.org/drawingml/2006/main">
            <a:off x="16802100" y="92964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165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endParaRPr sz="1650">
              <a:solidFill>
                <a:srgbClr val="697684"/>
              </a:solidFill>
              <a:latin typeface="Nunito"/>
              <a:ea typeface="Nunito"/>
              <a:cs typeface="Nunito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1" r:id="R10f43a9860ff48c5"/>
    <p:sldLayoutId xmlns:r="http://schemas.openxmlformats.org/officeDocument/2006/relationships" id="2147483652" r:id="Raf1c00ba0f9840a0"/>
    <p:sldLayoutId xmlns:r="http://schemas.openxmlformats.org/officeDocument/2006/relationships" id="2147483653" r:id="R2e3ebae9d2e64c7e"/>
    <p:sldLayoutId xmlns:r="http://schemas.openxmlformats.org/officeDocument/2006/relationships" id="2147483654" r:id="R57526be027104600"/>
  </p:sldLayoutIdLst>
</p:sldMaster>
</file>

<file path=ppt/slideMasters/theme/theme2.xml><?xml version="1.0" encoding="utf-8"?>
<a:theme xmlns:a="http://schemas.openxmlformats.org/drawingml/2006/main" name="ChatGPT">
  <a:themeElements>
    <a:clrScheme name="PHY4605">
      <a:dk1>
        <a:srgbClr val="0B2B4C"/>
      </a:dk1>
      <a:lt1>
        <a:srgbClr val="FFFFFF"/>
      </a:lt1>
      <a:dk2>
        <a:srgbClr val="3F4B57"/>
      </a:dk2>
      <a:lt2>
        <a:srgbClr val="F7F9FB"/>
      </a:lt2>
      <a:accent1>
        <a:srgbClr val="2F6DB2"/>
      </a:accent1>
      <a:accent2>
        <a:srgbClr val="2A9D9F"/>
      </a:accent2>
      <a:accent3>
        <a:srgbClr val="C98A16"/>
      </a:accent3>
      <a:accent4>
        <a:srgbClr val="6F4B9B"/>
      </a:accent4>
      <a:accent5>
        <a:srgbClr val="3E8E45"/>
      </a:accent5>
      <a:accent6>
        <a:srgbClr val="B3262E"/>
      </a:accent6>
      <a:hlink>
        <a:srgbClr val="2F6DB2"/>
      </a:hlink>
      <a:folHlink>
        <a:srgbClr val="6F4B9B"/>
      </a:folHlink>
    </a:clrScheme>
    <a:fontScheme name="Office">
      <a:majorFont>
        <a:latin typeface="Nunito"/>
        <a:ea typeface="Nunito"/>
        <a:cs typeface="Nunito"/>
      </a:majorFont>
      <a:minorFont>
        <a:latin typeface="Nunito"/>
        <a:ea typeface="Nunito"/>
        <a:cs typeface="Nunito"/>
      </a:minorFont>
    </a:fontScheme>
    <a:fmtScheme name="PHY4605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ChatGPT">
  <a:themeElements>
    <a:clrScheme name="PHY4605">
      <a:dk1>
        <a:srgbClr val="0B2B4C"/>
      </a:dk1>
      <a:lt1>
        <a:srgbClr val="FFFFFF"/>
      </a:lt1>
      <a:dk2>
        <a:srgbClr val="3F4B57"/>
      </a:dk2>
      <a:lt2>
        <a:srgbClr val="F7F9FB"/>
      </a:lt2>
      <a:accent1>
        <a:srgbClr val="2F6DB2"/>
      </a:accent1>
      <a:accent2>
        <a:srgbClr val="2A9D9F"/>
      </a:accent2>
      <a:accent3>
        <a:srgbClr val="C98A16"/>
      </a:accent3>
      <a:accent4>
        <a:srgbClr val="6F4B9B"/>
      </a:accent4>
      <a:accent5>
        <a:srgbClr val="3E8E45"/>
      </a:accent5>
      <a:accent6>
        <a:srgbClr val="B3262E"/>
      </a:accent6>
      <a:hlink>
        <a:srgbClr val="2F6DB2"/>
      </a:hlink>
      <a:folHlink>
        <a:srgbClr val="6F4B9B"/>
      </a:folHlink>
    </a:clrScheme>
    <a:fontScheme name="Office">
      <a:majorFont>
        <a:latin typeface="Nunito"/>
        <a:ea typeface="Nunito"/>
        <a:cs typeface="Nunito"/>
      </a:majorFont>
      <a:minorFont>
        <a:latin typeface="Nunito"/>
        <a:ea typeface="Nunito"/>
        <a:cs typeface="Nunito"/>
      </a:minorFont>
    </a:fontScheme>
    <a:fmtScheme name="PHY4605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933e203221643cf" /><Relationship Type="http://schemas.openxmlformats.org/officeDocument/2006/relationships/notesSlide" Target="/ppt/notesSlides/notesSlide1.xml" Id="Rf3e834de6cc9499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9d424d72a3c41aa" /><Relationship Type="http://schemas.openxmlformats.org/officeDocument/2006/relationships/notesSlide" Target="/ppt/notesSlides/notesSlide2.xml" Id="Rc18a8022d5c6461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0daf5982dfe48e4" /><Relationship Type="http://schemas.openxmlformats.org/officeDocument/2006/relationships/image" Target="/ppt/media/image.png" Id="Rbd4ac62070a54937" /><Relationship Type="http://schemas.openxmlformats.org/officeDocument/2006/relationships/notesSlide" Target="/ppt/notesSlides/notesSlide3.xml" Id="R3c7d96951886437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a30ea43ad134802" /><Relationship Type="http://schemas.openxmlformats.org/officeDocument/2006/relationships/image" Target="/ppt/media/image2.png" Id="R9d3730455a0b479f" /><Relationship Type="http://schemas.openxmlformats.org/officeDocument/2006/relationships/notesSlide" Target="/ppt/notesSlides/notesSlide4.xml" Id="Rff449b89ddce4c9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c5012ada0d640ce" /><Relationship Type="http://schemas.openxmlformats.org/officeDocument/2006/relationships/notesSlide" Target="/ppt/notesSlides/notesSlide5.xml" Id="Ra79adcbfe37945a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bb996a383834e5f" /><Relationship Type="http://schemas.openxmlformats.org/officeDocument/2006/relationships/image" Target="/ppt/media/image3.png" Id="Rd0f593c979e846f9" /><Relationship Type="http://schemas.openxmlformats.org/officeDocument/2006/relationships/notesSlide" Target="/ppt/notesSlides/notesSlide6.xml" Id="R06c9de9d7bf64eb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d6e911a95d046cc" /><Relationship Type="http://schemas.openxmlformats.org/officeDocument/2006/relationships/notesSlide" Target="/ppt/notesSlides/notesSlide7.xml" Id="R3bd148132daf422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21266d45f5a47b8" /><Relationship Type="http://schemas.openxmlformats.org/officeDocument/2006/relationships/notesSlide" Target="/ppt/notesSlides/notesSlide8.xml" Id="R3a6730ecf477413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aaaec17a0c74704" /><Relationship Type="http://schemas.openxmlformats.org/officeDocument/2006/relationships/image" Target="/ppt/media/image4.png" Id="R15f5a9097b28476b" /><Relationship Type="http://schemas.openxmlformats.org/officeDocument/2006/relationships/notesSlide" Target="/ppt/notesSlides/notesSlide9.xml" Id="Ra56f608f0110444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86e407cd042403a" /><Relationship Type="http://schemas.openxmlformats.org/officeDocument/2006/relationships/image" Target="/ppt/media/image5.png" Id="R3fb57d3391974e8c" /><Relationship Type="http://schemas.openxmlformats.org/officeDocument/2006/relationships/notesSlide" Target="/ppt/notesSlides/notesSlide10.xml" Id="Rbe8aa526431a4ee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f7cd4cd94df4814" /><Relationship Type="http://schemas.openxmlformats.org/officeDocument/2006/relationships/image" Target="/ppt/media/image6.png" Id="R184ed60b720d4b28" /><Relationship Type="http://schemas.openxmlformats.org/officeDocument/2006/relationships/notesSlide" Target="/ppt/notesSlides/notesSlide11.xml" Id="R0c3993aa0e30444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010b42bb9844423" /><Relationship Type="http://schemas.openxmlformats.org/officeDocument/2006/relationships/image" Target="/ppt/media/image7.png" Id="Rfe03721d10434d34" /><Relationship Type="http://schemas.openxmlformats.org/officeDocument/2006/relationships/notesSlide" Target="/ppt/notesSlides/notesSlide12.xml" Id="Rcc83872e0fd949e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9097bf09327c4459" /><Relationship Type="http://schemas.openxmlformats.org/officeDocument/2006/relationships/image" Target="/ppt/media/image8.png" Id="Reda4a239ef7549a9" /><Relationship Type="http://schemas.openxmlformats.org/officeDocument/2006/relationships/image" Target="/ppt/media/image9.png" Id="Rc916ef1be7d34404" /><Relationship Type="http://schemas.openxmlformats.org/officeDocument/2006/relationships/notesSlide" Target="/ppt/notesSlides/notesSlide13.xml" Id="R8507be266b7a43e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7e7867653c24248" /><Relationship Type="http://schemas.openxmlformats.org/officeDocument/2006/relationships/notesSlide" Target="/ppt/notesSlides/notesSlide14.xml" Id="Ra80973bdbfe4441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Y4605 inherited title treatment">
            <a:extLst xmlns:a="http://schemas.openxmlformats.org/drawingml/2006/main">
              <a:ext uri="{FF2B5EF4-FFF2-40B4-BE49-F238E27FC236}">
                <a16:creationId xmlns:a16="http://schemas.microsoft.com/office/drawing/2014/main" id="{AF4B793A-4FDF-467A-B839-69FBD98AA8C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95375" y="2333625"/>
            <a:ext cx="10287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555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555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From Nearby Values</a:t>
            </a:r>
            <a:endParaRPr sz="6150" b="1">
              <a:solidFill>
                <a:srgbClr val="0B2B4C"/>
              </a:solidFill>
              <a:latin typeface="Nunito"/>
              <a:ea typeface="Nunito"/>
              <a:cs typeface="Nunito"/>
            </a:endParaRPr>
          </a:p>
          <a:p xmlns:a="http://schemas.openxmlformats.org/drawingml/2006/main">
            <a:pPr algn="l">
              <a:lnSpc>
                <a:spcPct val="94000"/>
              </a:lnSpc>
              <a:buNone/>
              <a:defRPr sz="555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555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to an Instantaneous Rate</a:t>
            </a:r>
            <a:endParaRPr sz="6150" b="1">
              <a:solidFill>
                <a:srgbClr val="0B2B4C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2" name="PHY4605 inherited subtitle treatment">
            <a:extLst xmlns:a="http://schemas.openxmlformats.org/drawingml/2006/main">
              <a:ext uri="{FF2B5EF4-FFF2-40B4-BE49-F238E27FC236}">
                <a16:creationId xmlns:a16="http://schemas.microsoft.com/office/drawing/2014/main" id="{D372F81A-07AD-47A3-AD15-7742DCCDECEF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xfrm xmlns:a="http://schemas.openxmlformats.org/drawingml/2006/main">
            <a:off x="1095375" y="4524375"/>
            <a:ext cx="11239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55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Week 6 | Numerical differentiation with vertical motion</a:t>
            </a:r>
            <a:endParaRPr sz="2550">
              <a:solidFill>
                <a:srgbClr val="3F4B57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3" name="tag">
            <a:extLst xmlns:a="http://schemas.openxmlformats.org/drawingml/2006/main">
              <a:ext uri="{FF2B5EF4-FFF2-40B4-BE49-F238E27FC236}">
                <a16:creationId xmlns:a16="http://schemas.microsoft.com/office/drawing/2014/main" id="{B480C321-B4C5-43D3-B8C7-F70BD8070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2001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950" b="1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950" b="1">
                <a:solidFill>
                  <a:srgbClr val="3F4B57"/>
                </a:solidFill>
                <a:latin typeface="Nunito"/>
                <a:ea typeface="Nunito"/>
                <a:cs typeface="Nunito"/>
              </a:rPr>
              <a:t>PHY4605 Computational Methods in Physics</a:t>
            </a:r>
          </a:p>
        </p:txBody>
      </p:sp>
      <p:sp>
        <p:nvSpPr>
          <p:cNvPr id="4" name="axis">
            <a:extLst xmlns:a="http://schemas.openxmlformats.org/drawingml/2006/main">
              <a:ext uri="{FF2B5EF4-FFF2-40B4-BE49-F238E27FC236}">
                <a16:creationId xmlns:a16="http://schemas.microsoft.com/office/drawing/2014/main" id="{2C9DA3C8-B2EE-48B1-914A-6958A1543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2952750"/>
            <a:ext cx="0" cy="390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B2B4C"/>
            </a:solidFill>
            <a:prstDash val="solid"/>
          </a:ln>
        </p:spPr>
      </p:sp>
      <p:sp>
        <p:nvSpPr>
          <p:cNvPr id="5" name="ground">
            <a:extLst xmlns:a="http://schemas.openxmlformats.org/drawingml/2006/main">
              <a:ext uri="{FF2B5EF4-FFF2-40B4-BE49-F238E27FC236}">
                <a16:creationId xmlns:a16="http://schemas.microsoft.com/office/drawing/2014/main" id="{294C72A9-3FD6-48B9-9919-D8310AE06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6858000"/>
            <a:ext cx="4905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AB4BE"/>
            </a:solidFill>
            <a:prstDash val="solid"/>
          </a:ln>
        </p:spPr>
      </p:sp>
      <p:sp>
        <p:nvSpPr>
          <p:cNvPr id="6" name="marker-t0">
            <a:extLst xmlns:a="http://schemas.openxmlformats.org/drawingml/2006/main">
              <a:ext uri="{FF2B5EF4-FFF2-40B4-BE49-F238E27FC236}">
                <a16:creationId xmlns:a16="http://schemas.microsoft.com/office/drawing/2014/main" id="{76857524-BFB2-41E9-98CF-4DADEA594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44767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A16"/>
          </a:solidFill>
          <a:ln xmlns:a="http://schemas.openxmlformats.org/drawingml/2006/main" w="0">
            <a:solidFill>
              <a:srgbClr val="C98A16"/>
            </a:solidFill>
            <a:prstDash val="solid"/>
          </a:ln>
        </p:spPr>
      </p:sp>
      <p:sp>
        <p:nvSpPr>
          <p:cNvPr id="7" name="marker-next">
            <a:extLst xmlns:a="http://schemas.openxmlformats.org/drawingml/2006/main">
              <a:ext uri="{FF2B5EF4-FFF2-40B4-BE49-F238E27FC236}">
                <a16:creationId xmlns:a16="http://schemas.microsoft.com/office/drawing/2014/main" id="{D3CABBDC-1487-41EE-96D4-4D95867A7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49530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DB2"/>
          </a:solidFill>
          <a:ln xmlns:a="http://schemas.openxmlformats.org/drawingml/2006/main" w="0">
            <a:solidFill>
              <a:srgbClr val="2F6DB2"/>
            </a:solidFill>
            <a:prstDash val="solid"/>
          </a:ln>
        </p:spPr>
      </p:sp>
      <p:sp>
        <p:nvSpPr>
          <p:cNvPr id="8" name="velocity">
            <a:extLst xmlns:a="http://schemas.openxmlformats.org/drawingml/2006/main">
              <a:ext uri="{FF2B5EF4-FFF2-40B4-BE49-F238E27FC236}">
                <a16:creationId xmlns:a16="http://schemas.microsoft.com/office/drawing/2014/main" id="{355B4BC6-6AE8-43DE-BED3-06207F71C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3095625"/>
            <a:ext cx="0" cy="1381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A9D9F"/>
            </a:solidFill>
            <a:prstDash val="solid"/>
          </a:ln>
        </p:spPr>
      </p:sp>
      <p:sp>
        <p:nvSpPr>
          <p:cNvPr id="9" name="hero-y">
            <a:extLst xmlns:a="http://schemas.openxmlformats.org/drawingml/2006/main">
              <a:ext uri="{FF2B5EF4-FFF2-40B4-BE49-F238E27FC236}">
                <a16:creationId xmlns:a16="http://schemas.microsoft.com/office/drawing/2014/main" id="{C31C253E-2111-4F68-A84A-CE37EF965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2381250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800" b="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800" b="0">
                <a:solidFill>
                  <a:srgbClr val="697684"/>
                </a:solidFill>
                <a:latin typeface="Nunito"/>
                <a:ea typeface="Nunito"/>
                <a:cs typeface="Nunito"/>
              </a:rPr>
              <a:t>vertical position, y</a:t>
            </a:r>
          </a:p>
        </p:txBody>
      </p:sp>
      <p:sp>
        <p:nvSpPr>
          <p:cNvPr id="10" name="hero-q">
            <a:extLst xmlns:a="http://schemas.openxmlformats.org/drawingml/2006/main">
              <a:ext uri="{FF2B5EF4-FFF2-40B4-BE49-F238E27FC236}">
                <a16:creationId xmlns:a16="http://schemas.microsoft.com/office/drawing/2014/main" id="{25FFE5D3-67BF-427D-8691-0ADF231B8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8191500"/>
            <a:ext cx="1381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225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25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How can two nearby values estimate velocity at one instant?</a:t>
            </a:r>
          </a:p>
        </p:txBody>
      </p:sp>
    </p:spTree>
    <p:extLst>
      <p:ext uri="{BB962C8B-B14F-4D97-AF65-F5344CB8AC3E}">
        <p14:creationId xmlns:p14="http://schemas.microsoft.com/office/powerpoint/2010/main" val="9853336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PHY4605 inherited title treatment">
            <a:extLst xmlns:a="http://schemas.openxmlformats.org/drawingml/2006/main">
              <a:ext uri="{FF2B5EF4-FFF2-40B4-BE49-F238E27FC236}">
                <a16:creationId xmlns:a16="http://schemas.microsoft.com/office/drawing/2014/main" id="{E5405211-304F-4867-9950-EBE24735F5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95375" y="571500"/>
            <a:ext cx="1504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51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51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A derivative is a physical rate</a:t>
            </a:r>
            <a:endParaRPr sz="5100" b="1">
              <a:solidFill>
                <a:srgbClr val="0B2B4C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2" name="PHY4605 inherited subtitle treatment">
            <a:extLst xmlns:a="http://schemas.openxmlformats.org/drawingml/2006/main">
              <a:ext uri="{FF2B5EF4-FFF2-40B4-BE49-F238E27FC236}">
                <a16:creationId xmlns:a16="http://schemas.microsoft.com/office/drawing/2014/main" id="{E91CBA08-DF0A-42D9-BFC9-999ECBC00B6C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xfrm xmlns:a="http://schemas.openxmlformats.org/drawingml/2006/main">
            <a:off x="1095375" y="1447800"/>
            <a:ext cx="1504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25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Read the quantity, then derive its unit from the variables</a:t>
            </a:r>
            <a:endParaRPr sz="2250">
              <a:solidFill>
                <a:srgbClr val="3F4B57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3" name="PHY4605 inherited slide-number treatment">
            <a:extLst xmlns:a="http://schemas.openxmlformats.org/drawingml/2006/main">
              <a:ext uri="{FF2B5EF4-FFF2-40B4-BE49-F238E27FC236}">
                <a16:creationId xmlns:a16="http://schemas.microsoft.com/office/drawing/2014/main" id="{F5AF736A-5770-4E67-8962-D97EC015F8E7}"/>
              </a:ext>
            </a:extLst>
          </p:cNvPr>
          <p:cNvSpPr>
            <a:spLocks xmlns:a="http://schemas.openxmlformats.org/drawingml/2006/main" noGrp="1"/>
          </p:cNvSpPr>
          <p:nvPr>
            <p:ph type="sldNum" idx="0"/>
          </p:nvPr>
        </p:nvSpPr>
        <p:spPr>
          <a:xfrm xmlns:a="http://schemas.openxmlformats.org/drawingml/2006/main">
            <a:off x="16802100" y="92964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65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650">
                <a:solidFill>
                  <a:srgbClr val="697684"/>
                </a:solidFill>
                <a:latin typeface="Nunito"/>
                <a:ea typeface="Nunito"/>
                <a:cs typeface="Nunito"/>
              </a:rPr>
              <a:t>2</a:t>
            </a:r>
            <a:endParaRPr sz="1650">
              <a:solidFill>
                <a:srgbClr val="697684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4" name="rate-0">
            <a:extLst xmlns:a="http://schemas.openxmlformats.org/drawingml/2006/main">
              <a:ext uri="{FF2B5EF4-FFF2-40B4-BE49-F238E27FC236}">
                <a16:creationId xmlns:a16="http://schemas.microsoft.com/office/drawing/2014/main" id="{7BFBAAA9-55B0-49AA-8DB1-236026CAB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952750"/>
            <a:ext cx="4762500" cy="3333750"/>
          </a:xfrm>
          <a:prstGeom xmlns:a="http://schemas.openxmlformats.org/drawingml/2006/main" prst="roundRect">
            <a:avLst>
              <a:gd name="adj" fmla="val 6286"/>
            </a:avLst>
          </a:prstGeom>
          <a:solidFill xmlns:a="http://schemas.openxmlformats.org/drawingml/2006/main">
            <a:srgbClr val="EEF5FD"/>
          </a:solidFill>
          <a:ln xmlns:a="http://schemas.openxmlformats.org/drawingml/2006/main" w="19050">
            <a:solidFill>
              <a:srgbClr val="2F6DB2"/>
            </a:solidFill>
            <a:prstDash val="solid"/>
          </a:ln>
        </p:spPr>
      </p:sp>
      <p:sp>
        <p:nvSpPr>
          <p:cNvPr id="5" name="rate-in-0">
            <a:extLst xmlns:a="http://schemas.openxmlformats.org/drawingml/2006/main">
              <a:ext uri="{FF2B5EF4-FFF2-40B4-BE49-F238E27FC236}">
                <a16:creationId xmlns:a16="http://schemas.microsoft.com/office/drawing/2014/main" id="{C6EEFAD5-D657-4BC3-9540-C0186CA04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76625"/>
            <a:ext cx="4095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2400" b="1">
                <a:solidFill>
                  <a:srgbClr val="2F6DB2"/>
                </a:solidFill>
                <a:latin typeface="Nunito"/>
                <a:ea typeface="Nunito"/>
                <a:cs typeface="Nunito"/>
              </a:defRPr>
            </a:pPr>
            <a:r>
              <a:rPr sz="2400" b="1">
                <a:solidFill>
                  <a:srgbClr val="2F6DB2"/>
                </a:solidFill>
                <a:latin typeface="Nunito"/>
                <a:ea typeface="Nunito"/>
                <a:cs typeface="Nunito"/>
              </a:rPr>
              <a:t>position y(t)</a:t>
            </a:r>
          </a:p>
        </p:txBody>
      </p:sp>
      <p:sp>
        <p:nvSpPr>
          <p:cNvPr id="6" name="rate-arrow-0">
            <a:extLst xmlns:a="http://schemas.openxmlformats.org/drawingml/2006/main">
              <a:ext uri="{FF2B5EF4-FFF2-40B4-BE49-F238E27FC236}">
                <a16:creationId xmlns:a16="http://schemas.microsoft.com/office/drawing/2014/main" id="{F3804EC7-024D-4861-91CD-EC021612C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114800"/>
            <a:ext cx="571500" cy="3333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AB4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ate-out-0">
            <a:extLst xmlns:a="http://schemas.openxmlformats.org/drawingml/2006/main">
              <a:ext uri="{FF2B5EF4-FFF2-40B4-BE49-F238E27FC236}">
                <a16:creationId xmlns:a16="http://schemas.microsoft.com/office/drawing/2014/main" id="{F866D475-8DC9-4A0E-B667-EB0B394A7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6250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2025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025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velocity dy/dt</a:t>
            </a:r>
          </a:p>
        </p:txBody>
      </p:sp>
      <p:sp>
        <p:nvSpPr>
          <p:cNvPr id="8" name="rate-unit-0">
            <a:extLst xmlns:a="http://schemas.openxmlformats.org/drawingml/2006/main">
              <a:ext uri="{FF2B5EF4-FFF2-40B4-BE49-F238E27FC236}">
                <a16:creationId xmlns:a16="http://schemas.microsoft.com/office/drawing/2014/main" id="{E4951C68-157B-413D-AFA1-8D1B12E21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619750"/>
            <a:ext cx="4095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2100" b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100" b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m/s</a:t>
            </a:r>
          </a:p>
        </p:txBody>
      </p:sp>
      <p:sp>
        <p:nvSpPr>
          <p:cNvPr id="9" name="rate-1">
            <a:extLst xmlns:a="http://schemas.openxmlformats.org/drawingml/2006/main">
              <a:ext uri="{FF2B5EF4-FFF2-40B4-BE49-F238E27FC236}">
                <a16:creationId xmlns:a16="http://schemas.microsoft.com/office/drawing/2014/main" id="{0E2E9358-820D-401E-B9E1-321D0069D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52750"/>
            <a:ext cx="4762500" cy="3333750"/>
          </a:xfrm>
          <a:prstGeom xmlns:a="http://schemas.openxmlformats.org/drawingml/2006/main" prst="roundRect">
            <a:avLst>
              <a:gd name="adj" fmla="val 6286"/>
            </a:avLst>
          </a:prstGeom>
          <a:solidFill xmlns:a="http://schemas.openxmlformats.org/drawingml/2006/main">
            <a:srgbClr val="F0FAF7"/>
          </a:solidFill>
          <a:ln xmlns:a="http://schemas.openxmlformats.org/drawingml/2006/main" w="19050">
            <a:solidFill>
              <a:srgbClr val="2A9D9F"/>
            </a:solidFill>
            <a:prstDash val="solid"/>
          </a:ln>
        </p:spPr>
      </p:sp>
      <p:sp>
        <p:nvSpPr>
          <p:cNvPr id="10" name="rate-in-1">
            <a:extLst xmlns:a="http://schemas.openxmlformats.org/drawingml/2006/main">
              <a:ext uri="{FF2B5EF4-FFF2-40B4-BE49-F238E27FC236}">
                <a16:creationId xmlns:a16="http://schemas.microsoft.com/office/drawing/2014/main" id="{3D9962E0-AE27-490E-8142-F937B6F26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476625"/>
            <a:ext cx="4095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2400" b="1">
                <a:solidFill>
                  <a:srgbClr val="2A9D9F"/>
                </a:solidFill>
                <a:latin typeface="Nunito"/>
                <a:ea typeface="Nunito"/>
                <a:cs typeface="Nunito"/>
              </a:defRPr>
            </a:pPr>
            <a:r>
              <a:rPr sz="2400" b="1">
                <a:solidFill>
                  <a:srgbClr val="2A9D9F"/>
                </a:solidFill>
                <a:latin typeface="Nunito"/>
                <a:ea typeface="Nunito"/>
                <a:cs typeface="Nunito"/>
              </a:rPr>
              <a:t>potential V(x)</a:t>
            </a:r>
          </a:p>
        </p:txBody>
      </p:sp>
      <p:sp>
        <p:nvSpPr>
          <p:cNvPr id="11" name="rate-arrow-1">
            <a:extLst xmlns:a="http://schemas.openxmlformats.org/drawingml/2006/main">
              <a:ext uri="{FF2B5EF4-FFF2-40B4-BE49-F238E27FC236}">
                <a16:creationId xmlns:a16="http://schemas.microsoft.com/office/drawing/2014/main" id="{2B6A6107-4B1C-48F9-B429-940A2C245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114800"/>
            <a:ext cx="571500" cy="3333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AB4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ate-out-1">
            <a:extLst xmlns:a="http://schemas.openxmlformats.org/drawingml/2006/main">
              <a:ext uri="{FF2B5EF4-FFF2-40B4-BE49-F238E27FC236}">
                <a16:creationId xmlns:a16="http://schemas.microsoft.com/office/drawing/2014/main" id="{1B5C690A-6B02-4AEB-A8F1-34F24FEC2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76250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2025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025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electric field −dV/dx</a:t>
            </a:r>
          </a:p>
        </p:txBody>
      </p:sp>
      <p:sp>
        <p:nvSpPr>
          <p:cNvPr id="13" name="rate-unit-1">
            <a:extLst xmlns:a="http://schemas.openxmlformats.org/drawingml/2006/main">
              <a:ext uri="{FF2B5EF4-FFF2-40B4-BE49-F238E27FC236}">
                <a16:creationId xmlns:a16="http://schemas.microsoft.com/office/drawing/2014/main" id="{BFB5244B-3D6F-4CA7-B12C-9071D9215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5619750"/>
            <a:ext cx="4095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2100" b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100" b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V/m</a:t>
            </a:r>
          </a:p>
        </p:txBody>
      </p:sp>
      <p:sp>
        <p:nvSpPr>
          <p:cNvPr id="14" name="rate-2">
            <a:extLst xmlns:a="http://schemas.openxmlformats.org/drawingml/2006/main">
              <a:ext uri="{FF2B5EF4-FFF2-40B4-BE49-F238E27FC236}">
                <a16:creationId xmlns:a16="http://schemas.microsoft.com/office/drawing/2014/main" id="{2C500EAE-B289-41E2-A66C-17184661F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8625" y="2952750"/>
            <a:ext cx="4762500" cy="3333750"/>
          </a:xfrm>
          <a:prstGeom xmlns:a="http://schemas.openxmlformats.org/drawingml/2006/main" prst="roundRect">
            <a:avLst>
              <a:gd name="adj" fmla="val 6286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19050">
            <a:solidFill>
              <a:srgbClr val="C98A16"/>
            </a:solidFill>
            <a:prstDash val="solid"/>
          </a:ln>
        </p:spPr>
      </p:sp>
      <p:sp>
        <p:nvSpPr>
          <p:cNvPr id="15" name="rate-in-2">
            <a:extLst xmlns:a="http://schemas.openxmlformats.org/drawingml/2006/main">
              <a:ext uri="{FF2B5EF4-FFF2-40B4-BE49-F238E27FC236}">
                <a16:creationId xmlns:a16="http://schemas.microsoft.com/office/drawing/2014/main" id="{B1911B42-4B05-450C-8BCF-5F5EECC5C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3476625"/>
            <a:ext cx="4095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2400" b="1">
                <a:solidFill>
                  <a:srgbClr val="C98A16"/>
                </a:solidFill>
                <a:latin typeface="Nunito"/>
                <a:ea typeface="Nunito"/>
                <a:cs typeface="Nunito"/>
              </a:defRPr>
            </a:pPr>
            <a:r>
              <a:rPr sz="2400" b="1">
                <a:solidFill>
                  <a:srgbClr val="C98A16"/>
                </a:solidFill>
                <a:latin typeface="Nunito"/>
                <a:ea typeface="Nunito"/>
                <a:cs typeface="Nunito"/>
              </a:rPr>
              <a:t>temperature T(t)</a:t>
            </a:r>
          </a:p>
        </p:txBody>
      </p:sp>
      <p:sp>
        <p:nvSpPr>
          <p:cNvPr id="16" name="rate-arrow-2">
            <a:extLst xmlns:a="http://schemas.openxmlformats.org/drawingml/2006/main">
              <a:ext uri="{FF2B5EF4-FFF2-40B4-BE49-F238E27FC236}">
                <a16:creationId xmlns:a16="http://schemas.microsoft.com/office/drawing/2014/main" id="{0109B8DB-DA9A-4E71-84A6-E8EBC9914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4125" y="4114800"/>
            <a:ext cx="571500" cy="3333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AB4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rate-out-2">
            <a:extLst xmlns:a="http://schemas.openxmlformats.org/drawingml/2006/main">
              <a:ext uri="{FF2B5EF4-FFF2-40B4-BE49-F238E27FC236}">
                <a16:creationId xmlns:a16="http://schemas.microsoft.com/office/drawing/2014/main" id="{41DC86D7-9EC6-4E74-9435-D42DAC8B8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476250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2025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025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cooling rate dT/dt</a:t>
            </a:r>
          </a:p>
        </p:txBody>
      </p:sp>
      <p:sp>
        <p:nvSpPr>
          <p:cNvPr id="18" name="rate-unit-2">
            <a:extLst xmlns:a="http://schemas.openxmlformats.org/drawingml/2006/main">
              <a:ext uri="{FF2B5EF4-FFF2-40B4-BE49-F238E27FC236}">
                <a16:creationId xmlns:a16="http://schemas.microsoft.com/office/drawing/2014/main" id="{113A0969-D935-46CE-9EB1-A5536896E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5619750"/>
            <a:ext cx="4095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2100" b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100" b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K/s</a:t>
            </a:r>
          </a:p>
        </p:txBody>
      </p:sp>
      <p:sp>
        <p:nvSpPr>
          <p:cNvPr id="19" name="unit-rule">
            <a:extLst xmlns:a="http://schemas.openxmlformats.org/drawingml/2006/main">
              <a:ext uri="{FF2B5EF4-FFF2-40B4-BE49-F238E27FC236}">
                <a16:creationId xmlns:a16="http://schemas.microsoft.com/office/drawing/2014/main" id="{EFD15B73-ADA9-4BA6-B155-8CE262A50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7239000"/>
            <a:ext cx="1485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2400" b="1">
                <a:solidFill>
                  <a:srgbClr val="3E8E45"/>
                </a:solidFill>
                <a:latin typeface="Nunito"/>
                <a:ea typeface="Nunito"/>
                <a:cs typeface="Nunito"/>
              </a:defRPr>
            </a:pPr>
            <a:r>
              <a:rPr sz="2400" b="1">
                <a:solidFill>
                  <a:srgbClr val="3E8E45"/>
                </a:solidFill>
                <a:latin typeface="Nunito"/>
                <a:ea typeface="Nunito"/>
                <a:cs typeface="Nunito"/>
              </a:rPr>
              <a:t>For y in metres and t in seconds, dy/dt has unit m/s</a:t>
            </a:r>
          </a:p>
        </p:txBody>
      </p:sp>
    </p:spTree>
    <p:extLst>
      <p:ext uri="{BB962C8B-B14F-4D97-AF65-F5344CB8AC3E}">
        <p14:creationId xmlns:p14="http://schemas.microsoft.com/office/powerpoint/2010/main" val="174823755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PHY4605 inherited title treatment">
            <a:extLst xmlns:a="http://schemas.openxmlformats.org/drawingml/2006/main">
              <a:ext uri="{FF2B5EF4-FFF2-40B4-BE49-F238E27FC236}">
                <a16:creationId xmlns:a16="http://schemas.microsoft.com/office/drawing/2014/main" id="{E5405211-304F-4867-9950-EBE24735F5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95375" y="571500"/>
            <a:ext cx="1504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51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51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Numerical differentiation uses two nearby values</a:t>
            </a:r>
            <a:endParaRPr sz="5100" b="1">
              <a:solidFill>
                <a:srgbClr val="0B2B4C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2" name="PHY4605 inherited subtitle treatment">
            <a:extLst xmlns:a="http://schemas.openxmlformats.org/drawingml/2006/main">
              <a:ext uri="{FF2B5EF4-FFF2-40B4-BE49-F238E27FC236}">
                <a16:creationId xmlns:a16="http://schemas.microsoft.com/office/drawing/2014/main" id="{E91CBA08-DF0A-42D9-BFC9-999ECBC00B6C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xfrm xmlns:a="http://schemas.openxmlformats.org/drawingml/2006/main">
            <a:off x="1095375" y="1447800"/>
            <a:ext cx="1504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25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A forward difference divides a position change by a time step</a:t>
            </a:r>
            <a:endParaRPr sz="2250">
              <a:solidFill>
                <a:srgbClr val="3F4B57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3" name="PHY4605 inherited slide-number treatment">
            <a:extLst xmlns:a="http://schemas.openxmlformats.org/drawingml/2006/main">
              <a:ext uri="{FF2B5EF4-FFF2-40B4-BE49-F238E27FC236}">
                <a16:creationId xmlns:a16="http://schemas.microsoft.com/office/drawing/2014/main" id="{F5AF736A-5770-4E67-8962-D97EC015F8E7}"/>
              </a:ext>
            </a:extLst>
          </p:cNvPr>
          <p:cNvSpPr>
            <a:spLocks xmlns:a="http://schemas.openxmlformats.org/drawingml/2006/main" noGrp="1"/>
          </p:cNvSpPr>
          <p:nvPr>
            <p:ph type="sldNum" idx="0"/>
          </p:nvPr>
        </p:nvSpPr>
        <p:spPr>
          <a:xfrm xmlns:a="http://schemas.openxmlformats.org/drawingml/2006/main">
            <a:off x="16802100" y="92964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65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650">
                <a:solidFill>
                  <a:srgbClr val="697684"/>
                </a:solidFill>
                <a:latin typeface="Nunito"/>
                <a:ea typeface="Nunito"/>
                <a:cs typeface="Nunito"/>
              </a:rPr>
              <a:t>3</a:t>
            </a:r>
            <a:endParaRPr sz="1650">
              <a:solidFill>
                <a:srgbClr val="697684"/>
              </a:solidFill>
              <a:latin typeface="Nunito"/>
              <a:ea typeface="Nunito"/>
              <a:cs typeface="Nunito"/>
            </a:endParaRP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4ac62070a54937"/>
          <a:stretch xmlns:a="http://schemas.openxmlformats.org/drawingml/2006/main"/>
        </p:blipFill>
        <p:spPr>
          <a:xfrm xmlns:a="http://schemas.openxmlformats.org/drawingml/2006/main">
            <a:off x="1476375" y="2619375"/>
            <a:ext cx="7429500" cy="1428750"/>
          </a:xfrm>
          <a:prstGeom xmlns:a="http://schemas.openxmlformats.org/drawingml/2006/main" prst="rect">
            <a:avLst/>
          </a:prstGeom>
        </p:spPr>
      </p:pic>
      <p:sp>
        <p:nvSpPr>
          <p:cNvPr id="5" name="xaxis">
            <a:extLst xmlns:a="http://schemas.openxmlformats.org/drawingml/2006/main">
              <a:ext uri="{FF2B5EF4-FFF2-40B4-BE49-F238E27FC236}">
                <a16:creationId xmlns:a16="http://schemas.microsoft.com/office/drawing/2014/main" id="{E512C73B-4FE4-4E6D-A921-AE20ACE3A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7239000"/>
            <a:ext cx="685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F4B57"/>
            </a:solidFill>
            <a:prstDash val="solid"/>
          </a:ln>
        </p:spPr>
      </p:sp>
      <p:sp>
        <p:nvSpPr>
          <p:cNvPr id="6" name="yaxis">
            <a:extLst xmlns:a="http://schemas.openxmlformats.org/drawingml/2006/main">
              <a:ext uri="{FF2B5EF4-FFF2-40B4-BE49-F238E27FC236}">
                <a16:creationId xmlns:a16="http://schemas.microsoft.com/office/drawing/2014/main" id="{A92218A0-DE8E-4333-A3EA-58F6E1219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333750"/>
            <a:ext cx="0" cy="419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F4B57"/>
            </a:solidFill>
            <a:prstDash val="solid"/>
          </a:ln>
        </p:spPr>
      </p:sp>
      <p:sp>
        <p:nvSpPr>
          <p:cNvPr id="7" name="secant">
            <a:extLst xmlns:a="http://schemas.openxmlformats.org/drawingml/2006/main">
              <a:ext uri="{FF2B5EF4-FFF2-40B4-BE49-F238E27FC236}">
                <a16:creationId xmlns:a16="http://schemas.microsoft.com/office/drawing/2014/main" id="{2358993F-0451-4174-BD2E-F2FAB885E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381500"/>
            <a:ext cx="3143250" cy="1666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F6DB2"/>
            </a:solidFill>
            <a:prstDash val="solid"/>
          </a:ln>
        </p:spPr>
      </p:sp>
      <p:sp>
        <p:nvSpPr>
          <p:cNvPr id="8" name="p0">
            <a:extLst xmlns:a="http://schemas.openxmlformats.org/drawingml/2006/main">
              <a:ext uri="{FF2B5EF4-FFF2-40B4-BE49-F238E27FC236}">
                <a16:creationId xmlns:a16="http://schemas.microsoft.com/office/drawing/2014/main" id="{755DE146-7114-4599-9360-4D20C2197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9531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A16"/>
          </a:solidFill>
          <a:ln xmlns:a="http://schemas.openxmlformats.org/drawingml/2006/main" w="0">
            <a:solidFill>
              <a:srgbClr val="C98A16"/>
            </a:solidFill>
            <a:prstDash val="solid"/>
          </a:ln>
        </p:spPr>
      </p:sp>
      <p:sp>
        <p:nvSpPr>
          <p:cNvPr id="9" name="ph">
            <a:extLst xmlns:a="http://schemas.openxmlformats.org/drawingml/2006/main">
              <a:ext uri="{FF2B5EF4-FFF2-40B4-BE49-F238E27FC236}">
                <a16:creationId xmlns:a16="http://schemas.microsoft.com/office/drawing/2014/main" id="{85ADCA55-F667-44C5-AA2A-447D84912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2862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DB2"/>
          </a:solidFill>
          <a:ln xmlns:a="http://schemas.openxmlformats.org/drawingml/2006/main" w="0">
            <a:solidFill>
              <a:srgbClr val="2F6DB2"/>
            </a:solidFill>
            <a:prstDash val="solid"/>
          </a:ln>
        </p:spPr>
      </p:sp>
      <p:sp>
        <p:nvSpPr>
          <p:cNvPr id="10" name="t0">
            <a:extLst xmlns:a="http://schemas.openxmlformats.org/drawingml/2006/main">
              <a:ext uri="{FF2B5EF4-FFF2-40B4-BE49-F238E27FC236}">
                <a16:creationId xmlns:a16="http://schemas.microsoft.com/office/drawing/2014/main" id="{D3E2D07B-344C-4573-B7EB-37980C687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7477125"/>
            <a:ext cx="714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1800" b="1">
                <a:solidFill>
                  <a:srgbClr val="C98A16"/>
                </a:solidFill>
                <a:latin typeface="Nunito"/>
                <a:ea typeface="Nunito"/>
                <a:cs typeface="Nunito"/>
              </a:defRPr>
            </a:pPr>
            <a:r>
              <a:rPr sz="1800" b="1">
                <a:solidFill>
                  <a:srgbClr val="C98A16"/>
                </a:solidFill>
                <a:latin typeface="Nunito"/>
                <a:ea typeface="Nunito"/>
                <a:cs typeface="Nunito"/>
              </a:rPr>
              <a:t>t₀</a:t>
            </a:r>
          </a:p>
        </p:txBody>
      </p:sp>
      <p:sp>
        <p:nvSpPr>
          <p:cNvPr id="11" name="t0h">
            <a:extLst xmlns:a="http://schemas.openxmlformats.org/drawingml/2006/main">
              <a:ext uri="{FF2B5EF4-FFF2-40B4-BE49-F238E27FC236}">
                <a16:creationId xmlns:a16="http://schemas.microsoft.com/office/drawing/2014/main" id="{4C8D74A6-C3D9-48F7-942E-7BB80DC65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7477125"/>
            <a:ext cx="904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1800" b="1">
                <a:solidFill>
                  <a:srgbClr val="2F6DB2"/>
                </a:solidFill>
                <a:latin typeface="Nunito"/>
                <a:ea typeface="Nunito"/>
                <a:cs typeface="Nunito"/>
              </a:defRPr>
            </a:pPr>
            <a:r>
              <a:rPr sz="1800" b="1">
                <a:solidFill>
                  <a:srgbClr val="2F6DB2"/>
                </a:solidFill>
                <a:latin typeface="Nunito"/>
                <a:ea typeface="Nunito"/>
                <a:cs typeface="Nunito"/>
              </a:rPr>
              <a:t>t₀ + h</a:t>
            </a:r>
          </a:p>
        </p:txBody>
      </p:sp>
      <p:sp>
        <p:nvSpPr>
          <p:cNvPr id="12" name="meaning">
            <a:extLst xmlns:a="http://schemas.openxmlformats.org/drawingml/2006/main">
              <a:ext uri="{FF2B5EF4-FFF2-40B4-BE49-F238E27FC236}">
                <a16:creationId xmlns:a16="http://schemas.microsoft.com/office/drawing/2014/main" id="{1158A148-643B-4DF0-8BA0-C259ACB82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905250"/>
            <a:ext cx="5619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2325" b="1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325" b="1">
                <a:solidFill>
                  <a:srgbClr val="3F4B57"/>
                </a:solidFill>
                <a:latin typeface="Nunito"/>
                <a:ea typeface="Nunito"/>
                <a:cs typeface="Nunito"/>
              </a:rPr>
              <a:t>numerator: change in position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2325" b="1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325" b="1">
                <a:solidFill>
                  <a:srgbClr val="3F4B57"/>
                </a:solidFill>
                <a:latin typeface="Nunito"/>
                <a:ea typeface="Nunito"/>
                <a:cs typeface="Nunito"/>
              </a:rPr>
              <a:t>denominator: change in time</a:t>
            </a:r>
          </a:p>
        </p:txBody>
      </p:sp>
      <p:sp>
        <p:nvSpPr>
          <p:cNvPr id="13" name="unit">
            <a:extLst xmlns:a="http://schemas.openxmlformats.org/drawingml/2006/main">
              <a:ext uri="{FF2B5EF4-FFF2-40B4-BE49-F238E27FC236}">
                <a16:creationId xmlns:a16="http://schemas.microsoft.com/office/drawing/2014/main" id="{87874B35-D3EA-4B70-BB90-0EC5749A3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715000"/>
            <a:ext cx="5429250" cy="1428750"/>
          </a:xfrm>
          <a:prstGeom xmlns:a="http://schemas.openxmlformats.org/drawingml/2006/main" prst="roundRect">
            <a:avLst>
              <a:gd name="adj" fmla="val 14667"/>
            </a:avLst>
          </a:prstGeom>
          <a:solidFill xmlns:a="http://schemas.openxmlformats.org/drawingml/2006/main">
            <a:srgbClr val="F0FAF7"/>
          </a:solidFill>
          <a:ln xmlns:a="http://schemas.openxmlformats.org/drawingml/2006/main" w="19050">
            <a:solidFill>
              <a:srgbClr val="2A9D9F"/>
            </a:solidFill>
            <a:prstDash val="solid"/>
          </a:ln>
        </p:spPr>
      </p:sp>
      <p:sp>
        <p:nvSpPr>
          <p:cNvPr id="14" name="unit-label">
            <a:extLst xmlns:a="http://schemas.openxmlformats.org/drawingml/2006/main">
              <a:ext uri="{FF2B5EF4-FFF2-40B4-BE49-F238E27FC236}">
                <a16:creationId xmlns:a16="http://schemas.microsoft.com/office/drawing/2014/main" id="{552D9D81-A64A-4852-8D8A-D9C94ED3F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191250"/>
            <a:ext cx="466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2400" b="1">
                <a:solidFill>
                  <a:srgbClr val="2A9D9F"/>
                </a:solidFill>
                <a:latin typeface="Nunito"/>
                <a:ea typeface="Nunito"/>
                <a:cs typeface="Nunito"/>
              </a:defRPr>
            </a:pPr>
            <a:r>
              <a:rPr sz="2400" b="1">
                <a:solidFill>
                  <a:srgbClr val="2A9D9F"/>
                </a:solidFill>
                <a:latin typeface="Nunito"/>
                <a:ea typeface="Nunito"/>
                <a:cs typeface="Nunito"/>
              </a:rPr>
              <a:t>metres / seconds = m/s</a:t>
            </a:r>
          </a:p>
        </p:txBody>
      </p:sp>
    </p:spTree>
    <p:extLst>
      <p:ext uri="{BB962C8B-B14F-4D97-AF65-F5344CB8AC3E}">
        <p14:creationId xmlns:p14="http://schemas.microsoft.com/office/powerpoint/2010/main" val="100297642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PHY4605 inherited title treatment">
            <a:extLst xmlns:a="http://schemas.openxmlformats.org/drawingml/2006/main">
              <a:ext uri="{FF2B5EF4-FFF2-40B4-BE49-F238E27FC236}">
                <a16:creationId xmlns:a16="http://schemas.microsoft.com/office/drawing/2014/main" id="{E5405211-304F-4867-9950-EBE24735F5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95375" y="571500"/>
            <a:ext cx="1504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51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51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A familiar vertical-motion model</a:t>
            </a:r>
            <a:endParaRPr sz="5100" b="1">
              <a:solidFill>
                <a:srgbClr val="0B2B4C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2" name="PHY4605 inherited subtitle treatment">
            <a:extLst xmlns:a="http://schemas.openxmlformats.org/drawingml/2006/main">
              <a:ext uri="{FF2B5EF4-FFF2-40B4-BE49-F238E27FC236}">
                <a16:creationId xmlns:a16="http://schemas.microsoft.com/office/drawing/2014/main" id="{E91CBA08-DF0A-42D9-BFC9-999ECBC00B6C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xfrm xmlns:a="http://schemas.openxmlformats.org/drawingml/2006/main">
            <a:off x="1095375" y="1447800"/>
            <a:ext cx="1504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25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Keep the physics fixed while the numerical approximation changes</a:t>
            </a:r>
            <a:endParaRPr sz="2250">
              <a:solidFill>
                <a:srgbClr val="3F4B57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3" name="PHY4605 inherited slide-number treatment">
            <a:extLst xmlns:a="http://schemas.openxmlformats.org/drawingml/2006/main">
              <a:ext uri="{FF2B5EF4-FFF2-40B4-BE49-F238E27FC236}">
                <a16:creationId xmlns:a16="http://schemas.microsoft.com/office/drawing/2014/main" id="{F5AF736A-5770-4E67-8962-D97EC015F8E7}"/>
              </a:ext>
            </a:extLst>
          </p:cNvPr>
          <p:cNvSpPr>
            <a:spLocks xmlns:a="http://schemas.openxmlformats.org/drawingml/2006/main" noGrp="1"/>
          </p:cNvSpPr>
          <p:nvPr>
            <p:ph type="sldNum" idx="0"/>
          </p:nvPr>
        </p:nvSpPr>
        <p:spPr>
          <a:xfrm xmlns:a="http://schemas.openxmlformats.org/drawingml/2006/main">
            <a:off x="16802100" y="92964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65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650">
                <a:solidFill>
                  <a:srgbClr val="697684"/>
                </a:solidFill>
                <a:latin typeface="Nunito"/>
                <a:ea typeface="Nunito"/>
                <a:cs typeface="Nunito"/>
              </a:rPr>
              <a:t>4</a:t>
            </a:r>
            <a:endParaRPr sz="1650">
              <a:solidFill>
                <a:srgbClr val="697684"/>
              </a:solidFill>
              <a:latin typeface="Nunito"/>
              <a:ea typeface="Nunito"/>
              <a:cs typeface="Nunito"/>
            </a:endParaRP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3730455a0b479f"/>
          <a:stretch xmlns:a="http://schemas.openxmlformats.org/drawingml/2006/main"/>
        </p:blipFill>
        <p:spPr>
          <a:xfrm xmlns:a="http://schemas.openxmlformats.org/drawingml/2006/main">
            <a:off x="1095375" y="2714625"/>
            <a:ext cx="8286750" cy="1381125"/>
          </a:xfrm>
          <a:prstGeom xmlns:a="http://schemas.openxmlformats.org/drawingml/2006/main" prst="rect">
            <a:avLst/>
          </a:prstGeom>
        </p:spPr>
      </p:pic>
      <p:sp>
        <p:nvSpPr>
          <p:cNvPr id="5" name="var-0">
            <a:extLst xmlns:a="http://schemas.openxmlformats.org/drawingml/2006/main">
              <a:ext uri="{FF2B5EF4-FFF2-40B4-BE49-F238E27FC236}">
                <a16:creationId xmlns:a16="http://schemas.microsoft.com/office/drawing/2014/main" id="{A3448794-B0B4-42A2-B525-9AF438337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66725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2250" b="1">
                <a:solidFill>
                  <a:srgbClr val="2F6DB2"/>
                </a:solidFill>
                <a:latin typeface="Nunito"/>
                <a:ea typeface="Nunito"/>
                <a:cs typeface="Nunito"/>
              </a:defRPr>
            </a:pPr>
            <a:r>
              <a:rPr sz="2250" b="1">
                <a:solidFill>
                  <a:srgbClr val="2F6DB2"/>
                </a:solidFill>
                <a:latin typeface="Nunito"/>
                <a:ea typeface="Nunito"/>
                <a:cs typeface="Nunito"/>
              </a:rPr>
              <a:t>y₀</a:t>
            </a:r>
          </a:p>
        </p:txBody>
      </p:sp>
      <p:sp>
        <p:nvSpPr>
          <p:cNvPr id="6" name="value-0">
            <a:extLst xmlns:a="http://schemas.openxmlformats.org/drawingml/2006/main">
              <a:ext uri="{FF2B5EF4-FFF2-40B4-BE49-F238E27FC236}">
                <a16:creationId xmlns:a16="http://schemas.microsoft.com/office/drawing/2014/main" id="{FC5D2187-417C-40B4-9C61-B81AE377B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466725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2250" b="1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250" b="1">
                <a:solidFill>
                  <a:srgbClr val="3F4B57"/>
                </a:solidFill>
                <a:latin typeface="Nunito"/>
                <a:ea typeface="Nunito"/>
                <a:cs typeface="Nunito"/>
              </a:rPr>
              <a:t>0 m</a:t>
            </a:r>
          </a:p>
        </p:txBody>
      </p:sp>
      <p:sp>
        <p:nvSpPr>
          <p:cNvPr id="7" name="rule-0">
            <a:extLst xmlns:a="http://schemas.openxmlformats.org/drawingml/2006/main">
              <a:ext uri="{FF2B5EF4-FFF2-40B4-BE49-F238E27FC236}">
                <a16:creationId xmlns:a16="http://schemas.microsoft.com/office/drawing/2014/main" id="{882AA37A-562B-40E1-B869-62F39AA44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162550"/>
            <a:ext cx="457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B4BE"/>
            </a:solidFill>
            <a:prstDash val="solid"/>
          </a:ln>
        </p:spPr>
      </p:sp>
      <p:sp>
        <p:nvSpPr>
          <p:cNvPr id="8" name="var-1">
            <a:extLst xmlns:a="http://schemas.openxmlformats.org/drawingml/2006/main">
              <a:ext uri="{FF2B5EF4-FFF2-40B4-BE49-F238E27FC236}">
                <a16:creationId xmlns:a16="http://schemas.microsoft.com/office/drawing/2014/main" id="{932D8F01-CFF5-43B9-AE5D-321EA34BA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476875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2250" b="1">
                <a:solidFill>
                  <a:srgbClr val="2F6DB2"/>
                </a:solidFill>
                <a:latin typeface="Nunito"/>
                <a:ea typeface="Nunito"/>
                <a:cs typeface="Nunito"/>
              </a:defRPr>
            </a:pPr>
            <a:r>
              <a:rPr sz="2250" b="1">
                <a:solidFill>
                  <a:srgbClr val="2F6DB2"/>
                </a:solidFill>
                <a:latin typeface="Nunito"/>
                <a:ea typeface="Nunito"/>
                <a:cs typeface="Nunito"/>
              </a:rPr>
              <a:t>v₀</a:t>
            </a:r>
          </a:p>
        </p:txBody>
      </p:sp>
      <p:sp>
        <p:nvSpPr>
          <p:cNvPr id="9" name="value-1">
            <a:extLst xmlns:a="http://schemas.openxmlformats.org/drawingml/2006/main">
              <a:ext uri="{FF2B5EF4-FFF2-40B4-BE49-F238E27FC236}">
                <a16:creationId xmlns:a16="http://schemas.microsoft.com/office/drawing/2014/main" id="{5BF21239-460D-4F12-9E78-1CD3BDC25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5476875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2250" b="1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250" b="1">
                <a:solidFill>
                  <a:srgbClr val="3F4B57"/>
                </a:solidFill>
                <a:latin typeface="Nunito"/>
                <a:ea typeface="Nunito"/>
                <a:cs typeface="Nunito"/>
              </a:rPr>
              <a:t>20 m/s</a:t>
            </a:r>
          </a:p>
        </p:txBody>
      </p:sp>
      <p:sp>
        <p:nvSpPr>
          <p:cNvPr id="10" name="rule-1">
            <a:extLst xmlns:a="http://schemas.openxmlformats.org/drawingml/2006/main">
              <a:ext uri="{FF2B5EF4-FFF2-40B4-BE49-F238E27FC236}">
                <a16:creationId xmlns:a16="http://schemas.microsoft.com/office/drawing/2014/main" id="{FA246F45-9CA0-49C0-8B59-CA6EEFD7E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972175"/>
            <a:ext cx="457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B4BE"/>
            </a:solidFill>
            <a:prstDash val="solid"/>
          </a:ln>
        </p:spPr>
      </p:sp>
      <p:sp>
        <p:nvSpPr>
          <p:cNvPr id="11" name="var-2">
            <a:extLst xmlns:a="http://schemas.openxmlformats.org/drawingml/2006/main">
              <a:ext uri="{FF2B5EF4-FFF2-40B4-BE49-F238E27FC236}">
                <a16:creationId xmlns:a16="http://schemas.microsoft.com/office/drawing/2014/main" id="{41FB7821-2C20-4793-8116-ED1A968C3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28650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2250" b="1">
                <a:solidFill>
                  <a:srgbClr val="2F6DB2"/>
                </a:solidFill>
                <a:latin typeface="Nunito"/>
                <a:ea typeface="Nunito"/>
                <a:cs typeface="Nunito"/>
              </a:defRPr>
            </a:pPr>
            <a:r>
              <a:rPr sz="2250" b="1">
                <a:solidFill>
                  <a:srgbClr val="2F6DB2"/>
                </a:solidFill>
                <a:latin typeface="Nunito"/>
                <a:ea typeface="Nunito"/>
                <a:cs typeface="Nunito"/>
              </a:rPr>
              <a:t>g</a:t>
            </a:r>
          </a:p>
        </p:txBody>
      </p:sp>
      <p:sp>
        <p:nvSpPr>
          <p:cNvPr id="12" name="value-2">
            <a:extLst xmlns:a="http://schemas.openxmlformats.org/drawingml/2006/main">
              <a:ext uri="{FF2B5EF4-FFF2-40B4-BE49-F238E27FC236}">
                <a16:creationId xmlns:a16="http://schemas.microsoft.com/office/drawing/2014/main" id="{125AE78F-1102-41B5-BD4A-24D8B3D9D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628650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2250" b="1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250" b="1">
                <a:solidFill>
                  <a:srgbClr val="3F4B57"/>
                </a:solidFill>
                <a:latin typeface="Nunito"/>
                <a:ea typeface="Nunito"/>
                <a:cs typeface="Nunito"/>
              </a:rPr>
              <a:t>9.81 m/s²</a:t>
            </a:r>
          </a:p>
        </p:txBody>
      </p:sp>
      <p:sp>
        <p:nvSpPr>
          <p:cNvPr id="13" name="rule-2">
            <a:extLst xmlns:a="http://schemas.openxmlformats.org/drawingml/2006/main">
              <a:ext uri="{FF2B5EF4-FFF2-40B4-BE49-F238E27FC236}">
                <a16:creationId xmlns:a16="http://schemas.microsoft.com/office/drawing/2014/main" id="{8A84C748-3E71-4C48-AFB4-692BA8070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781800"/>
            <a:ext cx="457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B4BE"/>
            </a:solidFill>
            <a:prstDash val="solid"/>
          </a:ln>
        </p:spPr>
      </p:sp>
      <p:sp>
        <p:nvSpPr>
          <p:cNvPr id="14" name="var-3">
            <a:extLst xmlns:a="http://schemas.openxmlformats.org/drawingml/2006/main">
              <a:ext uri="{FF2B5EF4-FFF2-40B4-BE49-F238E27FC236}">
                <a16:creationId xmlns:a16="http://schemas.microsoft.com/office/drawing/2014/main" id="{61769785-5FA5-4699-9D46-1F04E2256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7096125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2250" b="1">
                <a:solidFill>
                  <a:srgbClr val="2F6DB2"/>
                </a:solidFill>
                <a:latin typeface="Nunito"/>
                <a:ea typeface="Nunito"/>
                <a:cs typeface="Nunito"/>
              </a:defRPr>
            </a:pPr>
            <a:r>
              <a:rPr sz="2250" b="1">
                <a:solidFill>
                  <a:srgbClr val="2F6DB2"/>
                </a:solidFill>
                <a:latin typeface="Nunito"/>
                <a:ea typeface="Nunito"/>
                <a:cs typeface="Nunito"/>
              </a:rPr>
              <a:t>t₀</a:t>
            </a:r>
          </a:p>
        </p:txBody>
      </p:sp>
      <p:sp>
        <p:nvSpPr>
          <p:cNvPr id="15" name="value-3">
            <a:extLst xmlns:a="http://schemas.openxmlformats.org/drawingml/2006/main">
              <a:ext uri="{FF2B5EF4-FFF2-40B4-BE49-F238E27FC236}">
                <a16:creationId xmlns:a16="http://schemas.microsoft.com/office/drawing/2014/main" id="{451777DD-F66E-4EB6-926F-F525794E4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7096125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2250" b="1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250" b="1">
                <a:solidFill>
                  <a:srgbClr val="3F4B57"/>
                </a:solidFill>
                <a:latin typeface="Nunito"/>
                <a:ea typeface="Nunito"/>
                <a:cs typeface="Nunito"/>
              </a:rPr>
              <a:t>1.0 s</a:t>
            </a:r>
          </a:p>
        </p:txBody>
      </p:sp>
      <p:sp>
        <p:nvSpPr>
          <p:cNvPr id="16" name="rule-3">
            <a:extLst xmlns:a="http://schemas.openxmlformats.org/drawingml/2006/main">
              <a:ext uri="{FF2B5EF4-FFF2-40B4-BE49-F238E27FC236}">
                <a16:creationId xmlns:a16="http://schemas.microsoft.com/office/drawing/2014/main" id="{4C013AF2-4E49-45B1-9D81-D59561C69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7591425"/>
            <a:ext cx="457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B4BE"/>
            </a:solidFill>
            <a:prstDash val="solid"/>
          </a:ln>
        </p:spPr>
      </p:sp>
      <p:sp>
        <p:nvSpPr>
          <p:cNvPr id="17" name="assumption">
            <a:extLst xmlns:a="http://schemas.openxmlformats.org/drawingml/2006/main">
              <a:ext uri="{FF2B5EF4-FFF2-40B4-BE49-F238E27FC236}">
                <a16:creationId xmlns:a16="http://schemas.microsoft.com/office/drawing/2014/main" id="{BD40B859-980A-4BBC-AF38-31468A1DB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6572250"/>
            <a:ext cx="14049375" cy="1000125"/>
          </a:xfrm>
          <a:prstGeom xmlns:a="http://schemas.openxmlformats.org/drawingml/2006/main" prst="roundRect">
            <a:avLst>
              <a:gd name="adj" fmla="val 20952"/>
            </a:avLst>
          </a:prstGeom>
          <a:solidFill xmlns:a="http://schemas.openxmlformats.org/drawingml/2006/main">
            <a:srgbClr val="EEF5FD"/>
          </a:solidFill>
          <a:ln xmlns:a="http://schemas.openxmlformats.org/drawingml/2006/main" w="19050">
            <a:solidFill>
              <a:srgbClr val="2F6DB2"/>
            </a:solidFill>
            <a:prstDash val="solid"/>
          </a:ln>
        </p:spPr>
      </p:sp>
      <p:sp>
        <p:nvSpPr>
          <p:cNvPr id="18" name="assume">
            <a:extLst xmlns:a="http://schemas.openxmlformats.org/drawingml/2006/main">
              <a:ext uri="{FF2B5EF4-FFF2-40B4-BE49-F238E27FC236}">
                <a16:creationId xmlns:a16="http://schemas.microsoft.com/office/drawing/2014/main" id="{D86FBB17-25C9-4F90-A180-A37441D86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858000"/>
            <a:ext cx="1333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2175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175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Assumption: constant gravitational acceleration and negligible air resistance</a:t>
            </a:r>
          </a:p>
        </p:txBody>
      </p:sp>
    </p:spTree>
    <p:extLst>
      <p:ext uri="{BB962C8B-B14F-4D97-AF65-F5344CB8AC3E}">
        <p14:creationId xmlns:p14="http://schemas.microsoft.com/office/powerpoint/2010/main" val="139802547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PHY4605 inherited title treatment">
            <a:extLst xmlns:a="http://schemas.openxmlformats.org/drawingml/2006/main">
              <a:ext uri="{FF2B5EF4-FFF2-40B4-BE49-F238E27FC236}">
                <a16:creationId xmlns:a16="http://schemas.microsoft.com/office/drawing/2014/main" id="{E5405211-304F-4867-9950-EBE24735F5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95375" y="571500"/>
            <a:ext cx="1504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51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51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Prediction before computing</a:t>
            </a:r>
            <a:endParaRPr sz="5100" b="1">
              <a:solidFill>
                <a:srgbClr val="0B2B4C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2" name="PHY4605 inherited subtitle treatment">
            <a:extLst xmlns:a="http://schemas.openxmlformats.org/drawingml/2006/main">
              <a:ext uri="{FF2B5EF4-FFF2-40B4-BE49-F238E27FC236}">
                <a16:creationId xmlns:a16="http://schemas.microsoft.com/office/drawing/2014/main" id="{E91CBA08-DF0A-42D9-BFC9-999ECBC00B6C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xfrm xmlns:a="http://schemas.openxmlformats.org/drawingml/2006/main">
            <a:off x="1095375" y="1447800"/>
            <a:ext cx="1504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25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At t₀ = 1.0 s, the projectile is still moving upward</a:t>
            </a:r>
            <a:endParaRPr sz="2250">
              <a:solidFill>
                <a:srgbClr val="3F4B57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3" name="PHY4605 inherited slide-number treatment">
            <a:extLst xmlns:a="http://schemas.openxmlformats.org/drawingml/2006/main">
              <a:ext uri="{FF2B5EF4-FFF2-40B4-BE49-F238E27FC236}">
                <a16:creationId xmlns:a16="http://schemas.microsoft.com/office/drawing/2014/main" id="{F5AF736A-5770-4E67-8962-D97EC015F8E7}"/>
              </a:ext>
            </a:extLst>
          </p:cNvPr>
          <p:cNvSpPr>
            <a:spLocks xmlns:a="http://schemas.openxmlformats.org/drawingml/2006/main" noGrp="1"/>
          </p:cNvSpPr>
          <p:nvPr>
            <p:ph type="sldNum" idx="0"/>
          </p:nvPr>
        </p:nvSpPr>
        <p:spPr>
          <a:xfrm xmlns:a="http://schemas.openxmlformats.org/drawingml/2006/main">
            <a:off x="16802100" y="92964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65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650">
                <a:solidFill>
                  <a:srgbClr val="697684"/>
                </a:solidFill>
                <a:latin typeface="Nunito"/>
                <a:ea typeface="Nunito"/>
                <a:cs typeface="Nunito"/>
              </a:rPr>
              <a:t>5</a:t>
            </a:r>
            <a:endParaRPr sz="1650">
              <a:solidFill>
                <a:srgbClr val="697684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4" name="positive">
            <a:extLst xmlns:a="http://schemas.openxmlformats.org/drawingml/2006/main">
              <a:ext uri="{FF2B5EF4-FFF2-40B4-BE49-F238E27FC236}">
                <a16:creationId xmlns:a16="http://schemas.microsoft.com/office/drawing/2014/main" id="{2085FEA7-415F-47F5-9737-59DF6AC83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048000"/>
            <a:ext cx="4191000" cy="2762250"/>
          </a:xfrm>
          <a:prstGeom xmlns:a="http://schemas.openxmlformats.org/drawingml/2006/main" prst="roundRect">
            <a:avLst>
              <a:gd name="adj" fmla="val 7586"/>
            </a:avLst>
          </a:prstGeom>
          <a:solidFill xmlns:a="http://schemas.openxmlformats.org/drawingml/2006/main">
            <a:srgbClr val="F0FAF7"/>
          </a:solidFill>
          <a:ln xmlns:a="http://schemas.openxmlformats.org/drawingml/2006/main" w="19050">
            <a:solidFill>
              <a:srgbClr val="3E8E45"/>
            </a:solidFill>
            <a:prstDash val="solid"/>
          </a:ln>
        </p:spPr>
      </p:sp>
      <p:sp>
        <p:nvSpPr>
          <p:cNvPr id="5" name="p1">
            <a:extLst xmlns:a="http://schemas.openxmlformats.org/drawingml/2006/main">
              <a:ext uri="{FF2B5EF4-FFF2-40B4-BE49-F238E27FC236}">
                <a16:creationId xmlns:a16="http://schemas.microsoft.com/office/drawing/2014/main" id="{51EE387E-B280-449C-BD3E-A32F17C0C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571875"/>
            <a:ext cx="342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3150" b="1">
                <a:solidFill>
                  <a:srgbClr val="3E8E45"/>
                </a:solidFill>
                <a:latin typeface="Nunito"/>
                <a:ea typeface="Nunito"/>
                <a:cs typeface="Nunito"/>
              </a:defRPr>
            </a:pPr>
            <a:r>
              <a:rPr sz="3150" b="1">
                <a:solidFill>
                  <a:srgbClr val="3E8E45"/>
                </a:solidFill>
                <a:latin typeface="Nunito"/>
                <a:ea typeface="Nunito"/>
                <a:cs typeface="Nunito"/>
              </a:rPr>
              <a:t>positive</a:t>
            </a:r>
          </a:p>
        </p:txBody>
      </p:sp>
      <p:sp>
        <p:nvSpPr>
          <p:cNvPr id="6" name="p1b">
            <a:extLst xmlns:a="http://schemas.openxmlformats.org/drawingml/2006/main">
              <a:ext uri="{FF2B5EF4-FFF2-40B4-BE49-F238E27FC236}">
                <a16:creationId xmlns:a16="http://schemas.microsoft.com/office/drawing/2014/main" id="{3EB77CEA-13F3-42A2-B811-DD58B0BAD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619625"/>
            <a:ext cx="342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2100" b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100" b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velocity remains upward</a:t>
            </a:r>
          </a:p>
        </p:txBody>
      </p:sp>
      <p:sp>
        <p:nvSpPr>
          <p:cNvPr id="7" name="less">
            <a:extLst xmlns:a="http://schemas.openxmlformats.org/drawingml/2006/main">
              <a:ext uri="{FF2B5EF4-FFF2-40B4-BE49-F238E27FC236}">
                <a16:creationId xmlns:a16="http://schemas.microsoft.com/office/drawing/2014/main" id="{8D889815-4482-4EB8-B3D0-0D8541AD1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048000"/>
            <a:ext cx="4191000" cy="2762250"/>
          </a:xfrm>
          <a:prstGeom xmlns:a="http://schemas.openxmlformats.org/drawingml/2006/main" prst="roundRect">
            <a:avLst>
              <a:gd name="adj" fmla="val 7586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19050">
            <a:solidFill>
              <a:srgbClr val="C98A16"/>
            </a:solidFill>
            <a:prstDash val="solid"/>
          </a:ln>
        </p:spPr>
      </p:sp>
      <p:sp>
        <p:nvSpPr>
          <p:cNvPr id="8" name="p2">
            <a:extLst xmlns:a="http://schemas.openxmlformats.org/drawingml/2006/main">
              <a:ext uri="{FF2B5EF4-FFF2-40B4-BE49-F238E27FC236}">
                <a16:creationId xmlns:a16="http://schemas.microsoft.com/office/drawing/2014/main" id="{0DD63FA9-4930-49AE-886A-B314337CF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571875"/>
            <a:ext cx="352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2925" b="1">
                <a:solidFill>
                  <a:srgbClr val="C98A16"/>
                </a:solidFill>
                <a:latin typeface="Nunito"/>
                <a:ea typeface="Nunito"/>
                <a:cs typeface="Nunito"/>
              </a:defRPr>
            </a:pPr>
            <a:r>
              <a:rPr sz="2925" b="1">
                <a:solidFill>
                  <a:srgbClr val="C98A16"/>
                </a:solidFill>
                <a:latin typeface="Nunito"/>
                <a:ea typeface="Nunito"/>
                <a:cs typeface="Nunito"/>
              </a:rPr>
              <a:t>below 20 m/s</a:t>
            </a:r>
          </a:p>
        </p:txBody>
      </p:sp>
      <p:sp>
        <p:nvSpPr>
          <p:cNvPr id="9" name="p2b">
            <a:extLst xmlns:a="http://schemas.openxmlformats.org/drawingml/2006/main">
              <a:ext uri="{FF2B5EF4-FFF2-40B4-BE49-F238E27FC236}">
                <a16:creationId xmlns:a16="http://schemas.microsoft.com/office/drawing/2014/main" id="{1FE0BA4B-F580-449E-88D9-A43CF1C27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619625"/>
            <a:ext cx="352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198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2100" b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100" b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gravity has reduced the initial speed</a:t>
            </a:r>
          </a:p>
        </p:txBody>
      </p:sp>
      <p:sp>
        <p:nvSpPr>
          <p:cNvPr id="10" name="check">
            <a:extLst xmlns:a="http://schemas.openxmlformats.org/drawingml/2006/main">
              <a:ext uri="{FF2B5EF4-FFF2-40B4-BE49-F238E27FC236}">
                <a16:creationId xmlns:a16="http://schemas.microsoft.com/office/drawing/2014/main" id="{AA64FF8D-8DDB-477C-912B-77FF14D84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3048000"/>
            <a:ext cx="4191000" cy="2762250"/>
          </a:xfrm>
          <a:prstGeom xmlns:a="http://schemas.openxmlformats.org/drawingml/2006/main" prst="roundRect">
            <a:avLst>
              <a:gd name="adj" fmla="val 7586"/>
            </a:avLst>
          </a:prstGeom>
          <a:solidFill xmlns:a="http://schemas.openxmlformats.org/drawingml/2006/main">
            <a:srgbClr val="FFF2F2"/>
          </a:solidFill>
          <a:ln xmlns:a="http://schemas.openxmlformats.org/drawingml/2006/main" w="19050">
            <a:solidFill>
              <a:srgbClr val="B3262E"/>
            </a:solidFill>
            <a:prstDash val="solid"/>
          </a:ln>
        </p:spPr>
      </p:sp>
      <p:sp>
        <p:nvSpPr>
          <p:cNvPr id="11" name="p3">
            <a:extLst xmlns:a="http://schemas.openxmlformats.org/drawingml/2006/main">
              <a:ext uri="{FF2B5EF4-FFF2-40B4-BE49-F238E27FC236}">
                <a16:creationId xmlns:a16="http://schemas.microsoft.com/office/drawing/2014/main" id="{17BD3749-1165-4FB6-BCA3-B022EE347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15875" y="3571875"/>
            <a:ext cx="352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2625" b="1">
                <a:solidFill>
                  <a:srgbClr val="B3262E"/>
                </a:solidFill>
                <a:latin typeface="Nunito"/>
                <a:ea typeface="Nunito"/>
                <a:cs typeface="Nunito"/>
              </a:defRPr>
            </a:pPr>
            <a:r>
              <a:rPr sz="2625" b="1">
                <a:solidFill>
                  <a:srgbClr val="B3262E"/>
                </a:solidFill>
                <a:latin typeface="Nunito"/>
                <a:ea typeface="Nunito"/>
                <a:cs typeface="Nunito"/>
              </a:rPr>
              <a:t>check sign and unit</a:t>
            </a:r>
          </a:p>
        </p:txBody>
      </p:sp>
      <p:sp>
        <p:nvSpPr>
          <p:cNvPr id="12" name="p3b">
            <a:extLst xmlns:a="http://schemas.openxmlformats.org/drawingml/2006/main">
              <a:ext uri="{FF2B5EF4-FFF2-40B4-BE49-F238E27FC236}">
                <a16:creationId xmlns:a16="http://schemas.microsoft.com/office/drawing/2014/main" id="{40CE1D0E-9035-474F-9F37-F46F8AEBF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15875" y="4619625"/>
            <a:ext cx="352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09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1950" b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950" b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wrong sign or missing m/s needs investigation</a:t>
            </a:r>
          </a:p>
        </p:txBody>
      </p:sp>
    </p:spTree>
    <p:extLst>
      <p:ext uri="{BB962C8B-B14F-4D97-AF65-F5344CB8AC3E}">
        <p14:creationId xmlns:p14="http://schemas.microsoft.com/office/powerpoint/2010/main" val="130411527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PHY4605 inherited title treatment">
            <a:extLst xmlns:a="http://schemas.openxmlformats.org/drawingml/2006/main">
              <a:ext uri="{FF2B5EF4-FFF2-40B4-BE49-F238E27FC236}">
                <a16:creationId xmlns:a16="http://schemas.microsoft.com/office/drawing/2014/main" id="{E5405211-304F-4867-9950-EBE24735F5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95375" y="571500"/>
            <a:ext cx="1504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51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51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One forward difference by hand</a:t>
            </a:r>
            <a:endParaRPr sz="5100" b="1">
              <a:solidFill>
                <a:srgbClr val="0B2B4C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2" name="PHY4605 inherited subtitle treatment">
            <a:extLst xmlns:a="http://schemas.openxmlformats.org/drawingml/2006/main">
              <a:ext uri="{FF2B5EF4-FFF2-40B4-BE49-F238E27FC236}">
                <a16:creationId xmlns:a16="http://schemas.microsoft.com/office/drawing/2014/main" id="{E91CBA08-DF0A-42D9-BFC9-999ECBC00B6C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xfrm xmlns:a="http://schemas.openxmlformats.org/drawingml/2006/main">
            <a:off x="1095375" y="1447800"/>
            <a:ext cx="1504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25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Use h = 0.5 s and retain units in every line</a:t>
            </a:r>
            <a:endParaRPr sz="2250">
              <a:solidFill>
                <a:srgbClr val="3F4B57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3" name="PHY4605 inherited slide-number treatment">
            <a:extLst xmlns:a="http://schemas.openxmlformats.org/drawingml/2006/main">
              <a:ext uri="{FF2B5EF4-FFF2-40B4-BE49-F238E27FC236}">
                <a16:creationId xmlns:a16="http://schemas.microsoft.com/office/drawing/2014/main" id="{F5AF736A-5770-4E67-8962-D97EC015F8E7}"/>
              </a:ext>
            </a:extLst>
          </p:cNvPr>
          <p:cNvSpPr>
            <a:spLocks xmlns:a="http://schemas.openxmlformats.org/drawingml/2006/main" noGrp="1"/>
          </p:cNvSpPr>
          <p:nvPr>
            <p:ph type="sldNum" idx="0"/>
          </p:nvPr>
        </p:nvSpPr>
        <p:spPr>
          <a:xfrm xmlns:a="http://schemas.openxmlformats.org/drawingml/2006/main">
            <a:off x="16802100" y="92964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65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650">
                <a:solidFill>
                  <a:srgbClr val="697684"/>
                </a:solidFill>
                <a:latin typeface="Nunito"/>
                <a:ea typeface="Nunito"/>
                <a:cs typeface="Nunito"/>
              </a:rPr>
              <a:t>6</a:t>
            </a:r>
            <a:endParaRPr sz="1650">
              <a:solidFill>
                <a:srgbClr val="697684"/>
              </a:solidFill>
              <a:latin typeface="Nunito"/>
              <a:ea typeface="Nunito"/>
              <a:cs typeface="Nunito"/>
            </a:endParaRP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f593c979e846f9"/>
          <a:stretch xmlns:a="http://schemas.openxmlformats.org/drawingml/2006/main"/>
        </p:blipFill>
        <p:spPr>
          <a:xfrm xmlns:a="http://schemas.openxmlformats.org/drawingml/2006/main">
            <a:off x="1190625" y="2524125"/>
            <a:ext cx="7143750" cy="1190625"/>
          </a:xfrm>
          <a:prstGeom xmlns:a="http://schemas.openxmlformats.org/drawingml/2006/main" prst="rect">
            <a:avLst/>
          </a:prstGeom>
        </p:spPr>
      </p:pic>
      <p:sp>
        <p:nvSpPr>
          <p:cNvPr id="5" name="hand-l-0">
            <a:extLst xmlns:a="http://schemas.openxmlformats.org/drawingml/2006/main">
              <a:ext uri="{FF2B5EF4-FFF2-40B4-BE49-F238E27FC236}">
                <a16:creationId xmlns:a16="http://schemas.microsoft.com/office/drawing/2014/main" id="{A5E47AF2-678C-4B71-9C40-36D82FC1C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4337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2175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175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y(1.0 s)</a:t>
            </a:r>
          </a:p>
        </p:txBody>
      </p:sp>
      <p:sp>
        <p:nvSpPr>
          <p:cNvPr id="6" name="hand-r-0">
            <a:extLst xmlns:a="http://schemas.openxmlformats.org/drawingml/2006/main">
              <a:ext uri="{FF2B5EF4-FFF2-40B4-BE49-F238E27FC236}">
                <a16:creationId xmlns:a16="http://schemas.microsoft.com/office/drawing/2014/main" id="{D05DF73D-BE84-4D41-B8EF-5B5C3E43E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143375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2175" b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175" b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15.095 m</a:t>
            </a:r>
          </a:p>
        </p:txBody>
      </p:sp>
      <p:sp>
        <p:nvSpPr>
          <p:cNvPr id="7" name="hand-line-0">
            <a:extLst xmlns:a="http://schemas.openxmlformats.org/drawingml/2006/main">
              <a:ext uri="{FF2B5EF4-FFF2-40B4-BE49-F238E27FC236}">
                <a16:creationId xmlns:a16="http://schemas.microsoft.com/office/drawing/2014/main" id="{2AC9C917-0797-4F1A-94CE-B229F31AA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67250"/>
            <a:ext cx="1323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B4BE"/>
            </a:solidFill>
            <a:prstDash val="solid"/>
          </a:ln>
        </p:spPr>
      </p:sp>
      <p:sp>
        <p:nvSpPr>
          <p:cNvPr id="8" name="hand-l-1">
            <a:extLst xmlns:a="http://schemas.openxmlformats.org/drawingml/2006/main">
              <a:ext uri="{FF2B5EF4-FFF2-40B4-BE49-F238E27FC236}">
                <a16:creationId xmlns:a16="http://schemas.microsoft.com/office/drawing/2014/main" id="{EE7F0114-40B7-4F87-B501-12689CBB4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0062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2175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175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y(1.5 s)</a:t>
            </a:r>
          </a:p>
        </p:txBody>
      </p:sp>
      <p:sp>
        <p:nvSpPr>
          <p:cNvPr id="9" name="hand-r-1">
            <a:extLst xmlns:a="http://schemas.openxmlformats.org/drawingml/2006/main">
              <a:ext uri="{FF2B5EF4-FFF2-40B4-BE49-F238E27FC236}">
                <a16:creationId xmlns:a16="http://schemas.microsoft.com/office/drawing/2014/main" id="{F3AAADCF-D480-438F-87A1-AF20902F5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000625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2175" b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175" b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18.96375 m</a:t>
            </a:r>
          </a:p>
        </p:txBody>
      </p:sp>
      <p:sp>
        <p:nvSpPr>
          <p:cNvPr id="10" name="hand-line-1">
            <a:extLst xmlns:a="http://schemas.openxmlformats.org/drawingml/2006/main">
              <a:ext uri="{FF2B5EF4-FFF2-40B4-BE49-F238E27FC236}">
                <a16:creationId xmlns:a16="http://schemas.microsoft.com/office/drawing/2014/main" id="{4008392C-3FB4-4C9D-8173-DF30EF472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24500"/>
            <a:ext cx="1323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B4BE"/>
            </a:solidFill>
            <a:prstDash val="solid"/>
          </a:ln>
        </p:spPr>
      </p:sp>
      <p:sp>
        <p:nvSpPr>
          <p:cNvPr id="11" name="hand-l-2">
            <a:extLst xmlns:a="http://schemas.openxmlformats.org/drawingml/2006/main">
              <a:ext uri="{FF2B5EF4-FFF2-40B4-BE49-F238E27FC236}">
                <a16:creationId xmlns:a16="http://schemas.microsoft.com/office/drawing/2014/main" id="{A0751A51-715C-4E3B-B696-2B380CD87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85787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2175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175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Δy / h</a:t>
            </a:r>
          </a:p>
        </p:txBody>
      </p:sp>
      <p:sp>
        <p:nvSpPr>
          <p:cNvPr id="12" name="hand-r-2">
            <a:extLst xmlns:a="http://schemas.openxmlformats.org/drawingml/2006/main">
              <a:ext uri="{FF2B5EF4-FFF2-40B4-BE49-F238E27FC236}">
                <a16:creationId xmlns:a16="http://schemas.microsoft.com/office/drawing/2014/main" id="{ACC67EEE-FF53-47D9-B2E5-77A8C69EA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857875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2175" b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175" b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(18.96375 − 15.095) m / 0.5 s</a:t>
            </a:r>
          </a:p>
        </p:txBody>
      </p:sp>
      <p:sp>
        <p:nvSpPr>
          <p:cNvPr id="13" name="hand-line-2">
            <a:extLst xmlns:a="http://schemas.openxmlformats.org/drawingml/2006/main">
              <a:ext uri="{FF2B5EF4-FFF2-40B4-BE49-F238E27FC236}">
                <a16:creationId xmlns:a16="http://schemas.microsoft.com/office/drawing/2014/main" id="{63AB7D70-0BAF-4CB4-8501-D6C4F3CAF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381750"/>
            <a:ext cx="1323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B4BE"/>
            </a:solidFill>
            <a:prstDash val="solid"/>
          </a:ln>
        </p:spPr>
      </p:sp>
      <p:sp>
        <p:nvSpPr>
          <p:cNvPr id="14" name="hand-l-3">
            <a:extLst xmlns:a="http://schemas.openxmlformats.org/drawingml/2006/main">
              <a:ext uri="{FF2B5EF4-FFF2-40B4-BE49-F238E27FC236}">
                <a16:creationId xmlns:a16="http://schemas.microsoft.com/office/drawing/2014/main" id="{3B534058-713D-41F3-8758-7A2E06E89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71512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2175" b="1">
                <a:solidFill>
                  <a:srgbClr val="3E8E45"/>
                </a:solidFill>
                <a:latin typeface="Nunito"/>
                <a:ea typeface="Nunito"/>
                <a:cs typeface="Nunito"/>
              </a:defRPr>
            </a:pPr>
            <a:r>
              <a:rPr sz="2175" b="1">
                <a:solidFill>
                  <a:srgbClr val="3E8E45"/>
                </a:solidFill>
                <a:latin typeface="Nunito"/>
                <a:ea typeface="Nunito"/>
                <a:cs typeface="Nunito"/>
              </a:rPr>
              <a:t>vfd(1.0 s)</a:t>
            </a:r>
          </a:p>
        </p:txBody>
      </p:sp>
      <p:sp>
        <p:nvSpPr>
          <p:cNvPr id="15" name="hand-r-3">
            <a:extLst xmlns:a="http://schemas.openxmlformats.org/drawingml/2006/main">
              <a:ext uri="{FF2B5EF4-FFF2-40B4-BE49-F238E27FC236}">
                <a16:creationId xmlns:a16="http://schemas.microsoft.com/office/drawing/2014/main" id="{F7F2AD5C-8DCD-4A57-9604-A217DE55D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715125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2175" b="1">
                <a:solidFill>
                  <a:srgbClr val="3E8E45"/>
                </a:solidFill>
                <a:latin typeface="Nunito"/>
                <a:ea typeface="Nunito"/>
                <a:cs typeface="Nunito"/>
              </a:defRPr>
            </a:pPr>
            <a:r>
              <a:rPr sz="2175" b="1">
                <a:solidFill>
                  <a:srgbClr val="3E8E45"/>
                </a:solidFill>
                <a:latin typeface="Nunito"/>
                <a:ea typeface="Nunito"/>
                <a:cs typeface="Nunito"/>
              </a:rPr>
              <a:t>7.7375 m/s</a:t>
            </a:r>
          </a:p>
        </p:txBody>
      </p:sp>
      <p:sp>
        <p:nvSpPr>
          <p:cNvPr id="16" name="hand-line-3">
            <a:extLst xmlns:a="http://schemas.openxmlformats.org/drawingml/2006/main">
              <a:ext uri="{FF2B5EF4-FFF2-40B4-BE49-F238E27FC236}">
                <a16:creationId xmlns:a16="http://schemas.microsoft.com/office/drawing/2014/main" id="{4D1DB85F-908D-4301-B854-D27F94404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7239000"/>
            <a:ext cx="1323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B4BE"/>
            </a:solidFill>
            <a:prstDash val="solid"/>
          </a:ln>
        </p:spPr>
      </p:sp>
      <p:sp>
        <p:nvSpPr>
          <p:cNvPr id="17" name="hand-result">
            <a:extLst xmlns:a="http://schemas.openxmlformats.org/drawingml/2006/main">
              <a:ext uri="{FF2B5EF4-FFF2-40B4-BE49-F238E27FC236}">
                <a16:creationId xmlns:a16="http://schemas.microsoft.com/office/drawing/2014/main" id="{0E407B2C-8B05-4E57-BD8E-CEC793851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7239000"/>
            <a:ext cx="4000500" cy="857250"/>
          </a:xfrm>
          <a:prstGeom xmlns:a="http://schemas.openxmlformats.org/drawingml/2006/main" prst="roundRect">
            <a:avLst>
              <a:gd name="adj" fmla="val 24444"/>
            </a:avLst>
          </a:prstGeom>
          <a:solidFill xmlns:a="http://schemas.openxmlformats.org/drawingml/2006/main">
            <a:srgbClr val="F0FAF7"/>
          </a:solidFill>
          <a:ln xmlns:a="http://schemas.openxmlformats.org/drawingml/2006/main" w="19050">
            <a:solidFill>
              <a:srgbClr val="3E8E45"/>
            </a:solidFill>
            <a:prstDash val="solid"/>
          </a:ln>
        </p:spPr>
      </p:sp>
      <p:sp>
        <p:nvSpPr>
          <p:cNvPr id="18" name="hand-final">
            <a:extLst xmlns:a="http://schemas.openxmlformats.org/drawingml/2006/main">
              <a:ext uri="{FF2B5EF4-FFF2-40B4-BE49-F238E27FC236}">
                <a16:creationId xmlns:a16="http://schemas.microsoft.com/office/drawing/2014/main" id="{B572D21A-CE5C-4186-947D-23431CCB4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7477125"/>
            <a:ext cx="342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39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2250" b="1">
                <a:solidFill>
                  <a:srgbClr val="3E8E45"/>
                </a:solidFill>
                <a:latin typeface="Nunito"/>
                <a:ea typeface="Nunito"/>
                <a:cs typeface="Nunito"/>
              </a:defRPr>
            </a:pPr>
            <a:r>
              <a:rPr sz="2250" b="1">
                <a:solidFill>
                  <a:srgbClr val="3E8E45"/>
                </a:solidFill>
                <a:latin typeface="Nunito"/>
                <a:ea typeface="Nunito"/>
                <a:cs typeface="Nunito"/>
              </a:rPr>
              <a:t>7.7375 m/s</a:t>
            </a:r>
          </a:p>
        </p:txBody>
      </p:sp>
    </p:spTree>
    <p:extLst>
      <p:ext uri="{BB962C8B-B14F-4D97-AF65-F5344CB8AC3E}">
        <p14:creationId xmlns:p14="http://schemas.microsoft.com/office/powerpoint/2010/main" val="207036820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PHY4605 inherited title treatment">
            <a:extLst xmlns:a="http://schemas.openxmlformats.org/drawingml/2006/main">
              <a:ext uri="{FF2B5EF4-FFF2-40B4-BE49-F238E27FC236}">
                <a16:creationId xmlns:a16="http://schemas.microsoft.com/office/drawing/2014/main" id="{E5405211-304F-4867-9950-EBE24735F5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95375" y="571500"/>
            <a:ext cx="1504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51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51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Pseudocode before MATLAB</a:t>
            </a:r>
            <a:endParaRPr sz="5100" b="1">
              <a:solidFill>
                <a:srgbClr val="0B2B4C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2" name="PHY4605 inherited subtitle treatment">
            <a:extLst xmlns:a="http://schemas.openxmlformats.org/drawingml/2006/main">
              <a:ext uri="{FF2B5EF4-FFF2-40B4-BE49-F238E27FC236}">
                <a16:creationId xmlns:a16="http://schemas.microsoft.com/office/drawing/2014/main" id="{E91CBA08-DF0A-42D9-BFC9-999ECBC00B6C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xfrm xmlns:a="http://schemas.openxmlformats.org/drawingml/2006/main">
            <a:off x="1095375" y="1447800"/>
            <a:ext cx="1504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25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The algorithm names the model evaluations before code syntax appears</a:t>
            </a:r>
            <a:endParaRPr sz="2250">
              <a:solidFill>
                <a:srgbClr val="3F4B57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3" name="PHY4605 inherited slide-number treatment">
            <a:extLst xmlns:a="http://schemas.openxmlformats.org/drawingml/2006/main">
              <a:ext uri="{FF2B5EF4-FFF2-40B4-BE49-F238E27FC236}">
                <a16:creationId xmlns:a16="http://schemas.microsoft.com/office/drawing/2014/main" id="{F5AF736A-5770-4E67-8962-D97EC015F8E7}"/>
              </a:ext>
            </a:extLst>
          </p:cNvPr>
          <p:cNvSpPr>
            <a:spLocks xmlns:a="http://schemas.openxmlformats.org/drawingml/2006/main" noGrp="1"/>
          </p:cNvSpPr>
          <p:nvPr>
            <p:ph type="sldNum" idx="0"/>
          </p:nvPr>
        </p:nvSpPr>
        <p:spPr>
          <a:xfrm xmlns:a="http://schemas.openxmlformats.org/drawingml/2006/main">
            <a:off x="16802100" y="92964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65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650">
                <a:solidFill>
                  <a:srgbClr val="697684"/>
                </a:solidFill>
                <a:latin typeface="Nunito"/>
                <a:ea typeface="Nunito"/>
                <a:cs typeface="Nunito"/>
              </a:rPr>
              <a:t>7</a:t>
            </a:r>
            <a:endParaRPr sz="1650">
              <a:solidFill>
                <a:srgbClr val="697684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4" name="step-0">
            <a:extLst xmlns:a="http://schemas.openxmlformats.org/drawingml/2006/main">
              <a:ext uri="{FF2B5EF4-FFF2-40B4-BE49-F238E27FC236}">
                <a16:creationId xmlns:a16="http://schemas.microsoft.com/office/drawing/2014/main" id="{1DE61B4F-1A4C-4E43-9115-61B7171C4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8575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DB2"/>
          </a:solidFill>
          <a:ln xmlns:a="http://schemas.openxmlformats.org/drawingml/2006/main" w="0">
            <a:solidFill>
              <a:srgbClr val="2F6DB2"/>
            </a:solidFill>
            <a:prstDash val="solid"/>
          </a:ln>
        </p:spPr>
      </p:sp>
      <p:sp>
        <p:nvSpPr>
          <p:cNvPr id="5" name="step-no-0">
            <a:extLst xmlns:a="http://schemas.openxmlformats.org/drawingml/2006/main">
              <a:ext uri="{FF2B5EF4-FFF2-40B4-BE49-F238E27FC236}">
                <a16:creationId xmlns:a16="http://schemas.microsoft.com/office/drawing/2014/main" id="{9E9E68F5-5730-4173-B617-6BF207324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924175"/>
            <a:ext cx="495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1875" b="1">
                <a:solidFill>
                  <a:srgbClr val="FFFFFF"/>
                </a:solidFill>
                <a:latin typeface="Nunito"/>
                <a:ea typeface="Nunito"/>
                <a:cs typeface="Nunito"/>
              </a:defRPr>
            </a:pPr>
            <a:r>
              <a:rPr sz="1875" b="1">
                <a:solidFill>
                  <a:srgbClr val="FFFFFF"/>
                </a:solidFill>
                <a:latin typeface="Nunito"/>
                <a:ea typeface="Nunito"/>
                <a:cs typeface="Nunito"/>
              </a:rPr>
              <a:t>1</a:t>
            </a:r>
          </a:p>
        </p:txBody>
      </p:sp>
      <p:sp>
        <p:nvSpPr>
          <p:cNvPr id="6" name="step-text-0">
            <a:extLst xmlns:a="http://schemas.openxmlformats.org/drawingml/2006/main">
              <a:ext uri="{FF2B5EF4-FFF2-40B4-BE49-F238E27FC236}">
                <a16:creationId xmlns:a16="http://schemas.microsoft.com/office/drawing/2014/main" id="{4F3B936A-2CB6-4961-AC40-F8976C13D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924175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2175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175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choose t₀ and h</a:t>
            </a:r>
          </a:p>
        </p:txBody>
      </p:sp>
      <p:sp>
        <p:nvSpPr>
          <p:cNvPr id="7" name="step-arrow-0">
            <a:extLst xmlns:a="http://schemas.openxmlformats.org/drawingml/2006/main">
              <a:ext uri="{FF2B5EF4-FFF2-40B4-BE49-F238E27FC236}">
                <a16:creationId xmlns:a16="http://schemas.microsoft.com/office/drawing/2014/main" id="{380F4FD5-C017-4DC3-83DC-E142EA188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952750"/>
            <a:ext cx="523875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AB4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tep-1">
            <a:extLst xmlns:a="http://schemas.openxmlformats.org/drawingml/2006/main">
              <a:ext uri="{FF2B5EF4-FFF2-40B4-BE49-F238E27FC236}">
                <a16:creationId xmlns:a16="http://schemas.microsoft.com/office/drawing/2014/main" id="{4E2FB416-2E15-48A4-9E8C-8D0FD076B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575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DB2"/>
          </a:solidFill>
          <a:ln xmlns:a="http://schemas.openxmlformats.org/drawingml/2006/main" w="0">
            <a:solidFill>
              <a:srgbClr val="2F6DB2"/>
            </a:solidFill>
            <a:prstDash val="solid"/>
          </a:ln>
        </p:spPr>
      </p:sp>
      <p:sp>
        <p:nvSpPr>
          <p:cNvPr id="9" name="step-no-1">
            <a:extLst xmlns:a="http://schemas.openxmlformats.org/drawingml/2006/main">
              <a:ext uri="{FF2B5EF4-FFF2-40B4-BE49-F238E27FC236}">
                <a16:creationId xmlns:a16="http://schemas.microsoft.com/office/drawing/2014/main" id="{FB840F76-D065-44C0-8EC6-D03C088AF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24175"/>
            <a:ext cx="495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1875" b="1">
                <a:solidFill>
                  <a:srgbClr val="FFFFFF"/>
                </a:solidFill>
                <a:latin typeface="Nunito"/>
                <a:ea typeface="Nunito"/>
                <a:cs typeface="Nunito"/>
              </a:defRPr>
            </a:pPr>
            <a:r>
              <a:rPr sz="1875" b="1">
                <a:solidFill>
                  <a:srgbClr val="FFFFFF"/>
                </a:solidFill>
                <a:latin typeface="Nunito"/>
                <a:ea typeface="Nunito"/>
                <a:cs typeface="Nunito"/>
              </a:rPr>
              <a:t>2</a:t>
            </a:r>
          </a:p>
        </p:txBody>
      </p:sp>
      <p:sp>
        <p:nvSpPr>
          <p:cNvPr id="10" name="step-text-1">
            <a:extLst xmlns:a="http://schemas.openxmlformats.org/drawingml/2006/main">
              <a:ext uri="{FF2B5EF4-FFF2-40B4-BE49-F238E27FC236}">
                <a16:creationId xmlns:a16="http://schemas.microsoft.com/office/drawing/2014/main" id="{D23AA741-F927-4B17-B0CD-104E017AD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924175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2175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175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evaluate y(t₀)</a:t>
            </a:r>
          </a:p>
        </p:txBody>
      </p:sp>
      <p:sp>
        <p:nvSpPr>
          <p:cNvPr id="11" name="step-arrow-1">
            <a:extLst xmlns:a="http://schemas.openxmlformats.org/drawingml/2006/main">
              <a:ext uri="{FF2B5EF4-FFF2-40B4-BE49-F238E27FC236}">
                <a16:creationId xmlns:a16="http://schemas.microsoft.com/office/drawing/2014/main" id="{59A69118-2344-4356-A489-C16A8EA44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2952750"/>
            <a:ext cx="523875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AB4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tep-2">
            <a:extLst xmlns:a="http://schemas.openxmlformats.org/drawingml/2006/main">
              <a:ext uri="{FF2B5EF4-FFF2-40B4-BE49-F238E27FC236}">
                <a16:creationId xmlns:a16="http://schemas.microsoft.com/office/drawing/2014/main" id="{6457099F-FF1D-4B5A-A81B-E0CF98C32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8625" y="28575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DB2"/>
          </a:solidFill>
          <a:ln xmlns:a="http://schemas.openxmlformats.org/drawingml/2006/main" w="0">
            <a:solidFill>
              <a:srgbClr val="2F6DB2"/>
            </a:solidFill>
            <a:prstDash val="solid"/>
          </a:ln>
        </p:spPr>
      </p:sp>
      <p:sp>
        <p:nvSpPr>
          <p:cNvPr id="13" name="step-no-2">
            <a:extLst xmlns:a="http://schemas.openxmlformats.org/drawingml/2006/main">
              <a:ext uri="{FF2B5EF4-FFF2-40B4-BE49-F238E27FC236}">
                <a16:creationId xmlns:a16="http://schemas.microsoft.com/office/drawing/2014/main" id="{94884BE1-6D53-46A9-9276-AC088AC22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8625" y="2924175"/>
            <a:ext cx="495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1875" b="1">
                <a:solidFill>
                  <a:srgbClr val="FFFFFF"/>
                </a:solidFill>
                <a:latin typeface="Nunito"/>
                <a:ea typeface="Nunito"/>
                <a:cs typeface="Nunito"/>
              </a:defRPr>
            </a:pPr>
            <a:r>
              <a:rPr sz="1875" b="1">
                <a:solidFill>
                  <a:srgbClr val="FFFFFF"/>
                </a:solidFill>
                <a:latin typeface="Nunito"/>
                <a:ea typeface="Nunito"/>
                <a:cs typeface="Nunito"/>
              </a:rPr>
              <a:t>3</a:t>
            </a:r>
          </a:p>
        </p:txBody>
      </p:sp>
      <p:sp>
        <p:nvSpPr>
          <p:cNvPr id="14" name="step-text-2">
            <a:extLst xmlns:a="http://schemas.openxmlformats.org/drawingml/2006/main">
              <a:ext uri="{FF2B5EF4-FFF2-40B4-BE49-F238E27FC236}">
                <a16:creationId xmlns:a16="http://schemas.microsoft.com/office/drawing/2014/main" id="{ABFBC3D8-0F3E-49DC-8C10-1F8ADCDDC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2924175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2175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175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evaluate y(t₀ + h)</a:t>
            </a:r>
          </a:p>
        </p:txBody>
      </p:sp>
      <p:sp>
        <p:nvSpPr>
          <p:cNvPr id="15" name="step-3">
            <a:extLst xmlns:a="http://schemas.openxmlformats.org/drawingml/2006/main">
              <a:ext uri="{FF2B5EF4-FFF2-40B4-BE49-F238E27FC236}">
                <a16:creationId xmlns:a16="http://schemas.microsoft.com/office/drawing/2014/main" id="{0BECF798-338A-4281-8DD0-C36C5FD8F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1435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DB2"/>
          </a:solidFill>
          <a:ln xmlns:a="http://schemas.openxmlformats.org/drawingml/2006/main" w="0">
            <a:solidFill>
              <a:srgbClr val="2F6DB2"/>
            </a:solidFill>
            <a:prstDash val="solid"/>
          </a:ln>
        </p:spPr>
      </p:sp>
      <p:sp>
        <p:nvSpPr>
          <p:cNvPr id="16" name="step-no-3">
            <a:extLst xmlns:a="http://schemas.openxmlformats.org/drawingml/2006/main">
              <a:ext uri="{FF2B5EF4-FFF2-40B4-BE49-F238E27FC236}">
                <a16:creationId xmlns:a16="http://schemas.microsoft.com/office/drawing/2014/main" id="{8170CA79-889F-4AC2-8059-94E1F9494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210175"/>
            <a:ext cx="495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1875" b="1">
                <a:solidFill>
                  <a:srgbClr val="FFFFFF"/>
                </a:solidFill>
                <a:latin typeface="Nunito"/>
                <a:ea typeface="Nunito"/>
                <a:cs typeface="Nunito"/>
              </a:defRPr>
            </a:pPr>
            <a:r>
              <a:rPr sz="1875" b="1">
                <a:solidFill>
                  <a:srgbClr val="FFFFFF"/>
                </a:solidFill>
                <a:latin typeface="Nunito"/>
                <a:ea typeface="Nunito"/>
                <a:cs typeface="Nunito"/>
              </a:rPr>
              <a:t>4</a:t>
            </a:r>
          </a:p>
        </p:txBody>
      </p:sp>
      <p:sp>
        <p:nvSpPr>
          <p:cNvPr id="17" name="step-text-3">
            <a:extLst xmlns:a="http://schemas.openxmlformats.org/drawingml/2006/main">
              <a:ext uri="{FF2B5EF4-FFF2-40B4-BE49-F238E27FC236}">
                <a16:creationId xmlns:a16="http://schemas.microsoft.com/office/drawing/2014/main" id="{A780A7B7-0E6C-4FF5-9ED5-62B963BF6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210175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2175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175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subtract positions</a:t>
            </a:r>
          </a:p>
        </p:txBody>
      </p:sp>
      <p:sp>
        <p:nvSpPr>
          <p:cNvPr id="18" name="step-arrow-3">
            <a:extLst xmlns:a="http://schemas.openxmlformats.org/drawingml/2006/main">
              <a:ext uri="{FF2B5EF4-FFF2-40B4-BE49-F238E27FC236}">
                <a16:creationId xmlns:a16="http://schemas.microsoft.com/office/drawing/2014/main" id="{47CC27FA-593A-4843-812B-EF70E914D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238750"/>
            <a:ext cx="523875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AB4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tep-4">
            <a:extLst xmlns:a="http://schemas.openxmlformats.org/drawingml/2006/main">
              <a:ext uri="{FF2B5EF4-FFF2-40B4-BE49-F238E27FC236}">
                <a16:creationId xmlns:a16="http://schemas.microsoft.com/office/drawing/2014/main" id="{12B0FA29-8A36-4F62-877B-CF98B2592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1435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A16"/>
          </a:solidFill>
          <a:ln xmlns:a="http://schemas.openxmlformats.org/drawingml/2006/main" w="0">
            <a:solidFill>
              <a:srgbClr val="C98A16"/>
            </a:solidFill>
            <a:prstDash val="solid"/>
          </a:ln>
        </p:spPr>
      </p:sp>
      <p:sp>
        <p:nvSpPr>
          <p:cNvPr id="20" name="step-no-4">
            <a:extLst xmlns:a="http://schemas.openxmlformats.org/drawingml/2006/main">
              <a:ext uri="{FF2B5EF4-FFF2-40B4-BE49-F238E27FC236}">
                <a16:creationId xmlns:a16="http://schemas.microsoft.com/office/drawing/2014/main" id="{E8A8EBEF-D8A6-4100-962C-70E7700AE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210175"/>
            <a:ext cx="495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1875" b="1">
                <a:solidFill>
                  <a:srgbClr val="FFFFFF"/>
                </a:solidFill>
                <a:latin typeface="Nunito"/>
                <a:ea typeface="Nunito"/>
                <a:cs typeface="Nunito"/>
              </a:defRPr>
            </a:pPr>
            <a:r>
              <a:rPr sz="1875" b="1">
                <a:solidFill>
                  <a:srgbClr val="FFFFFF"/>
                </a:solidFill>
                <a:latin typeface="Nunito"/>
                <a:ea typeface="Nunito"/>
                <a:cs typeface="Nunito"/>
              </a:rPr>
              <a:t>5</a:t>
            </a:r>
          </a:p>
        </p:txBody>
      </p:sp>
      <p:sp>
        <p:nvSpPr>
          <p:cNvPr id="21" name="step-text-4">
            <a:extLst xmlns:a="http://schemas.openxmlformats.org/drawingml/2006/main">
              <a:ext uri="{FF2B5EF4-FFF2-40B4-BE49-F238E27FC236}">
                <a16:creationId xmlns:a16="http://schemas.microsoft.com/office/drawing/2014/main" id="{F417A946-ECB6-40C1-89E9-A8E9EE97E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5210175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2175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175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divide by h</a:t>
            </a:r>
          </a:p>
        </p:txBody>
      </p:sp>
      <p:sp>
        <p:nvSpPr>
          <p:cNvPr id="22" name="step-arrow-4">
            <a:extLst xmlns:a="http://schemas.openxmlformats.org/drawingml/2006/main">
              <a:ext uri="{FF2B5EF4-FFF2-40B4-BE49-F238E27FC236}">
                <a16:creationId xmlns:a16="http://schemas.microsoft.com/office/drawing/2014/main" id="{7AB168C7-E016-4D2A-96D9-91ED42140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5238750"/>
            <a:ext cx="523875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AB4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tep-5">
            <a:extLst xmlns:a="http://schemas.openxmlformats.org/drawingml/2006/main">
              <a:ext uri="{FF2B5EF4-FFF2-40B4-BE49-F238E27FC236}">
                <a16:creationId xmlns:a16="http://schemas.microsoft.com/office/drawing/2014/main" id="{2D4C6855-A875-41E4-80B0-FCEEFDE88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8625" y="51435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9D9F"/>
          </a:solidFill>
          <a:ln xmlns:a="http://schemas.openxmlformats.org/drawingml/2006/main" w="0">
            <a:solidFill>
              <a:srgbClr val="2A9D9F"/>
            </a:solidFill>
            <a:prstDash val="solid"/>
          </a:ln>
        </p:spPr>
      </p:sp>
      <p:sp>
        <p:nvSpPr>
          <p:cNvPr id="24" name="step-no-5">
            <a:extLst xmlns:a="http://schemas.openxmlformats.org/drawingml/2006/main">
              <a:ext uri="{FF2B5EF4-FFF2-40B4-BE49-F238E27FC236}">
                <a16:creationId xmlns:a16="http://schemas.microsoft.com/office/drawing/2014/main" id="{4029A2FE-D5D6-49CC-9BF1-6A9933EB9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8625" y="5210175"/>
            <a:ext cx="495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1875" b="1">
                <a:solidFill>
                  <a:srgbClr val="FFFFFF"/>
                </a:solidFill>
                <a:latin typeface="Nunito"/>
                <a:ea typeface="Nunito"/>
                <a:cs typeface="Nunito"/>
              </a:defRPr>
            </a:pPr>
            <a:r>
              <a:rPr sz="1875" b="1">
                <a:solidFill>
                  <a:srgbClr val="FFFFFF"/>
                </a:solidFill>
                <a:latin typeface="Nunito"/>
                <a:ea typeface="Nunito"/>
                <a:cs typeface="Nunito"/>
              </a:rPr>
              <a:t>6</a:t>
            </a:r>
          </a:p>
        </p:txBody>
      </p:sp>
      <p:sp>
        <p:nvSpPr>
          <p:cNvPr id="25" name="step-text-5">
            <a:extLst xmlns:a="http://schemas.openxmlformats.org/drawingml/2006/main">
              <a:ext uri="{FF2B5EF4-FFF2-40B4-BE49-F238E27FC236}">
                <a16:creationId xmlns:a16="http://schemas.microsoft.com/office/drawing/2014/main" id="{517CA7DD-E4E3-4167-9F71-34093EE55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5210175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2175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175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compare with reference</a:t>
            </a:r>
          </a:p>
        </p:txBody>
      </p:sp>
      <p:sp>
        <p:nvSpPr>
          <p:cNvPr id="26" name="repeat">
            <a:extLst xmlns:a="http://schemas.openxmlformats.org/drawingml/2006/main">
              <a:ext uri="{FF2B5EF4-FFF2-40B4-BE49-F238E27FC236}">
                <a16:creationId xmlns:a16="http://schemas.microsoft.com/office/drawing/2014/main" id="{132F6464-D166-4AB1-B98A-FF1294042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572375"/>
            <a:ext cx="10287000" cy="714375"/>
          </a:xfrm>
          <a:prstGeom xmlns:a="http://schemas.openxmlformats.org/drawingml/2006/main" prst="roundRect">
            <a:avLst>
              <a:gd name="adj" fmla="val 29333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19050">
            <a:solidFill>
              <a:srgbClr val="C98A16"/>
            </a:solidFill>
            <a:prstDash val="solid"/>
          </a:ln>
        </p:spPr>
      </p:sp>
      <p:sp>
        <p:nvSpPr>
          <p:cNvPr id="27" name="repeat-text">
            <a:extLst xmlns:a="http://schemas.openxmlformats.org/drawingml/2006/main">
              <a:ext uri="{FF2B5EF4-FFF2-40B4-BE49-F238E27FC236}">
                <a16:creationId xmlns:a16="http://schemas.microsoft.com/office/drawing/2014/main" id="{0AF24B1E-0643-4AE3-9326-C8C27D347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7762875"/>
            <a:ext cx="962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4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2100" b="1">
                <a:solidFill>
                  <a:srgbClr val="C98A16"/>
                </a:solidFill>
                <a:latin typeface="Nunito"/>
                <a:ea typeface="Nunito"/>
                <a:cs typeface="Nunito"/>
              </a:defRPr>
            </a:pPr>
            <a:r>
              <a:rPr sz="2100" b="1">
                <a:solidFill>
                  <a:srgbClr val="C98A16"/>
                </a:solidFill>
                <a:latin typeface="Nunito"/>
                <a:ea typeface="Nunito"/>
                <a:cs typeface="Nunito"/>
              </a:rPr>
              <a:t>Repeat only for the supplied step-size array h = [0.5 0.2 0.1 0.05] s</a:t>
            </a:r>
          </a:p>
        </p:txBody>
      </p:sp>
    </p:spTree>
    <p:extLst>
      <p:ext uri="{BB962C8B-B14F-4D97-AF65-F5344CB8AC3E}">
        <p14:creationId xmlns:p14="http://schemas.microsoft.com/office/powerpoint/2010/main" val="67399506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PHY4605 inherited title treatment">
            <a:extLst xmlns:a="http://schemas.openxmlformats.org/drawingml/2006/main">
              <a:ext uri="{FF2B5EF4-FFF2-40B4-BE49-F238E27FC236}">
                <a16:creationId xmlns:a16="http://schemas.microsoft.com/office/drawing/2014/main" id="{E5405211-304F-4867-9950-EBE24735F5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95375" y="571500"/>
            <a:ext cx="1504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51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51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MATLAB scaffold</a:t>
            </a:r>
            <a:endParaRPr sz="5100" b="1">
              <a:solidFill>
                <a:srgbClr val="0B2B4C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2" name="PHY4605 inherited subtitle treatment">
            <a:extLst xmlns:a="http://schemas.openxmlformats.org/drawingml/2006/main">
              <a:ext uri="{FF2B5EF4-FFF2-40B4-BE49-F238E27FC236}">
                <a16:creationId xmlns:a16="http://schemas.microsoft.com/office/drawing/2014/main" id="{E91CBA08-DF0A-42D9-BFC9-999ECBC00B6C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xfrm xmlns:a="http://schemas.openxmlformats.org/drawingml/2006/main">
            <a:off x="1095375" y="1447800"/>
            <a:ext cx="1504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25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Trace the supplied expressions and identify the denominator</a:t>
            </a:r>
            <a:endParaRPr sz="2250">
              <a:solidFill>
                <a:srgbClr val="3F4B57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3" name="PHY4605 inherited slide-number treatment">
            <a:extLst xmlns:a="http://schemas.openxmlformats.org/drawingml/2006/main">
              <a:ext uri="{FF2B5EF4-FFF2-40B4-BE49-F238E27FC236}">
                <a16:creationId xmlns:a16="http://schemas.microsoft.com/office/drawing/2014/main" id="{F5AF736A-5770-4E67-8962-D97EC015F8E7}"/>
              </a:ext>
            </a:extLst>
          </p:cNvPr>
          <p:cNvSpPr>
            <a:spLocks xmlns:a="http://schemas.openxmlformats.org/drawingml/2006/main" noGrp="1"/>
          </p:cNvSpPr>
          <p:nvPr>
            <p:ph type="sldNum" idx="0"/>
          </p:nvPr>
        </p:nvSpPr>
        <p:spPr>
          <a:xfrm xmlns:a="http://schemas.openxmlformats.org/drawingml/2006/main">
            <a:off x="16802100" y="92964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65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650">
                <a:solidFill>
                  <a:srgbClr val="697684"/>
                </a:solidFill>
                <a:latin typeface="Nunito"/>
                <a:ea typeface="Nunito"/>
                <a:cs typeface="Nunito"/>
              </a:rPr>
              <a:t>8</a:t>
            </a:r>
            <a:endParaRPr sz="1650">
              <a:solidFill>
                <a:srgbClr val="697684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4" name="codebox">
            <a:extLst xmlns:a="http://schemas.openxmlformats.org/drawingml/2006/main">
              <a:ext uri="{FF2B5EF4-FFF2-40B4-BE49-F238E27FC236}">
                <a16:creationId xmlns:a16="http://schemas.microsoft.com/office/drawing/2014/main" id="{7692204F-AD84-4F3A-B3EB-F6271C52F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524125"/>
            <a:ext cx="10287000" cy="52387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4F8FC"/>
          </a:solidFill>
          <a:ln xmlns:a="http://schemas.openxmlformats.org/drawingml/2006/main" w="19050">
            <a:solidFill>
              <a:srgbClr val="AAB4BE"/>
            </a:solidFill>
            <a:prstDash val="solid"/>
          </a:ln>
        </p:spPr>
      </p:sp>
      <p:sp>
        <p:nvSpPr>
          <p:cNvPr id="5" name="code">
            <a:extLst xmlns:a="http://schemas.openxmlformats.org/drawingml/2006/main">
              <a:ext uri="{FF2B5EF4-FFF2-40B4-BE49-F238E27FC236}">
                <a16:creationId xmlns:a16="http://schemas.microsoft.com/office/drawing/2014/main" id="{CD7A2DA1-EACF-4F4C-BCC2-4AD31A96A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905125"/>
            <a:ext cx="96202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800" b="0">
                <a:solidFill>
                  <a:srgbClr val="0B2B4C"/>
                </a:solidFill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0B2B4C"/>
                </a:solidFill>
                <a:latin typeface="IBM Plex Mono"/>
                <a:ea typeface="IBM Plex Mono"/>
                <a:cs typeface="IBM Plex Mono"/>
              </a:rPr>
              <a:t>t0_s = 1.0;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800" b="0">
                <a:solidFill>
                  <a:srgbClr val="0B2B4C"/>
                </a:solidFill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0B2B4C"/>
                </a:solidFill>
                <a:latin typeface="IBM Plex Mono"/>
                <a:ea typeface="IBM Plex Mono"/>
                <a:cs typeface="IBM Plex Mono"/>
              </a:rPr>
              <a:t>h_s = [0.5 0.2 0.1 0.05];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800" b="0">
                <a:solidFill>
                  <a:srgbClr val="0B2B4C"/>
                </a:solidFill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0B2B4C"/>
                </a:solidFill>
                <a:latin typeface="IBM Plex Mono"/>
                <a:ea typeface="IBM Plex Mono"/>
                <a:cs typeface="IBM Plex Mono"/>
              </a:rPr>
              <a:t>y_now_m = y0_m + v0_mps*t0_s - 0.5*g_mps2*t0_s^2;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800" b="0">
                <a:solidFill>
                  <a:srgbClr val="0B2B4C"/>
                </a:solidFill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0B2B4C"/>
                </a:solidFill>
                <a:latin typeface="IBM Plex Mono"/>
                <a:ea typeface="IBM Plex Mono"/>
                <a:cs typeface="IBM Plex Mono"/>
              </a:rPr>
              <a:t>y_forward_m = y0_m + v0_mps*(t0_s+h_s) - 0.5*g_mps2*(t0_s+h_s).^2;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800" b="0">
                <a:solidFill>
                  <a:srgbClr val="0B2B4C"/>
                </a:solidFill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0B2B4C"/>
                </a:solidFill>
                <a:latin typeface="IBM Plex Mono"/>
                <a:ea typeface="IBM Plex Mono"/>
                <a:cs typeface="IBM Plex Mono"/>
              </a:rPr>
              <a:t>v_forward_mps = (y_forward_m-y_now_m)./h_s;</a:t>
            </a:r>
          </a:p>
        </p:txBody>
      </p:sp>
      <p:sp>
        <p:nvSpPr>
          <p:cNvPr id="6" name="lab-0">
            <a:extLst xmlns:a="http://schemas.openxmlformats.org/drawingml/2006/main">
              <a:ext uri="{FF2B5EF4-FFF2-40B4-BE49-F238E27FC236}">
                <a16:creationId xmlns:a16="http://schemas.microsoft.com/office/drawing/2014/main" id="{AF67C800-3F69-414F-AFE4-7FA47DCA4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9625" y="2714625"/>
            <a:ext cx="4095750" cy="838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EF5FD"/>
          </a:solidFill>
          <a:ln xmlns:a="http://schemas.openxmlformats.org/drawingml/2006/main" w="19050">
            <a:solidFill>
              <a:srgbClr val="2F6DB2"/>
            </a:solidFill>
            <a:prstDash val="solid"/>
          </a:ln>
        </p:spPr>
      </p:sp>
      <p:sp>
        <p:nvSpPr>
          <p:cNvPr id="7" name="labt-0">
            <a:extLst xmlns:a="http://schemas.openxmlformats.org/drawingml/2006/main">
              <a:ext uri="{FF2B5EF4-FFF2-40B4-BE49-F238E27FC236}">
                <a16:creationId xmlns:a16="http://schemas.microsoft.com/office/drawing/2014/main" id="{C89A88C3-B656-43A7-AE13-7D65FBEDF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2867025"/>
            <a:ext cx="3619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97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1725" b="1">
                <a:solidFill>
                  <a:srgbClr val="2F6DB2"/>
                </a:solidFill>
                <a:latin typeface="Nunito"/>
                <a:ea typeface="Nunito"/>
                <a:cs typeface="Nunito"/>
              </a:defRPr>
            </a:pPr>
            <a:r>
              <a:rPr sz="1725" b="1">
                <a:solidFill>
                  <a:srgbClr val="2F6DB2"/>
                </a:solidFill>
                <a:latin typeface="Nunito"/>
                <a:ea typeface="Nunito"/>
                <a:cs typeface="Nunito"/>
              </a:rPr>
              <a:t>TARGET</a:t>
            </a:r>
          </a:p>
        </p:txBody>
      </p:sp>
      <p:sp>
        <p:nvSpPr>
          <p:cNvPr id="8" name="labb-0">
            <a:extLst xmlns:a="http://schemas.openxmlformats.org/drawingml/2006/main">
              <a:ext uri="{FF2B5EF4-FFF2-40B4-BE49-F238E27FC236}">
                <a16:creationId xmlns:a16="http://schemas.microsoft.com/office/drawing/2014/main" id="{7B3C797A-A483-4DF8-9D72-58E3F7C1F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3171825"/>
            <a:ext cx="3619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1500" b="0">
                <a:solidFill>
                  <a:srgbClr val="3F4B57"/>
                </a:solidFill>
                <a:latin typeface="IBM Plex Mono"/>
                <a:ea typeface="IBM Plex Mono"/>
                <a:cs typeface="IBM Plex Mono"/>
              </a:defRPr>
            </a:pPr>
            <a:r>
              <a:rPr sz="1500" b="0">
                <a:solidFill>
                  <a:srgbClr val="3F4B57"/>
                </a:solidFill>
                <a:latin typeface="IBM Plex Mono"/>
                <a:ea typeface="IBM Plex Mono"/>
                <a:cs typeface="IBM Plex Mono"/>
              </a:rPr>
              <a:t>t0_s</a:t>
            </a:r>
          </a:p>
        </p:txBody>
      </p:sp>
      <p:sp>
        <p:nvSpPr>
          <p:cNvPr id="9" name="lab-1">
            <a:extLst xmlns:a="http://schemas.openxmlformats.org/drawingml/2006/main">
              <a:ext uri="{FF2B5EF4-FFF2-40B4-BE49-F238E27FC236}">
                <a16:creationId xmlns:a16="http://schemas.microsoft.com/office/drawing/2014/main" id="{D63BC1A7-4CC6-4F06-BDBF-FFD518508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9625" y="3905250"/>
            <a:ext cx="4095750" cy="838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19050">
            <a:solidFill>
              <a:srgbClr val="C98A16"/>
            </a:solidFill>
            <a:prstDash val="solid"/>
          </a:ln>
        </p:spPr>
      </p:sp>
      <p:sp>
        <p:nvSpPr>
          <p:cNvPr id="10" name="labt-1">
            <a:extLst xmlns:a="http://schemas.openxmlformats.org/drawingml/2006/main">
              <a:ext uri="{FF2B5EF4-FFF2-40B4-BE49-F238E27FC236}">
                <a16:creationId xmlns:a16="http://schemas.microsoft.com/office/drawing/2014/main" id="{CD3B776A-2D2D-4B95-B1F9-86DB8C145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4057650"/>
            <a:ext cx="3619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97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1725" b="1">
                <a:solidFill>
                  <a:srgbClr val="C98A16"/>
                </a:solidFill>
                <a:latin typeface="Nunito"/>
                <a:ea typeface="Nunito"/>
                <a:cs typeface="Nunito"/>
              </a:defRPr>
            </a:pPr>
            <a:r>
              <a:rPr sz="1725" b="1">
                <a:solidFill>
                  <a:srgbClr val="C98A16"/>
                </a:solidFill>
                <a:latin typeface="Nunito"/>
                <a:ea typeface="Nunito"/>
                <a:cs typeface="Nunito"/>
              </a:rPr>
              <a:t>STEP ARRAY</a:t>
            </a:r>
          </a:p>
        </p:txBody>
      </p:sp>
      <p:sp>
        <p:nvSpPr>
          <p:cNvPr id="11" name="labb-1">
            <a:extLst xmlns:a="http://schemas.openxmlformats.org/drawingml/2006/main">
              <a:ext uri="{FF2B5EF4-FFF2-40B4-BE49-F238E27FC236}">
                <a16:creationId xmlns:a16="http://schemas.microsoft.com/office/drawing/2014/main" id="{37FD7EA8-9A6B-4D5D-AD5B-E7573E5DB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4362450"/>
            <a:ext cx="3619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1500" b="0">
                <a:solidFill>
                  <a:srgbClr val="3F4B57"/>
                </a:solidFill>
                <a:latin typeface="IBM Plex Mono"/>
                <a:ea typeface="IBM Plex Mono"/>
                <a:cs typeface="IBM Plex Mono"/>
              </a:defRPr>
            </a:pPr>
            <a:r>
              <a:rPr sz="1500" b="0">
                <a:solidFill>
                  <a:srgbClr val="3F4B57"/>
                </a:solidFill>
                <a:latin typeface="IBM Plex Mono"/>
                <a:ea typeface="IBM Plex Mono"/>
                <a:cs typeface="IBM Plex Mono"/>
              </a:rPr>
              <a:t>h_s</a:t>
            </a:r>
          </a:p>
        </p:txBody>
      </p:sp>
      <p:sp>
        <p:nvSpPr>
          <p:cNvPr id="12" name="lab-2">
            <a:extLst xmlns:a="http://schemas.openxmlformats.org/drawingml/2006/main">
              <a:ext uri="{FF2B5EF4-FFF2-40B4-BE49-F238E27FC236}">
                <a16:creationId xmlns:a16="http://schemas.microsoft.com/office/drawing/2014/main" id="{9393556B-710F-443B-8DE9-A806731B7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9625" y="5095875"/>
            <a:ext cx="4095750" cy="838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0FAF7"/>
          </a:solidFill>
          <a:ln xmlns:a="http://schemas.openxmlformats.org/drawingml/2006/main" w="19050">
            <a:solidFill>
              <a:srgbClr val="2A9D9F"/>
            </a:solidFill>
            <a:prstDash val="solid"/>
          </a:ln>
        </p:spPr>
      </p:sp>
      <p:sp>
        <p:nvSpPr>
          <p:cNvPr id="13" name="labt-2">
            <a:extLst xmlns:a="http://schemas.openxmlformats.org/drawingml/2006/main">
              <a:ext uri="{FF2B5EF4-FFF2-40B4-BE49-F238E27FC236}">
                <a16:creationId xmlns:a16="http://schemas.microsoft.com/office/drawing/2014/main" id="{0E362F27-AA9B-44C4-91C7-DFAF72355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5248275"/>
            <a:ext cx="3619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97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1725" b="1">
                <a:solidFill>
                  <a:srgbClr val="2A9D9F"/>
                </a:solidFill>
                <a:latin typeface="Nunito"/>
                <a:ea typeface="Nunito"/>
                <a:cs typeface="Nunito"/>
              </a:defRPr>
            </a:pPr>
            <a:r>
              <a:rPr sz="1725" b="1">
                <a:solidFill>
                  <a:srgbClr val="2A9D9F"/>
                </a:solidFill>
                <a:latin typeface="Nunito"/>
                <a:ea typeface="Nunito"/>
                <a:cs typeface="Nunito"/>
              </a:rPr>
              <a:t>TWO VALUES</a:t>
            </a:r>
          </a:p>
        </p:txBody>
      </p:sp>
      <p:sp>
        <p:nvSpPr>
          <p:cNvPr id="14" name="labb-2">
            <a:extLst xmlns:a="http://schemas.openxmlformats.org/drawingml/2006/main">
              <a:ext uri="{FF2B5EF4-FFF2-40B4-BE49-F238E27FC236}">
                <a16:creationId xmlns:a16="http://schemas.microsoft.com/office/drawing/2014/main" id="{C9B86350-1A86-4322-9810-CABD712E8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5553075"/>
            <a:ext cx="3619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1500" b="0">
                <a:solidFill>
                  <a:srgbClr val="3F4B57"/>
                </a:solidFill>
                <a:latin typeface="IBM Plex Mono"/>
                <a:ea typeface="IBM Plex Mono"/>
                <a:cs typeface="IBM Plex Mono"/>
              </a:defRPr>
            </a:pPr>
            <a:r>
              <a:rPr sz="1500" b="0">
                <a:solidFill>
                  <a:srgbClr val="3F4B57"/>
                </a:solidFill>
                <a:latin typeface="IBM Plex Mono"/>
                <a:ea typeface="IBM Plex Mono"/>
                <a:cs typeface="IBM Plex Mono"/>
              </a:rPr>
              <a:t>y_now_m and y_forward_m</a:t>
            </a:r>
          </a:p>
        </p:txBody>
      </p:sp>
      <p:sp>
        <p:nvSpPr>
          <p:cNvPr id="15" name="lab-3">
            <a:extLst xmlns:a="http://schemas.openxmlformats.org/drawingml/2006/main">
              <a:ext uri="{FF2B5EF4-FFF2-40B4-BE49-F238E27FC236}">
                <a16:creationId xmlns:a16="http://schemas.microsoft.com/office/drawing/2014/main" id="{3BF5705F-74BF-4E44-B4DB-96B332BE7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9625" y="6286500"/>
            <a:ext cx="4095750" cy="838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EF5FD"/>
          </a:solidFill>
          <a:ln xmlns:a="http://schemas.openxmlformats.org/drawingml/2006/main" w="19050">
            <a:solidFill>
              <a:srgbClr val="3E8E45"/>
            </a:solidFill>
            <a:prstDash val="solid"/>
          </a:ln>
        </p:spPr>
      </p:sp>
      <p:sp>
        <p:nvSpPr>
          <p:cNvPr id="16" name="labt-3">
            <a:extLst xmlns:a="http://schemas.openxmlformats.org/drawingml/2006/main">
              <a:ext uri="{FF2B5EF4-FFF2-40B4-BE49-F238E27FC236}">
                <a16:creationId xmlns:a16="http://schemas.microsoft.com/office/drawing/2014/main" id="{84645F5F-672A-4153-9B44-DACB1CC57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6438900"/>
            <a:ext cx="3619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97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1725" b="1">
                <a:solidFill>
                  <a:srgbClr val="3E8E45"/>
                </a:solidFill>
                <a:latin typeface="Nunito"/>
                <a:ea typeface="Nunito"/>
                <a:cs typeface="Nunito"/>
              </a:defRPr>
            </a:pPr>
            <a:r>
              <a:rPr sz="1725" b="1">
                <a:solidFill>
                  <a:srgbClr val="3E8E45"/>
                </a:solidFill>
                <a:latin typeface="Nunito"/>
                <a:ea typeface="Nunito"/>
                <a:cs typeface="Nunito"/>
              </a:rPr>
              <a:t>DIVIDE BY STEP</a:t>
            </a:r>
          </a:p>
        </p:txBody>
      </p:sp>
      <p:sp>
        <p:nvSpPr>
          <p:cNvPr id="17" name="labb-3">
            <a:extLst xmlns:a="http://schemas.openxmlformats.org/drawingml/2006/main">
              <a:ext uri="{FF2B5EF4-FFF2-40B4-BE49-F238E27FC236}">
                <a16:creationId xmlns:a16="http://schemas.microsoft.com/office/drawing/2014/main" id="{CDD9605E-69F2-4711-BD1F-F57F7DA32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6743700"/>
            <a:ext cx="3619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1500" b="0">
                <a:solidFill>
                  <a:srgbClr val="3F4B57"/>
                </a:solidFill>
                <a:latin typeface="IBM Plex Mono"/>
                <a:ea typeface="IBM Plex Mono"/>
                <a:cs typeface="IBM Plex Mono"/>
              </a:defRPr>
            </a:pPr>
            <a:r>
              <a:rPr sz="1500" b="0">
                <a:solidFill>
                  <a:srgbClr val="3F4B57"/>
                </a:solidFill>
                <a:latin typeface="IBM Plex Mono"/>
                <a:ea typeface="IBM Plex Mono"/>
                <a:cs typeface="IBM Plex Mono"/>
              </a:rPr>
              <a:t>./h_s</a:t>
            </a:r>
          </a:p>
        </p:txBody>
      </p:sp>
    </p:spTree>
    <p:extLst>
      <p:ext uri="{BB962C8B-B14F-4D97-AF65-F5344CB8AC3E}">
        <p14:creationId xmlns:p14="http://schemas.microsoft.com/office/powerpoint/2010/main" val="142511361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PHY4605 inherited title treatment">
            <a:extLst xmlns:a="http://schemas.openxmlformats.org/drawingml/2006/main">
              <a:ext uri="{FF2B5EF4-FFF2-40B4-BE49-F238E27FC236}">
                <a16:creationId xmlns:a16="http://schemas.microsoft.com/office/drawing/2014/main" id="{E5405211-304F-4867-9950-EBE24735F5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95375" y="571500"/>
            <a:ext cx="1504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51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51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Smaller steps give a more local estimate</a:t>
            </a:r>
            <a:endParaRPr sz="5100" b="1">
              <a:solidFill>
                <a:srgbClr val="0B2B4C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2" name="PHY4605 inherited subtitle treatment">
            <a:extLst xmlns:a="http://schemas.openxmlformats.org/drawingml/2006/main">
              <a:ext uri="{FF2B5EF4-FFF2-40B4-BE49-F238E27FC236}">
                <a16:creationId xmlns:a16="http://schemas.microsoft.com/office/drawing/2014/main" id="{E91CBA08-DF0A-42D9-BFC9-999ECBC00B6C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xfrm xmlns:a="http://schemas.openxmlformats.org/drawingml/2006/main">
            <a:off x="1095375" y="1447800"/>
            <a:ext cx="1504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25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Read the table and plot together before interpreting the trend</a:t>
            </a:r>
            <a:endParaRPr sz="2250">
              <a:solidFill>
                <a:srgbClr val="3F4B57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3" name="PHY4605 inherited slide-number treatment">
            <a:extLst xmlns:a="http://schemas.openxmlformats.org/drawingml/2006/main">
              <a:ext uri="{FF2B5EF4-FFF2-40B4-BE49-F238E27FC236}">
                <a16:creationId xmlns:a16="http://schemas.microsoft.com/office/drawing/2014/main" id="{F5AF736A-5770-4E67-8962-D97EC015F8E7}"/>
              </a:ext>
            </a:extLst>
          </p:cNvPr>
          <p:cNvSpPr>
            <a:spLocks xmlns:a="http://schemas.openxmlformats.org/drawingml/2006/main" noGrp="1"/>
          </p:cNvSpPr>
          <p:nvPr>
            <p:ph type="sldNum" idx="0"/>
          </p:nvPr>
        </p:nvSpPr>
        <p:spPr>
          <a:xfrm xmlns:a="http://schemas.openxmlformats.org/drawingml/2006/main">
            <a:off x="16802100" y="92964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65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650">
                <a:solidFill>
                  <a:srgbClr val="697684"/>
                </a:solidFill>
                <a:latin typeface="Nunito"/>
                <a:ea typeface="Nunito"/>
                <a:cs typeface="Nunito"/>
              </a:rPr>
              <a:t>9</a:t>
            </a:r>
            <a:endParaRPr sz="1650">
              <a:solidFill>
                <a:srgbClr val="697684"/>
              </a:solidFill>
              <a:latin typeface="Nunito"/>
              <a:ea typeface="Nunito"/>
              <a:cs typeface="Nunito"/>
            </a:endParaRP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1095375" y="2619375"/>
          <a:ext xmlns:a="http://schemas.openxmlformats.org/drawingml/2006/main" cx="9620250" cy="3619500"/>
        </p:xfrm>
        <a:graphic xmlns:a="http://schemas.openxmlformats.org/drawingml/2006/main">
          <a:graphicData uri="http://schemas.openxmlformats.org/drawingml/2006/table">
            <a:tbl>
              <a:tblPr firstRow="0" bandRow="0" bandCol="0"/>
              <a:tblGrid>
                <a:gridCol w="1428750"/>
                <a:gridCol w="3143250"/>
                <a:gridCol w="2667000"/>
                <a:gridCol w="2381250"/>
              </a:tblGrid>
              <a:tr h="723900">
                <a:tc>
                  <a:txBody>
                    <a:bodyPr/>
                    <a:lstStyle/>
                    <a:p>
                      <a:r>
                        <a:t>h (s)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forward estimate (m/s)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absolute error (m/s)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relative error (%)</a:t>
                      </a:r>
                    </a:p>
                  </a:txBody>
                  <a:tcPr marL="91440" marR="91440" marT="45720" marB="45720"/>
                </a:tc>
              </a:tr>
              <a:tr h="723900">
                <a:tc>
                  <a:txBody>
                    <a:bodyPr/>
                    <a:lstStyle/>
                    <a:p>
                      <a:r>
                        <a:t>0.50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7.7375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2.4525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24.0677</a:t>
                      </a:r>
                    </a:p>
                  </a:txBody>
                  <a:tcPr marL="91440" marR="91440" marT="45720" marB="45720"/>
                </a:tc>
              </a:tr>
              <a:tr h="723900">
                <a:tc>
                  <a:txBody>
                    <a:bodyPr/>
                    <a:lstStyle/>
                    <a:p>
                      <a:r>
                        <a:t>0.20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9.2090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0.9810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9.6271</a:t>
                      </a:r>
                    </a:p>
                  </a:txBody>
                  <a:tcPr marL="91440" marR="91440" marT="45720" marB="45720"/>
                </a:tc>
              </a:tr>
              <a:tr h="723900">
                <a:tc>
                  <a:txBody>
                    <a:bodyPr/>
                    <a:lstStyle/>
                    <a:p>
                      <a:r>
                        <a:t>0.10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9.6995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0.4905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4.8135</a:t>
                      </a:r>
                    </a:p>
                  </a:txBody>
                  <a:tcPr marL="91440" marR="91440" marT="45720" marB="45720"/>
                </a:tc>
              </a:tr>
              <a:tr h="723900">
                <a:tc>
                  <a:txBody>
                    <a:bodyPr/>
                    <a:lstStyle/>
                    <a:p>
                      <a:r>
                        <a:t>0.05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9.94475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0.24525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2.4068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f5a9097b28476b"/>
          <a:stretch xmlns:a="http://schemas.openxmlformats.org/drawingml/2006/main"/>
        </p:blipFill>
        <p:spPr>
          <a:xfrm xmlns:a="http://schemas.openxmlformats.org/drawingml/2006/main">
            <a:off x="11144250" y="2476500"/>
            <a:ext cx="5715000" cy="4000500"/>
          </a:xfrm>
          <a:prstGeom xmlns:a="http://schemas.openxmlformats.org/drawingml/2006/main" prst="rect">
            <a:avLst/>
          </a:prstGeom>
        </p:spPr>
      </p:pic>
      <p:sp>
        <p:nvSpPr>
          <p:cNvPr id="6" name="trend">
            <a:extLst xmlns:a="http://schemas.openxmlformats.org/drawingml/2006/main">
              <a:ext uri="{FF2B5EF4-FFF2-40B4-BE49-F238E27FC236}">
                <a16:creationId xmlns:a16="http://schemas.microsoft.com/office/drawing/2014/main" id="{4F1A046D-34EC-45C4-98C2-FA6B361B0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6953250"/>
            <a:ext cx="14859000" cy="876300"/>
          </a:xfrm>
          <a:prstGeom xmlns:a="http://schemas.openxmlformats.org/drawingml/2006/main" prst="roundRect">
            <a:avLst>
              <a:gd name="adj" fmla="val 23913"/>
            </a:avLst>
          </a:prstGeom>
          <a:solidFill xmlns:a="http://schemas.openxmlformats.org/drawingml/2006/main">
            <a:srgbClr val="F0FAF7"/>
          </a:solidFill>
          <a:ln xmlns:a="http://schemas.openxmlformats.org/drawingml/2006/main" w="19050">
            <a:solidFill>
              <a:srgbClr val="3E8E45"/>
            </a:solidFill>
            <a:prstDash val="solid"/>
          </a:ln>
        </p:spPr>
      </p:sp>
      <p:sp>
        <p:nvSpPr>
          <p:cNvPr id="7" name="trend-text">
            <a:extLst xmlns:a="http://schemas.openxmlformats.org/drawingml/2006/main">
              <a:ext uri="{FF2B5EF4-FFF2-40B4-BE49-F238E27FC236}">
                <a16:creationId xmlns:a16="http://schemas.microsoft.com/office/drawing/2014/main" id="{D9C32BD3-E0BE-48EA-B56C-38357773A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7239000"/>
            <a:ext cx="1409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4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2100" b="1">
                <a:solidFill>
                  <a:srgbClr val="3E8E45"/>
                </a:solidFill>
                <a:latin typeface="Nunito"/>
                <a:ea typeface="Nunito"/>
                <a:cs typeface="Nunito"/>
              </a:defRPr>
            </a:pPr>
            <a:r>
              <a:rPr sz="2100" b="1">
                <a:solidFill>
                  <a:srgbClr val="3E8E45"/>
                </a:solidFill>
                <a:latin typeface="Nunito"/>
                <a:ea typeface="Nunito"/>
                <a:cs typeface="Nunito"/>
              </a:rPr>
              <a:t>Over this supplied range, a smaller h makes the secant more local and the measured error smaller</a:t>
            </a:r>
          </a:p>
        </p:txBody>
      </p:sp>
    </p:spTree>
    <p:extLst>
      <p:ext uri="{BB962C8B-B14F-4D97-AF65-F5344CB8AC3E}">
        <p14:creationId xmlns:p14="http://schemas.microsoft.com/office/powerpoint/2010/main" val="51785312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PHY4605 inherited title treatment">
            <a:extLst xmlns:a="http://schemas.openxmlformats.org/drawingml/2006/main">
              <a:ext uri="{FF2B5EF4-FFF2-40B4-BE49-F238E27FC236}">
                <a16:creationId xmlns:a16="http://schemas.microsoft.com/office/drawing/2014/main" id="{E5405211-304F-4867-9950-EBE24735F5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95375" y="571500"/>
            <a:ext cx="1504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51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51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Analytic validation</a:t>
            </a:r>
            <a:endParaRPr sz="5100" b="1">
              <a:solidFill>
                <a:srgbClr val="0B2B4C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2" name="PHY4605 inherited subtitle treatment">
            <a:extLst xmlns:a="http://schemas.openxmlformats.org/drawingml/2006/main">
              <a:ext uri="{FF2B5EF4-FFF2-40B4-BE49-F238E27FC236}">
                <a16:creationId xmlns:a16="http://schemas.microsoft.com/office/drawing/2014/main" id="{E91CBA08-DF0A-42D9-BFC9-999ECBC00B6C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xfrm xmlns:a="http://schemas.openxmlformats.org/drawingml/2006/main">
            <a:off x="1095375" y="1447800"/>
            <a:ext cx="1504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25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Use an independent reference at the same target time</a:t>
            </a:r>
            <a:endParaRPr sz="2250">
              <a:solidFill>
                <a:srgbClr val="3F4B57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3" name="PHY4605 inherited slide-number treatment">
            <a:extLst xmlns:a="http://schemas.openxmlformats.org/drawingml/2006/main">
              <a:ext uri="{FF2B5EF4-FFF2-40B4-BE49-F238E27FC236}">
                <a16:creationId xmlns:a16="http://schemas.microsoft.com/office/drawing/2014/main" id="{F5AF736A-5770-4E67-8962-D97EC015F8E7}"/>
              </a:ext>
            </a:extLst>
          </p:cNvPr>
          <p:cNvSpPr>
            <a:spLocks xmlns:a="http://schemas.openxmlformats.org/drawingml/2006/main" noGrp="1"/>
          </p:cNvSpPr>
          <p:nvPr>
            <p:ph type="sldNum" idx="0"/>
          </p:nvPr>
        </p:nvSpPr>
        <p:spPr>
          <a:xfrm xmlns:a="http://schemas.openxmlformats.org/drawingml/2006/main">
            <a:off x="16802100" y="92964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65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650">
                <a:solidFill>
                  <a:srgbClr val="697684"/>
                </a:solidFill>
                <a:latin typeface="Nunito"/>
                <a:ea typeface="Nunito"/>
                <a:cs typeface="Nunito"/>
              </a:rPr>
              <a:t>10</a:t>
            </a:r>
            <a:endParaRPr sz="1650">
              <a:solidFill>
                <a:srgbClr val="697684"/>
              </a:solidFill>
              <a:latin typeface="Nunito"/>
              <a:ea typeface="Nunito"/>
              <a:cs typeface="Nunito"/>
            </a:endParaRP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b57d3391974e8c"/>
          <a:stretch xmlns:a="http://schemas.openxmlformats.org/drawingml/2006/main"/>
        </p:blipFill>
        <p:spPr>
          <a:xfrm xmlns:a="http://schemas.openxmlformats.org/drawingml/2006/main">
            <a:off x="1905000" y="2667000"/>
            <a:ext cx="6953250" cy="1285875"/>
          </a:xfrm>
          <a:prstGeom xmlns:a="http://schemas.openxmlformats.org/drawingml/2006/main" prst="rect">
            <a:avLst/>
          </a:prstGeom>
        </p:spPr>
      </p:pic>
      <p:sp>
        <p:nvSpPr>
          <p:cNvPr id="5" name="reference">
            <a:extLst xmlns:a="http://schemas.openxmlformats.org/drawingml/2006/main">
              <a:ext uri="{FF2B5EF4-FFF2-40B4-BE49-F238E27FC236}">
                <a16:creationId xmlns:a16="http://schemas.microsoft.com/office/drawing/2014/main" id="{D951A524-AAD0-4A1A-BD04-89DC16970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19375"/>
            <a:ext cx="5143500" cy="1714500"/>
          </a:xfrm>
          <a:prstGeom xmlns:a="http://schemas.openxmlformats.org/drawingml/2006/main" prst="roundRect">
            <a:avLst>
              <a:gd name="adj" fmla="val 12222"/>
            </a:avLst>
          </a:prstGeom>
          <a:solidFill xmlns:a="http://schemas.openxmlformats.org/drawingml/2006/main">
            <a:srgbClr val="F0FAF7"/>
          </a:solidFill>
          <a:ln xmlns:a="http://schemas.openxmlformats.org/drawingml/2006/main" w="19050">
            <a:solidFill>
              <a:srgbClr val="3E8E45"/>
            </a:solidFill>
            <a:prstDash val="solid"/>
          </a:ln>
        </p:spPr>
      </p:sp>
      <p:sp>
        <p:nvSpPr>
          <p:cNvPr id="6" name="ref-title">
            <a:extLst xmlns:a="http://schemas.openxmlformats.org/drawingml/2006/main">
              <a:ext uri="{FF2B5EF4-FFF2-40B4-BE49-F238E27FC236}">
                <a16:creationId xmlns:a16="http://schemas.microsoft.com/office/drawing/2014/main" id="{B701CC76-22EC-4278-97A8-22305D015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000375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2175" b="1">
                <a:solidFill>
                  <a:srgbClr val="3E8E45"/>
                </a:solidFill>
                <a:latin typeface="Nunito"/>
                <a:ea typeface="Nunito"/>
                <a:cs typeface="Nunito"/>
              </a:defRPr>
            </a:pPr>
            <a:r>
              <a:rPr sz="2175" b="1">
                <a:solidFill>
                  <a:srgbClr val="3E8E45"/>
                </a:solidFill>
                <a:latin typeface="Nunito"/>
                <a:ea typeface="Nunito"/>
                <a:cs typeface="Nunito"/>
              </a:rPr>
              <a:t>reference at t₀ = 1.0 s</a:t>
            </a:r>
          </a:p>
        </p:txBody>
      </p:sp>
      <p:sp>
        <p:nvSpPr>
          <p:cNvPr id="7" name="ref-value">
            <a:extLst xmlns:a="http://schemas.openxmlformats.org/drawingml/2006/main">
              <a:ext uri="{FF2B5EF4-FFF2-40B4-BE49-F238E27FC236}">
                <a16:creationId xmlns:a16="http://schemas.microsoft.com/office/drawing/2014/main" id="{D9E8CC0C-778E-4DAF-9C02-685577F9D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571875"/>
            <a:ext cx="457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315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315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10.19 m/s</a:t>
            </a:r>
          </a:p>
        </p:txBody>
      </p:sp>
      <p:sp>
        <p:nvSpPr>
          <p:cNvPr id="8" name="check-arrow">
            <a:extLst xmlns:a="http://schemas.openxmlformats.org/drawingml/2006/main">
              <a:ext uri="{FF2B5EF4-FFF2-40B4-BE49-F238E27FC236}">
                <a16:creationId xmlns:a16="http://schemas.microsoft.com/office/drawing/2014/main" id="{C31B9A94-07FF-4954-B198-FA24CC6C7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143500"/>
            <a:ext cx="2095500" cy="5238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AB4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num">
            <a:extLst xmlns:a="http://schemas.openxmlformats.org/drawingml/2006/main">
              <a:ext uri="{FF2B5EF4-FFF2-40B4-BE49-F238E27FC236}">
                <a16:creationId xmlns:a16="http://schemas.microsoft.com/office/drawing/2014/main" id="{3ED2AFC7-95D0-4710-A598-32FC24D17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715000"/>
            <a:ext cx="4953000" cy="1524000"/>
          </a:xfrm>
          <a:prstGeom xmlns:a="http://schemas.openxmlformats.org/drawingml/2006/main" prst="roundRect">
            <a:avLst>
              <a:gd name="adj" fmla="val 13750"/>
            </a:avLst>
          </a:prstGeom>
          <a:solidFill xmlns:a="http://schemas.openxmlformats.org/drawingml/2006/main">
            <a:srgbClr val="EEF5FD"/>
          </a:solidFill>
          <a:ln xmlns:a="http://schemas.openxmlformats.org/drawingml/2006/main" w="19050">
            <a:solidFill>
              <a:srgbClr val="2F6DB2"/>
            </a:solidFill>
            <a:prstDash val="solid"/>
          </a:ln>
        </p:spPr>
      </p:sp>
      <p:sp>
        <p:nvSpPr>
          <p:cNvPr id="10" name="num-title">
            <a:extLst xmlns:a="http://schemas.openxmlformats.org/drawingml/2006/main">
              <a:ext uri="{FF2B5EF4-FFF2-40B4-BE49-F238E27FC236}">
                <a16:creationId xmlns:a16="http://schemas.microsoft.com/office/drawing/2014/main" id="{924CED08-7E03-48B9-8EA4-FDCA02322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6048375"/>
            <a:ext cx="419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2100" b="1">
                <a:solidFill>
                  <a:srgbClr val="2F6DB2"/>
                </a:solidFill>
                <a:latin typeface="Nunito"/>
                <a:ea typeface="Nunito"/>
                <a:cs typeface="Nunito"/>
              </a:defRPr>
            </a:pPr>
            <a:r>
              <a:rPr sz="2100" b="1">
                <a:solidFill>
                  <a:srgbClr val="2F6DB2"/>
                </a:solidFill>
                <a:latin typeface="Nunito"/>
                <a:ea typeface="Nunito"/>
                <a:cs typeface="Nunito"/>
              </a:rPr>
              <a:t>smallest supplied h</a:t>
            </a:r>
          </a:p>
        </p:txBody>
      </p:sp>
      <p:sp>
        <p:nvSpPr>
          <p:cNvPr id="11" name="num-value">
            <a:extLst xmlns:a="http://schemas.openxmlformats.org/drawingml/2006/main">
              <a:ext uri="{FF2B5EF4-FFF2-40B4-BE49-F238E27FC236}">
                <a16:creationId xmlns:a16="http://schemas.microsoft.com/office/drawing/2014/main" id="{16D7D2EF-ECC9-4D5D-B656-F93DE466C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657225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94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255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55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9.94475 m/s</a:t>
            </a:r>
          </a:p>
        </p:txBody>
      </p:sp>
      <p:sp>
        <p:nvSpPr>
          <p:cNvPr id="12" name="validation">
            <a:extLst xmlns:a="http://schemas.openxmlformats.org/drawingml/2006/main">
              <a:ext uri="{FF2B5EF4-FFF2-40B4-BE49-F238E27FC236}">
                <a16:creationId xmlns:a16="http://schemas.microsoft.com/office/drawing/2014/main" id="{D8A30E14-E673-4024-8516-1ED37A1B1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715000"/>
            <a:ext cx="5524500" cy="1524000"/>
          </a:xfrm>
          <a:prstGeom xmlns:a="http://schemas.openxmlformats.org/drawingml/2006/main" prst="roundRect">
            <a:avLst>
              <a:gd name="adj" fmla="val 13750"/>
            </a:avLst>
          </a:prstGeom>
          <a:solidFill xmlns:a="http://schemas.openxmlformats.org/drawingml/2006/main">
            <a:srgbClr val="F0FAF7"/>
          </a:solidFill>
          <a:ln xmlns:a="http://schemas.openxmlformats.org/drawingml/2006/main" w="19050">
            <a:solidFill>
              <a:srgbClr val="3E8E45"/>
            </a:solidFill>
            <a:prstDash val="solid"/>
          </a:ln>
        </p:spPr>
      </p:sp>
      <p:sp>
        <p:nvSpPr>
          <p:cNvPr id="13" name="valid-title">
            <a:extLst xmlns:a="http://schemas.openxmlformats.org/drawingml/2006/main">
              <a:ext uri="{FF2B5EF4-FFF2-40B4-BE49-F238E27FC236}">
                <a16:creationId xmlns:a16="http://schemas.microsoft.com/office/drawing/2014/main" id="{B44020F7-37DE-457C-AA79-461CF2C17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048375"/>
            <a:ext cx="476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2100" b="1">
                <a:solidFill>
                  <a:srgbClr val="3E8E45"/>
                </a:solidFill>
                <a:latin typeface="Nunito"/>
                <a:ea typeface="Nunito"/>
                <a:cs typeface="Nunito"/>
              </a:defRPr>
            </a:pPr>
            <a:r>
              <a:rPr sz="2100" b="1">
                <a:solidFill>
                  <a:srgbClr val="3E8E45"/>
                </a:solidFill>
                <a:latin typeface="Nunito"/>
                <a:ea typeface="Nunito"/>
                <a:cs typeface="Nunito"/>
              </a:rPr>
              <a:t>validation statement</a:t>
            </a:r>
          </a:p>
        </p:txBody>
      </p:sp>
      <p:sp>
        <p:nvSpPr>
          <p:cNvPr id="14" name="valid-value">
            <a:extLst xmlns:a="http://schemas.openxmlformats.org/drawingml/2006/main">
              <a:ext uri="{FF2B5EF4-FFF2-40B4-BE49-F238E27FC236}">
                <a16:creationId xmlns:a16="http://schemas.microsoft.com/office/drawing/2014/main" id="{B6C8F184-1320-48B5-8313-C9CAF0012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722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225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25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positive and close to the reference</a:t>
            </a:r>
          </a:p>
        </p:txBody>
      </p:sp>
    </p:spTree>
    <p:extLst>
      <p:ext uri="{BB962C8B-B14F-4D97-AF65-F5344CB8AC3E}">
        <p14:creationId xmlns:p14="http://schemas.microsoft.com/office/powerpoint/2010/main" val="175243680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Y4605 inherited title treatment">
            <a:extLst xmlns:a="http://schemas.openxmlformats.org/drawingml/2006/main">
              <a:ext uri="{FF2B5EF4-FFF2-40B4-BE49-F238E27FC236}">
                <a16:creationId xmlns:a16="http://schemas.microsoft.com/office/drawing/2014/main" id="{E5405211-304F-4867-9950-EBE24735F5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95375" y="571500"/>
            <a:ext cx="1504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51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51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Simple error with a physical unit</a:t>
            </a:r>
            <a:endParaRPr sz="5100" b="1">
              <a:solidFill>
                <a:srgbClr val="0B2B4C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2" name="PHY4605 inherited subtitle treatment">
            <a:extLst xmlns:a="http://schemas.openxmlformats.org/drawingml/2006/main">
              <a:ext uri="{FF2B5EF4-FFF2-40B4-BE49-F238E27FC236}">
                <a16:creationId xmlns:a16="http://schemas.microsoft.com/office/drawing/2014/main" id="{E91CBA08-DF0A-42D9-BFC9-999ECBC00B6C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xfrm xmlns:a="http://schemas.openxmlformats.org/drawingml/2006/main">
            <a:off x="1095375" y="1447800"/>
            <a:ext cx="1504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25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Absolute error keeps m/s; relative error reports a percentage</a:t>
            </a:r>
            <a:endParaRPr sz="2250">
              <a:solidFill>
                <a:srgbClr val="3F4B57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3" name="PHY4605 inherited slide-number treatment">
            <a:extLst xmlns:a="http://schemas.openxmlformats.org/drawingml/2006/main">
              <a:ext uri="{FF2B5EF4-FFF2-40B4-BE49-F238E27FC236}">
                <a16:creationId xmlns:a16="http://schemas.microsoft.com/office/drawing/2014/main" id="{F5AF736A-5770-4E67-8962-D97EC015F8E7}"/>
              </a:ext>
            </a:extLst>
          </p:cNvPr>
          <p:cNvSpPr>
            <a:spLocks xmlns:a="http://schemas.openxmlformats.org/drawingml/2006/main" noGrp="1"/>
          </p:cNvSpPr>
          <p:nvPr>
            <p:ph type="sldNum" idx="0"/>
          </p:nvPr>
        </p:nvSpPr>
        <p:spPr>
          <a:xfrm xmlns:a="http://schemas.openxmlformats.org/drawingml/2006/main">
            <a:off x="16802100" y="92964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65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650">
                <a:solidFill>
                  <a:srgbClr val="697684"/>
                </a:solidFill>
                <a:latin typeface="Nunito"/>
                <a:ea typeface="Nunito"/>
                <a:cs typeface="Nunito"/>
              </a:rPr>
              <a:t>11</a:t>
            </a:r>
            <a:endParaRPr sz="1650">
              <a:solidFill>
                <a:srgbClr val="697684"/>
              </a:solidFill>
              <a:latin typeface="Nunito"/>
              <a:ea typeface="Nunito"/>
              <a:cs typeface="Nunito"/>
            </a:endParaRP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4ed60b720d4b28"/>
          <a:stretch xmlns:a="http://schemas.openxmlformats.org/drawingml/2006/main"/>
        </p:blipFill>
        <p:spPr>
          <a:xfrm xmlns:a="http://schemas.openxmlformats.org/drawingml/2006/main">
            <a:off x="1381125" y="2714625"/>
            <a:ext cx="7620000" cy="1238250"/>
          </a:xfrm>
          <a:prstGeom xmlns:a="http://schemas.openxmlformats.org/drawingml/2006/main" prst="rect">
            <a:avLst/>
          </a:prstGeom>
        </p:spPr>
      </p:pic>
      <p:sp>
        <p:nvSpPr>
          <p:cNvPr id="5" name="abs">
            <a:extLst xmlns:a="http://schemas.openxmlformats.org/drawingml/2006/main">
              <a:ext uri="{FF2B5EF4-FFF2-40B4-BE49-F238E27FC236}">
                <a16:creationId xmlns:a16="http://schemas.microsoft.com/office/drawing/2014/main" id="{4F6274D5-0702-44F3-86C8-359BBAF2C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62500"/>
            <a:ext cx="5715000" cy="2095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EF5FD"/>
          </a:solidFill>
          <a:ln xmlns:a="http://schemas.openxmlformats.org/drawingml/2006/main" w="19050">
            <a:solidFill>
              <a:srgbClr val="2F6DB2"/>
            </a:solidFill>
            <a:prstDash val="solid"/>
          </a:ln>
        </p:spPr>
      </p:sp>
      <p:sp>
        <p:nvSpPr>
          <p:cNvPr id="6" name="abs-head">
            <a:extLst xmlns:a="http://schemas.openxmlformats.org/drawingml/2006/main">
              <a:ext uri="{FF2B5EF4-FFF2-40B4-BE49-F238E27FC236}">
                <a16:creationId xmlns:a16="http://schemas.microsoft.com/office/drawing/2014/main" id="{C3535095-C3D7-4CCD-A4AB-4DF639EA1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1435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17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2325" b="1">
                <a:solidFill>
                  <a:srgbClr val="2F6DB2"/>
                </a:solidFill>
                <a:latin typeface="Nunito"/>
                <a:ea typeface="Nunito"/>
                <a:cs typeface="Nunito"/>
              </a:defRPr>
            </a:pPr>
            <a:r>
              <a:rPr sz="2325" b="1">
                <a:solidFill>
                  <a:srgbClr val="2F6DB2"/>
                </a:solidFill>
                <a:latin typeface="Nunito"/>
                <a:ea typeface="Nunito"/>
                <a:cs typeface="Nunito"/>
              </a:rPr>
              <a:t>At h = 0.05 s</a:t>
            </a:r>
          </a:p>
        </p:txBody>
      </p:sp>
      <p:sp>
        <p:nvSpPr>
          <p:cNvPr id="7" name="abs-val">
            <a:extLst xmlns:a="http://schemas.openxmlformats.org/drawingml/2006/main">
              <a:ext uri="{FF2B5EF4-FFF2-40B4-BE49-F238E27FC236}">
                <a16:creationId xmlns:a16="http://schemas.microsoft.com/office/drawing/2014/main" id="{AED2752B-933B-4D61-B942-DA3026E81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71500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3075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3075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0.24525 m/s</a:t>
            </a:r>
          </a:p>
        </p:txBody>
      </p:sp>
      <p:sp>
        <p:nvSpPr>
          <p:cNvPr id="8" name="rel">
            <a:extLst xmlns:a="http://schemas.openxmlformats.org/drawingml/2006/main">
              <a:ext uri="{FF2B5EF4-FFF2-40B4-BE49-F238E27FC236}">
                <a16:creationId xmlns:a16="http://schemas.microsoft.com/office/drawing/2014/main" id="{5B431EC7-A940-45CA-A4DA-8A11ABD2C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762500"/>
            <a:ext cx="5715000" cy="2095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19050">
            <a:solidFill>
              <a:srgbClr val="C98A16"/>
            </a:solidFill>
            <a:prstDash val="solid"/>
          </a:ln>
        </p:spPr>
      </p:sp>
      <p:sp>
        <p:nvSpPr>
          <p:cNvPr id="9" name="rel-head">
            <a:extLst xmlns:a="http://schemas.openxmlformats.org/drawingml/2006/main">
              <a:ext uri="{FF2B5EF4-FFF2-40B4-BE49-F238E27FC236}">
                <a16:creationId xmlns:a16="http://schemas.microsoft.com/office/drawing/2014/main" id="{97E10A5A-9A7B-4DBF-BD9D-9E16EA6E4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1435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17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2325" b="1">
                <a:solidFill>
                  <a:srgbClr val="C98A16"/>
                </a:solidFill>
                <a:latin typeface="Nunito"/>
                <a:ea typeface="Nunito"/>
                <a:cs typeface="Nunito"/>
              </a:defRPr>
            </a:pPr>
            <a:r>
              <a:rPr sz="2325" b="1">
                <a:solidFill>
                  <a:srgbClr val="C98A16"/>
                </a:solidFill>
                <a:latin typeface="Nunito"/>
                <a:ea typeface="Nunito"/>
                <a:cs typeface="Nunito"/>
              </a:rPr>
              <a:t>Relative error</a:t>
            </a:r>
          </a:p>
        </p:txBody>
      </p:sp>
      <p:sp>
        <p:nvSpPr>
          <p:cNvPr id="10" name="rel-val">
            <a:extLst xmlns:a="http://schemas.openxmlformats.org/drawingml/2006/main">
              <a:ext uri="{FF2B5EF4-FFF2-40B4-BE49-F238E27FC236}">
                <a16:creationId xmlns:a16="http://schemas.microsoft.com/office/drawing/2014/main" id="{32CA1B01-C13B-4CBA-900F-7289E1C3A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71500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3075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3075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2.4068%</a:t>
            </a:r>
          </a:p>
        </p:txBody>
      </p:sp>
      <p:sp>
        <p:nvSpPr>
          <p:cNvPr id="11" name="warning">
            <a:extLst xmlns:a="http://schemas.openxmlformats.org/drawingml/2006/main">
              <a:ext uri="{FF2B5EF4-FFF2-40B4-BE49-F238E27FC236}">
                <a16:creationId xmlns:a16="http://schemas.microsoft.com/office/drawing/2014/main" id="{D54150CF-6B17-4CF9-B06E-88BFB2988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7620000"/>
            <a:ext cx="1485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2175" b="1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175" b="1">
                <a:solidFill>
                  <a:srgbClr val="3F4B57"/>
                </a:solidFill>
                <a:latin typeface="Nunito"/>
                <a:ea typeface="Nunito"/>
                <a:cs typeface="Nunito"/>
              </a:rPr>
              <a:t>State which estimate and reference you compared</a:t>
            </a:r>
          </a:p>
        </p:txBody>
      </p:sp>
    </p:spTree>
    <p:extLst>
      <p:ext uri="{BB962C8B-B14F-4D97-AF65-F5344CB8AC3E}">
        <p14:creationId xmlns:p14="http://schemas.microsoft.com/office/powerpoint/2010/main" val="147189126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PHY4605 inherited title treatment">
            <a:extLst xmlns:a="http://schemas.openxmlformats.org/drawingml/2006/main">
              <a:ext uri="{FF2B5EF4-FFF2-40B4-BE49-F238E27FC236}">
                <a16:creationId xmlns:a16="http://schemas.microsoft.com/office/drawing/2014/main" id="{E5405211-304F-4867-9950-EBE24735F5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95375" y="571500"/>
            <a:ext cx="1504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51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51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A finite secant approximates a local tangent</a:t>
            </a:r>
            <a:endParaRPr sz="5100" b="1">
              <a:solidFill>
                <a:srgbClr val="0B2B4C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2" name="PHY4605 inherited subtitle treatment">
            <a:extLst xmlns:a="http://schemas.openxmlformats.org/drawingml/2006/main">
              <a:ext uri="{FF2B5EF4-FFF2-40B4-BE49-F238E27FC236}">
                <a16:creationId xmlns:a16="http://schemas.microsoft.com/office/drawing/2014/main" id="{E91CBA08-DF0A-42D9-BFC9-999ECBC00B6C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xfrm xmlns:a="http://schemas.openxmlformats.org/drawingml/2006/main">
            <a:off x="1095375" y="1447800"/>
            <a:ext cx="1504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25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Forward difference uses an interval h, so it estimates rather than reproduces the derivative</a:t>
            </a:r>
            <a:endParaRPr sz="2250">
              <a:solidFill>
                <a:srgbClr val="3F4B57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3" name="PHY4605 inherited slide-number treatment">
            <a:extLst xmlns:a="http://schemas.openxmlformats.org/drawingml/2006/main">
              <a:ext uri="{FF2B5EF4-FFF2-40B4-BE49-F238E27FC236}">
                <a16:creationId xmlns:a16="http://schemas.microsoft.com/office/drawing/2014/main" id="{F5AF736A-5770-4E67-8962-D97EC015F8E7}"/>
              </a:ext>
            </a:extLst>
          </p:cNvPr>
          <p:cNvSpPr>
            <a:spLocks xmlns:a="http://schemas.openxmlformats.org/drawingml/2006/main" noGrp="1"/>
          </p:cNvSpPr>
          <p:nvPr>
            <p:ph type="sldNum" idx="0"/>
          </p:nvPr>
        </p:nvSpPr>
        <p:spPr>
          <a:xfrm xmlns:a="http://schemas.openxmlformats.org/drawingml/2006/main">
            <a:off x="16802100" y="92964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65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650">
                <a:solidFill>
                  <a:srgbClr val="697684"/>
                </a:solidFill>
                <a:latin typeface="Nunito"/>
                <a:ea typeface="Nunito"/>
                <a:cs typeface="Nunito"/>
              </a:rPr>
              <a:t>12</a:t>
            </a:r>
            <a:endParaRPr sz="1650">
              <a:solidFill>
                <a:srgbClr val="697684"/>
              </a:solidFill>
              <a:latin typeface="Nunito"/>
              <a:ea typeface="Nunito"/>
              <a:cs typeface="Nunito"/>
            </a:endParaRP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03721d10434d34"/>
          <a:stretch xmlns:a="http://schemas.openxmlformats.org/drawingml/2006/main"/>
        </p:blipFill>
        <p:spPr>
          <a:xfrm xmlns:a="http://schemas.openxmlformats.org/drawingml/2006/main">
            <a:off x="1714500" y="2571750"/>
            <a:ext cx="7048500" cy="4857750"/>
          </a:xfrm>
          <a:prstGeom xmlns:a="http://schemas.openxmlformats.org/drawingml/2006/main" prst="rect">
            <a:avLst/>
          </a:prstGeom>
        </p:spPr>
      </p:pic>
      <p:sp>
        <p:nvSpPr>
          <p:cNvPr id="5" name="reason-0">
            <a:extLst xmlns:a="http://schemas.openxmlformats.org/drawingml/2006/main">
              <a:ext uri="{FF2B5EF4-FFF2-40B4-BE49-F238E27FC236}">
                <a16:creationId xmlns:a16="http://schemas.microsoft.com/office/drawing/2014/main" id="{D55C18BD-8585-4D09-9F5C-ED363BDC5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905125"/>
            <a:ext cx="5524500" cy="1000125"/>
          </a:xfrm>
          <a:prstGeom xmlns:a="http://schemas.openxmlformats.org/drawingml/2006/main" prst="roundRect">
            <a:avLst>
              <a:gd name="adj" fmla="val 20952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19050">
            <a:solidFill>
              <a:srgbClr val="C98A16"/>
            </a:solidFill>
            <a:prstDash val="solid"/>
          </a:ln>
        </p:spPr>
      </p:sp>
      <p:sp>
        <p:nvSpPr>
          <p:cNvPr id="6" name="reason-h-0">
            <a:extLst xmlns:a="http://schemas.openxmlformats.org/drawingml/2006/main">
              <a:ext uri="{FF2B5EF4-FFF2-40B4-BE49-F238E27FC236}">
                <a16:creationId xmlns:a16="http://schemas.microsoft.com/office/drawing/2014/main" id="{BE19B2A6-1402-4A69-BC6A-ED6A178FD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095625"/>
            <a:ext cx="171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64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2175" b="1">
                <a:solidFill>
                  <a:srgbClr val="C98A16"/>
                </a:solidFill>
                <a:latin typeface="Nunito"/>
                <a:ea typeface="Nunito"/>
                <a:cs typeface="Nunito"/>
              </a:defRPr>
            </a:pPr>
            <a:r>
              <a:rPr sz="2175" b="1">
                <a:solidFill>
                  <a:srgbClr val="C98A16"/>
                </a:solidFill>
                <a:latin typeface="Nunito"/>
                <a:ea typeface="Nunito"/>
                <a:cs typeface="Nunito"/>
              </a:rPr>
              <a:t>coarse h</a:t>
            </a:r>
          </a:p>
        </p:txBody>
      </p:sp>
      <p:sp>
        <p:nvSpPr>
          <p:cNvPr id="7" name="reason-b-0">
            <a:extLst xmlns:a="http://schemas.openxmlformats.org/drawingml/2006/main">
              <a:ext uri="{FF2B5EF4-FFF2-40B4-BE49-F238E27FC236}">
                <a16:creationId xmlns:a16="http://schemas.microsoft.com/office/drawing/2014/main" id="{60466144-0C21-4BEB-8992-4E007B274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0125" y="3076575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21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875" b="1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75" b="1">
                <a:solidFill>
                  <a:srgbClr val="3F4B57"/>
                </a:solidFill>
                <a:latin typeface="Nunito"/>
                <a:ea typeface="Nunito"/>
                <a:cs typeface="Nunito"/>
              </a:rPr>
              <a:t>secant spans a larger interval</a:t>
            </a:r>
          </a:p>
        </p:txBody>
      </p:sp>
      <p:sp>
        <p:nvSpPr>
          <p:cNvPr id="8" name="reason-1">
            <a:extLst xmlns:a="http://schemas.openxmlformats.org/drawingml/2006/main">
              <a:ext uri="{FF2B5EF4-FFF2-40B4-BE49-F238E27FC236}">
                <a16:creationId xmlns:a16="http://schemas.microsoft.com/office/drawing/2014/main" id="{77B3154B-91EC-474D-82EF-B8CC5A53B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333875"/>
            <a:ext cx="5524500" cy="1000125"/>
          </a:xfrm>
          <a:prstGeom xmlns:a="http://schemas.openxmlformats.org/drawingml/2006/main" prst="roundRect">
            <a:avLst>
              <a:gd name="adj" fmla="val 20952"/>
            </a:avLst>
          </a:prstGeom>
          <a:solidFill xmlns:a="http://schemas.openxmlformats.org/drawingml/2006/main">
            <a:srgbClr val="EEF5FD"/>
          </a:solidFill>
          <a:ln xmlns:a="http://schemas.openxmlformats.org/drawingml/2006/main" w="19050">
            <a:solidFill>
              <a:srgbClr val="2F6DB2"/>
            </a:solidFill>
            <a:prstDash val="solid"/>
          </a:ln>
        </p:spPr>
      </p:sp>
      <p:sp>
        <p:nvSpPr>
          <p:cNvPr id="9" name="reason-h-1">
            <a:extLst xmlns:a="http://schemas.openxmlformats.org/drawingml/2006/main">
              <a:ext uri="{FF2B5EF4-FFF2-40B4-BE49-F238E27FC236}">
                <a16:creationId xmlns:a16="http://schemas.microsoft.com/office/drawing/2014/main" id="{CAC0ABE1-3371-4E29-926E-C6DDACB5B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524375"/>
            <a:ext cx="171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64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2175" b="1">
                <a:solidFill>
                  <a:srgbClr val="2F6DB2"/>
                </a:solidFill>
                <a:latin typeface="Nunito"/>
                <a:ea typeface="Nunito"/>
                <a:cs typeface="Nunito"/>
              </a:defRPr>
            </a:pPr>
            <a:r>
              <a:rPr sz="2175" b="1">
                <a:solidFill>
                  <a:srgbClr val="2F6DB2"/>
                </a:solidFill>
                <a:latin typeface="Nunito"/>
                <a:ea typeface="Nunito"/>
                <a:cs typeface="Nunito"/>
              </a:rPr>
              <a:t>smaller h</a:t>
            </a:r>
          </a:p>
        </p:txBody>
      </p:sp>
      <p:sp>
        <p:nvSpPr>
          <p:cNvPr id="10" name="reason-b-1">
            <a:extLst xmlns:a="http://schemas.openxmlformats.org/drawingml/2006/main">
              <a:ext uri="{FF2B5EF4-FFF2-40B4-BE49-F238E27FC236}">
                <a16:creationId xmlns:a16="http://schemas.microsoft.com/office/drawing/2014/main" id="{A89DA928-5811-4122-8AFD-C1788D4C0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0125" y="4505325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875" b="1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75" b="1">
                <a:solidFill>
                  <a:srgbClr val="3F4B57"/>
                </a:solidFill>
                <a:latin typeface="Nunito"/>
                <a:ea typeface="Nunito"/>
                <a:cs typeface="Nunito"/>
              </a:rPr>
              <a:t>secant samples closer to t₀</a:t>
            </a:r>
          </a:p>
        </p:txBody>
      </p:sp>
      <p:sp>
        <p:nvSpPr>
          <p:cNvPr id="11" name="reason-2">
            <a:extLst xmlns:a="http://schemas.openxmlformats.org/drawingml/2006/main">
              <a:ext uri="{FF2B5EF4-FFF2-40B4-BE49-F238E27FC236}">
                <a16:creationId xmlns:a16="http://schemas.microsoft.com/office/drawing/2014/main" id="{9D6F3E29-A306-4105-9F22-828B3D491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762625"/>
            <a:ext cx="5524500" cy="1000125"/>
          </a:xfrm>
          <a:prstGeom xmlns:a="http://schemas.openxmlformats.org/drawingml/2006/main" prst="roundRect">
            <a:avLst>
              <a:gd name="adj" fmla="val 20952"/>
            </a:avLst>
          </a:prstGeom>
          <a:solidFill xmlns:a="http://schemas.openxmlformats.org/drawingml/2006/main">
            <a:srgbClr val="F0FAF7"/>
          </a:solidFill>
          <a:ln xmlns:a="http://schemas.openxmlformats.org/drawingml/2006/main" w="19050">
            <a:solidFill>
              <a:srgbClr val="2A9D9F"/>
            </a:solidFill>
            <a:prstDash val="solid"/>
          </a:ln>
        </p:spPr>
      </p:sp>
      <p:sp>
        <p:nvSpPr>
          <p:cNvPr id="12" name="reason-h-2">
            <a:extLst xmlns:a="http://schemas.openxmlformats.org/drawingml/2006/main">
              <a:ext uri="{FF2B5EF4-FFF2-40B4-BE49-F238E27FC236}">
                <a16:creationId xmlns:a16="http://schemas.microsoft.com/office/drawing/2014/main" id="{C8273FE9-9CB0-48EE-8010-2818BBEBD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953125"/>
            <a:ext cx="171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64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2175" b="1">
                <a:solidFill>
                  <a:srgbClr val="2A9D9F"/>
                </a:solidFill>
                <a:latin typeface="Nunito"/>
                <a:ea typeface="Nunito"/>
                <a:cs typeface="Nunito"/>
              </a:defRPr>
            </a:pPr>
            <a:r>
              <a:rPr sz="2175" b="1">
                <a:solidFill>
                  <a:srgbClr val="2A9D9F"/>
                </a:solidFill>
                <a:latin typeface="Nunito"/>
                <a:ea typeface="Nunito"/>
                <a:cs typeface="Nunito"/>
              </a:rPr>
              <a:t>derivative</a:t>
            </a:r>
          </a:p>
        </p:txBody>
      </p:sp>
      <p:sp>
        <p:nvSpPr>
          <p:cNvPr id="13" name="reason-b-2">
            <a:extLst xmlns:a="http://schemas.openxmlformats.org/drawingml/2006/main">
              <a:ext uri="{FF2B5EF4-FFF2-40B4-BE49-F238E27FC236}">
                <a16:creationId xmlns:a16="http://schemas.microsoft.com/office/drawing/2014/main" id="{707EC070-DCA4-425C-BA5D-89337626C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0125" y="5934075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875" b="1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75" b="1">
                <a:solidFill>
                  <a:srgbClr val="3F4B57"/>
                </a:solidFill>
                <a:latin typeface="Nunito"/>
                <a:ea typeface="Nunito"/>
                <a:cs typeface="Nunito"/>
              </a:rPr>
              <a:t>tangent rate at t₀</a:t>
            </a:r>
          </a:p>
        </p:txBody>
      </p:sp>
    </p:spTree>
    <p:extLst>
      <p:ext uri="{BB962C8B-B14F-4D97-AF65-F5344CB8AC3E}">
        <p14:creationId xmlns:p14="http://schemas.microsoft.com/office/powerpoint/2010/main" val="59552722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Y4605 inherited title treatment">
            <a:extLst xmlns:a="http://schemas.openxmlformats.org/drawingml/2006/main">
              <a:ext uri="{FF2B5EF4-FFF2-40B4-BE49-F238E27FC236}">
                <a16:creationId xmlns:a16="http://schemas.microsoft.com/office/drawing/2014/main" id="{93A0124C-861E-4B0E-B42C-B0A3D3A0F5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95375" y="571500"/>
            <a:ext cx="1504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591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465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465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Working exposure: central difference and error behaviour</a:t>
            </a:r>
            <a:endParaRPr sz="4650" b="1">
              <a:solidFill>
                <a:srgbClr val="0B2B4C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2" name="PHY4605 inherited subtitle treatment">
            <a:extLst xmlns:a="http://schemas.openxmlformats.org/drawingml/2006/main">
              <a:ext uri="{FF2B5EF4-FFF2-40B4-BE49-F238E27FC236}">
                <a16:creationId xmlns:a16="http://schemas.microsoft.com/office/drawing/2014/main" id="{0E94849A-DD89-41DC-AE6A-0A98E68189EA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xfrm xmlns:a="http://schemas.openxmlformats.org/drawingml/2006/main">
            <a:off x="1095375" y="1447800"/>
            <a:ext cx="1504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25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Interpret supplied evidence only; no independent central-difference implementation is required</a:t>
            </a:r>
            <a:endParaRPr sz="2250">
              <a:solidFill>
                <a:srgbClr val="3F4B57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3" name="PHY4605 inherited slide-number treatment">
            <a:extLst xmlns:a="http://schemas.openxmlformats.org/drawingml/2006/main">
              <a:ext uri="{FF2B5EF4-FFF2-40B4-BE49-F238E27FC236}">
                <a16:creationId xmlns:a16="http://schemas.microsoft.com/office/drawing/2014/main" id="{C08CD88F-81F9-456E-990C-91CE8FCF9EAF}"/>
              </a:ext>
            </a:extLst>
          </p:cNvPr>
          <p:cNvSpPr>
            <a:spLocks xmlns:a="http://schemas.openxmlformats.org/drawingml/2006/main" noGrp="1"/>
          </p:cNvSpPr>
          <p:nvPr>
            <p:ph type="sldNum" idx="0"/>
          </p:nvPr>
        </p:nvSpPr>
        <p:spPr>
          <a:xfrm xmlns:a="http://schemas.openxmlformats.org/drawingml/2006/main">
            <a:off x="16802100" y="92964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65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650">
                <a:solidFill>
                  <a:srgbClr val="697684"/>
                </a:solidFill>
                <a:latin typeface="Nunito"/>
                <a:ea typeface="Nunito"/>
                <a:cs typeface="Nunito"/>
              </a:rPr>
              <a:t>13</a:t>
            </a:r>
            <a:endParaRPr sz="1650">
              <a:solidFill>
                <a:srgbClr val="697684"/>
              </a:solidFill>
              <a:latin typeface="Nunito"/>
              <a:ea typeface="Nunito"/>
              <a:cs typeface="Nunito"/>
            </a:endParaRP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a4a239ef7549a9"/>
          <a:stretch xmlns:a="http://schemas.openxmlformats.org/drawingml/2006/main"/>
        </p:blipFill>
        <p:spPr>
          <a:xfrm xmlns:a="http://schemas.openxmlformats.org/drawingml/2006/main">
            <a:off x="1238250" y="2667000"/>
            <a:ext cx="8096250" cy="1238250"/>
          </a:xfrm>
          <a:prstGeom xmlns:a="http://schemas.openxmlformats.org/drawingml/2006/main" prst="rect">
            <a:avLst/>
          </a:prstGeom>
        </p:spPr>
      </p:pic>
      <p:sp>
        <p:nvSpPr>
          <p:cNvPr id="5" name="central-note">
            <a:extLst xmlns:a="http://schemas.openxmlformats.org/drawingml/2006/main">
              <a:ext uri="{FF2B5EF4-FFF2-40B4-BE49-F238E27FC236}">
                <a16:creationId xmlns:a16="http://schemas.microsoft.com/office/drawing/2014/main" id="{AD7E671E-A98C-4907-ADD3-A065E8DA4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571750"/>
            <a:ext cx="5810250" cy="1809750"/>
          </a:xfrm>
          <a:prstGeom xmlns:a="http://schemas.openxmlformats.org/drawingml/2006/main" prst="roundRect">
            <a:avLst>
              <a:gd name="adj" fmla="val 11579"/>
            </a:avLst>
          </a:prstGeom>
          <a:solidFill xmlns:a="http://schemas.openxmlformats.org/drawingml/2006/main">
            <a:srgbClr val="F5F1FB"/>
          </a:solidFill>
          <a:ln xmlns:a="http://schemas.openxmlformats.org/drawingml/2006/main" w="19050">
            <a:solidFill>
              <a:srgbClr val="6F4B9B"/>
            </a:solidFill>
            <a:prstDash val="solid"/>
          </a:ln>
        </p:spPr>
      </p:sp>
      <p:sp>
        <p:nvSpPr>
          <p:cNvPr id="6" name="central-title">
            <a:extLst xmlns:a="http://schemas.openxmlformats.org/drawingml/2006/main">
              <a:ext uri="{FF2B5EF4-FFF2-40B4-BE49-F238E27FC236}">
                <a16:creationId xmlns:a16="http://schemas.microsoft.com/office/drawing/2014/main" id="{663681D8-1201-4BB8-A704-0F3D38A4D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952750"/>
            <a:ext cx="523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08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2250" b="1">
                <a:solidFill>
                  <a:srgbClr val="6F4B9B"/>
                </a:solidFill>
                <a:latin typeface="Nunito"/>
                <a:ea typeface="Nunito"/>
                <a:cs typeface="Nunito"/>
              </a:defRPr>
            </a:pPr>
            <a:r>
              <a:rPr sz="2250" b="1">
                <a:solidFill>
                  <a:srgbClr val="6F4B9B"/>
                </a:solidFill>
                <a:latin typeface="Nunito"/>
                <a:ea typeface="Nunito"/>
                <a:cs typeface="Nunito"/>
              </a:rPr>
              <a:t>symmetric samples</a:t>
            </a:r>
          </a:p>
        </p:txBody>
      </p:sp>
      <p:sp>
        <p:nvSpPr>
          <p:cNvPr id="7" name="central-body">
            <a:extLst xmlns:a="http://schemas.openxmlformats.org/drawingml/2006/main">
              <a:ext uri="{FF2B5EF4-FFF2-40B4-BE49-F238E27FC236}">
                <a16:creationId xmlns:a16="http://schemas.microsoft.com/office/drawing/2014/main" id="{0B21BA28-A2ED-4E78-9125-8727B0E17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476625"/>
            <a:ext cx="5048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246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1875" b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75" b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For this quadratic model, the supplied expression matches the analytic derivative to floating-point precision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16ef1be7d34404"/>
          <a:stretch xmlns:a="http://schemas.openxmlformats.org/drawingml/2006/main"/>
        </p:blipFill>
        <p:spPr>
          <a:xfrm xmlns:a="http://schemas.openxmlformats.org/drawingml/2006/main">
            <a:off x="1476375" y="4762500"/>
            <a:ext cx="7239000" cy="3333750"/>
          </a:xfrm>
          <a:prstGeom xmlns:a="http://schemas.openxmlformats.org/drawingml/2006/main" prst="rect">
            <a:avLst/>
          </a:prstGeom>
        </p:spPr>
      </p:pic>
      <p:sp>
        <p:nvSpPr>
          <p:cNvPr id="9" name="qual">
            <a:extLst xmlns:a="http://schemas.openxmlformats.org/drawingml/2006/main">
              <a:ext uri="{FF2B5EF4-FFF2-40B4-BE49-F238E27FC236}">
                <a16:creationId xmlns:a16="http://schemas.microsoft.com/office/drawing/2014/main" id="{658AA835-854C-489E-A5AE-A36A5CCD9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715000"/>
            <a:ext cx="5810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73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2325" b="1">
                <a:solidFill>
                  <a:srgbClr val="6F4B9B"/>
                </a:solidFill>
                <a:latin typeface="Nunito"/>
                <a:ea typeface="Nunito"/>
                <a:cs typeface="Nunito"/>
              </a:defRPr>
            </a:pPr>
            <a:r>
              <a:rPr sz="2325" b="1">
                <a:solidFill>
                  <a:srgbClr val="6F4B9B"/>
                </a:solidFill>
                <a:latin typeface="Nunito"/>
                <a:ea typeface="Nunito"/>
                <a:cs typeface="Nunito"/>
              </a:rPr>
              <a:t>Qualitative reading: an extremely small h is not a universal guarantee of a better answer</a:t>
            </a:r>
          </a:p>
        </p:txBody>
      </p:sp>
    </p:spTree>
    <p:extLst>
      <p:ext uri="{BB962C8B-B14F-4D97-AF65-F5344CB8AC3E}">
        <p14:creationId xmlns:p14="http://schemas.microsoft.com/office/powerpoint/2010/main" val="19407334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PHY4605 inherited title treatment">
            <a:extLst xmlns:a="http://schemas.openxmlformats.org/drawingml/2006/main">
              <a:ext uri="{FF2B5EF4-FFF2-40B4-BE49-F238E27FC236}">
                <a16:creationId xmlns:a16="http://schemas.microsoft.com/office/drawing/2014/main" id="{E5405211-304F-4867-9950-EBE24735F5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95375" y="571500"/>
            <a:ext cx="1504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51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51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Transfer and exit ticket</a:t>
            </a:r>
            <a:endParaRPr sz="5100" b="1">
              <a:solidFill>
                <a:srgbClr val="0B2B4C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2" name="PHY4605 inherited subtitle treatment">
            <a:extLst xmlns:a="http://schemas.openxmlformats.org/drawingml/2006/main">
              <a:ext uri="{FF2B5EF4-FFF2-40B4-BE49-F238E27FC236}">
                <a16:creationId xmlns:a16="http://schemas.microsoft.com/office/drawing/2014/main" id="{E91CBA08-DF0A-42D9-BFC9-999ECBC00B6C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xfrm xmlns:a="http://schemas.openxmlformats.org/drawingml/2006/main">
            <a:off x="1095375" y="1447800"/>
            <a:ext cx="1504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25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Use the same reasoning chain in another familiar physical context</a:t>
            </a:r>
            <a:endParaRPr sz="2250">
              <a:solidFill>
                <a:srgbClr val="3F4B57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3" name="PHY4605 inherited slide-number treatment">
            <a:extLst xmlns:a="http://schemas.openxmlformats.org/drawingml/2006/main">
              <a:ext uri="{FF2B5EF4-FFF2-40B4-BE49-F238E27FC236}">
                <a16:creationId xmlns:a16="http://schemas.microsoft.com/office/drawing/2014/main" id="{F5AF736A-5770-4E67-8962-D97EC015F8E7}"/>
              </a:ext>
            </a:extLst>
          </p:cNvPr>
          <p:cNvSpPr>
            <a:spLocks xmlns:a="http://schemas.openxmlformats.org/drawingml/2006/main" noGrp="1"/>
          </p:cNvSpPr>
          <p:nvPr>
            <p:ph type="sldNum" idx="0"/>
          </p:nvPr>
        </p:nvSpPr>
        <p:spPr>
          <a:xfrm xmlns:a="http://schemas.openxmlformats.org/drawingml/2006/main">
            <a:off x="16802100" y="92964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65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650">
                <a:solidFill>
                  <a:srgbClr val="697684"/>
                </a:solidFill>
                <a:latin typeface="Nunito"/>
                <a:ea typeface="Nunito"/>
                <a:cs typeface="Nunito"/>
              </a:rPr>
              <a:t>14</a:t>
            </a:r>
            <a:endParaRPr sz="1650">
              <a:solidFill>
                <a:srgbClr val="697684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4" name="transfer-0">
            <a:extLst xmlns:a="http://schemas.openxmlformats.org/drawingml/2006/main">
              <a:ext uri="{FF2B5EF4-FFF2-40B4-BE49-F238E27FC236}">
                <a16:creationId xmlns:a16="http://schemas.microsoft.com/office/drawing/2014/main" id="{151218CD-C289-41AA-96DB-F241B9E9D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667000"/>
            <a:ext cx="4286250" cy="1809750"/>
          </a:xfrm>
          <a:prstGeom xmlns:a="http://schemas.openxmlformats.org/drawingml/2006/main" prst="roundRect">
            <a:avLst>
              <a:gd name="adj" fmla="val 11579"/>
            </a:avLst>
          </a:prstGeom>
          <a:solidFill xmlns:a="http://schemas.openxmlformats.org/drawingml/2006/main">
            <a:srgbClr val="EEF5FD"/>
          </a:solidFill>
          <a:ln xmlns:a="http://schemas.openxmlformats.org/drawingml/2006/main" w="19050">
            <a:solidFill>
              <a:srgbClr val="2F6DB2"/>
            </a:solidFill>
            <a:prstDash val="solid"/>
          </a:ln>
        </p:spPr>
      </p:sp>
      <p:sp>
        <p:nvSpPr>
          <p:cNvPr id="5" name="trh-0">
            <a:extLst xmlns:a="http://schemas.openxmlformats.org/drawingml/2006/main">
              <a:ext uri="{FF2B5EF4-FFF2-40B4-BE49-F238E27FC236}">
                <a16:creationId xmlns:a16="http://schemas.microsoft.com/office/drawing/2014/main" id="{FBADC7C5-D7B8-4643-BF91-F05C5E169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095625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2325" b="1">
                <a:solidFill>
                  <a:srgbClr val="2F6DB2"/>
                </a:solidFill>
                <a:latin typeface="Nunito"/>
                <a:ea typeface="Nunito"/>
                <a:cs typeface="Nunito"/>
              </a:defRPr>
            </a:pPr>
            <a:r>
              <a:rPr sz="2325" b="1">
                <a:solidFill>
                  <a:srgbClr val="2F6DB2"/>
                </a:solidFill>
                <a:latin typeface="Nunito"/>
                <a:ea typeface="Nunito"/>
                <a:cs typeface="Nunito"/>
              </a:rPr>
              <a:t>vertical motion</a:t>
            </a:r>
          </a:p>
        </p:txBody>
      </p:sp>
      <p:sp>
        <p:nvSpPr>
          <p:cNvPr id="6" name="trb-0">
            <a:extLst xmlns:a="http://schemas.openxmlformats.org/drawingml/2006/main">
              <a:ext uri="{FF2B5EF4-FFF2-40B4-BE49-F238E27FC236}">
                <a16:creationId xmlns:a16="http://schemas.microsoft.com/office/drawing/2014/main" id="{F856A5ED-89C7-4DAE-AB9A-A0DEA85C0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857625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2025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025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dy/dt in m/s</a:t>
            </a:r>
          </a:p>
        </p:txBody>
      </p:sp>
      <p:sp>
        <p:nvSpPr>
          <p:cNvPr id="7" name="transfer-1">
            <a:extLst xmlns:a="http://schemas.openxmlformats.org/drawingml/2006/main">
              <a:ext uri="{FF2B5EF4-FFF2-40B4-BE49-F238E27FC236}">
                <a16:creationId xmlns:a16="http://schemas.microsoft.com/office/drawing/2014/main" id="{880E9C83-3A2E-404E-9308-570A9EEC2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667000"/>
            <a:ext cx="4286250" cy="1809750"/>
          </a:xfrm>
          <a:prstGeom xmlns:a="http://schemas.openxmlformats.org/drawingml/2006/main" prst="roundRect">
            <a:avLst>
              <a:gd name="adj" fmla="val 11579"/>
            </a:avLst>
          </a:prstGeom>
          <a:solidFill xmlns:a="http://schemas.openxmlformats.org/drawingml/2006/main">
            <a:srgbClr val="F0FAF7"/>
          </a:solidFill>
          <a:ln xmlns:a="http://schemas.openxmlformats.org/drawingml/2006/main" w="19050">
            <a:solidFill>
              <a:srgbClr val="2A9D9F"/>
            </a:solidFill>
            <a:prstDash val="solid"/>
          </a:ln>
        </p:spPr>
      </p:sp>
      <p:sp>
        <p:nvSpPr>
          <p:cNvPr id="8" name="trh-1">
            <a:extLst xmlns:a="http://schemas.openxmlformats.org/drawingml/2006/main">
              <a:ext uri="{FF2B5EF4-FFF2-40B4-BE49-F238E27FC236}">
                <a16:creationId xmlns:a16="http://schemas.microsoft.com/office/drawing/2014/main" id="{C718E3AD-26D4-4A6F-867B-24AB3FA84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95625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2325" b="1">
                <a:solidFill>
                  <a:srgbClr val="2A9D9F"/>
                </a:solidFill>
                <a:latin typeface="Nunito"/>
                <a:ea typeface="Nunito"/>
                <a:cs typeface="Nunito"/>
              </a:defRPr>
            </a:pPr>
            <a:r>
              <a:rPr sz="2325" b="1">
                <a:solidFill>
                  <a:srgbClr val="2A9D9F"/>
                </a:solidFill>
                <a:latin typeface="Nunito"/>
                <a:ea typeface="Nunito"/>
                <a:cs typeface="Nunito"/>
              </a:rPr>
              <a:t>electric potential</a:t>
            </a:r>
          </a:p>
        </p:txBody>
      </p:sp>
      <p:sp>
        <p:nvSpPr>
          <p:cNvPr id="9" name="trb-1">
            <a:extLst xmlns:a="http://schemas.openxmlformats.org/drawingml/2006/main">
              <a:ext uri="{FF2B5EF4-FFF2-40B4-BE49-F238E27FC236}">
                <a16:creationId xmlns:a16="http://schemas.microsoft.com/office/drawing/2014/main" id="{9A345226-ACA2-48A6-AC4E-F9211C5F4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57625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2025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025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E = −dV/dx in V/m</a:t>
            </a:r>
          </a:p>
        </p:txBody>
      </p:sp>
      <p:sp>
        <p:nvSpPr>
          <p:cNvPr id="10" name="transfer-2">
            <a:extLst xmlns:a="http://schemas.openxmlformats.org/drawingml/2006/main">
              <a:ext uri="{FF2B5EF4-FFF2-40B4-BE49-F238E27FC236}">
                <a16:creationId xmlns:a16="http://schemas.microsoft.com/office/drawing/2014/main" id="{804CAA44-5262-43DE-94F5-C96D096DC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3375" y="2667000"/>
            <a:ext cx="4286250" cy="1809750"/>
          </a:xfrm>
          <a:prstGeom xmlns:a="http://schemas.openxmlformats.org/drawingml/2006/main" prst="roundRect">
            <a:avLst>
              <a:gd name="adj" fmla="val 11579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19050">
            <a:solidFill>
              <a:srgbClr val="C98A16"/>
            </a:solidFill>
            <a:prstDash val="solid"/>
          </a:ln>
        </p:spPr>
      </p:sp>
      <p:sp>
        <p:nvSpPr>
          <p:cNvPr id="11" name="trh-2">
            <a:extLst xmlns:a="http://schemas.openxmlformats.org/drawingml/2006/main">
              <a:ext uri="{FF2B5EF4-FFF2-40B4-BE49-F238E27FC236}">
                <a16:creationId xmlns:a16="http://schemas.microsoft.com/office/drawing/2014/main" id="{70BFEB34-C713-492C-B19C-DBC0B12EC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3095625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2325" b="1">
                <a:solidFill>
                  <a:srgbClr val="C98A16"/>
                </a:solidFill>
                <a:latin typeface="Nunito"/>
                <a:ea typeface="Nunito"/>
                <a:cs typeface="Nunito"/>
              </a:defRPr>
            </a:pPr>
            <a:r>
              <a:rPr sz="2325" b="1">
                <a:solidFill>
                  <a:srgbClr val="C98A16"/>
                </a:solidFill>
                <a:latin typeface="Nunito"/>
                <a:ea typeface="Nunito"/>
                <a:cs typeface="Nunito"/>
              </a:rPr>
              <a:t>cooling</a:t>
            </a:r>
          </a:p>
        </p:txBody>
      </p:sp>
      <p:sp>
        <p:nvSpPr>
          <p:cNvPr id="12" name="trb-2">
            <a:extLst xmlns:a="http://schemas.openxmlformats.org/drawingml/2006/main">
              <a:ext uri="{FF2B5EF4-FFF2-40B4-BE49-F238E27FC236}">
                <a16:creationId xmlns:a16="http://schemas.microsoft.com/office/drawing/2014/main" id="{2E1A2BF5-FF8B-448B-82AE-4708752C4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3857625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2025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025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dT/dt in K/s</a:t>
            </a:r>
          </a:p>
        </p:txBody>
      </p:sp>
      <p:sp>
        <p:nvSpPr>
          <p:cNvPr id="13" name="exit-0">
            <a:extLst xmlns:a="http://schemas.openxmlformats.org/drawingml/2006/main">
              <a:ext uri="{FF2B5EF4-FFF2-40B4-BE49-F238E27FC236}">
                <a16:creationId xmlns:a16="http://schemas.microsoft.com/office/drawing/2014/main" id="{CEE7A329-9729-4C6B-9D23-51BCA56E5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810250"/>
            <a:ext cx="3333750" cy="1809750"/>
          </a:xfrm>
          <a:prstGeom xmlns:a="http://schemas.openxmlformats.org/drawingml/2006/main" prst="roundRect">
            <a:avLst>
              <a:gd name="adj" fmla="val 11579"/>
            </a:avLst>
          </a:prstGeom>
          <a:solidFill xmlns:a="http://schemas.openxmlformats.org/drawingml/2006/main">
            <a:srgbClr val="F4F8FC"/>
          </a:solidFill>
          <a:ln xmlns:a="http://schemas.openxmlformats.org/drawingml/2006/main" w="19050">
            <a:solidFill>
              <a:srgbClr val="AAB4BE"/>
            </a:solidFill>
            <a:prstDash val="solid"/>
          </a:ln>
        </p:spPr>
      </p:sp>
      <p:sp>
        <p:nvSpPr>
          <p:cNvPr id="14" name="exit-h-0">
            <a:extLst xmlns:a="http://schemas.openxmlformats.org/drawingml/2006/main">
              <a:ext uri="{FF2B5EF4-FFF2-40B4-BE49-F238E27FC236}">
                <a16:creationId xmlns:a16="http://schemas.microsoft.com/office/drawing/2014/main" id="{E2D12370-430E-4970-8265-07F503D21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191250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64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2175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175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meaning</a:t>
            </a:r>
          </a:p>
        </p:txBody>
      </p:sp>
      <p:sp>
        <p:nvSpPr>
          <p:cNvPr id="15" name="exit-b-0">
            <a:extLst xmlns:a="http://schemas.openxmlformats.org/drawingml/2006/main">
              <a:ext uri="{FF2B5EF4-FFF2-40B4-BE49-F238E27FC236}">
                <a16:creationId xmlns:a16="http://schemas.microsoft.com/office/drawing/2014/main" id="{B8F8DFA5-3A21-4712-B3B8-37E910D98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6810375"/>
            <a:ext cx="276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1800" b="1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00" b="1">
                <a:solidFill>
                  <a:srgbClr val="3F4B57"/>
                </a:solidFill>
                <a:latin typeface="Nunito"/>
                <a:ea typeface="Nunito"/>
                <a:cs typeface="Nunito"/>
              </a:rPr>
              <a:t>What rate or gradient?</a:t>
            </a:r>
          </a:p>
        </p:txBody>
      </p:sp>
      <p:sp>
        <p:nvSpPr>
          <p:cNvPr id="16" name="exit-1">
            <a:extLst xmlns:a="http://schemas.openxmlformats.org/drawingml/2006/main">
              <a:ext uri="{FF2B5EF4-FFF2-40B4-BE49-F238E27FC236}">
                <a16:creationId xmlns:a16="http://schemas.microsoft.com/office/drawing/2014/main" id="{7F7A6E7F-A3C8-4A8D-8FF6-F440859F3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5810250"/>
            <a:ext cx="3333750" cy="1809750"/>
          </a:xfrm>
          <a:prstGeom xmlns:a="http://schemas.openxmlformats.org/drawingml/2006/main" prst="roundRect">
            <a:avLst>
              <a:gd name="adj" fmla="val 11579"/>
            </a:avLst>
          </a:prstGeom>
          <a:solidFill xmlns:a="http://schemas.openxmlformats.org/drawingml/2006/main">
            <a:srgbClr val="F4F8FC"/>
          </a:solidFill>
          <a:ln xmlns:a="http://schemas.openxmlformats.org/drawingml/2006/main" w="19050">
            <a:solidFill>
              <a:srgbClr val="AAB4BE"/>
            </a:solidFill>
            <a:prstDash val="solid"/>
          </a:ln>
        </p:spPr>
      </p:sp>
      <p:sp>
        <p:nvSpPr>
          <p:cNvPr id="17" name="exit-h-1">
            <a:extLst xmlns:a="http://schemas.openxmlformats.org/drawingml/2006/main">
              <a:ext uri="{FF2B5EF4-FFF2-40B4-BE49-F238E27FC236}">
                <a16:creationId xmlns:a16="http://schemas.microsoft.com/office/drawing/2014/main" id="{E4E18501-1B55-4C3E-A0D4-E81800DA5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6191250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64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2175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175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unit</a:t>
            </a:r>
          </a:p>
        </p:txBody>
      </p:sp>
      <p:sp>
        <p:nvSpPr>
          <p:cNvPr id="18" name="exit-b-1">
            <a:extLst xmlns:a="http://schemas.openxmlformats.org/drawingml/2006/main">
              <a:ext uri="{FF2B5EF4-FFF2-40B4-BE49-F238E27FC236}">
                <a16:creationId xmlns:a16="http://schemas.microsoft.com/office/drawing/2014/main" id="{01BE5D01-DA49-4E72-BD30-E5A89E332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6810375"/>
            <a:ext cx="276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1800" b="1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00" b="1">
                <a:solidFill>
                  <a:srgbClr val="3F4B57"/>
                </a:solidFill>
                <a:latin typeface="Nunito"/>
                <a:ea typeface="Nunito"/>
                <a:cs typeface="Nunito"/>
              </a:rPr>
              <a:t>What unit follows?</a:t>
            </a:r>
          </a:p>
        </p:txBody>
      </p:sp>
      <p:sp>
        <p:nvSpPr>
          <p:cNvPr id="19" name="exit-2">
            <a:extLst xmlns:a="http://schemas.openxmlformats.org/drawingml/2006/main">
              <a:ext uri="{FF2B5EF4-FFF2-40B4-BE49-F238E27FC236}">
                <a16:creationId xmlns:a16="http://schemas.microsoft.com/office/drawing/2014/main" id="{38A6A44C-E6AE-4B7E-AB99-B7148CDBA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5810250"/>
            <a:ext cx="3333750" cy="1809750"/>
          </a:xfrm>
          <a:prstGeom xmlns:a="http://schemas.openxmlformats.org/drawingml/2006/main" prst="roundRect">
            <a:avLst>
              <a:gd name="adj" fmla="val 11579"/>
            </a:avLst>
          </a:prstGeom>
          <a:solidFill xmlns:a="http://schemas.openxmlformats.org/drawingml/2006/main">
            <a:srgbClr val="F4F8FC"/>
          </a:solidFill>
          <a:ln xmlns:a="http://schemas.openxmlformats.org/drawingml/2006/main" w="19050">
            <a:solidFill>
              <a:srgbClr val="AAB4BE"/>
            </a:solidFill>
            <a:prstDash val="solid"/>
          </a:ln>
        </p:spPr>
      </p:sp>
      <p:sp>
        <p:nvSpPr>
          <p:cNvPr id="20" name="exit-h-2">
            <a:extLst xmlns:a="http://schemas.openxmlformats.org/drawingml/2006/main">
              <a:ext uri="{FF2B5EF4-FFF2-40B4-BE49-F238E27FC236}">
                <a16:creationId xmlns:a16="http://schemas.microsoft.com/office/drawing/2014/main" id="{51B9166A-5591-46DA-A3D9-88972B388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191250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64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2175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175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formula</a:t>
            </a:r>
          </a:p>
        </p:txBody>
      </p:sp>
      <p:sp>
        <p:nvSpPr>
          <p:cNvPr id="21" name="exit-b-2">
            <a:extLst xmlns:a="http://schemas.openxmlformats.org/drawingml/2006/main">
              <a:ext uri="{FF2B5EF4-FFF2-40B4-BE49-F238E27FC236}">
                <a16:creationId xmlns:a16="http://schemas.microsoft.com/office/drawing/2014/main" id="{AEA16B8D-02CD-4F59-9FC3-6BE5B511D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6810375"/>
            <a:ext cx="276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1800" b="1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00" b="1">
                <a:solidFill>
                  <a:srgbClr val="3F4B57"/>
                </a:solidFill>
                <a:latin typeface="Nunito"/>
                <a:ea typeface="Nunito"/>
                <a:cs typeface="Nunito"/>
              </a:rPr>
              <a:t>Which two values?</a:t>
            </a:r>
          </a:p>
        </p:txBody>
      </p:sp>
      <p:sp>
        <p:nvSpPr>
          <p:cNvPr id="22" name="exit-3">
            <a:extLst xmlns:a="http://schemas.openxmlformats.org/drawingml/2006/main">
              <a:ext uri="{FF2B5EF4-FFF2-40B4-BE49-F238E27FC236}">
                <a16:creationId xmlns:a16="http://schemas.microsoft.com/office/drawing/2014/main" id="{0D5E5844-7055-4EEA-A9CC-9FE608CA4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5375" y="5810250"/>
            <a:ext cx="3333750" cy="1809750"/>
          </a:xfrm>
          <a:prstGeom xmlns:a="http://schemas.openxmlformats.org/drawingml/2006/main" prst="roundRect">
            <a:avLst>
              <a:gd name="adj" fmla="val 11579"/>
            </a:avLst>
          </a:prstGeom>
          <a:solidFill xmlns:a="http://schemas.openxmlformats.org/drawingml/2006/main">
            <a:srgbClr val="F4F8FC"/>
          </a:solidFill>
          <a:ln xmlns:a="http://schemas.openxmlformats.org/drawingml/2006/main" w="19050">
            <a:solidFill>
              <a:srgbClr val="AAB4BE"/>
            </a:solidFill>
            <a:prstDash val="solid"/>
          </a:ln>
        </p:spPr>
      </p:sp>
      <p:sp>
        <p:nvSpPr>
          <p:cNvPr id="23" name="exit-h-3">
            <a:extLst xmlns:a="http://schemas.openxmlformats.org/drawingml/2006/main">
              <a:ext uri="{FF2B5EF4-FFF2-40B4-BE49-F238E27FC236}">
                <a16:creationId xmlns:a16="http://schemas.microsoft.com/office/drawing/2014/main" id="{2C13D710-772F-4FAF-A59E-44AEB9DE7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6191250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64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2175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175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check</a:t>
            </a:r>
          </a:p>
        </p:txBody>
      </p:sp>
      <p:sp>
        <p:nvSpPr>
          <p:cNvPr id="24" name="exit-b-3">
            <a:extLst xmlns:a="http://schemas.openxmlformats.org/drawingml/2006/main">
              <a:ext uri="{FF2B5EF4-FFF2-40B4-BE49-F238E27FC236}">
                <a16:creationId xmlns:a16="http://schemas.microsoft.com/office/drawing/2014/main" id="{E3EB2BE3-199D-4FD8-8866-00E5881F7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11125" y="6810375"/>
            <a:ext cx="276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70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1800" b="1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00" b="1">
                <a:solidFill>
                  <a:srgbClr val="3F4B57"/>
                </a:solidFill>
                <a:latin typeface="Nunito"/>
                <a:ea typeface="Nunito"/>
                <a:cs typeface="Nunito"/>
              </a:rPr>
              <a:t>What reference validates it?</a:t>
            </a:r>
          </a:p>
        </p:txBody>
      </p:sp>
    </p:spTree>
    <p:extLst>
      <p:ext uri="{BB962C8B-B14F-4D97-AF65-F5344CB8AC3E}">
        <p14:creationId xmlns:p14="http://schemas.microsoft.com/office/powerpoint/2010/main" val="243450188"/>
      </p:ext>
    </p:extLst>
  </p:cSld>
</p:sld>
</file>

<file path=ppt/theme/theme1.xml><?xml version="1.0" encoding="utf-8"?>
<a:theme xmlns:a="http://schemas.openxmlformats.org/drawingml/2006/main" name="ChatGPT">
  <a:themeElements>
    <a:clrScheme name="PHY4605">
      <a:dk1>
        <a:srgbClr val="0B2B4C"/>
      </a:dk1>
      <a:lt1>
        <a:srgbClr val="FFFFFF"/>
      </a:lt1>
      <a:dk2>
        <a:srgbClr val="3F4B57"/>
      </a:dk2>
      <a:lt2>
        <a:srgbClr val="F7F9FB"/>
      </a:lt2>
      <a:accent1>
        <a:srgbClr val="2F6DB2"/>
      </a:accent1>
      <a:accent2>
        <a:srgbClr val="2A9D9F"/>
      </a:accent2>
      <a:accent3>
        <a:srgbClr val="C98A16"/>
      </a:accent3>
      <a:accent4>
        <a:srgbClr val="6F4B9B"/>
      </a:accent4>
      <a:accent5>
        <a:srgbClr val="3E8E45"/>
      </a:accent5>
      <a:accent6>
        <a:srgbClr val="B3262E"/>
      </a:accent6>
      <a:hlink>
        <a:srgbClr val="2F6DB2"/>
      </a:hlink>
      <a:folHlink>
        <a:srgbClr val="6F4B9B"/>
      </a:folHlink>
    </a:clrScheme>
    <a:fontScheme name="Office">
      <a:majorFont>
        <a:latin typeface="Nunito"/>
        <a:ea typeface="Nunito"/>
        <a:cs typeface="Nunito"/>
      </a:majorFont>
      <a:minorFont>
        <a:latin typeface="Nunito"/>
        <a:ea typeface="Nunito"/>
        <a:cs typeface="Nunito"/>
      </a:minorFont>
    </a:fontScheme>
    <a:fmtScheme name="PHY4605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2026-09-04T02:49:38.5500000Z</dcterms:created>
  <dcterms:modified xsi:type="dcterms:W3CDTF">2026-09-04T02:49:38.5500000Z</dcterms:modified>
</coreProperties>
</file>
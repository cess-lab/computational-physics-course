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7005bbc1d945da" /><Relationship Type="http://schemas.openxmlformats.org/officeDocument/2006/relationships/extended-properties" Target="/docProps/app.xml" Id="Ra774ba89fe704d87" /><Relationship Type="http://schemas.openxmlformats.org/officeDocument/2006/relationships/officeDocument" Target="/ppt/presentation.xml" Id="R294355a2866e4a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394c48204f4692"/>
    <p:sldMasterId xmlns:r="http://schemas.openxmlformats.org/officeDocument/2006/relationships" id="2147483650" r:id="R7d41edc9af8b4859"/>
  </p:sldMasterIdLst>
  <p:notesMasterIdLst>
    <p:notesMasterId xmlns:r="http://schemas.openxmlformats.org/officeDocument/2006/relationships" r:id="R605f67a30aa24dfe"/>
  </p:notesMasterIdLst>
  <p:sldIdLst>
    <p:sldId xmlns:r="http://schemas.openxmlformats.org/officeDocument/2006/relationships" id="256" r:id="R12467b8ecca64b31"/>
    <p:sldId xmlns:r="http://schemas.openxmlformats.org/officeDocument/2006/relationships" id="257" r:id="R7e3bd3e80bc54772"/>
    <p:sldId xmlns:r="http://schemas.openxmlformats.org/officeDocument/2006/relationships" id="258" r:id="R64614bc2c29a402e"/>
    <p:sldId xmlns:r="http://schemas.openxmlformats.org/officeDocument/2006/relationships" id="259" r:id="R6ff48c5bb0574eba"/>
    <p:sldId xmlns:r="http://schemas.openxmlformats.org/officeDocument/2006/relationships" id="260" r:id="Rc121f412283f4428"/>
    <p:sldId xmlns:r="http://schemas.openxmlformats.org/officeDocument/2006/relationships" id="261" r:id="R347844938464477a"/>
    <p:sldId xmlns:r="http://schemas.openxmlformats.org/officeDocument/2006/relationships" id="262" r:id="R57f0e0276f3f4a45"/>
    <p:sldId xmlns:r="http://schemas.openxmlformats.org/officeDocument/2006/relationships" id="263" r:id="R0086c02ac7d64562"/>
    <p:sldId xmlns:r="http://schemas.openxmlformats.org/officeDocument/2006/relationships" id="264" r:id="Rab30d3b244aa4031"/>
    <p:sldId xmlns:r="http://schemas.openxmlformats.org/officeDocument/2006/relationships" id="265" r:id="Re89fff09c61542fe"/>
    <p:sldId xmlns:r="http://schemas.openxmlformats.org/officeDocument/2006/relationships" id="266" r:id="R9041f12bb6c3434b"/>
    <p:sldId xmlns:r="http://schemas.openxmlformats.org/officeDocument/2006/relationships" id="267" r:id="R6b29e5c2944042e6"/>
    <p:sldId xmlns:r="http://schemas.openxmlformats.org/officeDocument/2006/relationships" id="268" r:id="R486b437c97084ffe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7f431133264cd7" /><Relationship Type="http://schemas.openxmlformats.org/officeDocument/2006/relationships/slideMaster" Target="/ppt/slideMasters/slideMaster1.xml" Id="R2a394c48204f4692" /><Relationship Type="http://schemas.openxmlformats.org/officeDocument/2006/relationships/slideMaster" Target="/ppt/slideMasters/slideMaster2.xml" Id="R7d41edc9af8b4859" /><Relationship Type="http://schemas.openxmlformats.org/officeDocument/2006/relationships/notesMaster" Target="/ppt/notesMasters/notesMaster1.xml" Id="R605f67a30aa24dfe" /><Relationship Type="http://schemas.openxmlformats.org/officeDocument/2006/relationships/presProps" Target="/ppt/presProps.xml" Id="R566588ce93184ae7" /><Relationship Type="http://schemas.openxmlformats.org/officeDocument/2006/relationships/tableStyles" Target="/ppt/tableStyles.xml" Id="R2637b5a907554b68" /><Relationship Type="http://schemas.openxmlformats.org/officeDocument/2006/relationships/slide" Target="/ppt/slides/slide1.xml" Id="R12467b8ecca64b31" /><Relationship Type="http://schemas.openxmlformats.org/officeDocument/2006/relationships/slide" Target="/ppt/slides/slide2.xml" Id="R7e3bd3e80bc54772" /><Relationship Type="http://schemas.openxmlformats.org/officeDocument/2006/relationships/slide" Target="/ppt/slides/slide3.xml" Id="R64614bc2c29a402e" /><Relationship Type="http://schemas.openxmlformats.org/officeDocument/2006/relationships/slide" Target="/ppt/slides/slide4.xml" Id="R6ff48c5bb0574eba" /><Relationship Type="http://schemas.openxmlformats.org/officeDocument/2006/relationships/slide" Target="/ppt/slides/slide5.xml" Id="Rc121f412283f4428" /><Relationship Type="http://schemas.openxmlformats.org/officeDocument/2006/relationships/slide" Target="/ppt/slides/slide6.xml" Id="R347844938464477a" /><Relationship Type="http://schemas.openxmlformats.org/officeDocument/2006/relationships/slide" Target="/ppt/slides/slide7.xml" Id="R57f0e0276f3f4a45" /><Relationship Type="http://schemas.openxmlformats.org/officeDocument/2006/relationships/slide" Target="/ppt/slides/slide8.xml" Id="R0086c02ac7d64562" /><Relationship Type="http://schemas.openxmlformats.org/officeDocument/2006/relationships/slide" Target="/ppt/slides/slide9.xml" Id="Rab30d3b244aa4031" /><Relationship Type="http://schemas.openxmlformats.org/officeDocument/2006/relationships/slide" Target="/ppt/slides/slide10.xml" Id="Re89fff09c61542fe" /><Relationship Type="http://schemas.openxmlformats.org/officeDocument/2006/relationships/slide" Target="/ppt/slides/slide11.xml" Id="R9041f12bb6c3434b" /><Relationship Type="http://schemas.openxmlformats.org/officeDocument/2006/relationships/slide" Target="/ppt/slides/slide12.xml" Id="R6b29e5c2944042e6" /><Relationship Type="http://schemas.openxmlformats.org/officeDocument/2006/relationships/slide" Target="/ppt/slides/slide13.xml" Id="R486b437c97084f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4832eab3bda346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PHY4605">
      <a:dk1>
        <a:srgbClr val="0B2B4C"/>
      </a:dk1>
      <a:lt1>
        <a:srgbClr val="FFFFFF"/>
      </a:lt1>
      <a:dk2>
        <a:srgbClr val="3F4B57"/>
      </a:dk2>
      <a:lt2>
        <a:srgbClr val="F7F9FB"/>
      </a:lt2>
      <a:accent1>
        <a:srgbClr val="2F6DB2"/>
      </a:accent1>
      <a:accent2>
        <a:srgbClr val="2A9D9F"/>
      </a:accent2>
      <a:accent3>
        <a:srgbClr val="C98A16"/>
      </a:accent3>
      <a:accent4>
        <a:srgbClr val="6F4B9B"/>
      </a:accent4>
      <a:accent5>
        <a:srgbClr val="3E8E45"/>
      </a:accent5>
      <a:accent6>
        <a:srgbClr val="B3262E"/>
      </a:accent6>
      <a:hlink>
        <a:srgbClr val="2F6DB2"/>
      </a:hlink>
      <a:folHlink>
        <a:srgbClr val="6F4B9B"/>
      </a:folHlink>
    </a:clrScheme>
    <a:fontScheme name="Office">
      <a:majorFont>
        <a:latin typeface="Nunito"/>
        <a:ea typeface="Nunito"/>
        <a:cs typeface="Nunito"/>
      </a:majorFont>
      <a:minorFont>
        <a:latin typeface="Nunito"/>
        <a:ea typeface="Nunito"/>
        <a:cs typeface="Nunito"/>
      </a:minorFont>
    </a:fontScheme>
    <a:fmtScheme name="PHY4605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e2b02e0a3445d2" /><Relationship Type="http://schemas.openxmlformats.org/officeDocument/2006/relationships/notesMaster" Target="/ppt/notesMasters/notesMaster1.xml" Id="R53c04f8970484b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93a9cfaf2e48e8" /><Relationship Type="http://schemas.openxmlformats.org/officeDocument/2006/relationships/notesMaster" Target="/ppt/notesMasters/notesMaster1.xml" Id="R9173151eb2f147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f7d3b94b824c45" /><Relationship Type="http://schemas.openxmlformats.org/officeDocument/2006/relationships/notesMaster" Target="/ppt/notesMasters/notesMaster1.xml" Id="Rbb1d57062d9843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cbff2fa5434b38" /><Relationship Type="http://schemas.openxmlformats.org/officeDocument/2006/relationships/notesMaster" Target="/ppt/notesMasters/notesMaster1.xml" Id="R7095377e4bfb42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e8f43707134b8f" /><Relationship Type="http://schemas.openxmlformats.org/officeDocument/2006/relationships/notesMaster" Target="/ppt/notesMasters/notesMaster1.xml" Id="R5d1bc418472547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571034b1a247f3" /><Relationship Type="http://schemas.openxmlformats.org/officeDocument/2006/relationships/notesMaster" Target="/ppt/notesMasters/notesMaster1.xml" Id="Re903abe5491a4c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743e2ab0aa4334" /><Relationship Type="http://schemas.openxmlformats.org/officeDocument/2006/relationships/notesMaster" Target="/ppt/notesMasters/notesMaster1.xml" Id="R6b2a0266cf684e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e9ea6a4f7b4ec7" /><Relationship Type="http://schemas.openxmlformats.org/officeDocument/2006/relationships/notesMaster" Target="/ppt/notesMasters/notesMaster1.xml" Id="R878b330d483a4c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f9ffe09a0f410a" /><Relationship Type="http://schemas.openxmlformats.org/officeDocument/2006/relationships/notesMaster" Target="/ppt/notesMasters/notesMaster1.xml" Id="Rd9a467822bfe4c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26ef85a08ff4ed2" /><Relationship Type="http://schemas.openxmlformats.org/officeDocument/2006/relationships/notesMaster" Target="/ppt/notesMasters/notesMaster1.xml" Id="Re6d8ccf4feb64b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56b4d56aea4b34" /><Relationship Type="http://schemas.openxmlformats.org/officeDocument/2006/relationships/notesMaster" Target="/ppt/notesMasters/notesMaster1.xml" Id="R52550438036a4e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b077570079f40a8" /><Relationship Type="http://schemas.openxmlformats.org/officeDocument/2006/relationships/notesMaster" Target="/ppt/notesMasters/notesMaster1.xml" Id="R797aac9504c84f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048de7db584130" /><Relationship Type="http://schemas.openxmlformats.org/officeDocument/2006/relationships/notesMaster" Target="/ppt/notesMasters/notesMaster1.xml" Id="R3f67a353ff5643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OpenAI ImageGen; PHY4605 Matte Scientific Cutaway visual-only projectile illustration; generated 2026-08-31</a:t>
            </a:r>
          </a:p>
          <a:p xmlns:a="http://schemas.openxmlformats.org/drawingml/2006/main">
            <a:r>
              <a:t>- Standard constant-acceleration kinematics; lecturer-authored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PHY4605 Course Topic and Difficulty Blueprint</a:t>
            </a:r>
          </a:p>
          <a:p xmlns:a="http://schemas.openxmlformats.org/drawingml/2006/main">
            <a:r>
              <a:t>- OpenAI ImageGen; PHY4605 Matte Scientific Cutaway visual-only eleven-sample motion illustration aligned with the editable index rail; generated 2026-08-31</a:t>
            </a:r>
          </a:p>
          <a:p xmlns:a="http://schemas.openxmlformats.org/drawingml/2006/main">
            <a:r>
              <a:t>- LaTeX array-moment assets: `array-moment-start.tex`, `array-moment-peak.tex`, and `array-moment-end.tex`; rendered by `render-equations-diagrams`; transparent PNGs inserted in the three editable callout cards; matching SVG and TeX retained in `.agent/lecture-slide-system/assets/equations`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[Equation provenance]</a:t>
            </a:r>
          </a:p>
          <a:p xmlns:a="http://schemas.openxmlformats.org/drawingml/2006/main">
            <a:r>
              <a:t>- arrayStart: TeX `t(1)=0.0\,\mathrm{s}`; SVG `Week01/.agent/lecture-slides/assets/equations/array-moment-start.svg`; PNG `Week01/.agent/lecture-slides/assets/equations/array-moment-start.png`; foreground `#2F6DB2`; target `258 × 42 px`; fit/crop `contain`; alt `LaTeX-rendered expression t(1)=0.0\,\mathrm{s}`; QA `render-equations-diagrams, PNG scale 6, retained TeX/SVG`</a:t>
            </a:r>
          </a:p>
          <a:p xmlns:a="http://schemas.openxmlformats.org/drawingml/2006/main">
            <a:r>
              <a:t>- arrayPeak: TeX `t(6)=2.0\,\mathrm{s}`; SVG `Week01/.agent/lecture-slides/assets/equations/array-moment-peak.svg`; PNG `Week01/.agent/lecture-slides/assets/equations/array-moment-peak.png`; foreground `#C98A16`; target `258 × 42 px`; fit/crop `contain`; alt `LaTeX-rendered expression t(6)=2.0\,\mathrm{s}`; QA `render-equations-diagrams, PNG scale 6, retained TeX/SVG`</a:t>
            </a:r>
          </a:p>
          <a:p xmlns:a="http://schemas.openxmlformats.org/drawingml/2006/main">
            <a:r>
              <a:t>- arrayEnd: TeX `t(11)=4.0\,\mathrm{s}`; SVG `Week01/.agent/lecture-slides/assets/equations/array-moment-end.svg`; PNG `Week01/.agent/lecture-slides/assets/equations/array-moment-end.png`; foreground `#3E8E45`; target `258 × 42 px`; fit/crop `contain`; alt `LaTeX-rendered expression t(11)=4.0\,\mathrm{s}`; QA `render-equations-diagrams, PNG scale 6, retained TeX/SVG`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Standard constant-acceleration kinematics; y(t) = 20t - 4.905t^2</a:t>
            </a:r>
          </a:p>
          <a:p xmlns:a="http://schemas.openxmlformats.org/drawingml/2006/main">
            <a:r>
              <a:t>- MATLAB figure `assets/matlab-figures/height_time_evidence.png`, generated by `source/generate_master_matlab_figures.m` from retained `height_time_evidence_data.mat` and `.csv`; title, axes, and all figure text use the LaTeX interpreter</a:t>
            </a:r>
          </a:p>
          <a:p xmlns:a="http://schemas.openxmlformats.org/drawingml/2006/main">
            <a:r>
              <a:t>- LaTeX equation assets: `height-zero.tex` and `height-near-zero.tex`; rendered by `render-equations-diagrams`; transparent PNGs inserted with editable explanatory labels; asset directory `.agent/lecture-slide-system/assets/equations`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[Equation provenance]</a:t>
            </a:r>
          </a:p>
          <a:p xmlns:a="http://schemas.openxmlformats.org/drawingml/2006/main">
            <a:r>
              <a:t>- heightZero: TeX `y=0\,\mathrm{m}`; SVG `Week01/.agent/lecture-slides/assets/equations/height-zero.svg`; PNG `Week01/.agent/lecture-slides/assets/equations/height-zero.png`; foreground `#2F6DB2`; target `300 × 48 px`; fit/crop `contain`; alt `LaTeX-rendered expression y equals zero metres`; QA `render-equations-diagrams, PNG scale 6, retained TeX/SVG`</a:t>
            </a:r>
          </a:p>
          <a:p xmlns:a="http://schemas.openxmlformats.org/drawingml/2006/main">
            <a:r>
              <a:t>- heightNearZero: TeX `y\approx 0\,\mathrm{m}`; SVG `Week01/.agent/lecture-slides/assets/equations/height-near-zero.svg`; PNG `Week01/.agent/lecture-slides/assets/equations/height-near-zero.png`; foreground `#2F6DB2`; target `300 × 48 px`; fit/crop `contain`; alt `LaTeX-rendered expression y is approximately zero metres`; QA `render-equations-diagrams, PNG scale 6, retained TeX/SVG`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Standard initial-condition validation for vertical motion</a:t>
            </a:r>
          </a:p>
          <a:p xmlns:a="http://schemas.openxmlformats.org/drawingml/2006/main">
            <a:r>
              <a:t>- LaTeX display assets: `launch-time.tex`, `height-zero.tex`, and `computed-first-value.tex`; rendered by `render-equations-diagrams`; transparent PNGs inserted with alt text and matching SVG/TeX retained in `.agent/lecture-slide-system/assets/equations`</a:t>
            </a:r>
          </a:p>
          <a:p xmlns:a="http://schemas.openxmlformats.org/drawingml/2006/main">
            <a:r>
              <a:t>- OpenAI ImageGen; PHY4605 Matte Scientific Cutaway visual-only launch-boundary illustration; generated 2026-08-31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[Equation provenance]</a:t>
            </a:r>
          </a:p>
          <a:p xmlns:a="http://schemas.openxmlformats.org/drawingml/2006/main">
            <a:r>
              <a:t>- launchTime: TeX `t=0\,\mathrm{s}`; SVG `Week01/.agent/lecture-slides/assets/equations/launch-time.svg`; PNG `Week01/.agent/lecture-slides/assets/equations/launch-time.png`; foreground `#0B2B4C`; target `255 × 42 px`; fit/crop `contain`; alt `LaTeX-rendered expression t equals zero seconds`; QA `render-equations-diagrams, PNG scale 6, retained TeX/SVG`</a:t>
            </a:r>
          </a:p>
          <a:p xmlns:a="http://schemas.openxmlformats.org/drawingml/2006/main">
            <a:r>
              <a:t>- heightZero: TeX `y=0\,\mathrm{m}`; SVG `Week01/.agent/lecture-slides/assets/equations/height-zero.svg`; PNG `Week01/.agent/lecture-slides/assets/equations/height-zero.png`; foreground `#0B2B4C`; target `255 × 48 px`; fit/crop `contain`; alt `LaTeX-rendered expression y equals zero metres`; QA `render-equations-diagrams, PNG scale 6, retained TeX/SVG`</a:t>
            </a:r>
          </a:p>
          <a:p xmlns:a="http://schemas.openxmlformats.org/drawingml/2006/main">
            <a:r>
              <a:t>- computedFirstValue: TeX `y(1)=0.000\,\mathrm{m}`; SVG `Week01/.agent/lecture-slides/assets/equations/computed-first-value.svg`; PNG `Week01/.agent/lecture-slides/assets/equations/computed-first-value.png`; foreground `#3E8E45`; target `520 × 48 px`; fit/crop `contain`; alt `LaTeX-rendered validation result y of one equals zero point zero zero zero metres`; QA `render-equations-diagrams, PNG scale 6, retained TeX/SVG`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SI units for one-dimensional vertical motion</a:t>
            </a:r>
          </a:p>
          <a:p xmlns:a="http://schemas.openxmlformats.org/drawingml/2006/main">
            <a:r>
              <a:t>- LaTeX symbol/unit assets: `symbol-*.tex` and `unit-*.tex`; rendered by `render-equations-diagrams`; transparent PNGs inserted as display-math assets; SVG and TeX retained in `.agent/lecture-slide-system/assets/equations`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[Equation provenance]</a:t>
            </a:r>
          </a:p>
          <a:p xmlns:a="http://schemas.openxmlformats.org/drawingml/2006/main">
            <a:r>
              <a:t>- symbolT: TeX `t`; SVG `Week01/.agent/lecture-slides/assets/equations/symbol-t.svg`; PNG `Week01/.agent/lecture-slides/assets/equations/symbol-t.png`; foreground `#2F6DB2`; target `110 × 48 px`; fit/crop `contain`; alt `LaTeX-rendered symbol t`; QA `render-equations-diagrams, PNG scale 6, retained TeX/SVG`</a:t>
            </a:r>
          </a:p>
          <a:p xmlns:a="http://schemas.openxmlformats.org/drawingml/2006/main">
            <a:r>
              <a:t>- unitS: TeX `\mathrm{s}`; SVG `Week01/.agent/lecture-slides/assets/equations/unit-s.svg`; PNG `Week01/.agent/lecture-slides/assets/equations/unit-s.png`; foreground `#3F4B57`; target `42 × 17 px`; fit/crop `contain`; alt `LaTeX-rendered SI unit \mathrm{s}`; QA `render-equations-diagrams, PNG scale 6, retained TeX/SVG`</a:t>
            </a:r>
          </a:p>
          <a:p xmlns:a="http://schemas.openxmlformats.org/drawingml/2006/main">
            <a:r>
              <a:t>- symbolY: TeX `y`; SVG `Week01/.agent/lecture-slides/assets/equations/symbol-y.svg`; PNG `Week01/.agent/lecture-slides/assets/equations/symbol-y.png`; foreground `#2A9D9F`; target `110 × 48 px`; fit/crop `contain`; alt `LaTeX-rendered symbol y`; QA `render-equations-diagrams, PNG scale 6, retained TeX/SVG`</a:t>
            </a:r>
          </a:p>
          <a:p xmlns:a="http://schemas.openxmlformats.org/drawingml/2006/main">
            <a:r>
              <a:t>- unitM: TeX `\mathrm{m}`; SVG `Week01/.agent/lecture-slides/assets/equations/unit-m.svg`; PNG `Week01/.agent/lecture-slides/assets/equations/unit-m.png`; foreground `#3F4B57`; target `42 × 17 px`; fit/crop `contain`; alt `LaTeX-rendered SI unit \mathrm{m}`; QA `render-equations-diagrams, PNG scale 6, retained TeX/SVG`</a:t>
            </a:r>
          </a:p>
          <a:p xmlns:a="http://schemas.openxmlformats.org/drawingml/2006/main">
            <a:r>
              <a:t>- symbolV0: TeX `v_0`; SVG `Week01/.agent/lecture-slides/assets/equations/symbol-v0.svg`; PNG `Week01/.agent/lecture-slides/assets/equations/symbol-v0.png`; foreground `#C98A16`; target `110 × 48 px`; fit/crop `contain`; alt `LaTeX-rendered symbol v_0`; QA `render-equations-diagrams, PNG scale 6, retained TeX/SVG`</a:t>
            </a:r>
          </a:p>
          <a:p xmlns:a="http://schemas.openxmlformats.org/drawingml/2006/main">
            <a:r>
              <a:t>- unitMs1: TeX `\mathrm{m\,s^{-1}}`; SVG `Week01/.agent/lecture-slides/assets/equations/unit-ms1.svg`; PNG `Week01/.agent/lecture-slides/assets/equations/unit-ms1.png`; foreground `#3F4B57`; target `160 × 26 px`; fit/crop `contain`; alt `LaTeX-rendered SI unit \mathrm{m\,s^{-1}}`; QA `render-equations-diagrams, PNG scale 6, retained TeX/SVG`</a:t>
            </a:r>
          </a:p>
          <a:p xmlns:a="http://schemas.openxmlformats.org/drawingml/2006/main">
            <a:r>
              <a:t>- symbolG: TeX `g`; SVG `Week01/.agent/lecture-slides/assets/equations/symbol-g.svg`; PNG `Week01/.agent/lecture-slides/assets/equations/symbol-g.png`; foreground `#C98A16`; target `110 × 48 px`; fit/crop `contain`; alt `LaTeX-rendered symbol g`; QA `render-equations-diagrams, PNG scale 6, retained TeX/SVG`</a:t>
            </a:r>
          </a:p>
          <a:p xmlns:a="http://schemas.openxmlformats.org/drawingml/2006/main">
            <a:r>
              <a:t>- unitMs2: TeX `\mathrm{m\,s^{-2}}`; SVG `Week01/.agent/lecture-slides/assets/equations/unit-ms2.svg`; PNG `Week01/.agent/lecture-slides/assets/equations/unit-ms2.png`; foreground `#3F4B57`; target `160 × 26 px`; fit/crop `contain`; alt `LaTeX-rendered SI unit \mathrm{m\,s^{-2}}`; QA `render-equations-diagrams, PNG scale 6, retained TeX/SVG`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MATLAB documentation: array operators and plot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Standard constant-acceleration kinematics equation</a:t>
            </a:r>
          </a:p>
          <a:p xmlns:a="http://schemas.openxmlformats.org/drawingml/2006/main">
            <a:r>
              <a:t>- LaTeX equation assets: `vertical-motion-position-equation.tex`, `term-y0.tex`, `term-v0t.tex`, `term-gravity.tex`, and `term-position.tex`; renderer `render-equations-diagrams`; transparent PNG fallback inserted after retaining matching SVG; foreground colours are encoded by semantic term role; target boxes use fit-contain; alt text attached; asset directory `.agent/lecture-slide-system/assets/equations`</a:t>
            </a:r>
          </a:p>
          <a:p xmlns:a="http://schemas.openxmlformats.org/drawingml/2006/main">
            <a:r>
              <a:t>- OpenAI ImageGen; PHY4605 Matte Scientific Cutaway visual-only strictly vertical y(t) time-sequence illustration, with no horizontal projectile path; generated 2026-08-31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[Equation provenance]</a:t>
            </a:r>
          </a:p>
          <a:p xmlns:a="http://schemas.openxmlformats.org/drawingml/2006/main">
            <a:r>
              <a:t>- position: TeX `y(t)=y_0+v_0t-\frac{1}{2}gt^2`; SVG `Week01/.agent/lecture-slides/assets/equations/vertical-motion-position-equation.svg`; PNG `Week01/.agent/lecture-slides/assets/equations/vertical-motion-position-equation.png`; foreground `#0B2B4C`; target `700 × 144 px`; fit/crop `contain`; alt `LaTeX-rendered equation: y of t equals y subscript zero plus v subscript zero t minus one half g t squared`; QA `render-equations-diagrams, PNG scale 6, retained TeX/SVG`</a:t>
            </a:r>
          </a:p>
          <a:p xmlns:a="http://schemas.openxmlformats.org/drawingml/2006/main">
            <a:r>
              <a:t>- termY0: TeX `y_0`; SVG `Week01/.agent/lecture-slides/assets/equations/term-y0.svg`; PNG `Week01/.agent/lecture-slides/assets/equations/term-y0.png`; foreground `#0B2B4C`; target `302 × 48 px`; fit/crop `contain`; alt `LaTeX-rendered equation term y_0`; QA `render-equations-diagrams, PNG scale 6, retained TeX/SVG`</a:t>
            </a:r>
          </a:p>
          <a:p xmlns:a="http://schemas.openxmlformats.org/drawingml/2006/main">
            <a:r>
              <a:t>- termV0t: TeX `v_0t`; SVG `Week01/.agent/lecture-slides/assets/equations/term-v0t.svg`; PNG `Week01/.agent/lecture-slides/assets/equations/term-v0t.png`; foreground `#2F6DB2`; target `302 × 48 px`; fit/crop `contain`; alt `LaTeX-rendered equation term v_0t`; QA `render-equations-diagrams, PNG scale 6, retained TeX/SVG`</a:t>
            </a:r>
          </a:p>
          <a:p xmlns:a="http://schemas.openxmlformats.org/drawingml/2006/main">
            <a:r>
              <a:t>- termGravity: TeX `-\frac{1}{2}gt^2`; SVG `Week01/.agent/lecture-slides/assets/equations/term-gravity.svg`; PNG `Week01/.agent/lecture-slides/assets/equations/term-gravity.png`; foreground `#C98A16`; target `302 × 90 px`; fit/crop `contain`; alt `LaTeX-rendered equation term -\frac{1}{2}gt^2`; QA `render-equations-diagrams, PNG scale 6, retained TeX/SVG`</a:t>
            </a:r>
          </a:p>
          <a:p xmlns:a="http://schemas.openxmlformats.org/drawingml/2006/main">
            <a:r>
              <a:t>- termPosition: TeX `y(t)`; SVG `Week01/.agent/lecture-slides/assets/equations/term-position.svg`; PNG `Week01/.agent/lecture-slides/assets/equations/term-position.png`; foreground `#3E8E45`; target `302 × 48 px`; fit/crop `contain`; alt `LaTeX-rendered equation term y(t)`; QA `render-equations-diagrams, PNG scale 6, retained TeX/SVG`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Course Topic and Difficulty Blueprint</a:t>
            </a:r>
          </a:p>
          <a:p xmlns:a="http://schemas.openxmlformats.org/drawingml/2006/main">
            <a:r>
              <a:t>- PHY4605 Week 01 content manifest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Week 01 content manifest</a:t>
            </a:r>
          </a:p>
          <a:p xmlns:a="http://schemas.openxmlformats.org/drawingml/2006/main">
            <a:r>
              <a:t>- MATLAB documentation: colon operator, linspace, and array indexing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Course Topic and Difficulty Blueprint</a:t>
            </a:r>
          </a:p>
          <a:p xmlns:a="http://schemas.openxmlformats.org/drawingml/2006/main">
            <a:r>
              <a:t>- MATLAB documentation: array vs matrix operations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Week 01 content manifest</a:t>
            </a:r>
          </a:p>
          <a:p xmlns:a="http://schemas.openxmlformats.org/drawingml/2006/main">
            <a:r>
              <a:t>- MATLAB figure generated by Week01/.agent/matlab/generate_week01_plot.m from retained MAT and CSV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Course Topic and Difficulty Blueprint</a:t>
            </a:r>
          </a:p>
          <a:p xmlns:a="http://schemas.openxmlformats.org/drawingml/2006/main">
            <a:r>
              <a:t>- Week 02 connection: pseudocode, loops, and debugging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PHY4605 Lecture Slide Deck Design Specification</a:t>
            </a:r>
          </a:p>
          <a:p xmlns:a="http://schemas.openxmlformats.org/drawingml/2006/main">
            <a:r>
              <a:t>- Working exposure only: selected outputs from y(t) = 20t - 0.5(9.81)t^2 for t = 0, 1, 2, 3, 4 s. This is a logical/table support slide, not a parameter sweep.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2542caa33b4a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2bd99f38b8e49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fb830be6af84a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07bf03ac36e409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295bf51ca014f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510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Open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course tag treatment"/>
          <p:cNvSpPr/>
          <p:nvPr>
            <p:ph type="body" idx="10"/>
          </p:nvPr>
        </p:nvSpPr>
        <p:spPr>
          <a:xfrm xmlns:a="http://schemas.openxmlformats.org/drawingml/2006/main">
            <a:off x="1095375" y="12001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1950" b="1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23336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615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4524375"/>
            <a:ext cx="1123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5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5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Content T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510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Content T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465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Content T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420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952625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5633d180634481" /><Relationship Type="http://schemas.openxmlformats.org/officeDocument/2006/relationships/slideLayout" Target="/ppt/slideLayouts/slideLayout1.xml" Id="R5f75916ce5ac4e75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7a90793f376349ac" /><Relationship Type="http://schemas.openxmlformats.org/officeDocument/2006/relationships/slideLayout" Target="/ppt/slideLayouts/slideLayout2.xml" Id="Rb03e99e98bb04edb" /><Relationship Type="http://schemas.openxmlformats.org/officeDocument/2006/relationships/slideLayout" Target="/ppt/slideLayouts/slideLayout3.xml" Id="R4828075a2b4040d0" /><Relationship Type="http://schemas.openxmlformats.org/officeDocument/2006/relationships/slideLayout" Target="/ppt/slideLayouts/slideLayout4.xml" Id="R8191ba7d67ff4791" /><Relationship Type="http://schemas.openxmlformats.org/officeDocument/2006/relationships/slideLayout" Target="/ppt/slideLayouts/slideLayout5.xml" Id="R1fcf5709158148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510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75916ce5ac4e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PHY4605 Borderless White Mast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HY4605 inherited title treatment"/>
          <p:cNvSpPr/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endParaRPr sz="5100" b="1">
              <a:solidFill>
                <a:srgbClr val="0B2B4C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" name="PHY4605 inherited subtitle treatment"/>
          <p:cNvSpPr/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endParaRPr sz="2250">
              <a:solidFill>
                <a:srgbClr val="3F4B57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" name="PHY4605 inherited slide-number treatment"/>
          <p:cNvSpPr/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endParaRPr sz="1650">
              <a:solidFill>
                <a:srgbClr val="697684"/>
              </a:solidFill>
              <a:latin typeface="Nunito"/>
              <a:ea typeface="Nunito"/>
              <a:cs typeface="Nunito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03e99e98bb04edb"/>
    <p:sldLayoutId xmlns:r="http://schemas.openxmlformats.org/officeDocument/2006/relationships" id="2147483652" r:id="R4828075a2b4040d0"/>
    <p:sldLayoutId xmlns:r="http://schemas.openxmlformats.org/officeDocument/2006/relationships" id="2147483653" r:id="R8191ba7d67ff4791"/>
    <p:sldLayoutId xmlns:r="http://schemas.openxmlformats.org/officeDocument/2006/relationships" id="2147483654" r:id="R1fcf570915814892"/>
  </p:sldLayoutIdLst>
</p:sldMaster>
</file>

<file path=ppt/slideMasters/theme/theme2.xml><?xml version="1.0" encoding="utf-8"?>
<a:theme xmlns:a="http://schemas.openxmlformats.org/drawingml/2006/main" name="ChatGPT">
  <a:themeElements>
    <a:clrScheme name="PHY4605">
      <a:dk1>
        <a:srgbClr val="0B2B4C"/>
      </a:dk1>
      <a:lt1>
        <a:srgbClr val="FFFFFF"/>
      </a:lt1>
      <a:dk2>
        <a:srgbClr val="3F4B57"/>
      </a:dk2>
      <a:lt2>
        <a:srgbClr val="F7F9FB"/>
      </a:lt2>
      <a:accent1>
        <a:srgbClr val="2F6DB2"/>
      </a:accent1>
      <a:accent2>
        <a:srgbClr val="2A9D9F"/>
      </a:accent2>
      <a:accent3>
        <a:srgbClr val="C98A16"/>
      </a:accent3>
      <a:accent4>
        <a:srgbClr val="6F4B9B"/>
      </a:accent4>
      <a:accent5>
        <a:srgbClr val="3E8E45"/>
      </a:accent5>
      <a:accent6>
        <a:srgbClr val="B3262E"/>
      </a:accent6>
      <a:hlink>
        <a:srgbClr val="2F6DB2"/>
      </a:hlink>
      <a:folHlink>
        <a:srgbClr val="6F4B9B"/>
      </a:folHlink>
    </a:clrScheme>
    <a:fontScheme name="Office">
      <a:majorFont>
        <a:latin typeface="Nunito"/>
        <a:ea typeface="Nunito"/>
        <a:cs typeface="Nunito"/>
      </a:majorFont>
      <a:minorFont>
        <a:latin typeface="Nunito"/>
        <a:ea typeface="Nunito"/>
        <a:cs typeface="Nunito"/>
      </a:minorFont>
    </a:fontScheme>
    <a:fmtScheme name="PHY4605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PHY4605">
      <a:dk1>
        <a:srgbClr val="0B2B4C"/>
      </a:dk1>
      <a:lt1>
        <a:srgbClr val="FFFFFF"/>
      </a:lt1>
      <a:dk2>
        <a:srgbClr val="3F4B57"/>
      </a:dk2>
      <a:lt2>
        <a:srgbClr val="F7F9FB"/>
      </a:lt2>
      <a:accent1>
        <a:srgbClr val="2F6DB2"/>
      </a:accent1>
      <a:accent2>
        <a:srgbClr val="2A9D9F"/>
      </a:accent2>
      <a:accent3>
        <a:srgbClr val="C98A16"/>
      </a:accent3>
      <a:accent4>
        <a:srgbClr val="6F4B9B"/>
      </a:accent4>
      <a:accent5>
        <a:srgbClr val="3E8E45"/>
      </a:accent5>
      <a:accent6>
        <a:srgbClr val="B3262E"/>
      </a:accent6>
      <a:hlink>
        <a:srgbClr val="2F6DB2"/>
      </a:hlink>
      <a:folHlink>
        <a:srgbClr val="6F4B9B"/>
      </a:folHlink>
    </a:clrScheme>
    <a:fontScheme name="Office">
      <a:majorFont>
        <a:latin typeface="Nunito"/>
        <a:ea typeface="Nunito"/>
        <a:cs typeface="Nunito"/>
      </a:majorFont>
      <a:minorFont>
        <a:latin typeface="Nunito"/>
        <a:ea typeface="Nunito"/>
        <a:cs typeface="Nunito"/>
      </a:minorFont>
    </a:fontScheme>
    <a:fmtScheme name="PHY4605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657ec18deb4adb" /><Relationship Type="http://schemas.openxmlformats.org/officeDocument/2006/relationships/image" Target="/ppt/media/image.png" Id="R45718c2fd6fc498d" /><Relationship Type="http://schemas.openxmlformats.org/officeDocument/2006/relationships/notesSlide" Target="/ppt/notesSlides/notesSlide1.xml" Id="R986fc33e4bf747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54c6bc16cd4d11" /><Relationship Type="http://schemas.openxmlformats.org/officeDocument/2006/relationships/image" Target="/ppt/media/image2.png" Id="Re903f0f17afb4008" /><Relationship Type="http://schemas.openxmlformats.org/officeDocument/2006/relationships/image" Target="/ppt/media/image3.png" Id="Rd9d4cc8ef9d846c8" /><Relationship Type="http://schemas.openxmlformats.org/officeDocument/2006/relationships/image" Target="/ppt/media/image4.png" Id="R24b217a819904129" /><Relationship Type="http://schemas.openxmlformats.org/officeDocument/2006/relationships/image" Target="/ppt/media/image5.png" Id="Rcc332849ae134329" /><Relationship Type="http://schemas.openxmlformats.org/officeDocument/2006/relationships/notesSlide" Target="/ppt/notesSlides/notesSlide2.xml" Id="Rad65b6c7a1e743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2d1d9c7e16548f6" /><Relationship Type="http://schemas.openxmlformats.org/officeDocument/2006/relationships/image" Target="/ppt/media/image6.png" Id="R117f6d998728483d" /><Relationship Type="http://schemas.openxmlformats.org/officeDocument/2006/relationships/image" Target="/ppt/media/image7.png" Id="R273c03c49df64c4b" /><Relationship Type="http://schemas.openxmlformats.org/officeDocument/2006/relationships/image" Target="/ppt/media/image8.png" Id="R5d3588b0f0ec4792" /><Relationship Type="http://schemas.openxmlformats.org/officeDocument/2006/relationships/notesSlide" Target="/ppt/notesSlides/notesSlide3.xml" Id="Re603e5e7074844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66438b950a643db" /><Relationship Type="http://schemas.openxmlformats.org/officeDocument/2006/relationships/image" Target="/ppt/media/image9.png" Id="R6246bc82b5d24333" /><Relationship Type="http://schemas.openxmlformats.org/officeDocument/2006/relationships/image" Target="/ppt/media/image10.png" Id="R016cd8c413114d98" /><Relationship Type="http://schemas.openxmlformats.org/officeDocument/2006/relationships/image" Target="/ppt/media/image11.png" Id="Rdfadd6ab6a8d4fd0" /><Relationship Type="http://schemas.openxmlformats.org/officeDocument/2006/relationships/image" Target="/ppt/media/image12.png" Id="Rdd3c3b617c084f53" /><Relationship Type="http://schemas.openxmlformats.org/officeDocument/2006/relationships/notesSlide" Target="/ppt/notesSlides/notesSlide4.xml" Id="R96be3c556f6a49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f49fb5625b14367" /><Relationship Type="http://schemas.openxmlformats.org/officeDocument/2006/relationships/image" Target="/ppt/media/image13.png" Id="R4c815d8ae236464b" /><Relationship Type="http://schemas.openxmlformats.org/officeDocument/2006/relationships/image" Target="/ppt/media/image14.png" Id="Redff347423004ed6" /><Relationship Type="http://schemas.openxmlformats.org/officeDocument/2006/relationships/image" Target="/ppt/media/image15.png" Id="R2c4454095ad74d30" /><Relationship Type="http://schemas.openxmlformats.org/officeDocument/2006/relationships/image" Target="/ppt/media/image16.png" Id="R9fdaea1b49e64c27" /><Relationship Type="http://schemas.openxmlformats.org/officeDocument/2006/relationships/image" Target="/ppt/media/image17.png" Id="R8d8872289d404465" /><Relationship Type="http://schemas.openxmlformats.org/officeDocument/2006/relationships/image" Target="/ppt/media/image18.png" Id="R89c03164095546de" /><Relationship Type="http://schemas.openxmlformats.org/officeDocument/2006/relationships/image" Target="/ppt/media/image19.png" Id="R2e70e7f8f3c4487a" /><Relationship Type="http://schemas.openxmlformats.org/officeDocument/2006/relationships/image" Target="/ppt/media/image20.png" Id="R38f030967bf84346" /><Relationship Type="http://schemas.openxmlformats.org/officeDocument/2006/relationships/notesSlide" Target="/ppt/notesSlides/notesSlide5.xml" Id="R0ba459a152cd47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37fa9f69e4460c" /><Relationship Type="http://schemas.openxmlformats.org/officeDocument/2006/relationships/notesSlide" Target="/ppt/notesSlides/notesSlide6.xml" Id="R22f4aeda881949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0eea73cff044c1" /><Relationship Type="http://schemas.openxmlformats.org/officeDocument/2006/relationships/image" Target="/ppt/media/image21.png" Id="R04db1f029fd34e52" /><Relationship Type="http://schemas.openxmlformats.org/officeDocument/2006/relationships/image" Target="/ppt/media/image22.png" Id="R0c2d4bd063674d8b" /><Relationship Type="http://schemas.openxmlformats.org/officeDocument/2006/relationships/image" Target="/ppt/media/image23.png" Id="R8c01dc2cf0544e97" /><Relationship Type="http://schemas.openxmlformats.org/officeDocument/2006/relationships/image" Target="/ppt/media/image24.png" Id="Ra9594efd1f6f48e4" /><Relationship Type="http://schemas.openxmlformats.org/officeDocument/2006/relationships/image" Target="/ppt/media/image25.png" Id="Rdf5940acede149a8" /><Relationship Type="http://schemas.openxmlformats.org/officeDocument/2006/relationships/image" Target="/ppt/media/image26.png" Id="Rece383ade4fe4dae" /><Relationship Type="http://schemas.openxmlformats.org/officeDocument/2006/relationships/notesSlide" Target="/ppt/notesSlides/notesSlide7.xml" Id="R6ec8417a9d8a4e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83caf3c04e485c" /><Relationship Type="http://schemas.openxmlformats.org/officeDocument/2006/relationships/notesSlide" Target="/ppt/notesSlides/notesSlide8.xml" Id="Rf12c930d890342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009267492f47f0" /><Relationship Type="http://schemas.openxmlformats.org/officeDocument/2006/relationships/notesSlide" Target="/ppt/notesSlides/notesSlide9.xml" Id="Ref41ac6f892948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ce70847a8d4b3d" /><Relationship Type="http://schemas.openxmlformats.org/officeDocument/2006/relationships/notesSlide" Target="/ppt/notesSlides/notesSlide10.xml" Id="R21c366e6b38a48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fc539904ee47dd" /><Relationship Type="http://schemas.openxmlformats.org/officeDocument/2006/relationships/image" Target="/ppt/media/image27.png" Id="Rb6f4a094d94b4425" /><Relationship Type="http://schemas.openxmlformats.org/officeDocument/2006/relationships/notesSlide" Target="/ppt/notesSlides/notesSlide11.xml" Id="R3c659069155041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37bb5d4e6f486f" /><Relationship Type="http://schemas.openxmlformats.org/officeDocument/2006/relationships/notesSlide" Target="/ppt/notesSlides/notesSlide12.xml" Id="Re59b0d98a17446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209b40f2e7f46c2" /><Relationship Type="http://schemas.openxmlformats.org/officeDocument/2006/relationships/notesSlide" Target="/ppt/notesSlides/notesSlide13.xml" Id="Ra49cd6838af24d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ourse-tag">
            <a:extLst xmlns:a="http://schemas.openxmlformats.org/drawingml/2006/main">
              <a:ext uri="{FF2B5EF4-FFF2-40B4-BE49-F238E27FC236}">
                <a16:creationId xmlns:a16="http://schemas.microsoft.com/office/drawing/2014/main" id="{44C274F3-E856-4F7E-939B-ACE4EC2D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2001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950" b="1">
                <a:solidFill>
                  <a:srgbClr val="3F4B57"/>
                </a:solidFill>
                <a:latin typeface="Nunito"/>
                <a:ea typeface="Nunito"/>
                <a:cs typeface="Nunito"/>
              </a:rPr>
              <a:t>PHY4605 Computational Methods in Physics</a:t>
            </a:r>
          </a:p>
        </p:txBody>
      </p:sp>
      <p:sp>
        <p:nvSpPr>
          <p:cNvPr id="2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50326116-3367-486A-BB7A-547D4D596ABB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23336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61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61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Physics to Arrays and Plots</a:t>
            </a:r>
          </a:p>
        </p:txBody>
      </p:sp>
      <p:sp>
        <p:nvSpPr>
          <p:cNvPr id="3" name="opening-subtitle">
            <a:extLst xmlns:a="http://schemas.openxmlformats.org/drawingml/2006/main">
              <a:ext uri="{FF2B5EF4-FFF2-40B4-BE49-F238E27FC236}">
                <a16:creationId xmlns:a16="http://schemas.microsoft.com/office/drawing/2014/main" id="{12A48451-5BBF-4655-8DEF-106DC33B55E3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4524375"/>
            <a:ext cx="1123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5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Week 1 | From Motion to MATLAB</a:t>
            </a:r>
          </a:p>
        </p:txBody>
      </p:sp>
      <p:pic>
        <p:nvPicPr>
          <p:cNvPr id="20" name="visual-projectile" descr="A ball at launch, at its highest point, and on return along one vertical dashed path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18c2fd6fc498d"/>
          <a:stretch xmlns:a="http://schemas.openxmlformats.org/drawingml/2006/main"/>
        </p:blipFill>
        <p:spPr>
          <a:xfrm xmlns:a="http://schemas.openxmlformats.org/drawingml/2006/main">
            <a:off x="12747625" y="1905000"/>
            <a:ext cx="3365500" cy="5048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D5713-28FC-443A-AC94-41792974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0" y="17335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highest 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CB8AE-BFA1-4670-9451-90E3E4CF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0" y="45720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return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8F562-047A-4200-BDC3-5259485D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1875" y="6572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launch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E9C72-7B33-48F5-83B9-37F92758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2809875"/>
            <a:ext cx="152400" cy="22860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F4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99A46-38F6-4114-9D4D-90494455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62375"/>
            <a:ext cx="85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3F4B57"/>
                </a:solidFill>
                <a:latin typeface="Nunito"/>
                <a:ea typeface="Nunito"/>
                <a:cs typeface="Nunito"/>
              </a:rPr>
              <a:t>gravity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0970F-C1C7-4110-8E51-E90EB4A2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858125"/>
            <a:ext cx="20002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physical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E2F31-1F30-4A65-9870-8DF76116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8058150"/>
            <a:ext cx="2857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A5E6F2-686F-4779-86BE-53E62723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7858125"/>
            <a:ext cx="20002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arrays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80897-CBE9-462D-8ABE-06216704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8058150"/>
            <a:ext cx="2857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5D4C9-6A79-44C1-9CC3-96C22636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7858125"/>
            <a:ext cx="20002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plot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D6057-DA4C-4402-B94D-3D085254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8058150"/>
            <a:ext cx="2857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B46AA-E669-4586-8359-C1F40393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7858125"/>
            <a:ext cx="20002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validation</a:t>
            </a:r>
          </a:p>
        </p:txBody>
      </p:sp>
    </p:spTree>
    <p:extLst>
      <p:ext uri="{BB962C8B-B14F-4D97-AF65-F5344CB8AC3E}">
        <p14:creationId xmlns:p14="http://schemas.microsoft.com/office/powerpoint/2010/main" val="8213227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itle-T1">
            <a:extLst xmlns:a="http://schemas.openxmlformats.org/drawingml/2006/main">
              <a:ext uri="{FF2B5EF4-FFF2-40B4-BE49-F238E27FC236}">
                <a16:creationId xmlns:a16="http://schemas.microsoft.com/office/drawing/2014/main" id="{A985FDEF-4599-4DCB-93E1-8576E6D3CCA8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Arrays store physical moments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737DFE4D-D8A9-442C-9E7E-598D27CDC689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Each index identifies one measurement time</a:t>
            </a:r>
          </a:p>
        </p:txBody>
      </p:sp>
      <p:pic>
        <p:nvPicPr>
          <p:cNvPr id="54" name="visual-array-motion" descr="Eleven evenly spaced snapshots of one ball: launch, rise, highest point, descent, and return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3f0f17afb4008"/>
          <a:stretch xmlns:a="http://schemas.openxmlformats.org/drawingml/2006/main"/>
        </p:blipFill>
        <p:spPr>
          <a:xfrm xmlns:a="http://schemas.openxmlformats.org/drawingml/2006/main">
            <a:off x="4653199" y="2047875"/>
            <a:ext cx="8981603" cy="3905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83304-2435-4D73-854F-40E8130D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476875"/>
            <a:ext cx="819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AB4B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704EC-272E-4E50-88B6-77F51C41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27B839-13FD-45B3-9937-9DBB9B83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305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DB2"/>
          </a:solidFill>
          <a:ln xmlns:a="http://schemas.openxmlformats.org/drawingml/2006/main" w="28575">
            <a:solidFill>
              <a:srgbClr val="2F6DB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E5E8E-AF74-42C4-98D1-2CD71005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ABE523-7DF1-41C2-B5AD-C4E83B1C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3F668-CAE6-4BC4-A55E-0CE9D055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F0CC5D-45ED-4AEA-BD86-E2F03F4C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7DC00-0895-489C-B950-33597619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9CA7-93D0-4648-8088-5238C04A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BD7A6-9506-4F35-A36C-B75CC4A6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D1457-4F2B-4CCC-BAEC-6755FE6F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2A62F-76D9-4EEE-9A9D-97D2C77A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32256-F1D3-480C-9782-CFA31064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F44635-C851-43D7-AB9E-FB3E9931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31A31-F44C-47CC-932F-000EE5AF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6891F-EC69-4162-93E4-85708B3F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F37DFD-48B5-47AB-A786-75B91E00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FA407-D315-4D2C-87B0-F114F1FF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05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DB2"/>
          </a:solidFill>
          <a:ln xmlns:a="http://schemas.openxmlformats.org/drawingml/2006/main" w="28575">
            <a:solidFill>
              <a:srgbClr val="2F6DB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374D0B-0B80-45C4-B34D-F807FE8B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A21406-B4E7-4722-BC51-5D4FCDD6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348AC2-D3CC-48D9-B221-56DA25BD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395746-237D-4692-9A10-64076144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1150B7-2C1E-483E-9119-708EAE61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D660A1-99DC-4A20-8EE6-EBFF10A5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551B3E-E6DA-415A-978F-01011FAB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770EA5-7ADD-48EE-B935-BC4097C5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4BD939-3B37-42A2-8C89-83F80D41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AEADA8-DBE5-447C-9826-3EE77DA0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D089BD-54B9-4C6E-B17F-F0CAD1D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DB2E60-DFF0-4DCD-8621-BAF69233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53816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FCE6C-086C-4317-9D61-D65D17B1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3066CA-F7F2-4E28-9AB2-A5A973F8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0" y="5172075"/>
            <a:ext cx="0" cy="161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EF5F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310B7C-4B35-4259-9A20-5A7BC10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1150" y="5305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DB2"/>
          </a:solidFill>
          <a:ln xmlns:a="http://schemas.openxmlformats.org/drawingml/2006/main" w="28575">
            <a:solidFill>
              <a:srgbClr val="2F6DB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5E4C51-23DD-46E8-A4D1-8FCD17A4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58388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11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6D3F7-D4B3-4617-BB8C-B80C3219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6286500"/>
            <a:ext cx="29527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9E11AB-B477-4F3F-9D8D-241478DA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6496050"/>
            <a:ext cx="245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launch</a:t>
            </a:r>
          </a:p>
        </p:txBody>
      </p:sp>
      <p:pic>
        <p:nvPicPr>
          <p:cNvPr id="91" name="equation-arrayStart" descr="LaTeX-rendered expression t(1) equals 0.0 second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4cc8ef9d846c8"/>
          <a:stretch xmlns:a="http://schemas.openxmlformats.org/drawingml/2006/main"/>
        </p:blipFill>
        <p:spPr>
          <a:xfrm xmlns:a="http://schemas.openxmlformats.org/drawingml/2006/main">
            <a:off x="4023078" y="6953250"/>
            <a:ext cx="1936044" cy="40005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C5FBF2-B7A5-4C9E-8130-EE125DD0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7448550"/>
            <a:ext cx="245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initial condition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B26FEF-9D4F-4AE9-9289-766CE057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286500"/>
            <a:ext cx="29527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FA9531-A76A-400A-8806-FDF3FF69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496050"/>
            <a:ext cx="245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middle</a:t>
            </a:r>
          </a:p>
        </p:txBody>
      </p:sp>
      <p:pic>
        <p:nvPicPr>
          <p:cNvPr id="95" name="equation-arrayPeak" descr="LaTeX-rendered expression t(6) equals 2.0 second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217a819904129"/>
          <a:stretch xmlns:a="http://schemas.openxmlformats.org/drawingml/2006/main"/>
        </p:blipFill>
        <p:spPr>
          <a:xfrm xmlns:a="http://schemas.openxmlformats.org/drawingml/2006/main">
            <a:off x="8118828" y="6953250"/>
            <a:ext cx="1936044" cy="400050"/>
          </a:xfrm>
          <a:prstGeom xmlns:a="http://schemas.openxmlformats.org/drawingml/2006/main" prst="rect">
            <a:avLst/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812A70-82DB-4BBC-8DE0-B5C66A0E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7448550"/>
            <a:ext cx="245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at the peak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BF1DDC-9506-431F-9B9A-A87BBDA9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6225" y="6286500"/>
            <a:ext cx="29527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1E828E-22A9-495C-B83A-C073510E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6496050"/>
            <a:ext cx="245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end</a:t>
            </a:r>
          </a:p>
        </p:txBody>
      </p:sp>
      <p:pic>
        <p:nvPicPr>
          <p:cNvPr id="99" name="equation-arrayEnd" descr="LaTeX-rendered expression t(11) equals 4.0 second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32849ae134329"/>
          <a:stretch xmlns:a="http://schemas.openxmlformats.org/drawingml/2006/main"/>
        </p:blipFill>
        <p:spPr>
          <a:xfrm xmlns:a="http://schemas.openxmlformats.org/drawingml/2006/main">
            <a:off x="12113331" y="6953250"/>
            <a:ext cx="2138539" cy="400050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0233EDB-9527-4BBD-B022-1ED089CC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7448550"/>
            <a:ext cx="2457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near return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D1F9B33-6F13-49DA-89E1-81A7CD12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8305800"/>
            <a:ext cx="1428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The number in parentheses selects one physical moment from the array</a:t>
            </a:r>
          </a:p>
        </p:txBody>
      </p:sp>
      <p:sp>
        <p:nvSpPr>
          <p:cNvPr id="51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0177282A-D393-413A-8E87-F8708645F8F9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75543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T2">
            <a:extLst xmlns:a="http://schemas.openxmlformats.org/drawingml/2006/main">
              <a:ext uri="{FF2B5EF4-FFF2-40B4-BE49-F238E27FC236}">
                <a16:creationId xmlns:a16="http://schemas.microsoft.com/office/drawing/2014/main" id="{CD2813F3-A711-4308-9024-DF25BCFACA30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46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 labelled plot turns values into evidence</a:t>
            </a:r>
          </a:p>
        </p:txBody>
      </p:sp>
      <p:sp>
        <p:nvSpPr>
          <p:cNvPr id="2" name="subtitle-T2">
            <a:extLst xmlns:a="http://schemas.openxmlformats.org/drawingml/2006/main">
              <a:ext uri="{FF2B5EF4-FFF2-40B4-BE49-F238E27FC236}">
                <a16:creationId xmlns:a16="http://schemas.microsoft.com/office/drawing/2014/main" id="{02F7F329-E5AE-4C4C-85C7-5D397735F37D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Axes, units, and shape must agree with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1E788-A901-454A-A75D-5421EC2C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476500"/>
            <a:ext cx="4000500" cy="54292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AA42C-B5E5-4EEA-906C-E9F90331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384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Before plotting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7BE03-972B-437A-B9B4-BDB8ADF5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714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9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starts at</a:t>
            </a:r>
          </a:p>
        </p:txBody>
      </p:sp>
      <p:pic>
        <p:nvPicPr>
          <p:cNvPr id="20" name="equation-prediction-1" descr="LaTeX-rendered expression y equals 0 metr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f6d998728483d"/>
          <a:stretch xmlns:a="http://schemas.openxmlformats.org/drawingml/2006/main"/>
        </p:blipFill>
        <p:spPr>
          <a:xfrm xmlns:a="http://schemas.openxmlformats.org/drawingml/2006/main">
            <a:off x="1994481" y="4076700"/>
            <a:ext cx="1745087" cy="457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1F90F-4533-4ADC-A247-4B59E117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38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9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rises 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653B3-AD2D-4C9F-A816-E4E434BA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2387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one maximum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54680-A89D-42C0-9736-ECE750F1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9626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9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returns to</a:t>
            </a:r>
          </a:p>
        </p:txBody>
      </p:sp>
      <p:pic>
        <p:nvPicPr>
          <p:cNvPr id="24" name="equation-prediction-3" descr="LaTeX-rendered expression y is approximately 0 metr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c03c49df64c4b"/>
          <a:stretch xmlns:a="http://schemas.openxmlformats.org/drawingml/2006/main"/>
        </p:blipFill>
        <p:spPr>
          <a:xfrm xmlns:a="http://schemas.openxmlformats.org/drawingml/2006/main">
            <a:off x="1997701" y="6324600"/>
            <a:ext cx="1738648" cy="457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76150-9A0C-4862-9219-46DE6D05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7067550"/>
            <a:ext cx="2381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prediction first</a:t>
            </a:r>
          </a:p>
        </p:txBody>
      </p:sp>
      <p:pic>
        <p:nvPicPr>
          <p:cNvPr id="26" name="matlab-height-time-figure" descr="MATLAB-generated height-versus-time plot for vertical motion with LaTeX-interpreted lab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588b0f0ec4792"/>
          <a:stretch xmlns:a="http://schemas.openxmlformats.org/drawingml/2006/main"/>
        </p:blipFill>
        <p:spPr>
          <a:xfrm xmlns:a="http://schemas.openxmlformats.org/drawingml/2006/main">
            <a:off x="6502161" y="2381250"/>
            <a:ext cx="9284178" cy="5810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BBDEB-C04B-4A43-B42B-FFC0CF5A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83058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Does the curve match all three predictions?</a:t>
            </a:r>
          </a:p>
        </p:txBody>
      </p:sp>
      <p:sp>
        <p:nvSpPr>
          <p:cNvPr id="14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0E53A367-5A10-4EC5-A615-4FB6740503A1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949732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T3">
            <a:extLst xmlns:a="http://schemas.openxmlformats.org/drawingml/2006/main">
              <a:ext uri="{FF2B5EF4-FFF2-40B4-BE49-F238E27FC236}">
                <a16:creationId xmlns:a16="http://schemas.microsoft.com/office/drawing/2014/main" id="{7504B3B8-42CB-4228-AC31-37A8F30D3A10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42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 boundary check can reveal an error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2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42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that a smooth curve hides</a:t>
            </a:r>
          </a:p>
        </p:txBody>
      </p:sp>
      <p:sp>
        <p:nvSpPr>
          <p:cNvPr id="2" name="subtitle-T3">
            <a:extLst xmlns:a="http://schemas.openxmlformats.org/drawingml/2006/main">
              <a:ext uri="{FF2B5EF4-FFF2-40B4-BE49-F238E27FC236}">
                <a16:creationId xmlns:a16="http://schemas.microsoft.com/office/drawing/2014/main" id="{E95EDD2A-0586-4CFC-BB6B-32A194073178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952625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Use a known condition before trusting the full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7207E-02BD-4629-A9B1-92BE0DD0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0480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Known condition</a:t>
            </a:r>
          </a:p>
        </p:txBody>
      </p:sp>
      <p:pic>
        <p:nvPicPr>
          <p:cNvPr id="21" name="visual-launch-boundary" descr="A ball on the ground at launch with an upward initial-velocity arrow and downward gravity arro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6bc82b5d24333"/>
          <a:stretch xmlns:a="http://schemas.openxmlformats.org/drawingml/2006/main"/>
        </p:blipFill>
        <p:spPr>
          <a:xfrm xmlns:a="http://schemas.openxmlformats.org/drawingml/2006/main">
            <a:off x="1539875" y="3571875"/>
            <a:ext cx="2254250" cy="33813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CA492-795E-4044-846A-67013023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3095625" cy="3143250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30438-FAC3-44A7-B0F4-BBFAAD13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1480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At launch</a:t>
            </a:r>
          </a:p>
        </p:txBody>
      </p:sp>
      <p:pic>
        <p:nvPicPr>
          <p:cNvPr id="24" name="equation-launch-time" descr="LaTeX-rendered expression t equals 0 second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cd8c413114d98"/>
          <a:stretch xmlns:a="http://schemas.openxmlformats.org/drawingml/2006/main"/>
        </p:blipFill>
        <p:spPr>
          <a:xfrm xmlns:a="http://schemas.openxmlformats.org/drawingml/2006/main">
            <a:off x="5319713" y="4810125"/>
            <a:ext cx="1600200" cy="40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2F847-6381-41BF-BEAF-CBB24CA3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5530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9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must give</a:t>
            </a:r>
          </a:p>
        </p:txBody>
      </p:sp>
      <p:pic>
        <p:nvPicPr>
          <p:cNvPr id="26" name="equation-launch-height" descr="LaTeX-rendered expression y equals 0 metr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dd6ab6a8d4fd0"/>
          <a:stretch xmlns:a="http://schemas.openxmlformats.org/drawingml/2006/main"/>
        </p:blipFill>
        <p:spPr>
          <a:xfrm xmlns:a="http://schemas.openxmlformats.org/drawingml/2006/main">
            <a:off x="5247269" y="5981700"/>
            <a:ext cx="1745087" cy="4572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B916F-C113-4623-8105-299A94ED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Computed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EC2FC-603B-41C1-9111-7E566FE4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723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pic>
        <p:nvPicPr>
          <p:cNvPr id="29" name="equation-computed-first-value" descr="LaTeX-rendered validation result y(1) equals 0.000 metr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c3b617c084f53"/>
          <a:stretch xmlns:a="http://schemas.openxmlformats.org/drawingml/2006/main"/>
        </p:blipFill>
        <p:spPr>
          <a:xfrm xmlns:a="http://schemas.openxmlformats.org/drawingml/2006/main">
            <a:off x="10295819" y="4305300"/>
            <a:ext cx="2935111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617049-8050-4587-891D-4AA6B1DB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0" y="42862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E4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1905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2DBAC-ABBC-4EF1-84B1-2F0D0EE4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The first array value satisfies the launch condition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4990DD-FAD2-4275-869C-B21510B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24750"/>
            <a:ext cx="15001875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D7AB2-B435-45EA-95E8-04472D17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829550"/>
            <a:ext cx="1409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 smooth graph is not enough: test at least one value that physics already tells you</a:t>
            </a:r>
          </a:p>
        </p:txBody>
      </p:sp>
      <p:sp>
        <p:nvSpPr>
          <p:cNvPr id="17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C6B512F-A2A0-42D4-B883-45357B1EB631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9734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itle-T1">
            <a:extLst xmlns:a="http://schemas.openxmlformats.org/drawingml/2006/main">
              <a:ext uri="{FF2B5EF4-FFF2-40B4-BE49-F238E27FC236}">
                <a16:creationId xmlns:a16="http://schemas.microsoft.com/office/drawing/2014/main" id="{AC79F7EE-BCE9-4BBB-B41F-B22301B9F6AD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Names and units keep the model readable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85DA6C2F-789C-4C10-A3E9-377681079246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Translate each physical quantity before writing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B884B-9B86-4072-9C16-51C2408A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336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physics symbol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94F1C-CC58-432F-B7E7-DA6E7C6F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533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meaning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136A5-7B26-4826-8A94-84BE7E62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336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MATLAB name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67F08-E7AA-4B38-A338-D03C9AA4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25336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697684"/>
                </a:solidFill>
                <a:latin typeface="Nunito"/>
                <a:ea typeface="Nunito"/>
                <a:cs typeface="Nunito"/>
              </a:rPr>
              <a:t>unit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52E5E-6CC9-43B4-BA02-7F604857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143250"/>
            <a:ext cx="1500187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pic>
        <p:nvPicPr>
          <p:cNvPr id="36" name="equation-symbol-1" descr="LaTeX-rendered symbol 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815d8ae236464b"/>
          <a:stretch xmlns:a="http://schemas.openxmlformats.org/drawingml/2006/main"/>
        </p:blipFill>
        <p:spPr>
          <a:xfrm xmlns:a="http://schemas.openxmlformats.org/drawingml/2006/main">
            <a:off x="1872762" y="3352800"/>
            <a:ext cx="254977" cy="457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170B5-40AE-4763-AFF9-89D716A0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D3258-09DF-457E-B753-F3349E94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6232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</a:t>
            </a:r>
          </a:p>
        </p:txBody>
      </p:sp>
      <p:pic>
        <p:nvPicPr>
          <p:cNvPr id="39" name="equation-unit-1" descr="LaTeX-rendered SI unit second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f347423004ed6"/>
          <a:stretch xmlns:a="http://schemas.openxmlformats.org/drawingml/2006/main"/>
        </p:blipFill>
        <p:spPr>
          <a:xfrm xmlns:a="http://schemas.openxmlformats.org/drawingml/2006/main">
            <a:off x="13179253" y="3533775"/>
            <a:ext cx="140043" cy="1619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89802-CA3E-4DF5-BAEB-186D3B0A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362450"/>
            <a:ext cx="1500187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2A9D9F"/>
            </a:solidFill>
            <a:prstDash val="solid"/>
          </a:ln>
        </p:spPr>
      </p:sp>
      <p:pic>
        <p:nvPicPr>
          <p:cNvPr id="41" name="equation-symbol-2" descr="LaTeX-rendered symbol 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454095ad74d30"/>
          <a:stretch xmlns:a="http://schemas.openxmlformats.org/drawingml/2006/main"/>
        </p:blipFill>
        <p:spPr>
          <a:xfrm xmlns:a="http://schemas.openxmlformats.org/drawingml/2006/main">
            <a:off x="1827722" y="4572000"/>
            <a:ext cx="345057" cy="4572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C486E-69E1-48AC-8330-50AC4BE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60057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vertical 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8A41C-7EF4-4CB0-9A88-EE3FB4B1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8152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y</a:t>
            </a:r>
          </a:p>
        </p:txBody>
      </p:sp>
      <p:pic>
        <p:nvPicPr>
          <p:cNvPr id="44" name="equation-unit-2" descr="LaTeX-rendered SI unit metr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aea1b49e64c27"/>
          <a:stretch xmlns:a="http://schemas.openxmlformats.org/drawingml/2006/main"/>
        </p:blipFill>
        <p:spPr>
          <a:xfrm xmlns:a="http://schemas.openxmlformats.org/drawingml/2006/main">
            <a:off x="13096346" y="4752975"/>
            <a:ext cx="305858" cy="16192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40044-A71F-4BC7-BDCD-A3920C4F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581650"/>
            <a:ext cx="1500187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pic>
        <p:nvPicPr>
          <p:cNvPr id="46" name="equation-symbol-3" descr="LaTeX-rendered symbol v subscript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872289d404465"/>
          <a:stretch xmlns:a="http://schemas.openxmlformats.org/drawingml/2006/main"/>
        </p:blipFill>
        <p:spPr>
          <a:xfrm xmlns:a="http://schemas.openxmlformats.org/drawingml/2006/main">
            <a:off x="1657350" y="5791200"/>
            <a:ext cx="6858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6266D-B783-481D-9EC3-A2E5A1E0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81977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initial velocity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79B9A-4D09-4246-842A-82091D5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80072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v0</a:t>
            </a:r>
          </a:p>
        </p:txBody>
      </p:sp>
      <p:pic>
        <p:nvPicPr>
          <p:cNvPr id="49" name="equation-unit-3" descr="LaTeX-rendered SI unit metres per seco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03164095546de"/>
          <a:stretch xmlns:a="http://schemas.openxmlformats.org/drawingml/2006/main"/>
        </p:blipFill>
        <p:spPr>
          <a:xfrm xmlns:a="http://schemas.openxmlformats.org/drawingml/2006/main">
            <a:off x="13482181" y="5924550"/>
            <a:ext cx="658138" cy="2476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09468B-D880-464F-808A-1535B480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800850"/>
            <a:ext cx="1500187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pic>
        <p:nvPicPr>
          <p:cNvPr id="51" name="equation-symbol-4" descr="LaTeX-rendered symbol 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0e7f8f3c4487a"/>
          <a:stretch xmlns:a="http://schemas.openxmlformats.org/drawingml/2006/main"/>
        </p:blipFill>
        <p:spPr>
          <a:xfrm xmlns:a="http://schemas.openxmlformats.org/drawingml/2006/main">
            <a:off x="1832035" y="7010400"/>
            <a:ext cx="336430" cy="4572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0CEE8A-D78D-44CC-8FCA-F24971AC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703897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gravitational acceleration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0552F7-F9D4-484C-B4B5-E9B15B03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701992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g</a:t>
            </a:r>
          </a:p>
        </p:txBody>
      </p:sp>
      <p:pic>
        <p:nvPicPr>
          <p:cNvPr id="54" name="equation-unit-4" descr="LaTeX-rendered SI unit metres per second square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030967bf84346"/>
          <a:stretch xmlns:a="http://schemas.openxmlformats.org/drawingml/2006/main"/>
        </p:blipFill>
        <p:spPr>
          <a:xfrm xmlns:a="http://schemas.openxmlformats.org/drawingml/2006/main">
            <a:off x="13482181" y="7143750"/>
            <a:ext cx="658138" cy="2476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D3EA9E-F970-4C20-85DB-3FF3BBC7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8305800"/>
            <a:ext cx="1428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Readable names reduce syntax mistakes and make unit checks easier</a:t>
            </a:r>
          </a:p>
        </p:txBody>
      </p:sp>
      <p:sp>
        <p:nvSpPr>
          <p:cNvPr id="28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50436423-91BD-4212-969C-7B917CF39687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35652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T1">
            <a:extLst xmlns:a="http://schemas.openxmlformats.org/drawingml/2006/main">
              <a:ext uri="{FF2B5EF4-FFF2-40B4-BE49-F238E27FC236}">
                <a16:creationId xmlns:a16="http://schemas.microsoft.com/office/drawing/2014/main" id="{4D1222CF-626D-4B63-8357-AA9FC606288C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Short code should expose the physics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4C00CAA6-5092-4698-9B71-FC33252F545B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571625"/>
            <a:ext cx="1504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The algorithm appears before the MATLAB syntax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B6EDD5-6163-46E4-9C60-F3FB142F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476500"/>
            <a:ext cx="628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Plain-language algorithm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CAD90-EF7A-4241-9191-91EE916C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2385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AC60A-4FED-4DA8-ADA8-7DDC0429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147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Choose the model parameters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CFD4C-86AD-4041-8BFA-665790D4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90950"/>
            <a:ext cx="1143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4ED77-29EB-426C-8759-A8774827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1910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31309-0884-4F01-A20F-2557201A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672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Create an array of times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725D9-3FFF-4CFA-9116-C3F867BA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43450"/>
            <a:ext cx="1143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7C926-9765-4432-A87B-06882C3E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1435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8A2C7-B565-4526-8C8B-42EAF80E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197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Calculate height at every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B2052-269B-47E2-9CFC-C9CD6CC3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695950"/>
            <a:ext cx="1143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CD28E7-2331-448D-B61D-63F969C3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0960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79570-5481-41BB-B3D9-6AF1BF3C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61722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Plot height against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56B321-84DC-43B4-BFD1-DE02FF0F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648450"/>
            <a:ext cx="1143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153E27-5081-448D-A776-21220C53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485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E0C572-485F-45C7-A360-D03FCB76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1247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Check the launch value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2FF1F-56AD-4567-BAA4-45769B8C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7524750" cy="542925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983C2A-1819-4FFD-84F1-AD6E08C3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10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MATLAB</a:t>
            </a:r>
          </a:p>
        </p:txBody>
      </p:sp>
      <p:sp>
        <p:nvSpPr>
          <p:cNvPr id="20" name="code-sample">
            <a:extLst xmlns:a="http://schemas.openxmlformats.org/drawingml/2006/main">
              <a:ext uri="{FF2B5EF4-FFF2-40B4-BE49-F238E27FC236}">
                <a16:creationId xmlns:a16="http://schemas.microsoft.com/office/drawing/2014/main" id="{08CAA20A-1EB1-4A24-87DA-77FD1FB2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657225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% model parameters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v0 = 20;       % m/s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g  = 9.81;     % m/s^2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% array of times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 = linspace(0,4,11);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% height at every time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y = v0.*t - 0.5*g.*t.^2;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plot(t,y,'LineWidth',2)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9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y(1)            % boundary check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4F523-6919-417E-89C1-266E3867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8305800"/>
            <a:ext cx="1428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.* and .^ apply the operation to every array element</a:t>
            </a:r>
          </a:p>
        </p:txBody>
      </p:sp>
      <p:sp>
        <p:nvSpPr>
          <p:cNvPr id="22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DEE20350-5485-4C29-A818-6A5A9E1D7A1A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60189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T1">
            <a:extLst xmlns:a="http://schemas.openxmlformats.org/drawingml/2006/main">
              <a:ext uri="{FF2B5EF4-FFF2-40B4-BE49-F238E27FC236}">
                <a16:creationId xmlns:a16="http://schemas.microsoft.com/office/drawing/2014/main" id="{23D818BF-2FB4-47EC-817F-546FE36FF092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The equation links each term to motion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B3015A30-6E55-43D4-9D25-1CB4F242217A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Read the model from left to right before evaluating it</a:t>
            </a:r>
          </a:p>
        </p:txBody>
      </p:sp>
      <p:pic>
        <p:nvPicPr>
          <p:cNvPr id="22" name="equation-position-model" descr="LaTeX-rendered equation y of t equals y subscript 0 plus v subscript 0 t minus one half g t square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b1f029fd34e52"/>
          <a:stretch xmlns:a="http://schemas.openxmlformats.org/drawingml/2006/main"/>
        </p:blipFill>
        <p:spPr>
          <a:xfrm xmlns:a="http://schemas.openxmlformats.org/drawingml/2006/main">
            <a:off x="5814753" y="2095500"/>
            <a:ext cx="6658495" cy="1371600"/>
          </a:xfrm>
          <a:prstGeom xmlns:a="http://schemas.openxmlformats.org/drawingml/2006/main" prst="rect">
            <a:avLst/>
          </a:prstGeom>
        </p:spPr>
      </p:pic>
      <p:pic>
        <p:nvPicPr>
          <p:cNvPr id="23" name="visual-equation-motion" descr="Five time snapshots of one ball at vertical positions: launch, rise, peak, descent, and return; each position has a vertical guid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d4bd063674d8b"/>
          <a:stretch xmlns:a="http://schemas.openxmlformats.org/drawingml/2006/main"/>
        </p:blipFill>
        <p:spPr>
          <a:xfrm xmlns:a="http://schemas.openxmlformats.org/drawingml/2006/main">
            <a:off x="5905500" y="3524250"/>
            <a:ext cx="5334000" cy="304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C8E34-3C70-47BB-A7AE-6135E0C0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477000"/>
            <a:ext cx="3333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pic>
        <p:nvPicPr>
          <p:cNvPr id="25" name="equation-term-termY0" descr="LaTeX-rendered equation term y subscript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1dc2cf0544e97"/>
          <a:stretch xmlns:a="http://schemas.openxmlformats.org/drawingml/2006/main"/>
        </p:blipFill>
        <p:spPr>
          <a:xfrm xmlns:a="http://schemas.openxmlformats.org/drawingml/2006/main">
            <a:off x="2438759" y="6781800"/>
            <a:ext cx="646981" cy="457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DCF9B-D197-4ADC-8640-CDBD1618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742950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starting 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74453-9F51-4318-95B9-7DEAF336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6477000"/>
            <a:ext cx="3333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pic>
        <p:nvPicPr>
          <p:cNvPr id="28" name="equation-term-termV0t" descr="LaTeX-rendered equation term v subscript 0 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94efd1f6f48e4"/>
          <a:stretch xmlns:a="http://schemas.openxmlformats.org/drawingml/2006/main"/>
        </p:blipFill>
        <p:spPr>
          <a:xfrm xmlns:a="http://schemas.openxmlformats.org/drawingml/2006/main">
            <a:off x="6296025" y="6781800"/>
            <a:ext cx="742950" cy="4572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C1608-03AC-432C-9B6F-C09FEF3C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742950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upward contribution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25423-71E2-4396-8242-24E88562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6477000"/>
            <a:ext cx="3333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pic>
        <p:nvPicPr>
          <p:cNvPr id="31" name="equation-term-termGravity" descr="LaTeX-rendered equation term minus one half g t square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940acede149a8"/>
          <a:stretch xmlns:a="http://schemas.openxmlformats.org/drawingml/2006/main"/>
        </p:blipFill>
        <p:spPr>
          <a:xfrm xmlns:a="http://schemas.openxmlformats.org/drawingml/2006/main">
            <a:off x="9938905" y="6553200"/>
            <a:ext cx="1267691" cy="85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26E98-F10A-4D0C-BD4C-4A20FD4E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742950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gravity contribution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62601-9CD6-48D0-98FF-858674A0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6477000"/>
            <a:ext cx="3333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pic>
        <p:nvPicPr>
          <p:cNvPr id="34" name="equation-term-termPosition" descr="LaTeX-rendered equation term y of 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383ade4fe4dae"/>
          <a:stretch xmlns:a="http://schemas.openxmlformats.org/drawingml/2006/main"/>
        </p:blipFill>
        <p:spPr>
          <a:xfrm xmlns:a="http://schemas.openxmlformats.org/drawingml/2006/main">
            <a:off x="14102644" y="6781800"/>
            <a:ext cx="750711" cy="4572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C084F-0F06-444D-8E5A-CB5B4539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9725" y="742950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8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predicted position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D39349-3B08-4F18-AB9D-F456247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8096250"/>
            <a:ext cx="12001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2A9D9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9AE97-41ED-493C-BBC1-64C828B1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8277225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A9D9F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A9D9F"/>
                </a:solidFill>
                <a:latin typeface="Nunito"/>
                <a:ea typeface="Nunito"/>
                <a:cs typeface="Nunito"/>
              </a:rPr>
              <a:t>Unit check: every term on the right must have units of metres</a:t>
            </a:r>
          </a:p>
        </p:txBody>
      </p:sp>
      <p:sp>
        <p:nvSpPr>
          <p:cNvPr id="1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0F9B52B8-7B1F-46BB-8F3C-4882F4883E81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600685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itle-T1">
            <a:extLst xmlns:a="http://schemas.openxmlformats.org/drawingml/2006/main">
              <a:ext uri="{FF2B5EF4-FFF2-40B4-BE49-F238E27FC236}">
                <a16:creationId xmlns:a16="http://schemas.microsoft.com/office/drawing/2014/main" id="{E3FEADC2-3A71-4074-8105-ECF010630868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Trace one model from physics to a graph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3A8718B0-909B-4C3F-9E13-551613E4AFEC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Use the same reasoning chain every time you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5ADD3-417D-477C-B408-246FFE22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81475"/>
            <a:ext cx="762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A7104-0123-4FD0-9CA4-8CF6B8FB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81475"/>
            <a:ext cx="762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AB9C1-7BD6-46D5-AA94-1E7994E2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2875" y="4181475"/>
            <a:ext cx="762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AB4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DC4283-1117-4D8A-8EEB-99895B48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71750"/>
            <a:ext cx="3143250" cy="3810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05D5C-524A-4BED-894C-4B136AD7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857500"/>
            <a:ext cx="6096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05CCD-9F8A-4FD5-9CEE-65B747B7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60045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D9FD7-562D-45D4-A694-47FD37CA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429125"/>
            <a:ext cx="2619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question, direction,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variables, and units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F669B-605B-436B-A28D-B9DBD72B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3143250" cy="3810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4CADC-FC8F-47C1-A920-1AA52D9B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57500"/>
            <a:ext cx="6096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31419-3ECD-4A30-A007-7C853930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60045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Algorithm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F8AFA-4E4E-4A78-88C2-A4F8EFB8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429125"/>
            <a:ext cx="2619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time array, calculate,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plot, then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0C21AF-B778-4B91-B9DB-EFF99587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71750"/>
            <a:ext cx="3143250" cy="3810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38ECE-5EF2-4018-9478-53D0E7F2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857500"/>
            <a:ext cx="6096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59E380-CD16-4E5E-8617-95B9212C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60045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EDEC6-1754-430A-8718-9180CAF1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4429125"/>
            <a:ext cx="2619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read the dots in .*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and .^ before running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05848F-7266-470E-B1C5-660FF697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3143250" cy="3810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EE30C6-F4BA-4DE4-87B6-91D1FDC7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2857500"/>
            <a:ext cx="6096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09813-0C54-4C80-BC04-982AB786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360045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5D52C4-F7CA-457E-9069-6B9D4A08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4429125"/>
            <a:ext cx="261937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prediction, labelled plot,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and launch-value 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E0C063-B4E0-4C4D-81F5-DE98FD09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48500"/>
            <a:ext cx="15001875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326A3E-08A7-4C5F-B4AD-402BBD47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372350"/>
            <a:ext cx="1414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Checkpoint: which step would help you find a wrong sign in the model?</a:t>
            </a:r>
          </a:p>
        </p:txBody>
      </p:sp>
      <p:sp>
        <p:nvSpPr>
          <p:cNvPr id="24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6371E8FE-3B2F-486B-801E-0C151B00B310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674985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T1">
            <a:extLst xmlns:a="http://schemas.openxmlformats.org/drawingml/2006/main">
              <a:ext uri="{FF2B5EF4-FFF2-40B4-BE49-F238E27FC236}">
                <a16:creationId xmlns:a16="http://schemas.microsoft.com/office/drawing/2014/main" id="{BDAE99FC-7192-4DA4-8040-AEFFBC885962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Build the time array first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A3789155-89FA-4935-BB94-B6F98C7383BF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The model needs one time value for each computed height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5BB88-680F-48DC-9D62-19B698D7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14625"/>
            <a:ext cx="6858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8C1C7-EBAA-457F-B21D-47169002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95625"/>
            <a:ext cx="590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Two ways to make 41 samples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3B7D8-597F-49B9-9A76-7C6EFD99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000500"/>
            <a:ext cx="552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5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t_s = 0:0.1:4;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D44BF-2F1D-4500-8C6C-E0D6C579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577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210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56BEF-C717-4A92-916D-F10AA405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5245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5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t_s = linspace(0,4,41);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F4CAD-C73C-4BAB-A4D0-22E70720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14625"/>
            <a:ext cx="7239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3B5D95-5CA5-4057-8890-854923E8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956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Read one indexed value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FAAE7D-BEEF-45F7-83D9-E4765CF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9575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length(t_s)     % 41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B6FBB-D974-4C02-B27D-28785333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4350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t_s(11)         % 1.0 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12A77-AAFE-4B02-A39C-525CDE50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0"/>
            <a:ext cx="1428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MATLAB indices start at 1: t_s(1) is the launch time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A568B047-4676-48D2-BCCB-A7806D8A08B0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411982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T1">
            <a:extLst xmlns:a="http://schemas.openxmlformats.org/drawingml/2006/main">
              <a:ext uri="{FF2B5EF4-FFF2-40B4-BE49-F238E27FC236}">
                <a16:creationId xmlns:a16="http://schemas.microsoft.com/office/drawing/2014/main" id="{DA944C53-60FA-4DE2-BF30-F224F5ABF467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Dots tell MATLAB to work through an array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3D11CB5E-59FE-41BA-A56F-7F9157431835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Use element-wise operators when time contains many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52283-085C-453C-9A02-5538E926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048000"/>
            <a:ext cx="3714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A58F7-E710-4C1F-A585-0B035D69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766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scalar arithmetic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FF628-481D-44A2-BCDF-9FA23B6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76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20 *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B2DED-FA06-4AE6-B25F-647C6310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81625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one number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A120D-D546-4D51-AD37-A143A239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48000"/>
            <a:ext cx="3714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14BC8-4464-41C9-BC68-FAEB2796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766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every time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84174-0578-4EAE-A710-04B77DA1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76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v0_mps .* t_s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DCAAF-2126-4D90-A9DB-B92A21AE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81625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one value for every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0CCB4-020F-47A9-8110-43FBEBA5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48000"/>
            <a:ext cx="3714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FFAAB-EB26-4DEC-A682-B62A191F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4766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array square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00B873-6F04-451F-BF5B-614E8C4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76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2250" b="1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t_s.^2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5E2B64-68E8-4D7E-B3F2-708BC4F8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381625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75">
                <a:solidFill>
                  <a:srgbClr val="3F4B57"/>
                </a:solidFill>
                <a:latin typeface="Nunito"/>
                <a:ea typeface="Nunito"/>
                <a:cs typeface="Nunito"/>
              </a:rPr>
              <a:t>every time value squared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4F58DF-AAA9-49B7-A468-CC11D1B5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239000"/>
            <a:ext cx="15001875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989C5-7E80-48CC-8318-5D1A1E85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7524750"/>
            <a:ext cx="1423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40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Checkpoint: explain why the model line contains .* and .^</a:t>
            </a:r>
          </a:p>
        </p:txBody>
      </p:sp>
      <p:sp>
        <p:nvSpPr>
          <p:cNvPr id="17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CBEAD77A-6DB3-4E43-9372-8094ACE58D4B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21826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T1">
            <a:extLst xmlns:a="http://schemas.openxmlformats.org/drawingml/2006/main">
              <a:ext uri="{FF2B5EF4-FFF2-40B4-BE49-F238E27FC236}">
                <a16:creationId xmlns:a16="http://schemas.microsoft.com/office/drawing/2014/main" id="{1A3B9DD8-2229-420C-93BB-FC689E6FE240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Run the model, then read the graph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18F9244A-04F0-4B65-9FE8-D99CF040ABA9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Prediction comes before the plot; a known value checks the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E4F26-22F4-478A-9F05-042F0C77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71750"/>
            <a:ext cx="7239000" cy="5286375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4F8FC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4F75D-AF05-44C9-80F6-C8E8558A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9527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Trace this short fragment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C8493-0516-4F39-9BE4-F7EED42B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62375"/>
            <a:ext cx="6286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t_s = 0:0.1:4;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y_m = 20.*t_s - 0.5*9.81*t_s.^2;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plot(t_s,y_m,'LineWidth',2)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xlabel('Time (s)')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ylabel('Vertical position (m)')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>
                <a:solidFill>
                  <a:srgbClr val="0B2B4C"/>
                </a:solidFill>
                <a:latin typeface="IBM Plex Mono"/>
                <a:ea typeface="IBM Plex Mono"/>
                <a:cs typeface="IBM Plex Mono"/>
              </a:rPr>
              <a:t>assert(abs(y_m(1)) &lt; 1e-12)</a:t>
            </a:r>
          </a:p>
        </p:txBody>
      </p:sp>
      <p:pic>
        <p:nvPicPr>
          <p:cNvPr id="14" name="image-slide11-1" descr="PHY4605 scientific visual or LaTeX-rendered equation (image-slide11-1)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4a094d94b4425"/>
          <a:stretch xmlns:a="http://schemas.openxmlformats.org/drawingml/2006/main"/>
        </p:blipFill>
        <p:spPr>
          <a:xfrm xmlns:a="http://schemas.openxmlformats.org/drawingml/2006/main">
            <a:off x="9096375" y="3038976"/>
            <a:ext cx="6953250" cy="373279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D1E5A-4DA8-40C0-8A2C-9A92757B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8191500"/>
            <a:ext cx="1447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Prediction: rise, one peak, then fall. Check: y_m(1) = 0 m</a:t>
            </a:r>
          </a:p>
        </p:txBody>
      </p:sp>
      <p:sp>
        <p:nvSpPr>
          <p:cNvPr id="8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F0658922-662B-4BCB-988A-71C460095831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912877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T1">
            <a:extLst xmlns:a="http://schemas.openxmlformats.org/drawingml/2006/main">
              <a:ext uri="{FF2B5EF4-FFF2-40B4-BE49-F238E27FC236}">
                <a16:creationId xmlns:a16="http://schemas.microsoft.com/office/drawing/2014/main" id="{99589B3F-17D6-447E-92F6-8471FC04598E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510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Week 1 exit ticket</a:t>
            </a:r>
          </a:p>
        </p:txBody>
      </p:sp>
      <p:sp>
        <p:nvSpPr>
          <p:cNvPr id="2" name="subtitle-T1">
            <a:extLst xmlns:a="http://schemas.openxmlformats.org/drawingml/2006/main">
              <a:ext uri="{FF2B5EF4-FFF2-40B4-BE49-F238E27FC236}">
                <a16:creationId xmlns:a16="http://schemas.microsoft.com/office/drawing/2014/main" id="{699717FA-EA70-4536-A8F9-4E301C2F6978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Use the same ball model and answer in one or two sentences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E4D7F-4247-42C0-BD05-EEE8B522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717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3B683-CC52-4C43-8488-F10A9CF7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28900"/>
            <a:ext cx="1304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4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Name the output variable and its unit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0985E-AC8D-4B84-BD1D-7276F635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448050"/>
            <a:ext cx="1304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5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DD665-ECA8-49E5-BF08-999C151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576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0EAC89-BF37-40C9-A63F-34619D8A1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14775"/>
            <a:ext cx="1304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4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What does t_s(11) select?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45551-E0FD-41D1-AAAD-D38A65BA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33925"/>
            <a:ext cx="1304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5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344E1-3592-4994-A5D2-D8403887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1435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162DF-0C04-45A7-B1A4-143D8BF0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00650"/>
            <a:ext cx="1304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4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Which operator lets MATLAB square every value in t_s?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B5B209-0820-40D7-9FAE-AD9DF152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019800"/>
            <a:ext cx="1304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5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14D84-1A7B-4841-9B71-69D316BF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642937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5833B-75AD-42AF-85CE-DD5F7F3E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486525"/>
            <a:ext cx="1304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4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State one prediction for the graph and one value you can 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2E32D-2BB4-4794-898F-F4DCF3A7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8096250"/>
            <a:ext cx="1500187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3E8E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62253-2A4A-4BB7-909E-F63D4799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8334375"/>
            <a:ext cx="1423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E8E45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3E8E45"/>
                </a:solidFill>
                <a:latin typeface="Nunito"/>
                <a:ea typeface="Nunito"/>
                <a:cs typeface="Nunito"/>
              </a:rPr>
              <a:t>Next time: turn the same physical model into a traceable algorithm</a:t>
            </a:r>
          </a:p>
        </p:txBody>
      </p:sp>
      <p:sp>
        <p:nvSpPr>
          <p:cNvPr id="16" name="slide-number-12">
            <a:extLst xmlns:a="http://schemas.openxmlformats.org/drawingml/2006/main">
              <a:ext uri="{FF2B5EF4-FFF2-40B4-BE49-F238E27FC236}">
                <a16:creationId xmlns:a16="http://schemas.microsoft.com/office/drawing/2014/main" id="{BE96CF1E-849B-4D5C-9DC6-D394E8D1F939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6667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itle-T2">
            <a:extLst xmlns:a="http://schemas.openxmlformats.org/drawingml/2006/main">
              <a:ext uri="{FF2B5EF4-FFF2-40B4-BE49-F238E27FC236}">
                <a16:creationId xmlns:a16="http://schemas.microsoft.com/office/drawing/2014/main" id="{DE5F4CBF-38D7-4869-8481-08EA244B91B3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095375" y="571500"/>
            <a:ext cx="1504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46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Working exposure: selected values</a:t>
            </a:r>
          </a:p>
        </p:txBody>
      </p:sp>
      <p:sp>
        <p:nvSpPr>
          <p:cNvPr id="2" name="subtitle-T2">
            <a:extLst xmlns:a="http://schemas.openxmlformats.org/drawingml/2006/main">
              <a:ext uri="{FF2B5EF4-FFF2-40B4-BE49-F238E27FC236}">
                <a16:creationId xmlns:a16="http://schemas.microsoft.com/office/drawing/2014/main" id="{06D666B4-A5A6-4715-BBDB-7B0D4AA29D8E}"/>
              </a:ext>
            </a:extLst>
          </p:cNvPr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095375" y="1447800"/>
            <a:ext cx="1504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Read a few model outputs before drawing the full graph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8CD82D-3DA1-4958-A1FC-8E99F455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47950"/>
            <a:ext cx="1438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225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For the same vertical-motion model, each selected time has one computed height.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E602A-1839-4F67-B0AE-32906B91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714750"/>
            <a:ext cx="2714625" cy="27622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EF5FD"/>
          </a:solidFill>
          <a:ln xmlns:a="http://schemas.openxmlformats.org/drawingml/2006/main" w="19050">
            <a:solidFill>
              <a:srgbClr val="2F6DB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EB518-4CA0-44EB-B98E-A26CA721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148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F6DB2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F6DB2"/>
                </a:solidFill>
                <a:latin typeface="Nunito"/>
                <a:ea typeface="Nunito"/>
                <a:cs typeface="Nunito"/>
              </a:rPr>
              <a:t>0.0 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315F5-38C3-4ACD-9E57-301FBCA7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905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0.00 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55DE0-34BE-405A-8863-804BDD28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667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launch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F73AA9-79B1-4C50-A2C6-5998BAEB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2714625" cy="27622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9FA56-D882-4FE8-BAB7-383CDA1C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1148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1.0 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2BB24-FEFB-4AC6-873F-DA85BC0D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905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15.10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ABAE2-A006-49D7-AC95-31C1E07F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667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rising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49486-385B-4BFE-A370-9F4F8965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14750"/>
            <a:ext cx="2714625" cy="27622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19050">
            <a:solidFill>
              <a:srgbClr val="C98A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12C31-13BE-44CD-BF6F-8F38E6F8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1148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98A16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C98A16"/>
                </a:solidFill>
                <a:latin typeface="Nunito"/>
                <a:ea typeface="Nunito"/>
                <a:cs typeface="Nunito"/>
              </a:rPr>
              <a:t>2.0 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BACCC2-416F-4EAE-81FA-53F062BC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905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20.38 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90DD3-2941-4510-8E22-B611B4A6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67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near the peak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5F920-DFED-446F-819B-468D7D37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714750"/>
            <a:ext cx="2714625" cy="27622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7F9FB"/>
          </a:solidFill>
          <a:ln xmlns:a="http://schemas.openxmlformats.org/drawingml/2006/main" w="19050">
            <a:solidFill>
              <a:srgbClr val="0B2B4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BEC0D8-FED3-4629-9E8D-7137FC94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1148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3.0 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73303E-4536-43C6-A4BD-CE5A76E7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905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15.86 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853E43-FCA3-40C9-A792-337478FF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667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falling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AE06F-FB5D-4696-9A0A-2A1BA539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7875" y="3714750"/>
            <a:ext cx="2714625" cy="27622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2A9D9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039CE-C291-4579-B416-F71DB1EA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575" y="41148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A9D9F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A9D9F"/>
                </a:solidFill>
                <a:latin typeface="Nunito"/>
                <a:ea typeface="Nunito"/>
                <a:cs typeface="Nunito"/>
              </a:rPr>
              <a:t>4.0 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B028E7-B6F5-4E5E-BE73-5C6345F4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575" y="4905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B2B4C"/>
                </a:solidFill>
                <a:latin typeface="Nunito"/>
                <a:ea typeface="Nunito"/>
                <a:cs typeface="Nunito"/>
              </a:defRPr>
            </a:pPr>
            <a:r>
              <a:rPr sz="2550" b="1">
                <a:solidFill>
                  <a:srgbClr val="0B2B4C"/>
                </a:solidFill>
                <a:latin typeface="Nunito"/>
                <a:ea typeface="Nunito"/>
                <a:cs typeface="Nunito"/>
              </a:rPr>
              <a:t>1.52 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CA3C8B-A2C6-425F-A0F5-4B80DF32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575" y="5667375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3F4B57"/>
                </a:solidFill>
                <a:latin typeface="Nunito"/>
                <a:ea typeface="Nunito"/>
                <a:cs typeface="Nunito"/>
              </a:defRPr>
            </a:pPr>
            <a:r>
              <a:rPr sz="1800">
                <a:solidFill>
                  <a:srgbClr val="3F4B57"/>
                </a:solidFill>
                <a:latin typeface="Nunito"/>
                <a:ea typeface="Nunito"/>
                <a:cs typeface="Nunito"/>
              </a:rPr>
              <a:t>near return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73B03D-44C5-4FC8-8ADF-4E9EFA3D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239000"/>
            <a:ext cx="13525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0FAF7"/>
          </a:solidFill>
          <a:ln xmlns:a="http://schemas.openxmlformats.org/drawingml/2006/main" w="19050">
            <a:solidFill>
              <a:srgbClr val="2A9D9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F4B758-B1D9-4EC6-8552-B80A3991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7448550"/>
            <a:ext cx="1266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A9D9F"/>
                </a:solidFill>
                <a:latin typeface="Nunito"/>
                <a:ea typeface="Nunito"/>
                <a:cs typeface="Nunito"/>
              </a:defRPr>
            </a:pPr>
            <a:r>
              <a:rPr sz="2250" b="1">
                <a:solidFill>
                  <a:srgbClr val="2A9D9F"/>
                </a:solidFill>
                <a:latin typeface="Nunito"/>
                <a:ea typeface="Nunito"/>
                <a:cs typeface="Nunito"/>
              </a:rPr>
              <a:t>Check the pattern: height rises, reaches one maximum, then falls toward the launch height.</a:t>
            </a:r>
          </a:p>
        </p:txBody>
      </p:sp>
      <p:sp>
        <p:nvSpPr>
          <p:cNvPr id="26" name="slide-number-13">
            <a:extLst xmlns:a="http://schemas.openxmlformats.org/drawingml/2006/main">
              <a:ext uri="{FF2B5EF4-FFF2-40B4-BE49-F238E27FC236}">
                <a16:creationId xmlns:a16="http://schemas.microsoft.com/office/drawing/2014/main" id="{90BF041F-8F8B-492D-88BF-270B40E4E62E}"/>
              </a:ext>
            </a:extLst>
          </p:cNvPr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>
            <a:off x="16802100" y="92964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>
                <a:solidFill>
                  <a:srgbClr val="697684"/>
                </a:solidFill>
                <a:latin typeface="Nunito"/>
                <a:ea typeface="Nunito"/>
                <a:cs typeface="Nunito"/>
              </a:defRPr>
            </a:pPr>
            <a:r>
              <a:rPr sz="1650">
                <a:solidFill>
                  <a:srgbClr val="697684"/>
                </a:solidFill>
                <a:latin typeface="Nunito"/>
                <a:ea typeface="Nunito"/>
                <a:cs typeface="Nunit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64213634"/>
      </p:ext>
    </p:extLst>
  </p:cSld>
</p:sld>
</file>

<file path=ppt/theme/theme1.xml><?xml version="1.0" encoding="utf-8"?>
<a:theme xmlns:a="http://schemas.openxmlformats.org/drawingml/2006/main" name="ChatGPT">
  <a:themeElements>
    <a:clrScheme name="PHY4605">
      <a:dk1>
        <a:srgbClr val="0B2B4C"/>
      </a:dk1>
      <a:lt1>
        <a:srgbClr val="FFFFFF"/>
      </a:lt1>
      <a:dk2>
        <a:srgbClr val="3F4B57"/>
      </a:dk2>
      <a:lt2>
        <a:srgbClr val="F7F9FB"/>
      </a:lt2>
      <a:accent1>
        <a:srgbClr val="2F6DB2"/>
      </a:accent1>
      <a:accent2>
        <a:srgbClr val="2A9D9F"/>
      </a:accent2>
      <a:accent3>
        <a:srgbClr val="C98A16"/>
      </a:accent3>
      <a:accent4>
        <a:srgbClr val="6F4B9B"/>
      </a:accent4>
      <a:accent5>
        <a:srgbClr val="3E8E45"/>
      </a:accent5>
      <a:accent6>
        <a:srgbClr val="B3262E"/>
      </a:accent6>
      <a:hlink>
        <a:srgbClr val="2F6DB2"/>
      </a:hlink>
      <a:folHlink>
        <a:srgbClr val="6F4B9B"/>
      </a:folHlink>
    </a:clrScheme>
    <a:fontScheme name="Office">
      <a:majorFont>
        <a:latin typeface="Nunito"/>
        <a:ea typeface="Nunito"/>
        <a:cs typeface="Nunito"/>
      </a:majorFont>
      <a:minorFont>
        <a:latin typeface="Nunito"/>
        <a:ea typeface="Nunito"/>
        <a:cs typeface="Nunito"/>
      </a:minorFont>
    </a:fontScheme>
    <a:fmtScheme name="PHY4605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2026-09-01T03:39:33.1760000Z</dcterms:created>
  <dcterms:modified xsi:type="dcterms:W3CDTF">2026-09-01T03:39:33.1760000Z</dcterms:modified>
</coreProperties>
</file>
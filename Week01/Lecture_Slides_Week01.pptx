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545de55e44a99" /><Relationship Type="http://schemas.openxmlformats.org/officeDocument/2006/relationships/extended-properties" Target="/docProps/app.xml" Id="R28346940a7af41c5" /><Relationship Type="http://schemas.openxmlformats.org/officeDocument/2006/relationships/officeDocument" Target="/ppt/presentation.xml" Id="Rd0600df6f6d0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2fb67990da4231"/>
    <p:sldMasterId xmlns:r="http://schemas.openxmlformats.org/officeDocument/2006/relationships" id="2147483650" r:id="R5fd9f9156c274c13"/>
  </p:sldMasterIdLst>
  <p:notesMasterIdLst>
    <p:notesMasterId xmlns:r="http://schemas.openxmlformats.org/officeDocument/2006/relationships" r:id="Rc33a9cc6e4864349"/>
  </p:notesMasterIdLst>
  <p:sldIdLst>
    <p:sldId xmlns:r="http://schemas.openxmlformats.org/officeDocument/2006/relationships" id="256" r:id="Rf6ca9322df684591"/>
    <p:sldId xmlns:r="http://schemas.openxmlformats.org/officeDocument/2006/relationships" id="257" r:id="Rc32a4de1d8a64b35"/>
    <p:sldId xmlns:r="http://schemas.openxmlformats.org/officeDocument/2006/relationships" id="258" r:id="Rd8371256e6da41db"/>
    <p:sldId xmlns:r="http://schemas.openxmlformats.org/officeDocument/2006/relationships" id="259" r:id="R67a44ca9cb274977"/>
    <p:sldId xmlns:r="http://schemas.openxmlformats.org/officeDocument/2006/relationships" id="260" r:id="R1d38f3eb107b49a6"/>
    <p:sldId xmlns:r="http://schemas.openxmlformats.org/officeDocument/2006/relationships" id="261" r:id="R7423de95fb41431d"/>
    <p:sldId xmlns:r="http://schemas.openxmlformats.org/officeDocument/2006/relationships" id="262" r:id="R85bce7389f1b4181"/>
    <p:sldId xmlns:r="http://schemas.openxmlformats.org/officeDocument/2006/relationships" id="263" r:id="R9b08826052a64cff"/>
    <p:sldId xmlns:r="http://schemas.openxmlformats.org/officeDocument/2006/relationships" id="264" r:id="R76417d9fe5c4407f"/>
    <p:sldId xmlns:r="http://schemas.openxmlformats.org/officeDocument/2006/relationships" id="265" r:id="Rd9ea5f5479c64822"/>
    <p:sldId xmlns:r="http://schemas.openxmlformats.org/officeDocument/2006/relationships" id="266" r:id="Rf928f7b40c8842f4"/>
    <p:sldId xmlns:r="http://schemas.openxmlformats.org/officeDocument/2006/relationships" id="267" r:id="R4a1f2961abbb4b48"/>
    <p:sldId xmlns:r="http://schemas.openxmlformats.org/officeDocument/2006/relationships" id="268" r:id="R68450d6663a3498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681047b544354" /><Relationship Type="http://schemas.openxmlformats.org/officeDocument/2006/relationships/slideMaster" Target="/ppt/slideMasters/slideMaster1.xml" Id="R722fb67990da4231" /><Relationship Type="http://schemas.openxmlformats.org/officeDocument/2006/relationships/slideMaster" Target="/ppt/slideMasters/slideMaster2.xml" Id="R5fd9f9156c274c13" /><Relationship Type="http://schemas.openxmlformats.org/officeDocument/2006/relationships/notesMaster" Target="/ppt/notesMasters/notesMaster1.xml" Id="Rc33a9cc6e4864349" /><Relationship Type="http://schemas.openxmlformats.org/officeDocument/2006/relationships/presProps" Target="/ppt/presProps.xml" Id="R6d0c3e131b6b4a87" /><Relationship Type="http://schemas.openxmlformats.org/officeDocument/2006/relationships/tableStyles" Target="/ppt/tableStyles.xml" Id="R4b9f8c7427d245af" /><Relationship Type="http://schemas.openxmlformats.org/officeDocument/2006/relationships/slide" Target="/ppt/slides/slide1.xml" Id="Rf6ca9322df684591" /><Relationship Type="http://schemas.openxmlformats.org/officeDocument/2006/relationships/slide" Target="/ppt/slides/slide2.xml" Id="Rc32a4de1d8a64b35" /><Relationship Type="http://schemas.openxmlformats.org/officeDocument/2006/relationships/slide" Target="/ppt/slides/slide3.xml" Id="Rd8371256e6da41db" /><Relationship Type="http://schemas.openxmlformats.org/officeDocument/2006/relationships/slide" Target="/ppt/slides/slide4.xml" Id="R67a44ca9cb274977" /><Relationship Type="http://schemas.openxmlformats.org/officeDocument/2006/relationships/slide" Target="/ppt/slides/slide5.xml" Id="R1d38f3eb107b49a6" /><Relationship Type="http://schemas.openxmlformats.org/officeDocument/2006/relationships/slide" Target="/ppt/slides/slide6.xml" Id="R7423de95fb41431d" /><Relationship Type="http://schemas.openxmlformats.org/officeDocument/2006/relationships/slide" Target="/ppt/slides/slide7.xml" Id="R85bce7389f1b4181" /><Relationship Type="http://schemas.openxmlformats.org/officeDocument/2006/relationships/slide" Target="/ppt/slides/slide8.xml" Id="R9b08826052a64cff" /><Relationship Type="http://schemas.openxmlformats.org/officeDocument/2006/relationships/slide" Target="/ppt/slides/slide9.xml" Id="R76417d9fe5c4407f" /><Relationship Type="http://schemas.openxmlformats.org/officeDocument/2006/relationships/slide" Target="/ppt/slides/slide10.xml" Id="Rd9ea5f5479c64822" /><Relationship Type="http://schemas.openxmlformats.org/officeDocument/2006/relationships/slide" Target="/ppt/slides/slide11.xml" Id="Rf928f7b40c8842f4" /><Relationship Type="http://schemas.openxmlformats.org/officeDocument/2006/relationships/slide" Target="/ppt/slides/slide12.xml" Id="R4a1f2961abbb4b48" /><Relationship Type="http://schemas.openxmlformats.org/officeDocument/2006/relationships/slide" Target="/ppt/slides/slide13.xml" Id="R68450d6663a3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35fc5a580354f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8e41d44f794782" /><Relationship Type="http://schemas.openxmlformats.org/officeDocument/2006/relationships/notesMaster" Target="/ppt/notesMasters/notesMaster1.xml" Id="R08ff7e1ea7d3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b8034f47bd42de" /><Relationship Type="http://schemas.openxmlformats.org/officeDocument/2006/relationships/notesMaster" Target="/ppt/notesMasters/notesMaster1.xml" Id="Rc0fa83a6f0a84b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ae67867ad2402e" /><Relationship Type="http://schemas.openxmlformats.org/officeDocument/2006/relationships/notesMaster" Target="/ppt/notesMasters/notesMaster1.xml" Id="Rd98e4e83d6b84b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617f864414f12" /><Relationship Type="http://schemas.openxmlformats.org/officeDocument/2006/relationships/notesMaster" Target="/ppt/notesMasters/notesMaster1.xml" Id="Rb964ce370dbb42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45b8e8e48048c2" /><Relationship Type="http://schemas.openxmlformats.org/officeDocument/2006/relationships/notesMaster" Target="/ppt/notesMasters/notesMaster1.xml" Id="R528efd1bccf543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20809a67824c08" /><Relationship Type="http://schemas.openxmlformats.org/officeDocument/2006/relationships/notesMaster" Target="/ppt/notesMasters/notesMaster1.xml" Id="R9334bf6a12a244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56fe8ba4e4da6" /><Relationship Type="http://schemas.openxmlformats.org/officeDocument/2006/relationships/notesMaster" Target="/ppt/notesMasters/notesMaster1.xml" Id="Rc48b90360c2048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84cb4371e34673" /><Relationship Type="http://schemas.openxmlformats.org/officeDocument/2006/relationships/notesMaster" Target="/ppt/notesMasters/notesMaster1.xml" Id="Rbd8e6cb9e60545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e1d38de4d040da" /><Relationship Type="http://schemas.openxmlformats.org/officeDocument/2006/relationships/notesMaster" Target="/ppt/notesMasters/notesMaster1.xml" Id="R39beab7b00a04f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da1d31ae094d92" /><Relationship Type="http://schemas.openxmlformats.org/officeDocument/2006/relationships/notesMaster" Target="/ppt/notesMasters/notesMaster1.xml" Id="Re31857caefb547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fda36fcf484ca3" /><Relationship Type="http://schemas.openxmlformats.org/officeDocument/2006/relationships/notesMaster" Target="/ppt/notesMasters/notesMaster1.xml" Id="R097b5478460049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f78203f95b4ccb" /><Relationship Type="http://schemas.openxmlformats.org/officeDocument/2006/relationships/notesMaster" Target="/ppt/notesMasters/notesMaster1.xml" Id="Ra56574ba4ae448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b8f963a7c1445f" /><Relationship Type="http://schemas.openxmlformats.org/officeDocument/2006/relationships/notesMaster" Target="/ppt/notesMasters/notesMaster1.xml" Id="R7f994821bf60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OpenAI ImageGen; PHY4605 Matte Scientific Cutaway visual-only projectile illustration; generated 2026-08-31</a:t>
            </a:r>
          </a:p>
          <a:p xmlns:a="http://schemas.openxmlformats.org/drawingml/2006/main">
            <a:r>
              <a:t>- Standard constant-acceleration kinematics; lecturer-authored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OpenAI ImageGen; PHY4605 Matte Scientific Cutaway visual-only eleven-sample motion illustration aligned with the editable index rail; generated 2026-08-31</a:t>
            </a:r>
          </a:p>
          <a:p xmlns:a="http://schemas.openxmlformats.org/drawingml/2006/main">
            <a:r>
              <a:t>- LaTeX array-moment assets: `array-moment-start.tex`, `array-moment-peak.tex`, and `array-moment-end.tex`; rendered by `render-equations-diagrams`; transparent PNGs inserted in the three editable callout cards;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arrayStart: TeX `t(1)=0.0\,\mathrm{s}`; SVG `Week01/.agent/lecture-slides/assets/equations/array-moment-start.svg`; PNG `Week01/.agent/lecture-slides/assets/equations/array-moment-start.png`; foreground `#2F6DB2`; target `258 × 42 px`; fit/crop `contain`; alt `LaTeX-rendered expression t(1)=0.0\,\mathrm{s}`; QA `render-equations-diagrams, PNG scale 6, retained TeX/SVG`</a:t>
            </a:r>
          </a:p>
          <a:p xmlns:a="http://schemas.openxmlformats.org/drawingml/2006/main">
            <a:r>
              <a:t>- arrayPeak: TeX `t(6)=2.0\,\mathrm{s}`; SVG `Week01/.agent/lecture-slides/assets/equations/array-moment-peak.svg`; PNG `Week01/.agent/lecture-slides/assets/equations/array-moment-peak.png`; foreground `#C98A16`; target `258 × 42 px`; fit/crop `contain`; alt `LaTeX-rendered expression t(6)=2.0\,\mathrm{s}`; QA `render-equations-diagrams, PNG scale 6, retained TeX/SVG`</a:t>
            </a:r>
          </a:p>
          <a:p xmlns:a="http://schemas.openxmlformats.org/drawingml/2006/main">
            <a:r>
              <a:t>- arrayEnd: TeX `t(11)=4.0\,\mathrm{s}`; SVG `Week01/.agent/lecture-slides/assets/equations/array-moment-end.svg`; PNG `Week01/.agent/lecture-slides/assets/equations/array-moment-end.png`; foreground `#3E8E45`; target `258 × 42 px`; fit/crop `contain`; alt `LaTeX-rendered expression t(11)=4.0\,\mathrm{s}`;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y(t) = 20t - 4.905t^2</a:t>
            </a:r>
          </a:p>
          <a:p xmlns:a="http://schemas.openxmlformats.org/drawingml/2006/main">
            <a:r>
              <a:t>- MATLAB figure `assets/matlab-figures/height_time_evidence.png`, generated by `source/generate_master_matlab_figures.m` from retained `height_time_evidence_data.mat` and `.csv`; title, axes, and all figure text use the LaTeX interpreter</a:t>
            </a:r>
          </a:p>
          <a:p xmlns:a="http://schemas.openxmlformats.org/drawingml/2006/main">
            <a:r>
              <a:t>- LaTeX equation assets: `height-zero.tex` and `height-near-zero.tex`; rendered by `render-equations-diagrams`; transparent PNGs inserted with editable explanatory labels; asset directory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heightZero: TeX `y=0\,\mathrm{m}`; SVG `Week01/.agent/lecture-slides/assets/equations/height-zero.svg`; PNG `Week01/.agent/lecture-slides/assets/equations/height-zero.png`; foreground `#2F6DB2`; target `300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heightNearZero: TeX `y\approx 0\,\mathrm{m}`; SVG `Week01/.agent/lecture-slides/assets/equations/height-near-zero.svg`; PNG `Week01/.agent/lecture-slides/assets/equations/height-near-zero.png`; foreground `#2F6DB2`; target `300 × 48 px`; fit/crop `contain`; alt `LaTeX-rendered expression y is approximately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`Week01/.agent/lecture-slides/assets/equations/launch-time.svg`; PNG `Week01/.agent/lecture-slides/assets/equations/launch-time.png`;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`Week01/.agent/lecture-slides/assets/equations/height-zero.svg`; PNG `Week01/.agent/lecture-slides/assets/equations/height-zero.png`;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`Week01/.agent/lecture-slides/assets/equations/computed-first-value.svg`; PNG `Week01/.agent/lecture-slides/assets/equations/computed-first-value.png`;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SI units for one-dimensional vertical motion</a:t>
            </a:r>
          </a:p>
          <a:p xmlns:a="http://schemas.openxmlformats.org/drawingml/2006/main">
            <a:r>
              <a:t>- LaTeX symbol/unit assets: `symbol-*.tex` and `unit-*.tex`; rendered by `render-equations-diagrams`; transparent PNGs inserted as display-math assets;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symbolT: TeX `t`; SVG `Week01/.agent/lecture-slides/assets/equations/symbol-t.svg`; PNG `Week01/.agent/lecture-slides/assets/equations/symbol-t.png`; foreground `#2F6DB2`; target `110 × 48 px`; fit/crop `contain`; alt `LaTeX-rendered symbol t`; QA `render-equations-diagrams, PNG scale 6, retained TeX/SVG`</a:t>
            </a:r>
          </a:p>
          <a:p xmlns:a="http://schemas.openxmlformats.org/drawingml/2006/main">
            <a:r>
              <a:t>- unitS: TeX `\mathrm{s}`; SVG `Week01/.agent/lecture-slides/assets/equations/unit-s.svg`; PNG `Week01/.agent/lecture-slides/assets/equations/unit-s.png`; foreground `#3F4B57`; target `42 × 17 px`; fit/crop `contain`; alt `LaTeX-rendered SI unit \mathrm{s}`; QA `render-equations-diagrams, PNG scale 6, retained TeX/SVG`</a:t>
            </a:r>
          </a:p>
          <a:p xmlns:a="http://schemas.openxmlformats.org/drawingml/2006/main">
            <a:r>
              <a:t>- symbolY: TeX `y`; SVG `Week01/.agent/lecture-slides/assets/equations/symbol-y.svg`; PNG `Week01/.agent/lecture-slides/assets/equations/symbol-y.png`; foreground `#2A9D9F`; target `110 × 48 px`; fit/crop `contain`; alt `LaTeX-rendered symbol y`; QA `render-equations-diagrams, PNG scale 6, retained TeX/SVG`</a:t>
            </a:r>
          </a:p>
          <a:p xmlns:a="http://schemas.openxmlformats.org/drawingml/2006/main">
            <a:r>
              <a:t>- unitM: TeX `\mathrm{m}`; SVG `Week01/.agent/lecture-slides/assets/equations/unit-m.svg`; PNG `Week01/.agent/lecture-slides/assets/equations/unit-m.png`; foreground `#3F4B57`; target `42 × 17 px`; fit/crop `contain`; alt `LaTeX-rendered SI unit \mathrm{m}`; QA `render-equations-diagrams, PNG scale 6, retained TeX/SVG`</a:t>
            </a:r>
          </a:p>
          <a:p xmlns:a="http://schemas.openxmlformats.org/drawingml/2006/main">
            <a:r>
              <a:t>- symbolV0: TeX `v_0`; SVG `Week01/.agent/lecture-slides/assets/equations/symbol-v0.svg`; PNG `Week01/.agent/lecture-slides/assets/equations/symbol-v0.png`; foreground `#C98A16`; target `110 × 48 px`; fit/crop `contain`; alt `LaTeX-rendered symbol v_0`; QA `render-equations-diagrams, PNG scale 6, retained TeX/SVG`</a:t>
            </a:r>
          </a:p>
          <a:p xmlns:a="http://schemas.openxmlformats.org/drawingml/2006/main">
            <a:r>
              <a:t>- unitMs1: TeX `\mathrm{m\,s^{-1}}`; SVG `Week01/.agent/lecture-slides/assets/equations/unit-ms1.svg`; PNG `Week01/.agent/lecture-slides/assets/equations/unit-ms1.png`; foreground `#3F4B57`; target `160 × 26 px`; fit/crop `contain`; alt `LaTeX-rendered SI unit \mathrm{m\,s^{-1}}`; QA `render-equations-diagrams, PNG scale 6, retained TeX/SVG`</a:t>
            </a:r>
          </a:p>
          <a:p xmlns:a="http://schemas.openxmlformats.org/drawingml/2006/main">
            <a:r>
              <a:t>- symbolG: TeX `g`; SVG `Week01/.agent/lecture-slides/assets/equations/symbol-g.svg`; PNG `Week01/.agent/lecture-slides/assets/equations/symbol-g.png`; foreground `#6F4B9B`; target `110 × 48 px`; fit/crop `contain`; alt `LaTeX-rendered symbol g`; QA `render-equations-diagrams, PNG scale 6, retained TeX/SVG`</a:t>
            </a:r>
          </a:p>
          <a:p xmlns:a="http://schemas.openxmlformats.org/drawingml/2006/main">
            <a:r>
              <a:t>- unitMs2: TeX `\mathrm{m\,s^{-2}}`; SVG `Week01/.agent/lecture-slides/assets/equations/unit-ms2.svg`; PNG `Week01/.agent/lecture-slides/assets/equations/unit-ms2.png`; foreground `#3F4B57`; target `160 × 26 px`; fit/crop `contain`; alt `LaTeX-rendered SI unit \mathrm{m\,s^{-2}}`;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 equation</a:t>
            </a:r>
          </a:p>
          <a:p xmlns:a="http://schemas.openxmlformats.org/drawingml/2006/main">
            <a:r>
              <a:t>- LaTeX equation assets: `vertical-motion-position-equation.tex`, `term-y0.tex`, `term-v0t.tex`, `term-gravity.tex`, and `term-position.tex`; renderer `render-equations-diagrams`; transparent PNG fallback inserted after retaining matching SVG; foreground colours are encoded by semantic term role; target boxes use fit-contain; alt text attached; asset directory `.agent/lecture-slide-system/assets/equations`</a:t>
            </a:r>
          </a:p>
          <a:p xmlns:a="http://schemas.openxmlformats.org/drawingml/2006/main">
            <a:r>
              <a:t>- OpenAI ImageGen; PHY4605 Matte Scientific Cutaway visual-only strictly vertical y(t) time-sequence illustration, with no horizontal projectile path;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position: TeX `y(t)=y_0+v_0t-\frac{1}{2}gt^2`; SVG `Week01/.agent/lecture-slides/assets/equations/vertical-motion-position-equation.svg`; PNG `Week01/.agent/lecture-slides/assets/equations/vertical-motion-position-equation.png`; foreground `#0B2B4C`; target `700 × 144 px`; fit/crop `contain`; alt `LaTeX-rendered equation: y of t equals y subscript zero plus v subscript zero t minus one half g t squared`; QA `render-equations-diagrams, PNG scale 6, retained TeX/SVG`</a:t>
            </a:r>
          </a:p>
          <a:p xmlns:a="http://schemas.openxmlformats.org/drawingml/2006/main">
            <a:r>
              <a:t>- termY0: TeX `y_0`; SVG `Week01/.agent/lecture-slides/assets/equations/term-y0.svg`; PNG `Week01/.agent/lecture-slides/assets/equations/term-y0.png`; foreground `#0B2B4C`; target `302 × 48 px`; fit/crop `contain`; alt `LaTeX-rendered equation term y_0`; QA `render-equations-diagrams, PNG scale 6, retained TeX/SVG`</a:t>
            </a:r>
          </a:p>
          <a:p xmlns:a="http://schemas.openxmlformats.org/drawingml/2006/main">
            <a:r>
              <a:t>- termV0t: TeX `v_0t`; SVG `Week01/.agent/lecture-slides/assets/equations/term-v0t.svg`; PNG `Week01/.agent/lecture-slides/assets/equations/term-v0t.png`; foreground `#2F6DB2`; target `302 × 48 px`; fit/crop `contain`; alt `LaTeX-rendered equation term v_0t`; QA `render-equations-diagrams, PNG scale 6, retained TeX/SVG`</a:t>
            </a:r>
          </a:p>
          <a:p xmlns:a="http://schemas.openxmlformats.org/drawingml/2006/main">
            <a:r>
              <a:t>- termGravity: TeX `-\frac{1}{2}gt^2`; SVG `Week01/.agent/lecture-slides/assets/equations/term-gravity.svg`; PNG `Week01/.agent/lecture-slides/assets/equations/term-gravity.png`; foreground `#C98A16`; target `302 × 90 px`; fit/crop `contain`; alt `LaTeX-rendered equation term -\frac{1}{2}gt^2`; QA `render-equations-diagrams, PNG scale 6, retained TeX/SVG`</a:t>
            </a:r>
          </a:p>
          <a:p xmlns:a="http://schemas.openxmlformats.org/drawingml/2006/main">
            <a:r>
              <a:t>- termPosition: TeX `y(t)`; SVG `Week01/.agent/lecture-slides/assets/equations/term-position.svg`; PNG `Week01/.agent/lecture-slides/assets/equations/term-position.png`; foreground `#3E8E45`; target `302 × 48 px`; fit/crop `contain`; alt `LaTeX-rendered equation term y(t)`;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comparison calculated for v0 = 20 m/s and 15 m/s</a:t>
            </a:r>
          </a:p>
          <a:p xmlns:a="http://schemas.openxmlformats.org/drawingml/2006/main">
            <a:r>
              <a:t>- MATLAB figure `assets/matlab-figures/launch_speed_comparison.png`, generated by `source/generate_master_matlab_figures.m` from retained `launch_speed_comparison_data.mat` and `.csv`; title, axes, legend, and all figure text use the LaTeX interpreter</a:t>
            </a:r>
          </a:p>
          <a:p xmlns:a="http://schemas.openxmlformats.org/drawingml/2006/main">
            <a:r>
              <a:t>- LaTeX display assets: `comparison-v0.tex` and `comparison-g-y0.tex`; rendered by `render-equations-diagrams`; transparent PNGs inserted for the changed/fixed parameter labels;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comparisonV0: TeX `v_0`; SVG `Week01/.agent/lecture-slides/assets/equations/comparison-v0.svg`; PNG `Week01/.agent/lecture-slides/assets/equations/comparison-v0.png`; foreground `#2F6DB2`; target `58 × 34 px`; fit/crop `contain`; alt `LaTeX-rendered symbol v subscript zero`; QA `render-equations-diagrams, PNG scale 6, retained TeX/SVG`</a:t>
            </a:r>
          </a:p>
          <a:p xmlns:a="http://schemas.openxmlformats.org/drawingml/2006/main">
            <a:r>
              <a:t>- comparisonGY0: TeX `g,\;y_0`; SVG `Week01/.agent/lecture-slides/assets/equations/comparison-g-y0.svg`; PNG `Week01/.agent/lecture-slides/assets/equations/comparison-g-y0.png`; foreground `#697684`; target `130 × 34 px`; fit/crop `contain`; alt `LaTeX-rendered expression g and y subscript zero`;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PHY4605 Week 01 content manifest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01 content manifest</a:t>
            </a:r>
          </a:p>
          <a:p xmlns:a="http://schemas.openxmlformats.org/drawingml/2006/main">
            <a:r>
              <a:t>- MATLAB documentation: colon operator, linspace, and array indexing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MATLAB documentation: array vs matrix 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01 content manifest</a:t>
            </a:r>
          </a:p>
          <a:p xmlns:a="http://schemas.openxmlformats.org/drawingml/2006/main">
            <a:r>
              <a:t>- MATLAB figure generated by Week01/.agent/matlab/generate_week01_plot.m from retained MAT and CSV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Week 02 connection: pseudocode, loops, and debugging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2420cca8f48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2753f2c96c42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0efadce09e4d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9cf4c73d3349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c340641d714f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/>
          <p:cNvSpPr/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069071cd04784" /><Relationship Type="http://schemas.openxmlformats.org/officeDocument/2006/relationships/slideLayout" Target="/ppt/slideLayouts/slideLayout1.xml" Id="Rb515174f33bb45d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7fbbb10e81e40ff" /><Relationship Type="http://schemas.openxmlformats.org/officeDocument/2006/relationships/slideLayout" Target="/ppt/slideLayouts/slideLayout2.xml" Id="Ra0e063bddb9c4ad0" /><Relationship Type="http://schemas.openxmlformats.org/officeDocument/2006/relationships/slideLayout" Target="/ppt/slideLayouts/slideLayout3.xml" Id="Rf09746a54861448c" /><Relationship Type="http://schemas.openxmlformats.org/officeDocument/2006/relationships/slideLayout" Target="/ppt/slideLayouts/slideLayout4.xml" Id="Rf2318505f3074cd9" /><Relationship Type="http://schemas.openxmlformats.org/officeDocument/2006/relationships/slideLayout" Target="/ppt/slideLayouts/slideLayout5.xml" Id="R73a20a5519374e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15174f33bb45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/>
          <p:cNvSpPr/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/>
          <p:cNvSpPr/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/>
          <p:cNvSpPr/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0e063bddb9c4ad0"/>
    <p:sldLayoutId xmlns:r="http://schemas.openxmlformats.org/officeDocument/2006/relationships" id="2147483652" r:id="Rf09746a54861448c"/>
    <p:sldLayoutId xmlns:r="http://schemas.openxmlformats.org/officeDocument/2006/relationships" id="2147483653" r:id="Rf2318505f3074cd9"/>
    <p:sldLayoutId xmlns:r="http://schemas.openxmlformats.org/officeDocument/2006/relationships" id="2147483654" r:id="R73a20a5519374e7a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0d82793b64601" /><Relationship Type="http://schemas.openxmlformats.org/officeDocument/2006/relationships/image" Target="/ppt/media/image.png" Id="R9d5a86c23b464868" /><Relationship Type="http://schemas.openxmlformats.org/officeDocument/2006/relationships/notesSlide" Target="/ppt/notesSlides/notesSlide1.xml" Id="R75736f3d3fcc45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018fa8854441b0" /><Relationship Type="http://schemas.openxmlformats.org/officeDocument/2006/relationships/image" Target="/ppt/media/image2.png" Id="Rbf960fa2b138483f" /><Relationship Type="http://schemas.openxmlformats.org/officeDocument/2006/relationships/image" Target="/ppt/media/image3.png" Id="R9f40e776790c4cc8" /><Relationship Type="http://schemas.openxmlformats.org/officeDocument/2006/relationships/image" Target="/ppt/media/image4.png" Id="Rf8ac715d6d9d44da" /><Relationship Type="http://schemas.openxmlformats.org/officeDocument/2006/relationships/image" Target="/ppt/media/image5.png" Id="R8c86a50e71ec4bcc" /><Relationship Type="http://schemas.openxmlformats.org/officeDocument/2006/relationships/notesSlide" Target="/ppt/notesSlides/notesSlide2.xml" Id="R1cf704d4f8fd45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45894655711434a" /><Relationship Type="http://schemas.openxmlformats.org/officeDocument/2006/relationships/image" Target="/ppt/media/image6.png" Id="Rc3c5744c2a4e4de2" /><Relationship Type="http://schemas.openxmlformats.org/officeDocument/2006/relationships/image" Target="/ppt/media/image7.png" Id="Ra503d8a430a3456a" /><Relationship Type="http://schemas.openxmlformats.org/officeDocument/2006/relationships/image" Target="/ppt/media/image8.png" Id="R91e5c2652ddd4c1e" /><Relationship Type="http://schemas.openxmlformats.org/officeDocument/2006/relationships/notesSlide" Target="/ppt/notesSlides/notesSlide3.xml" Id="Recc72e58dbc346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2ba391ab31b4e9c" /><Relationship Type="http://schemas.openxmlformats.org/officeDocument/2006/relationships/image" Target="/ppt/media/image9.png" Id="R20bfb9731d044abd" /><Relationship Type="http://schemas.openxmlformats.org/officeDocument/2006/relationships/image" Target="/ppt/media/image10.png" Id="Rbacf56ef8f3043f3" /><Relationship Type="http://schemas.openxmlformats.org/officeDocument/2006/relationships/image" Target="/ppt/media/image11.png" Id="R7df5a503e8894183" /><Relationship Type="http://schemas.openxmlformats.org/officeDocument/2006/relationships/image" Target="/ppt/media/image12.png" Id="R8a366c4accc94edd" /><Relationship Type="http://schemas.openxmlformats.org/officeDocument/2006/relationships/notesSlide" Target="/ppt/notesSlides/notesSlide4.xml" Id="Ra317d749fe854c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6a4ccd8c4846c2" /><Relationship Type="http://schemas.openxmlformats.org/officeDocument/2006/relationships/image" Target="/ppt/media/image13.png" Id="Re8fa4fd6e02c4c75" /><Relationship Type="http://schemas.openxmlformats.org/officeDocument/2006/relationships/image" Target="/ppt/media/image14.png" Id="R3ac5afcae91a4691" /><Relationship Type="http://schemas.openxmlformats.org/officeDocument/2006/relationships/image" Target="/ppt/media/image15.png" Id="Rd5d72cfc42704a6a" /><Relationship Type="http://schemas.openxmlformats.org/officeDocument/2006/relationships/image" Target="/ppt/media/image16.png" Id="Rc621dc1bc11b4942" /><Relationship Type="http://schemas.openxmlformats.org/officeDocument/2006/relationships/image" Target="/ppt/media/image17.png" Id="Ra87ab58381f24897" /><Relationship Type="http://schemas.openxmlformats.org/officeDocument/2006/relationships/image" Target="/ppt/media/image18.png" Id="R34958b3c4fa6460a" /><Relationship Type="http://schemas.openxmlformats.org/officeDocument/2006/relationships/image" Target="/ppt/media/image19.png" Id="R6704e4e315db4737" /><Relationship Type="http://schemas.openxmlformats.org/officeDocument/2006/relationships/image" Target="/ppt/media/image20.png" Id="Rf70741d78ddb4677" /><Relationship Type="http://schemas.openxmlformats.org/officeDocument/2006/relationships/notesSlide" Target="/ppt/notesSlides/notesSlide5.xml" Id="R069f137f8eda47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4219f9071b4bdc" /><Relationship Type="http://schemas.openxmlformats.org/officeDocument/2006/relationships/notesSlide" Target="/ppt/notesSlides/notesSlide6.xml" Id="R0b060628d6e941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a50ecab99b42de" /><Relationship Type="http://schemas.openxmlformats.org/officeDocument/2006/relationships/image" Target="/ppt/media/image21.png" Id="R0c253ec02ab64cf3" /><Relationship Type="http://schemas.openxmlformats.org/officeDocument/2006/relationships/image" Target="/ppt/media/image22.png" Id="Ra791f747d9924164" /><Relationship Type="http://schemas.openxmlformats.org/officeDocument/2006/relationships/image" Target="/ppt/media/image23.png" Id="Rdcaa7c8f961e4561" /><Relationship Type="http://schemas.openxmlformats.org/officeDocument/2006/relationships/image" Target="/ppt/media/image24.png" Id="R1a0ea1f9950e42e3" /><Relationship Type="http://schemas.openxmlformats.org/officeDocument/2006/relationships/image" Target="/ppt/media/image25.png" Id="R3c657e80a604452e" /><Relationship Type="http://schemas.openxmlformats.org/officeDocument/2006/relationships/image" Target="/ppt/media/image26.png" Id="Rd74611654ca0406a" /><Relationship Type="http://schemas.openxmlformats.org/officeDocument/2006/relationships/notesSlide" Target="/ppt/notesSlides/notesSlide7.xml" Id="Rb4594220e4664c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30018aa8dd94aba" /><Relationship Type="http://schemas.openxmlformats.org/officeDocument/2006/relationships/image" Target="/ppt/media/image27.png" Id="Rc6099979865842af" /><Relationship Type="http://schemas.openxmlformats.org/officeDocument/2006/relationships/image" Target="/ppt/media/image28.png" Id="R3c1617fcc2dd429d" /><Relationship Type="http://schemas.openxmlformats.org/officeDocument/2006/relationships/image" Target="/ppt/media/image29.png" Id="R3bfa691160c2405a" /><Relationship Type="http://schemas.openxmlformats.org/officeDocument/2006/relationships/notesSlide" Target="/ppt/notesSlides/notesSlide8.xml" Id="Rd4bedf9fba3b49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2663b001f04273" /><Relationship Type="http://schemas.openxmlformats.org/officeDocument/2006/relationships/notesSlide" Target="/ppt/notesSlides/notesSlide9.xml" Id="R0d6180c150d441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9c90ff7c1040fa" /><Relationship Type="http://schemas.openxmlformats.org/officeDocument/2006/relationships/notesSlide" Target="/ppt/notesSlides/notesSlide10.xml" Id="R1917d2173acc4a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663e3f6ce84b5e" /><Relationship Type="http://schemas.openxmlformats.org/officeDocument/2006/relationships/notesSlide" Target="/ppt/notesSlides/notesSlide11.xml" Id="R7bd954c4610940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312770a9354b36" /><Relationship Type="http://schemas.openxmlformats.org/officeDocument/2006/relationships/image" Target="/ppt/media/image30.png" Id="R12502576839c4178" /><Relationship Type="http://schemas.openxmlformats.org/officeDocument/2006/relationships/notesSlide" Target="/ppt/notesSlides/notesSlide12.xml" Id="R7098866d58be47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aaa18422054ec3" /><Relationship Type="http://schemas.openxmlformats.org/officeDocument/2006/relationships/notesSlide" Target="/ppt/notesSlides/notesSlide13.xml" Id="R35e6fcb042d543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urse-tag">
            <a:extLst xmlns:a="http://schemas.openxmlformats.org/drawingml/2006/main">
              <a:ext uri="{FF2B5EF4-FFF2-40B4-BE49-F238E27FC236}">
                <a16:creationId xmlns:a16="http://schemas.microsoft.com/office/drawing/2014/main" id="{1EBB1331-58E5-4370-B04B-9503B48D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2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154B61F5-31A2-474A-A770-D01BCC291FC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6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Physics to Arrays and Plots</a:t>
            </a:r>
          </a:p>
        </p:txBody>
      </p:sp>
      <p:sp>
        <p:nvSpPr>
          <p:cNvPr id="3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CA40F58B-0288-49B4-807E-D29A5D99CA74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1 | From Motion to MATLAB</a:t>
            </a:r>
          </a:p>
        </p:txBody>
      </p:sp>
      <p:pic>
        <p:nvPicPr>
          <p:cNvPr id="20" name="visual-projectile" descr="A ball at launch, at its highest point, and on return along one vertical dashed path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a86c23b464868"/>
          <a:stretch xmlns:a="http://schemas.openxmlformats.org/drawingml/2006/main"/>
        </p:blipFill>
        <p:spPr>
          <a:xfrm xmlns:a="http://schemas.openxmlformats.org/drawingml/2006/main">
            <a:off x="12747625" y="1905000"/>
            <a:ext cx="3365500" cy="5048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088C3-4C31-4CA5-BD4D-B7C2A6C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733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highest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71CF3-3171-4637-B7CE-9A11033C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572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4EB95-273E-4EA7-ACB5-E0319822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6572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7ADBE-F7AF-46E0-8A3A-61AC554A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809875"/>
            <a:ext cx="152400" cy="2286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4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75BC4-2A4C-4D97-AD07-1837F76D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62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748EE-C925-4520-BDD7-D0E2E073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physical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37458-7224-417F-93B4-CA3865F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EF58D-F4F4-454F-A2E5-A42A39CF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EB692-9928-4F37-ACCC-AF2CB68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66477-7283-4C54-AF58-B906D57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plot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E844D-73A2-4C4D-B536-E9C9958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8058150"/>
            <a:ext cx="285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B6A15-218A-4D05-859B-DC8E2E70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858125"/>
            <a:ext cx="2000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1917240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T1">
            <a:extLst xmlns:a="http://schemas.openxmlformats.org/drawingml/2006/main">
              <a:ext uri="{FF2B5EF4-FFF2-40B4-BE49-F238E27FC236}">
                <a16:creationId xmlns:a16="http://schemas.microsoft.com/office/drawing/2014/main" id="{D894CA74-0D3B-44EF-A7D5-0E95891008B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 store physical moments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D58A1F2E-ACEB-4DC9-83FB-75116912B999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Each index identifies one measurement time</a:t>
            </a:r>
          </a:p>
        </p:txBody>
      </p:sp>
      <p:pic>
        <p:nvPicPr>
          <p:cNvPr id="54" name="visual-array-motion" descr="Eleven evenly spaced snapshots of one ball: launch, rise, highest point, descent, and retur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60fa2b138483f"/>
          <a:stretch xmlns:a="http://schemas.openxmlformats.org/drawingml/2006/main"/>
        </p:blipFill>
        <p:spPr>
          <a:xfrm xmlns:a="http://schemas.openxmlformats.org/drawingml/2006/main">
            <a:off x="4653199" y="2047875"/>
            <a:ext cx="8981603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EFB80-F4E7-43BC-BFCF-CBB2982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7687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94EFB-3083-4453-BDF7-D67677B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14D26-2F68-4ED0-AD67-A67E7381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33E65-AEA9-43CD-A18B-A963CEB1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A86F9-7752-4189-A447-8F59DF96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59604-63F0-4128-9002-A591FDD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527B4-7210-4450-A2DF-7ECDCE40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8B029-09BB-4E89-8185-66E44B21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1B8C2-81F5-4C73-A321-31A46767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0EC48-4926-4A28-A538-A7FAF5C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9C85D-8797-4100-A9D3-1D20FF88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39A9B-E791-4ECF-AAAD-5F7A5EAB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C57ED-3B4A-427E-98D5-8E5EFD3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A8203-9C72-4907-B8C8-9F8A0B9D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2538C-ED79-462E-A030-63C775C3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C5296-139B-41F6-9E56-1BD86D2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AB7F5-0046-4B84-AA2E-C85207C0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2F807-C316-4AEB-95CF-45F461C4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A74DD-8E91-4032-9BEA-1D9136CC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19CC8-D54E-4465-BF89-0559459B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4878C-E6D4-45B0-ACE5-6F58B7B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25B975-4862-40C6-B9D2-EA9CD8C0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B0272-E517-48EB-B132-EB9D8C2D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87BD80-840F-4C03-A68C-8636D907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768B2-0EA2-4E34-82B4-D62CA9C0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63A62-7DAB-4607-8FC8-F4845F9F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3D60A-A12B-4B04-96AE-413DC9B2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72408-F38B-40A2-9693-72934EA0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3B0841-A1E1-44FF-AEBC-151B50CA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9E80DA-F27C-4445-B8E9-ED6A51C2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1040AB-9517-419D-B2A9-2EE2990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295CE4-8780-44DA-873D-551C1930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4A14ED-79DF-4296-88C2-8886B041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A193A8-824D-4D8B-8018-DB2772C4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43C9D7-1841-4DF0-9BC7-43EC05F9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DE5020-3255-4B90-93D3-F00902C8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pic>
        <p:nvPicPr>
          <p:cNvPr id="91" name="equation-arrayStart" descr="LaTeX-rendered expression t(1) equals 0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0e776790c4cc8"/>
          <a:stretch xmlns:a="http://schemas.openxmlformats.org/drawingml/2006/main"/>
        </p:blipFill>
        <p:spPr>
          <a:xfrm xmlns:a="http://schemas.openxmlformats.org/drawingml/2006/main">
            <a:off x="402307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A48EE-1FB6-45DC-BA06-06CC54E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condition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6FACC8-1B15-4113-AD13-0BF22C64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3C8E26-B726-4063-95F6-568D36A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middle</a:t>
            </a:r>
          </a:p>
        </p:txBody>
      </p:sp>
      <p:pic>
        <p:nvPicPr>
          <p:cNvPr id="95" name="equation-arrayPeak" descr="LaTeX-rendered expression t(6) equals 2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c715d6d9d44da"/>
          <a:stretch xmlns:a="http://schemas.openxmlformats.org/drawingml/2006/main"/>
        </p:blipFill>
        <p:spPr>
          <a:xfrm xmlns:a="http://schemas.openxmlformats.org/drawingml/2006/main">
            <a:off x="811882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5EC841-EA6F-48DA-8F05-951FF66C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the peak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3BFC28-AE39-4894-9F19-2CD76E3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2EB64C-6164-4B18-AF9A-CD175FBF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end</a:t>
            </a:r>
          </a:p>
        </p:txBody>
      </p:sp>
      <p:pic>
        <p:nvPicPr>
          <p:cNvPr id="99" name="equation-arrayEnd" descr="LaTeX-rendered expression t(11) equals 4.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6a50e71ec4bcc"/>
          <a:stretch xmlns:a="http://schemas.openxmlformats.org/drawingml/2006/main"/>
        </p:blipFill>
        <p:spPr>
          <a:xfrm xmlns:a="http://schemas.openxmlformats.org/drawingml/2006/main">
            <a:off x="12113331" y="6953250"/>
            <a:ext cx="2138539" cy="4000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57BF6D-E4EE-46EE-ACBF-F291BAE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near return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559943-5F73-4607-99E1-323014F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number in parentheses selects one physical moment from the array</a:t>
            </a:r>
          </a:p>
        </p:txBody>
      </p:sp>
      <p:sp>
        <p:nvSpPr>
          <p:cNvPr id="5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34346466-C321-4A5E-8F37-C43A968FB1BF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5185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T2">
            <a:extLst xmlns:a="http://schemas.openxmlformats.org/drawingml/2006/main">
              <a:ext uri="{FF2B5EF4-FFF2-40B4-BE49-F238E27FC236}">
                <a16:creationId xmlns:a16="http://schemas.microsoft.com/office/drawing/2014/main" id="{989B175F-CCCC-4D70-9628-8898C55DF53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labelled plot turns values into evidence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584918E6-14D3-46A5-AA8D-F669C090220F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Axes, units, and shape must agree with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3E288-B072-4B12-952A-6E6E1E5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00500" cy="5429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70302-5893-4BF3-9B92-5D6A092C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38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Before plotting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C63A3-5F40-4F85-B46E-C6E40071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14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starts at</a:t>
            </a:r>
          </a:p>
        </p:txBody>
      </p:sp>
      <p:pic>
        <p:nvPicPr>
          <p:cNvPr id="20" name="equation-prediction-1" descr="LaTeX-rendered expression y equals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5744c2a4e4de2"/>
          <a:stretch xmlns:a="http://schemas.openxmlformats.org/drawingml/2006/main"/>
        </p:blipFill>
        <p:spPr>
          <a:xfrm xmlns:a="http://schemas.openxmlformats.org/drawingml/2006/main">
            <a:off x="1994481" y="4076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10A87-B5CE-4520-AEA0-90C53E02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38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rises 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A57AF-D8A1-4CE0-ABFA-6611E990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38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one maximum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BFCFB-C185-4337-970E-DB92009E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62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returns to</a:t>
            </a:r>
          </a:p>
        </p:txBody>
      </p:sp>
      <p:pic>
        <p:nvPicPr>
          <p:cNvPr id="24" name="equation-prediction-3" descr="LaTeX-rendered expression y is approximately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3d8a430a3456a"/>
          <a:stretch xmlns:a="http://schemas.openxmlformats.org/drawingml/2006/main"/>
        </p:blipFill>
        <p:spPr>
          <a:xfrm xmlns:a="http://schemas.openxmlformats.org/drawingml/2006/main">
            <a:off x="1997701" y="6324600"/>
            <a:ext cx="1738648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AB4BF-4C02-4F26-B147-E12F5A0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067550"/>
            <a:ext cx="2381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prediction first</a:t>
            </a:r>
          </a:p>
        </p:txBody>
      </p:sp>
      <p:pic>
        <p:nvPicPr>
          <p:cNvPr id="26" name="matlab-height-time-figure" descr="MATLAB-generated height-versus-time plot for vertical motion with LaTeX-interpreted labe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5c2652ddd4c1e"/>
          <a:stretch xmlns:a="http://schemas.openxmlformats.org/drawingml/2006/main"/>
        </p:blipFill>
        <p:spPr>
          <a:xfrm xmlns:a="http://schemas.openxmlformats.org/drawingml/2006/main">
            <a:off x="6475992" y="2381250"/>
            <a:ext cx="9336515" cy="5810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20BAE-73FC-45C9-9CFB-3E044905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05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Does the curve match all three predictions?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E5B237BD-9C9B-4CFD-9B77-DCC34E1B49EE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8745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47321F4C-8373-41D1-8457-3E65CBAF5E56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BF449F7F-123A-4A98-812D-7BB90BA8E4AB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EA1FF-21A8-4A8B-9B8D-CB12B5CF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1" name="visual-launch-boundary" descr="A ball on the ground at launch with an upward initial-velocity arrow and downward gravity arro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fb9731d044abd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B8426-3078-4FD7-83A4-A51F2DD4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26E21-9348-460B-A664-744E6343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4" name="equation-launch-time" descr="LaTeX-rendered expression t equals 0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f56ef8f3043f3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7EA7E-750D-4672-B52D-D8E749AD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26" name="equation-launch-height" descr="LaTeX-rendered expression y equals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5a503e8894183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CC9CC-3A4A-4466-BEF3-A5AD016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EBE8D-66FD-4738-B15E-B65FE277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29" name="equation-computed-first-value" descr="LaTeX-rendered validation result y(1) equals 0.00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66c4accc94edd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2797F-33B5-4946-877C-8238549E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D4AE1-BA0E-42C7-8187-4286E1BD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6C0A8-C302-44D8-9290-79906CF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CC64F-E72A-414B-BE45-52ABB978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B8BB464A-EE16-4064-A148-E81368C04ED0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5612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T1">
            <a:extLst xmlns:a="http://schemas.openxmlformats.org/drawingml/2006/main">
              <a:ext uri="{FF2B5EF4-FFF2-40B4-BE49-F238E27FC236}">
                <a16:creationId xmlns:a16="http://schemas.microsoft.com/office/drawing/2014/main" id="{E816B637-7716-400A-8731-DB52F734C9C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Names and units keep the model readable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26C68BDA-8DD7-4ED1-8039-E30E367C6B95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Translate each physical quantity before writing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B3E9C-C40E-4A20-881C-A15CAE58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physics symbol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50CF-A067-423C-A022-FAA09B5D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2E3D6-E9B6-4B3F-AD80-60F9CE11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MATLAB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10B8A-FF04-4457-BE09-CC10410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CDCAF-36BB-4CB6-AAB7-B1B98596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36" name="equation-symbol-1" descr="LaTeX-rendered symbol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a4fd6e02c4c75"/>
          <a:stretch xmlns:a="http://schemas.openxmlformats.org/drawingml/2006/main"/>
        </p:blipFill>
        <p:spPr>
          <a:xfrm xmlns:a="http://schemas.openxmlformats.org/drawingml/2006/main">
            <a:off x="1872762" y="3352800"/>
            <a:ext cx="254977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D90FF-7C66-45FA-B413-5E1DC6AC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A7354-6BE0-4C80-ACBF-39AF4806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623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</a:t>
            </a:r>
          </a:p>
        </p:txBody>
      </p:sp>
      <p:pic>
        <p:nvPicPr>
          <p:cNvPr id="39" name="equation-unit-1" descr="LaTeX-rendered SI unit secon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5afcae91a4691"/>
          <a:stretch xmlns:a="http://schemas.openxmlformats.org/drawingml/2006/main"/>
        </p:blipFill>
        <p:spPr>
          <a:xfrm xmlns:a="http://schemas.openxmlformats.org/drawingml/2006/main">
            <a:off x="13179253" y="3533775"/>
            <a:ext cx="140043" cy="1619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85F69-299E-4990-90E9-B9817096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pic>
        <p:nvPicPr>
          <p:cNvPr id="41" name="equation-symbol-2" descr="LaTeX-rendered symbol 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72cfc42704a6a"/>
          <a:stretch xmlns:a="http://schemas.openxmlformats.org/drawingml/2006/main"/>
        </p:blipFill>
        <p:spPr>
          <a:xfrm xmlns:a="http://schemas.openxmlformats.org/drawingml/2006/main">
            <a:off x="1827722" y="4572000"/>
            <a:ext cx="345057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73B92-C4E1-43CE-BA90-57208A2C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00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vertical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AA685-99A5-4D4E-A080-68DDB738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</a:t>
            </a:r>
          </a:p>
        </p:txBody>
      </p:sp>
      <p:pic>
        <p:nvPicPr>
          <p:cNvPr id="44" name="equation-unit-2" descr="LaTeX-rendered SI unit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1dc1bc11b4942"/>
          <a:stretch xmlns:a="http://schemas.openxmlformats.org/drawingml/2006/main"/>
        </p:blipFill>
        <p:spPr>
          <a:xfrm xmlns:a="http://schemas.openxmlformats.org/drawingml/2006/main">
            <a:off x="13096346" y="4752975"/>
            <a:ext cx="305858" cy="1619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820D9-52B9-4483-8C7D-2C1648EB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816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46" name="equation-symbol-3" descr="LaTeX-rendered symbol v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ab58381f24897"/>
          <a:stretch xmlns:a="http://schemas.openxmlformats.org/drawingml/2006/main"/>
        </p:blipFill>
        <p:spPr>
          <a:xfrm xmlns:a="http://schemas.openxmlformats.org/drawingml/2006/main">
            <a:off x="1657350" y="5791200"/>
            <a:ext cx="6858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8E7D6-FDDC-44DE-934A-E43D565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97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velocity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72789-BEA3-42C8-92E4-2D3CCE6F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00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</a:t>
            </a:r>
          </a:p>
        </p:txBody>
      </p:sp>
      <p:pic>
        <p:nvPicPr>
          <p:cNvPr id="49" name="equation-unit-3" descr="LaTeX-rendered SI unit metres per sec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58b3c4fa6460a"/>
          <a:stretch xmlns:a="http://schemas.openxmlformats.org/drawingml/2006/main"/>
        </p:blipFill>
        <p:spPr>
          <a:xfrm xmlns:a="http://schemas.openxmlformats.org/drawingml/2006/main">
            <a:off x="13482181" y="59245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866BD-866D-4729-892C-4D348EDC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008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1FB"/>
          </a:solidFill>
          <a:ln xmlns:a="http://schemas.openxmlformats.org/drawingml/2006/main" w="19050">
            <a:solidFill>
              <a:srgbClr val="6F4B9B"/>
            </a:solidFill>
            <a:prstDash val="solid"/>
          </a:ln>
        </p:spPr>
      </p:sp>
      <p:pic>
        <p:nvPicPr>
          <p:cNvPr id="51" name="equation-symbol-4" descr="LaTeX-rendered symbol 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4e4e315db4737"/>
          <a:stretch xmlns:a="http://schemas.openxmlformats.org/drawingml/2006/main"/>
        </p:blipFill>
        <p:spPr>
          <a:xfrm xmlns:a="http://schemas.openxmlformats.org/drawingml/2006/main">
            <a:off x="1832035" y="7010400"/>
            <a:ext cx="33643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13E89-DDD3-4CE2-9C25-6BA86D70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3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gravitational acceleration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706939-C6E0-4A17-AF13-DFC6D8E1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019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</a:t>
            </a:r>
          </a:p>
        </p:txBody>
      </p:sp>
      <p:pic>
        <p:nvPicPr>
          <p:cNvPr id="54" name="equation-unit-4" descr="LaTeX-rendered SI unit metres per second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741d78ddb4677"/>
          <a:stretch xmlns:a="http://schemas.openxmlformats.org/drawingml/2006/main"/>
        </p:blipFill>
        <p:spPr>
          <a:xfrm xmlns:a="http://schemas.openxmlformats.org/drawingml/2006/main">
            <a:off x="13482181" y="71437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3DC31-8624-40F5-B5DE-EB399421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Readable names reduce syntax mistakes and make unit checks easier</a:t>
            </a:r>
          </a:p>
        </p:txBody>
      </p:sp>
      <p:sp>
        <p:nvSpPr>
          <p:cNvPr id="2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9DF95364-81B4-4A3E-A7D2-175464A0972B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23692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B8739721-84D8-4AAE-AE82-20F01BA9A77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16A2B812-CC04-4EC9-B583-827F8B419423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B6076-7EEE-4D4D-8134-83FD3EC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49FCB-0810-40C8-94C9-B0DFFC9F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2B48B-063C-4EF9-AAF1-A941EFA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760DA-D7A9-48A6-B014-86E95224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E7AB4-8C16-485F-B6CF-C768B1DE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3434A-57DD-4E75-A847-86C1C372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1E02B-3D6F-496D-8239-012A28F9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60522-1242-4926-98E0-E71EA56D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C224-3ED1-443B-97A6-CC339DE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B0977-C924-47E3-AEB9-8723FFA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E7B2E-5170-4638-8130-D081C425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89E52-6FC0-4431-8E0F-139856A8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9DE99-AE9A-4FE1-8F44-62D63870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A8AF1-E2A1-45D6-A31E-B4817E16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046AE-72B3-44B6-8C81-D8B59AC7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43097-EC11-4772-A6B3-7ABEF252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C6910-1267-483C-BF0C-FD25DD4B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35A590EB-C62E-4C1B-976A-449785D8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075D0-9710-453D-A253-BC522350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D5133256-23A8-4910-B730-2EBEAECA994B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2998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T1">
            <a:extLst xmlns:a="http://schemas.openxmlformats.org/drawingml/2006/main">
              <a:ext uri="{FF2B5EF4-FFF2-40B4-BE49-F238E27FC236}">
                <a16:creationId xmlns:a16="http://schemas.microsoft.com/office/drawing/2014/main" id="{C97752E2-CA7C-4E6A-8C8F-3764217948E6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equation links each term to motion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A2C2DE0B-249F-49E4-A00E-F6557D282F62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model from left to right before evaluating it</a:t>
            </a:r>
          </a:p>
        </p:txBody>
      </p:sp>
      <p:pic>
        <p:nvPicPr>
          <p:cNvPr id="22" name="equation-position-model" descr="LaTeX-rendered equation y of t equals y subscript 0 plus v subscript 0 t minus one half g t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53ec02ab64cf3"/>
          <a:stretch xmlns:a="http://schemas.openxmlformats.org/drawingml/2006/main"/>
        </p:blipFill>
        <p:spPr>
          <a:xfrm xmlns:a="http://schemas.openxmlformats.org/drawingml/2006/main">
            <a:off x="5814753" y="2095500"/>
            <a:ext cx="6658495" cy="1371600"/>
          </a:xfrm>
          <a:prstGeom xmlns:a="http://schemas.openxmlformats.org/drawingml/2006/main" prst="rect">
            <a:avLst/>
          </a:prstGeom>
        </p:spPr>
      </p:pic>
      <p:pic>
        <p:nvPicPr>
          <p:cNvPr id="23" name="visual-equation-motion" descr="Five time snapshots of one ball at vertical positions: launch, rise, peak, descent, and return; each position has a vertical guid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1f747d9924164"/>
          <a:stretch xmlns:a="http://schemas.openxmlformats.org/drawingml/2006/main"/>
        </p:blipFill>
        <p:spPr>
          <a:xfrm xmlns:a="http://schemas.openxmlformats.org/drawingml/2006/main">
            <a:off x="5905500" y="3524250"/>
            <a:ext cx="5334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486A3-32BD-44AB-A9E9-A960873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pic>
        <p:nvPicPr>
          <p:cNvPr id="25" name="equation-term-termY0" descr="LaTeX-rendered equation term y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a7c8f961e4561"/>
          <a:stretch xmlns:a="http://schemas.openxmlformats.org/drawingml/2006/main"/>
        </p:blipFill>
        <p:spPr>
          <a:xfrm xmlns:a="http://schemas.openxmlformats.org/drawingml/2006/main">
            <a:off x="2438759" y="6781800"/>
            <a:ext cx="646981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2FC7B-5932-41C1-A7AA-37E40177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starting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030D7-FB0F-4170-B459-4EBF447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28" name="equation-term-termV0t" descr="LaTeX-rendered equation term v subscript 0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ea1f9950e42e3"/>
          <a:stretch xmlns:a="http://schemas.openxmlformats.org/drawingml/2006/main"/>
        </p:blipFill>
        <p:spPr>
          <a:xfrm xmlns:a="http://schemas.openxmlformats.org/drawingml/2006/main">
            <a:off x="6296025" y="6781800"/>
            <a:ext cx="7429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C9288-7C1B-4FFD-A86A-966C6E80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upward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5E902-E7B9-44EE-9B75-0018086D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31" name="equation-term-termGravity" descr="LaTeX-rendered equation term minus one half g t squar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57e80a604452e"/>
          <a:stretch xmlns:a="http://schemas.openxmlformats.org/drawingml/2006/main"/>
        </p:blipFill>
        <p:spPr>
          <a:xfrm xmlns:a="http://schemas.openxmlformats.org/drawingml/2006/main">
            <a:off x="9938905" y="6553200"/>
            <a:ext cx="1267691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4F408-4582-4047-AEA6-87FC1671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gravity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81613-58C1-4F75-AF5F-965DAD1D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term-termPosition" descr="LaTeX-rendered equation term y of 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611654ca0406a"/>
          <a:stretch xmlns:a="http://schemas.openxmlformats.org/drawingml/2006/main"/>
        </p:blipFill>
        <p:spPr>
          <a:xfrm xmlns:a="http://schemas.openxmlformats.org/drawingml/2006/main">
            <a:off x="14102644" y="6781800"/>
            <a:ext cx="750711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4F705-0EEA-4282-923F-6B2A8528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predicted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6339A-2B11-498C-BD6E-A39689AF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2001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AF300-FF18-49D2-B01B-CC8990EB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2772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Unit check: every term on the right must have units of metres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3084CE78-B22C-4F4E-AFB4-2C6AEE782F3D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8765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T2">
            <a:extLst xmlns:a="http://schemas.openxmlformats.org/drawingml/2006/main">
              <a:ext uri="{FF2B5EF4-FFF2-40B4-BE49-F238E27FC236}">
                <a16:creationId xmlns:a16="http://schemas.microsoft.com/office/drawing/2014/main" id="{D91D63A1-BB2B-43E3-9BC5-9731E06FC31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Changing one parameter reveals the trend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6A9E261F-3BDD-4F15-83FB-F0420C00E69F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Keep the model fixed and change only the initial velocity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7D48D-0F32-4B45-B548-6A243B76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28575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controlled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77FDD-42C6-4355-A0EB-ADFC50E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4000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2CF86-E76F-4439-9FA4-68C5D917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Ask one focused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93832-73B8-4DC0-BBD0-4FEEA856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changes when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launch speed changes?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053D6-0658-441F-BCF0-82EE8946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43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Keep gravity and starting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height fixed.</a:t>
            </a:r>
          </a:p>
        </p:txBody>
      </p:sp>
      <p:pic>
        <p:nvPicPr>
          <p:cNvPr id="23" name="matlab-launch-speed-figure" descr="MATLAB-generated comparison of two launch speeds with LaTeX-interpreted labels and leg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99979865842af"/>
          <a:stretch xmlns:a="http://schemas.openxmlformats.org/drawingml/2006/main"/>
        </p:blipFill>
        <p:spPr>
          <a:xfrm xmlns:a="http://schemas.openxmlformats.org/drawingml/2006/main">
            <a:off x="5779807" y="2381250"/>
            <a:ext cx="10538386" cy="590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94218-59F2-4933-BAD7-51D729D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Higher initial speed → higher peak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6892B-CCDA-404E-A749-E66B306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629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changed:</a:t>
            </a:r>
          </a:p>
        </p:txBody>
      </p:sp>
      <p:pic>
        <p:nvPicPr>
          <p:cNvPr id="26" name="equation-comparison-v0" descr="LaTeX-rendered symbol v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617fcc2dd429d"/>
          <a:stretch xmlns:a="http://schemas.openxmlformats.org/drawingml/2006/main"/>
        </p:blipFill>
        <p:spPr>
          <a:xfrm xmlns:a="http://schemas.openxmlformats.org/drawingml/2006/main">
            <a:off x="2271713" y="7943850"/>
            <a:ext cx="485775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52EBA-C1AA-4C9E-805C-0C747E33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9629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fixed:</a:t>
            </a:r>
          </a:p>
        </p:txBody>
      </p:sp>
      <p:pic>
        <p:nvPicPr>
          <p:cNvPr id="28" name="equation-comparison-fixed" descr="LaTeX-rendered expression g and y subscript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a691160c2405a"/>
          <a:stretch xmlns:a="http://schemas.openxmlformats.org/drawingml/2006/main"/>
        </p:blipFill>
        <p:spPr>
          <a:xfrm xmlns:a="http://schemas.openxmlformats.org/drawingml/2006/main">
            <a:off x="3900577" y="7943850"/>
            <a:ext cx="1057095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439EA-E8AE-4A10-8D05-9F219F1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36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Observed: the blue curve reaches the higher peak</a:t>
            </a:r>
          </a:p>
        </p:txBody>
      </p:sp>
      <p:sp>
        <p:nvSpPr>
          <p:cNvPr id="1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0870CD0D-7421-4197-B236-58E6AAC86F87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12405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T1">
            <a:extLst xmlns:a="http://schemas.openxmlformats.org/drawingml/2006/main">
              <a:ext uri="{FF2B5EF4-FFF2-40B4-BE49-F238E27FC236}">
                <a16:creationId xmlns:a16="http://schemas.microsoft.com/office/drawing/2014/main" id="{6E33CE2F-924B-4E95-9CC4-BA30C97DA3D9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Trace one model from physics to a graph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F767A53D-F51E-405F-9FC3-3C3D326F513D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same reasoning chain every time you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B6A9F-1AC9-4F75-821E-0A49394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9FAF7-635D-46B3-8387-67F4357F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46983-74D1-48F2-A4C4-7A8AD8A5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76481-9CB0-4D9C-96FA-233F4522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94FFB-61D8-4554-BF88-D004017B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1CB9D-B9C6-468D-AD4A-4D8959B3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3D90C-D63B-4BAF-81C2-B422D0B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question, direction,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variables, and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5DF61-95DB-472F-8120-814F3A2A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A3C6C-E0E2-4C3C-9F59-1821D35D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F0D0C-6DAF-40FA-8888-0E64537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Algorithm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F15D0-0378-423B-A9B5-85C5C276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time array, calculate,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plot, then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253DB-E1A5-4B9A-8992-1EBF257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D57D0-D85A-40AE-8778-5864EC0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5786F-9097-4AE6-8C7F-4226B667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7A3FC-E2F4-4E9C-8E68-23789E06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dots in .*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and .^ before running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CED43-B82C-452E-95FE-A26A806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8492B-EDAC-4F51-80B2-CAAF890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496A3-6E11-44A9-A64E-6643D36D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C2439-DF58-41DC-B5E4-62290E8A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prediction, labelled plot,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and launch-value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EF497-7A3E-450F-9FC1-CB8D902D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15001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CCC40-0C81-48F7-B6C4-7D68F999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72350"/>
            <a:ext cx="1414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Exit prompt: which step would help you find a wrong sign in the model?</a:t>
            </a:r>
          </a:p>
        </p:txBody>
      </p:sp>
      <p:sp>
        <p:nvSpPr>
          <p:cNvPr id="2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0D390833-4615-42B0-BCE7-6CBD534AF8B7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6563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T1">
            <a:extLst xmlns:a="http://schemas.openxmlformats.org/drawingml/2006/main">
              <a:ext uri="{FF2B5EF4-FFF2-40B4-BE49-F238E27FC236}">
                <a16:creationId xmlns:a16="http://schemas.microsoft.com/office/drawing/2014/main" id="{897B7A31-3AF3-4A54-84A1-A620909CA06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Build the time array first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870C61A3-93F6-4971-8F00-9FCE5A3AA5B2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model needs one time value for each computed height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53A9A-A6E5-4AA2-8685-5DE3DD47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6858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1F0E5-C313-4F54-B878-210A42E6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956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Two ways to make 41 samples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D1D1-94CD-45DA-A04C-C162FD19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0050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5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 = 0:0.1:4;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4DABD-6B34-4F2C-B481-F4B58EE5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57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E2A9A-ECAE-4643-BF83-272F02E9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5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 = linspace(0,4,41);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5A6B8-AD78-4763-AD3D-77DBB30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7239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261D9-DBC1-41E0-92DB-74071E64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Read one indexed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5B21A-FE30-438C-8271-E38A0997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length(t_s)     % 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33E0E-4FAD-4081-B7F1-81809A1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435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t_s(11)         % 1.0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6CE75-A984-4775-8C90-9818C1C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620000"/>
            <a:ext cx="1428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MATLAB indices start at 1: t_s(1) is the launch time</a:t>
            </a:r>
          </a:p>
        </p:txBody>
      </p:sp>
      <p:sp>
        <p:nvSpPr>
          <p:cNvPr id="13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0549A68F-3DAC-4F1B-8B70-FE4AE41309B7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6276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1">
            <a:extLst xmlns:a="http://schemas.openxmlformats.org/drawingml/2006/main">
              <a:ext uri="{FF2B5EF4-FFF2-40B4-BE49-F238E27FC236}">
                <a16:creationId xmlns:a16="http://schemas.microsoft.com/office/drawing/2014/main" id="{F1229DA0-5BF0-44B6-93D8-879CE5B0CA0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Dots tell MATLAB to work through an array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5A771816-1FAD-4A76-A622-D706E3D577BE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element-wise operators when time contains many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87662-3B6D-4E5F-8C4B-33B2567E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9DDCB-053B-4997-A98D-06735CF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scalar arithmetic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7FAFB-9B13-4D3E-81B9-657BC2D2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20 *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68D68-46A5-470C-AE07-666F2D7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one number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A70C4-B481-4ACF-864F-FF53D623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E32CA-A670-450D-B632-E4899E18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every time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A6D30-E89C-4DA3-ADA8-39C791CF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v0_mps .* t_s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6948C-A5E3-46C8-938C-A549BEB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one value for every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A476D-2357-4693-9732-B41B390F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48000"/>
            <a:ext cx="3714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1AFAB-C54E-469F-8053-380D7EC6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76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array square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7B2A9-7214-4F14-B64B-3ABCB03C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767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t_s.^2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80D28-46DB-41F7-813D-58BFD651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381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every time value squared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49A4E-8D07-40B2-88DD-36E4DE9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239000"/>
            <a:ext cx="15001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C7BAC-B039-4621-926E-8FD31EE3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524750"/>
            <a:ext cx="1423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Checkpoint: explain why the model line contains .* and .^</a:t>
            </a:r>
          </a:p>
        </p:txBody>
      </p:sp>
      <p:sp>
        <p:nvSpPr>
          <p:cNvPr id="17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35E4F0F2-41DE-4371-BA5F-78B364A855C2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69084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T1">
            <a:extLst xmlns:a="http://schemas.openxmlformats.org/drawingml/2006/main">
              <a:ext uri="{FF2B5EF4-FFF2-40B4-BE49-F238E27FC236}">
                <a16:creationId xmlns:a16="http://schemas.microsoft.com/office/drawing/2014/main" id="{F5589028-76D9-4CD3-8976-4B61AC6606D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Run the model, then read the graph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1008E080-FAC7-4770-9DE2-D923599AFCAA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Prediction comes before the plot; a known value checks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D220D-6ACC-414B-B549-BC5D04EF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7239000" cy="528637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0D8B7-B74D-4F38-AC05-440CB2D4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Trace this short fragment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BCF2C-DED0-416D-AC78-83B90438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6286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t_s = 0:0.1:4;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y_m = 20.*t_s - 0.5*9.81*t_s.^2;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plot(t_s,y_m,'LineWidth',2)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xlabel('Time (s)')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ylabel('Vertical position (m)')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assert(abs(y_m(1)) &lt; 1e-12)</a:t>
            </a:r>
          </a:p>
        </p:txBody>
      </p:sp>
      <p:pic>
        <p:nvPicPr>
          <p:cNvPr id="14" name="week01-matlab-plot" descr="MATLAB height-versus-time plot for the Week 1 vertical-motion model: the ball starts at 0 metres, rises to one peak, then returns towards 0 metres; the initial-value marker confirms y_m(1) equals 0 metr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02576839c4178"/>
          <a:stretch xmlns:a="http://schemas.openxmlformats.org/drawingml/2006/main"/>
        </p:blipFill>
        <p:spPr>
          <a:xfrm xmlns:a="http://schemas.openxmlformats.org/drawingml/2006/main">
            <a:off x="9096375" y="2553154"/>
            <a:ext cx="6953250" cy="47044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8AA25-78D4-4C00-B02F-A4982D7E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0"/>
            <a:ext cx="1447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Prediction: rise, one peak, then fall. Check: y_m(1) = 0 m</a:t>
            </a:r>
          </a:p>
        </p:txBody>
      </p:sp>
      <p:sp>
        <p:nvSpPr>
          <p:cNvPr id="8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56DE9460-1A1C-4F5C-B419-D95258853220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941310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T1">
            <a:extLst xmlns:a="http://schemas.openxmlformats.org/drawingml/2006/main">
              <a:ext uri="{FF2B5EF4-FFF2-40B4-BE49-F238E27FC236}">
                <a16:creationId xmlns:a16="http://schemas.microsoft.com/office/drawing/2014/main" id="{2A900C11-0572-4952-BFE7-525B6F40CA73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Week 1 exit ticket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3263D84A-47E6-42BD-ABFC-6D8592A146B7}"/>
              </a:ext>
            </a:extLst>
          </p:cNvPr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same ball model and answer in one or two sentences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6DF85-3C5B-4F42-9448-8A67356A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7EAE3-9E35-4B3E-8B01-692B3B49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28900"/>
            <a:ext cx="1304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4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Name the output variable and its unit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2DE54-6063-4310-841F-FBF094A8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1304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91562-9A94-465D-975B-AA910185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E6D60-1190-4132-B5CA-28168ED5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14775"/>
            <a:ext cx="1304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4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does t_s(11) select?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9C625-9385-43AB-AB4C-A6B2BEA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33925"/>
            <a:ext cx="1304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4529F-C6B0-4C64-B7F1-B1BDE516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435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9D71E-0B13-4DB5-AA29-97DB3601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00650"/>
            <a:ext cx="1304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4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Which operator lets MATLAB square every value in t_s?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F9CC5-CF53-45B5-9218-9CB121DA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19800"/>
            <a:ext cx="1304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E9D56-50E5-4277-B8F0-1FC68D5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4293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35E47-EA7F-4381-A329-4CE26485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86525"/>
            <a:ext cx="1304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4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State one prediction for the graph and one value you can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E284C-7913-45D7-81B4-602D4C85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500187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C1856-4E81-4F5F-A06A-BB76FA77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334375"/>
            <a:ext cx="1423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Next time: turn the same physical model into a traceable algorithm</a:t>
            </a:r>
          </a:p>
        </p:txBody>
      </p:sp>
      <p:sp>
        <p:nvSpPr>
          <p:cNvPr id="16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323CCE39-4BB6-4E34-A9D4-077005522E45}"/>
              </a:ext>
            </a:extLst>
          </p:cNvPr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20774894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2026-09-01T01:42:47.1120000Z</dcterms:created>
  <dcterms:modified xsi:type="dcterms:W3CDTF">2026-09-01T01:42:47.1120000Z</dcterms:modified>
</coreProperties>
</file>